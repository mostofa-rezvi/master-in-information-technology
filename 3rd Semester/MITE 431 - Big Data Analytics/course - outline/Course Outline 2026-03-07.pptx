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2A2280E-2C1D-417E-9B28-B857016DC863}" styleName="Table_0">
    <a:wholeTbl>
      <a:tcTxStyle>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E7E6"/>
          </a:solidFill>
        </a:fill>
      </a:tcStyle>
    </a:wholeTbl>
    <a:band1H>
      <a:tcStyle>
        <a:tcBdr/>
        <a:fill>
          <a:solidFill>
            <a:srgbClr val="E0CCCA"/>
          </a:solidFill>
        </a:fill>
      </a:tcStyle>
    </a:band1H>
    <a:band2H>
      <a:tcStyle>
        <a:tcBdr/>
      </a:tcStyle>
    </a:band2H>
    <a:band1V>
      <a:tcStyle>
        <a:tcBdr/>
        <a:fill>
          <a:solidFill>
            <a:srgbClr val="E0CCCA"/>
          </a:solidFill>
        </a:fill>
      </a:tcStyle>
    </a:band1V>
    <a:band2V>
      <a:tcStyle>
        <a:tcBdr/>
      </a:tcStyle>
    </a:band2V>
    <a:lastCol>
      <a:tcTxStyle b="on">
        <a:font>
          <a:latin typeface="Century Gothic"/>
          <a:ea typeface="Century Gothic"/>
          <a:cs typeface="Century Gothic"/>
        </a:font>
        <a:schemeClr val="lt1"/>
      </a:tcTxStyle>
      <a:tcStyle>
        <a:tcBdr/>
        <a:fill>
          <a:solidFill>
            <a:schemeClr val="accent1"/>
          </a:solidFill>
        </a:fill>
      </a:tcStyle>
    </a:lastCol>
    <a:firstCol>
      <a:tcTxStyle b="on">
        <a:font>
          <a:latin typeface="Century Gothic"/>
          <a:ea typeface="Century Gothic"/>
          <a:cs typeface="Century Gothic"/>
        </a:font>
        <a:schemeClr val="lt1"/>
      </a:tcTxStyle>
      <a:tcStyle>
        <a:tcBdr/>
        <a:fill>
          <a:solidFill>
            <a:schemeClr val="accent1"/>
          </a:solidFill>
        </a:fill>
      </a:tcStyle>
    </a:firstCol>
    <a:lastRow>
      <a:tcTxStyle b="on">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4"/>
        <p:cNvGrpSpPr/>
        <p:nvPr/>
      </p:nvGrpSpPr>
      <p:grpSpPr>
        <a:xfrm>
          <a:off x="0" y="0"/>
          <a:ext cx="0" cy="0"/>
          <a:chOff x="0" y="0"/>
          <a:chExt cx="0" cy="0"/>
        </a:xfrm>
      </p:grpSpPr>
      <p:sp>
        <p:nvSpPr>
          <p:cNvPr id="165" name="Google Shape;16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6" name="Google Shape;16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CR to create WhatsApp group, CR to create a private page on social media.</a:t>
            </a:r>
            <a:endParaRPr lang="en-US"/>
          </a:p>
        </p:txBody>
      </p:sp>
      <p:sp>
        <p:nvSpPr>
          <p:cNvPr id="173" name="Google Shape;17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7"/>
        <p:cNvGrpSpPr/>
        <p:nvPr/>
      </p:nvGrpSpPr>
      <p:grpSpPr>
        <a:xfrm>
          <a:off x="0" y="0"/>
          <a:ext cx="0" cy="0"/>
          <a:chOff x="0" y="0"/>
          <a:chExt cx="0" cy="0"/>
        </a:xfrm>
      </p:grpSpPr>
      <p:sp>
        <p:nvSpPr>
          <p:cNvPr id="178" name="Google Shape;17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What Project would you like to do?</a:t>
            </a:r>
            <a:endParaRPr lang="en-US"/>
          </a:p>
        </p:txBody>
      </p:sp>
      <p:sp>
        <p:nvSpPr>
          <p:cNvPr id="180" name="Google Shape;18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4"/>
        <p:cNvGrpSpPr/>
        <p:nvPr/>
      </p:nvGrpSpPr>
      <p:grpSpPr>
        <a:xfrm>
          <a:off x="0" y="0"/>
          <a:ext cx="0" cy="0"/>
          <a:chOff x="0" y="0"/>
          <a:chExt cx="0" cy="0"/>
        </a:xfrm>
      </p:grpSpPr>
      <p:sp>
        <p:nvSpPr>
          <p:cNvPr id="185" name="Google Shape;18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6" name="Google Shape;18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1"/>
        <p:cNvGrpSpPr/>
        <p:nvPr/>
      </p:nvGrpSpPr>
      <p:grpSpPr>
        <a:xfrm>
          <a:off x="0" y="0"/>
          <a:ext cx="0" cy="0"/>
          <a:chOff x="0" y="0"/>
          <a:chExt cx="0" cy="0"/>
        </a:xfrm>
      </p:grpSpPr>
      <p:sp>
        <p:nvSpPr>
          <p:cNvPr id="192" name="Google Shape;19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3" name="Google Shape;1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1" name="Google Shape;21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5"/>
        <p:cNvGrpSpPr/>
        <p:nvPr/>
      </p:nvGrpSpPr>
      <p:grpSpPr>
        <a:xfrm>
          <a:off x="0" y="0"/>
          <a:ext cx="0" cy="0"/>
          <a:chOff x="0" y="0"/>
          <a:chExt cx="0" cy="0"/>
        </a:xfrm>
      </p:grpSpPr>
      <p:sp>
        <p:nvSpPr>
          <p:cNvPr id="216" name="Google Shape;216;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7" name="Google Shape;21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1"/>
        <p:cNvGrpSpPr/>
        <p:nvPr/>
      </p:nvGrpSpPr>
      <p:grpSpPr>
        <a:xfrm>
          <a:off x="0" y="0"/>
          <a:ext cx="0" cy="0"/>
          <a:chOff x="0" y="0"/>
          <a:chExt cx="0" cy="0"/>
        </a:xfrm>
      </p:grpSpPr>
      <p:sp>
        <p:nvSpPr>
          <p:cNvPr id="222" name="Google Shape;22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3" name="Google Shape;22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7"/>
        <p:cNvGrpSpPr/>
        <p:nvPr/>
      </p:nvGrpSpPr>
      <p:grpSpPr>
        <a:xfrm>
          <a:off x="0" y="0"/>
          <a:ext cx="0" cy="0"/>
          <a:chOff x="0" y="0"/>
          <a:chExt cx="0" cy="0"/>
        </a:xfrm>
      </p:grpSpPr>
      <p:sp>
        <p:nvSpPr>
          <p:cNvPr id="228" name="Google Shape;22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9" name="Google Shape;22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5" name="Google Shape;23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1" name="Google Shape;24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5"/>
        <p:cNvGrpSpPr/>
        <p:nvPr/>
      </p:nvGrpSpPr>
      <p:grpSpPr>
        <a:xfrm>
          <a:off x="0" y="0"/>
          <a:ext cx="0" cy="0"/>
          <a:chOff x="0" y="0"/>
          <a:chExt cx="0" cy="0"/>
        </a:xfrm>
      </p:grpSpPr>
      <p:sp>
        <p:nvSpPr>
          <p:cNvPr id="246" name="Google Shape;24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7" name="Google Shape;24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1"/>
        <p:cNvGrpSpPr/>
        <p:nvPr/>
      </p:nvGrpSpPr>
      <p:grpSpPr>
        <a:xfrm>
          <a:off x="0" y="0"/>
          <a:ext cx="0" cy="0"/>
          <a:chOff x="0" y="0"/>
          <a:chExt cx="0" cy="0"/>
        </a:xfrm>
      </p:grpSpPr>
      <p:sp>
        <p:nvSpPr>
          <p:cNvPr id="252" name="Google Shape;25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3" name="Google Shape;25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7"/>
        <p:cNvGrpSpPr/>
        <p:nvPr/>
      </p:nvGrpSpPr>
      <p:grpSpPr>
        <a:xfrm>
          <a:off x="0" y="0"/>
          <a:ext cx="0" cy="0"/>
          <a:chOff x="0" y="0"/>
          <a:chExt cx="0" cy="0"/>
        </a:xfrm>
      </p:grpSpPr>
      <p:sp>
        <p:nvSpPr>
          <p:cNvPr id="258" name="Google Shape;25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9" name="Google Shape;25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3"/>
        <p:cNvGrpSpPr/>
        <p:nvPr/>
      </p:nvGrpSpPr>
      <p:grpSpPr>
        <a:xfrm>
          <a:off x="0" y="0"/>
          <a:ext cx="0" cy="0"/>
          <a:chOff x="0" y="0"/>
          <a:chExt cx="0" cy="0"/>
        </a:xfrm>
      </p:grpSpPr>
      <p:sp>
        <p:nvSpPr>
          <p:cNvPr id="264" name="Google Shape;264;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5" name="Google Shape;26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9"/>
        <p:cNvGrpSpPr/>
        <p:nvPr/>
      </p:nvGrpSpPr>
      <p:grpSpPr>
        <a:xfrm>
          <a:off x="0" y="0"/>
          <a:ext cx="0" cy="0"/>
          <a:chOff x="0" y="0"/>
          <a:chExt cx="0" cy="0"/>
        </a:xfrm>
      </p:grpSpPr>
      <p:sp>
        <p:nvSpPr>
          <p:cNvPr id="270" name="Google Shape;27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1" name="Google Shape;27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5"/>
        <p:cNvGrpSpPr/>
        <p:nvPr/>
      </p:nvGrpSpPr>
      <p:grpSpPr>
        <a:xfrm>
          <a:off x="0" y="0"/>
          <a:ext cx="0" cy="0"/>
          <a:chOff x="0" y="0"/>
          <a:chExt cx="0" cy="0"/>
        </a:xfrm>
      </p:grpSpPr>
      <p:sp>
        <p:nvSpPr>
          <p:cNvPr id="276" name="Google Shape;27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7" name="Google Shape;27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1"/>
        <p:cNvGrpSpPr/>
        <p:nvPr/>
      </p:nvGrpSpPr>
      <p:grpSpPr>
        <a:xfrm>
          <a:off x="0" y="0"/>
          <a:ext cx="0" cy="0"/>
          <a:chOff x="0" y="0"/>
          <a:chExt cx="0" cy="0"/>
        </a:xfrm>
      </p:grpSpPr>
      <p:sp>
        <p:nvSpPr>
          <p:cNvPr id="282" name="Google Shape;28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3" name="Google Shape;28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7"/>
        <p:cNvGrpSpPr/>
        <p:nvPr/>
      </p:nvGrpSpPr>
      <p:grpSpPr>
        <a:xfrm>
          <a:off x="0" y="0"/>
          <a:ext cx="0" cy="0"/>
          <a:chOff x="0" y="0"/>
          <a:chExt cx="0" cy="0"/>
        </a:xfrm>
      </p:grpSpPr>
      <p:sp>
        <p:nvSpPr>
          <p:cNvPr id="288" name="Google Shape;288;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9" name="Google Shape;28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42"/>
        <p:cNvGrpSpPr/>
        <p:nvPr/>
      </p:nvGrpSpPr>
      <p:grpSpPr>
        <a:xfrm>
          <a:off x="0" y="0"/>
          <a:ext cx="0" cy="0"/>
          <a:chOff x="0" y="0"/>
          <a:chExt cx="0" cy="0"/>
        </a:xfrm>
      </p:grpSpPr>
      <p:sp>
        <p:nvSpPr>
          <p:cNvPr id="43" name="Google Shape;43;p23"/>
          <p:cNvSpPr txBox="1">
            <a:spLocks noGrp="1"/>
          </p:cNvSpPr>
          <p:nvPr>
            <p:ph type="ctrTitle"/>
          </p:nvPr>
        </p:nvSpPr>
        <p:spPr>
          <a:xfrm>
            <a:off x="2589213" y="2514600"/>
            <a:ext cx="8915399" cy="22627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5400"/>
              <a:buFont typeface="Century Gothic" panose="020B0502020202020204"/>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3"/>
          <p:cNvSpPr txBox="1">
            <a:spLocks noGrp="1"/>
          </p:cNvSpPr>
          <p:nvPr>
            <p:ph type="subTitle" idx="1"/>
          </p:nvPr>
        </p:nvSpPr>
        <p:spPr>
          <a:xfrm>
            <a:off x="2589213" y="4777379"/>
            <a:ext cx="8915399" cy="1126283"/>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5" name="Google Shape;45;p2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3"/>
          <p:cNvSpPr/>
          <p:nvPr/>
        </p:nvSpPr>
        <p:spPr>
          <a:xfrm>
            <a:off x="0" y="4323810"/>
            <a:ext cx="1744652" cy="778589"/>
          </a:xfrm>
          <a:custGeom>
            <a:avLst/>
            <a:gdLst/>
            <a:ahLst/>
            <a:cxnLst/>
            <a:rect l="l" t="t" r="r" b="b"/>
            <a:pathLst>
              <a:path w="372" h="166"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48;p23"/>
          <p:cNvSpPr txBox="1">
            <a:spLocks noGrp="1"/>
          </p:cNvSpPr>
          <p:nvPr>
            <p:ph type="sldNum" idx="12"/>
          </p:nvPr>
        </p:nvSpPr>
        <p:spPr>
          <a:xfrm>
            <a:off x="531812" y="4529540"/>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4"/>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52" name="Google Shape;52;p2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4"/>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24"/>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56"/>
        <p:cNvGrpSpPr/>
        <p:nvPr/>
      </p:nvGrpSpPr>
      <p:grpSpPr>
        <a:xfrm>
          <a:off x="0" y="0"/>
          <a:ext cx="0" cy="0"/>
          <a:chOff x="0" y="0"/>
          <a:chExt cx="0" cy="0"/>
        </a:xfrm>
      </p:grpSpPr>
      <p:sp>
        <p:nvSpPr>
          <p:cNvPr id="57" name="Google Shape;57;p25"/>
          <p:cNvSpPr txBox="1">
            <a:spLocks noGrp="1"/>
          </p:cNvSpPr>
          <p:nvPr>
            <p:ph type="title"/>
          </p:nvPr>
        </p:nvSpPr>
        <p:spPr>
          <a:xfrm>
            <a:off x="2589212" y="2058750"/>
            <a:ext cx="8915399"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4000"/>
              <a:buFont typeface="Century Gothic" panose="020B0502020202020204"/>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5"/>
          <p:cNvSpPr txBox="1">
            <a:spLocks noGrp="1"/>
          </p:cNvSpPr>
          <p:nvPr>
            <p:ph type="body" idx="1"/>
          </p:nvPr>
        </p:nvSpPr>
        <p:spPr>
          <a:xfrm>
            <a:off x="2589212" y="3530129"/>
            <a:ext cx="891539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2000"/>
              <a:buNone/>
              <a:defRPr sz="20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p:txBody>
      </p:sp>
      <p:sp>
        <p:nvSpPr>
          <p:cNvPr id="59" name="Google Shape;59;p2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5"/>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62;p25"/>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6"/>
          <p:cNvSpPr txBox="1">
            <a:spLocks noGrp="1"/>
          </p:cNvSpPr>
          <p:nvPr>
            <p:ph type="body" idx="1"/>
          </p:nvPr>
        </p:nvSpPr>
        <p:spPr>
          <a:xfrm>
            <a:off x="2589212" y="2133600"/>
            <a:ext cx="4313864"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66" name="Google Shape;66;p26"/>
          <p:cNvSpPr txBox="1">
            <a:spLocks noGrp="1"/>
          </p:cNvSpPr>
          <p:nvPr>
            <p:ph type="body" idx="2"/>
          </p:nvPr>
        </p:nvSpPr>
        <p:spPr>
          <a:xfrm>
            <a:off x="7190747" y="2126222"/>
            <a:ext cx="4313864"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67" name="Google Shape;67;p2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6"/>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70;p26"/>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71"/>
        <p:cNvGrpSpPr/>
        <p:nvPr/>
      </p:nvGrpSpPr>
      <p:grpSpPr>
        <a:xfrm>
          <a:off x="0" y="0"/>
          <a:ext cx="0" cy="0"/>
          <a:chOff x="0" y="0"/>
          <a:chExt cx="0" cy="0"/>
        </a:xfrm>
      </p:grpSpPr>
      <p:sp>
        <p:nvSpPr>
          <p:cNvPr id="72" name="Google Shape;72;p27"/>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a:spLocks noGrp="1"/>
          </p:cNvSpPr>
          <p:nvPr>
            <p:ph type="body" idx="1"/>
          </p:nvPr>
        </p:nvSpPr>
        <p:spPr>
          <a:xfrm>
            <a:off x="2939373" y="1972703"/>
            <a:ext cx="3992732"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p:txBody>
      </p:sp>
      <p:sp>
        <p:nvSpPr>
          <p:cNvPr id="74" name="Google Shape;74;p27"/>
          <p:cNvSpPr txBox="1">
            <a:spLocks noGrp="1"/>
          </p:cNvSpPr>
          <p:nvPr>
            <p:ph type="body" idx="2"/>
          </p:nvPr>
        </p:nvSpPr>
        <p:spPr>
          <a:xfrm>
            <a:off x="2589212" y="2548966"/>
            <a:ext cx="4342893" cy="335406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75" name="Google Shape;75;p27"/>
          <p:cNvSpPr txBox="1">
            <a:spLocks noGrp="1"/>
          </p:cNvSpPr>
          <p:nvPr>
            <p:ph type="body" idx="3"/>
          </p:nvPr>
        </p:nvSpPr>
        <p:spPr>
          <a:xfrm>
            <a:off x="7506629" y="1969475"/>
            <a:ext cx="399900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p:txBody>
      </p:sp>
      <p:sp>
        <p:nvSpPr>
          <p:cNvPr id="76" name="Google Shape;76;p27"/>
          <p:cNvSpPr txBox="1">
            <a:spLocks noGrp="1"/>
          </p:cNvSpPr>
          <p:nvPr>
            <p:ph type="body" idx="4"/>
          </p:nvPr>
        </p:nvSpPr>
        <p:spPr>
          <a:xfrm>
            <a:off x="7166957" y="2545738"/>
            <a:ext cx="4338674" cy="335406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77" name="Google Shape;77;p2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27"/>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81"/>
        <p:cNvGrpSpPr/>
        <p:nvPr/>
      </p:nvGrpSpPr>
      <p:grpSpPr>
        <a:xfrm>
          <a:off x="0" y="0"/>
          <a:ext cx="0" cy="0"/>
          <a:chOff x="0" y="0"/>
          <a:chExt cx="0" cy="0"/>
        </a:xfrm>
      </p:grpSpPr>
      <p:sp>
        <p:nvSpPr>
          <p:cNvPr id="82" name="Google Shape;82;p28"/>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8"/>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8"/>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86;p28"/>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87"/>
        <p:cNvGrpSpPr/>
        <p:nvPr/>
      </p:nvGrpSpPr>
      <p:grpSpPr>
        <a:xfrm>
          <a:off x="0" y="0"/>
          <a:ext cx="0" cy="0"/>
          <a:chOff x="0" y="0"/>
          <a:chExt cx="0" cy="0"/>
        </a:xfrm>
      </p:grpSpPr>
      <p:sp>
        <p:nvSpPr>
          <p:cNvPr id="88" name="Google Shape;88;p29"/>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9"/>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9"/>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91;p29"/>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92"/>
        <p:cNvGrpSpPr/>
        <p:nvPr/>
      </p:nvGrpSpPr>
      <p:grpSpPr>
        <a:xfrm>
          <a:off x="0" y="0"/>
          <a:ext cx="0" cy="0"/>
          <a:chOff x="0" y="0"/>
          <a:chExt cx="0" cy="0"/>
        </a:xfrm>
      </p:grpSpPr>
      <p:sp>
        <p:nvSpPr>
          <p:cNvPr id="93" name="Google Shape;93;p30"/>
          <p:cNvSpPr txBox="1">
            <a:spLocks noGrp="1"/>
          </p:cNvSpPr>
          <p:nvPr>
            <p:ph type="title"/>
          </p:nvPr>
        </p:nvSpPr>
        <p:spPr>
          <a:xfrm>
            <a:off x="2589212" y="446088"/>
            <a:ext cx="3505199" cy="97631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2000"/>
              <a:buFont typeface="Century Gothic" panose="020B0502020202020204"/>
              <a:buNone/>
              <a:defRPr sz="20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0"/>
          <p:cNvSpPr txBox="1">
            <a:spLocks noGrp="1"/>
          </p:cNvSpPr>
          <p:nvPr>
            <p:ph type="body" idx="1"/>
          </p:nvPr>
        </p:nvSpPr>
        <p:spPr>
          <a:xfrm>
            <a:off x="6323012" y="446088"/>
            <a:ext cx="5181600" cy="5414963"/>
          </a:xfrm>
          <a:prstGeom prst="rect">
            <a:avLst/>
          </a:prstGeom>
          <a:noFill/>
          <a:ln>
            <a:noFill/>
          </a:ln>
        </p:spPr>
        <p:txBody>
          <a:bodyPr spcFirstLastPara="1" wrap="square" lIns="91425" tIns="45700" rIns="91425" bIns="45700" anchor="ctr"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95" name="Google Shape;95;p30"/>
          <p:cNvSpPr txBox="1">
            <a:spLocks noGrp="1"/>
          </p:cNvSpPr>
          <p:nvPr>
            <p:ph type="body" idx="2"/>
          </p:nvPr>
        </p:nvSpPr>
        <p:spPr>
          <a:xfrm>
            <a:off x="2589212" y="1598613"/>
            <a:ext cx="3505199" cy="4262436"/>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00"/>
              <a:buNone/>
              <a:defRPr sz="14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p:txBody>
      </p:sp>
      <p:sp>
        <p:nvSpPr>
          <p:cNvPr id="96" name="Google Shape;96;p30"/>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0"/>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0"/>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99;p30"/>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100"/>
        <p:cNvGrpSpPr/>
        <p:nvPr/>
      </p:nvGrpSpPr>
      <p:grpSpPr>
        <a:xfrm>
          <a:off x="0" y="0"/>
          <a:ext cx="0" cy="0"/>
          <a:chOff x="0" y="0"/>
          <a:chExt cx="0" cy="0"/>
        </a:xfrm>
      </p:grpSpPr>
      <p:sp>
        <p:nvSpPr>
          <p:cNvPr id="101" name="Google Shape;101;p31"/>
          <p:cNvSpPr txBox="1">
            <a:spLocks noGrp="1"/>
          </p:cNvSpPr>
          <p:nvPr>
            <p:ph type="title"/>
          </p:nvPr>
        </p:nvSpPr>
        <p:spPr>
          <a:xfrm>
            <a:off x="2589213" y="4800600"/>
            <a:ext cx="8915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2400"/>
              <a:buFont typeface="Century Gothic" panose="020B050202020202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1"/>
          <p:cNvSpPr>
            <a:spLocks noGrp="1"/>
          </p:cNvSpPr>
          <p:nvPr>
            <p:ph type="pic" idx="2"/>
          </p:nvPr>
        </p:nvSpPr>
        <p:spPr>
          <a:xfrm>
            <a:off x="2589212" y="634965"/>
            <a:ext cx="8915400" cy="3854970"/>
          </a:xfrm>
          <a:prstGeom prst="rect">
            <a:avLst/>
          </a:prstGeom>
          <a:noFill/>
          <a:ln>
            <a:noFill/>
          </a:ln>
        </p:spPr>
      </p:sp>
      <p:sp>
        <p:nvSpPr>
          <p:cNvPr id="103" name="Google Shape;103;p31"/>
          <p:cNvSpPr txBox="1">
            <a:spLocks noGrp="1"/>
          </p:cNvSpPr>
          <p:nvPr>
            <p:ph type="body" idx="1"/>
          </p:nvPr>
        </p:nvSpPr>
        <p:spPr>
          <a:xfrm>
            <a:off x="2589213" y="5367338"/>
            <a:ext cx="8915400"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200"/>
              <a:buNone/>
              <a:defRPr sz="12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p:txBody>
      </p:sp>
      <p:sp>
        <p:nvSpPr>
          <p:cNvPr id="104" name="Google Shape;104;p31"/>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1"/>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1"/>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 name="Google Shape;107;p31"/>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08"/>
        <p:cNvGrpSpPr/>
        <p:nvPr/>
      </p:nvGrpSpPr>
      <p:grpSpPr>
        <a:xfrm>
          <a:off x="0" y="0"/>
          <a:ext cx="0" cy="0"/>
          <a:chOff x="0" y="0"/>
          <a:chExt cx="0" cy="0"/>
        </a:xfrm>
      </p:grpSpPr>
      <p:sp>
        <p:nvSpPr>
          <p:cNvPr id="109" name="Google Shape;109;p32"/>
          <p:cNvSpPr txBox="1">
            <a:spLocks noGrp="1"/>
          </p:cNvSpPr>
          <p:nvPr>
            <p:ph type="title"/>
          </p:nvPr>
        </p:nvSpPr>
        <p:spPr>
          <a:xfrm>
            <a:off x="2589212" y="609600"/>
            <a:ext cx="8915399" cy="311704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panose="020B0502020202020204"/>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2"/>
          <p:cNvSpPr txBox="1">
            <a:spLocks noGrp="1"/>
          </p:cNvSpPr>
          <p:nvPr>
            <p:ph type="body" idx="1"/>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p:txBody>
      </p:sp>
      <p:sp>
        <p:nvSpPr>
          <p:cNvPr id="111" name="Google Shape;111;p3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3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2"/>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32"/>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15"/>
        <p:cNvGrpSpPr/>
        <p:nvPr/>
      </p:nvGrpSpPr>
      <p:grpSpPr>
        <a:xfrm>
          <a:off x="0" y="0"/>
          <a:ext cx="0" cy="0"/>
          <a:chOff x="0" y="0"/>
          <a:chExt cx="0" cy="0"/>
        </a:xfrm>
      </p:grpSpPr>
      <p:sp>
        <p:nvSpPr>
          <p:cNvPr id="116" name="Google Shape;116;p33"/>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panose="020B0502020202020204"/>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3"/>
          <p:cNvSpPr txBox="1">
            <a:spLocks noGrp="1"/>
          </p:cNvSpPr>
          <p:nvPr>
            <p:ph type="body" idx="1"/>
          </p:nvPr>
        </p:nvSpPr>
        <p:spPr>
          <a:xfrm>
            <a:off x="3275012" y="3505200"/>
            <a:ext cx="753655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600"/>
              <a:buFont typeface="Century Gothic" panose="020B0502020202020204"/>
              <a:buNone/>
              <a:defRPr sz="1600">
                <a:solidFill>
                  <a:srgbClr val="7F7F7F"/>
                </a:solidFill>
              </a:defRPr>
            </a:lvl1pPr>
            <a:lvl2pPr marL="914400" lvl="1" indent="-228600" algn="l">
              <a:spcBef>
                <a:spcPts val="1000"/>
              </a:spcBef>
              <a:spcAft>
                <a:spcPts val="0"/>
              </a:spcAft>
              <a:buSzPts val="1600"/>
              <a:buFont typeface="Century Gothic" panose="020B0502020202020204"/>
              <a:buNone/>
              <a:defRPr/>
            </a:lvl2pPr>
            <a:lvl3pPr marL="1371600" lvl="2" indent="-228600" algn="l">
              <a:spcBef>
                <a:spcPts val="1000"/>
              </a:spcBef>
              <a:spcAft>
                <a:spcPts val="0"/>
              </a:spcAft>
              <a:buSzPts val="1400"/>
              <a:buFont typeface="Century Gothic" panose="020B0502020202020204"/>
              <a:buNone/>
              <a:defRPr/>
            </a:lvl3pPr>
            <a:lvl4pPr marL="1828800" lvl="3" indent="-228600" algn="l">
              <a:spcBef>
                <a:spcPts val="1000"/>
              </a:spcBef>
              <a:spcAft>
                <a:spcPts val="0"/>
              </a:spcAft>
              <a:buSzPts val="1200"/>
              <a:buFont typeface="Century Gothic" panose="020B0502020202020204"/>
              <a:buNone/>
              <a:defRPr/>
            </a:lvl4pPr>
            <a:lvl5pPr marL="2286000" lvl="4" indent="-228600" algn="l">
              <a:spcBef>
                <a:spcPts val="1000"/>
              </a:spcBef>
              <a:spcAft>
                <a:spcPts val="0"/>
              </a:spcAft>
              <a:buSzPts val="1200"/>
              <a:buFont typeface="Century Gothic" panose="020B0502020202020204"/>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118" name="Google Shape;118;p33"/>
          <p:cNvSpPr txBox="1">
            <a:spLocks noGrp="1"/>
          </p:cNvSpPr>
          <p:nvPr>
            <p:ph type="body" idx="2"/>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p:txBody>
      </p:sp>
      <p:sp>
        <p:nvSpPr>
          <p:cNvPr id="119" name="Google Shape;119;p3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3"/>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33"/>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123" name="Google Shape;123;p33"/>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rPr>
              <a:t>“</a:t>
            </a:r>
            <a:endPar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endParaRPr>
          </a:p>
        </p:txBody>
      </p:sp>
      <p:sp>
        <p:nvSpPr>
          <p:cNvPr id="124" name="Google Shape;124;p33"/>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rPr>
              <a:t>”</a:t>
            </a:r>
            <a:endPar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25"/>
        <p:cNvGrpSpPr/>
        <p:nvPr/>
      </p:nvGrpSpPr>
      <p:grpSpPr>
        <a:xfrm>
          <a:off x="0" y="0"/>
          <a:ext cx="0" cy="0"/>
          <a:chOff x="0" y="0"/>
          <a:chExt cx="0" cy="0"/>
        </a:xfrm>
      </p:grpSpPr>
      <p:sp>
        <p:nvSpPr>
          <p:cNvPr id="126" name="Google Shape;126;p34"/>
          <p:cNvSpPr txBox="1">
            <a:spLocks noGrp="1"/>
          </p:cNvSpPr>
          <p:nvPr>
            <p:ph type="title"/>
          </p:nvPr>
        </p:nvSpPr>
        <p:spPr>
          <a:xfrm>
            <a:off x="2589213" y="2438400"/>
            <a:ext cx="8915400" cy="272484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4800"/>
              <a:buFont typeface="Century Gothic" panose="020B0502020202020204"/>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34"/>
          <p:cNvSpPr txBox="1">
            <a:spLocks noGrp="1"/>
          </p:cNvSpPr>
          <p:nvPr>
            <p:ph type="body" idx="1"/>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128" name="Google Shape;128;p3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4"/>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31;p34"/>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32"/>
        <p:cNvGrpSpPr/>
        <p:nvPr/>
      </p:nvGrpSpPr>
      <p:grpSpPr>
        <a:xfrm>
          <a:off x="0" y="0"/>
          <a:ext cx="0" cy="0"/>
          <a:chOff x="0" y="0"/>
          <a:chExt cx="0" cy="0"/>
        </a:xfrm>
      </p:grpSpPr>
      <p:sp>
        <p:nvSpPr>
          <p:cNvPr id="133" name="Google Shape;133;p35"/>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panose="020B0502020202020204"/>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35"/>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panose="020B0502020202020204"/>
              <a:buNone/>
              <a:defRPr sz="2400">
                <a:solidFill>
                  <a:schemeClr val="accent1"/>
                </a:solidFill>
              </a:defRPr>
            </a:lvl1pPr>
            <a:lvl2pPr marL="914400" lvl="1" indent="-228600" algn="l">
              <a:spcBef>
                <a:spcPts val="1000"/>
              </a:spcBef>
              <a:spcAft>
                <a:spcPts val="0"/>
              </a:spcAft>
              <a:buSzPts val="1600"/>
              <a:buFont typeface="Century Gothic" panose="020B0502020202020204"/>
              <a:buNone/>
              <a:defRPr/>
            </a:lvl2pPr>
            <a:lvl3pPr marL="1371600" lvl="2" indent="-228600" algn="l">
              <a:spcBef>
                <a:spcPts val="1000"/>
              </a:spcBef>
              <a:spcAft>
                <a:spcPts val="0"/>
              </a:spcAft>
              <a:buSzPts val="1400"/>
              <a:buFont typeface="Century Gothic" panose="020B0502020202020204"/>
              <a:buNone/>
              <a:defRPr/>
            </a:lvl3pPr>
            <a:lvl4pPr marL="1828800" lvl="3" indent="-228600" algn="l">
              <a:spcBef>
                <a:spcPts val="1000"/>
              </a:spcBef>
              <a:spcAft>
                <a:spcPts val="0"/>
              </a:spcAft>
              <a:buSzPts val="1200"/>
              <a:buFont typeface="Century Gothic" panose="020B0502020202020204"/>
              <a:buNone/>
              <a:defRPr/>
            </a:lvl4pPr>
            <a:lvl5pPr marL="2286000" lvl="4" indent="-228600" algn="l">
              <a:spcBef>
                <a:spcPts val="1000"/>
              </a:spcBef>
              <a:spcAft>
                <a:spcPts val="0"/>
              </a:spcAft>
              <a:buSzPts val="1200"/>
              <a:buFont typeface="Century Gothic" panose="020B0502020202020204"/>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135" name="Google Shape;135;p35"/>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136" name="Google Shape;136;p3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3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5"/>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35"/>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140" name="Google Shape;140;p35"/>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rPr>
              <a:t>“</a:t>
            </a:r>
            <a:endPar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endParaRPr>
          </a:p>
        </p:txBody>
      </p:sp>
      <p:sp>
        <p:nvSpPr>
          <p:cNvPr id="141" name="Google Shape;141;p35"/>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rPr>
              <a:t>”</a:t>
            </a:r>
            <a:endPar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42"/>
        <p:cNvGrpSpPr/>
        <p:nvPr/>
      </p:nvGrpSpPr>
      <p:grpSpPr>
        <a:xfrm>
          <a:off x="0" y="0"/>
          <a:ext cx="0" cy="0"/>
          <a:chOff x="0" y="0"/>
          <a:chExt cx="0" cy="0"/>
        </a:xfrm>
      </p:grpSpPr>
      <p:sp>
        <p:nvSpPr>
          <p:cNvPr id="143" name="Google Shape;143;p36"/>
          <p:cNvSpPr txBox="1">
            <a:spLocks noGrp="1"/>
          </p:cNvSpPr>
          <p:nvPr>
            <p:ph type="title"/>
          </p:nvPr>
        </p:nvSpPr>
        <p:spPr>
          <a:xfrm>
            <a:off x="2589212" y="627407"/>
            <a:ext cx="8915399" cy="288002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panose="020B0502020202020204"/>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6"/>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panose="020B0502020202020204"/>
              <a:buNone/>
              <a:defRPr sz="2400">
                <a:solidFill>
                  <a:schemeClr val="accent1"/>
                </a:solidFill>
              </a:defRPr>
            </a:lvl1pPr>
            <a:lvl2pPr marL="914400" lvl="1" indent="-228600" algn="l">
              <a:spcBef>
                <a:spcPts val="1000"/>
              </a:spcBef>
              <a:spcAft>
                <a:spcPts val="0"/>
              </a:spcAft>
              <a:buSzPts val="1600"/>
              <a:buFont typeface="Century Gothic" panose="020B0502020202020204"/>
              <a:buNone/>
              <a:defRPr/>
            </a:lvl2pPr>
            <a:lvl3pPr marL="1371600" lvl="2" indent="-228600" algn="l">
              <a:spcBef>
                <a:spcPts val="1000"/>
              </a:spcBef>
              <a:spcAft>
                <a:spcPts val="0"/>
              </a:spcAft>
              <a:buSzPts val="1400"/>
              <a:buFont typeface="Century Gothic" panose="020B0502020202020204"/>
              <a:buNone/>
              <a:defRPr/>
            </a:lvl3pPr>
            <a:lvl4pPr marL="1828800" lvl="3" indent="-228600" algn="l">
              <a:spcBef>
                <a:spcPts val="1000"/>
              </a:spcBef>
              <a:spcAft>
                <a:spcPts val="0"/>
              </a:spcAft>
              <a:buSzPts val="1200"/>
              <a:buFont typeface="Century Gothic" panose="020B0502020202020204"/>
              <a:buNone/>
              <a:defRPr/>
            </a:lvl4pPr>
            <a:lvl5pPr marL="2286000" lvl="4" indent="-228600" algn="l">
              <a:spcBef>
                <a:spcPts val="1000"/>
              </a:spcBef>
              <a:spcAft>
                <a:spcPts val="0"/>
              </a:spcAft>
              <a:buSzPts val="1200"/>
              <a:buFont typeface="Century Gothic" panose="020B0502020202020204"/>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145" name="Google Shape;145;p36"/>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146" name="Google Shape;146;p3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6"/>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149;p36"/>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150"/>
        <p:cNvGrpSpPr/>
        <p:nvPr/>
      </p:nvGrpSpPr>
      <p:grpSpPr>
        <a:xfrm>
          <a:off x="0" y="0"/>
          <a:ext cx="0" cy="0"/>
          <a:chOff x="0" y="0"/>
          <a:chExt cx="0" cy="0"/>
        </a:xfrm>
      </p:grpSpPr>
      <p:sp>
        <p:nvSpPr>
          <p:cNvPr id="151" name="Google Shape;151;p37"/>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7"/>
          <p:cNvSpPr txBox="1">
            <a:spLocks noGrp="1"/>
          </p:cNvSpPr>
          <p:nvPr>
            <p:ph type="body" idx="1"/>
          </p:nvPr>
        </p:nvSpPr>
        <p:spPr>
          <a:xfrm rot="5400000">
            <a:off x="5103812" y="-381000"/>
            <a:ext cx="3886200" cy="89154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153" name="Google Shape;153;p3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7"/>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37"/>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157"/>
        <p:cNvGrpSpPr/>
        <p:nvPr/>
      </p:nvGrpSpPr>
      <p:grpSpPr>
        <a:xfrm>
          <a:off x="0" y="0"/>
          <a:ext cx="0" cy="0"/>
          <a:chOff x="0" y="0"/>
          <a:chExt cx="0" cy="0"/>
        </a:xfrm>
      </p:grpSpPr>
      <p:sp>
        <p:nvSpPr>
          <p:cNvPr id="158" name="Google Shape;158;p38"/>
          <p:cNvSpPr txBox="1">
            <a:spLocks noGrp="1"/>
          </p:cNvSpPr>
          <p:nvPr>
            <p:ph type="title"/>
          </p:nvPr>
        </p:nvSpPr>
        <p:spPr>
          <a:xfrm rot="5400000">
            <a:off x="7756704" y="2165513"/>
            <a:ext cx="5283817" cy="2207601"/>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38"/>
          <p:cNvSpPr txBox="1">
            <a:spLocks noGrp="1"/>
          </p:cNvSpPr>
          <p:nvPr>
            <p:ph type="body" idx="1"/>
          </p:nvPr>
        </p:nvSpPr>
        <p:spPr>
          <a:xfrm rot="5400000">
            <a:off x="3185803" y="30814"/>
            <a:ext cx="5283817" cy="64770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p:txBody>
      </p:sp>
      <p:sp>
        <p:nvSpPr>
          <p:cNvPr id="160" name="Google Shape;160;p38"/>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38"/>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8"/>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38"/>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DE6C3"/>
            </a:gs>
          </a:gsLst>
          <a:path path="circle">
            <a:fillToRect r="100000" b="100000"/>
          </a:path>
          <a:tileRect l="-100000" t="-100000"/>
        </a:gradFill>
        <a:effectLst/>
      </p:bgPr>
    </p:bg>
    <p:spTree>
      <p:nvGrpSpPr>
        <p:cNvPr id="1" name="Shape 9"/>
        <p:cNvGrpSpPr/>
        <p:nvPr/>
      </p:nvGrpSpPr>
      <p:grpSpPr>
        <a:xfrm>
          <a:off x="0" y="0"/>
          <a:ext cx="0" cy="0"/>
          <a:chOff x="0" y="0"/>
          <a:chExt cx="0" cy="0"/>
        </a:xfrm>
      </p:grpSpPr>
      <p:grpSp>
        <p:nvGrpSpPr>
          <p:cNvPr id="10" name="Google Shape;10;p22"/>
          <p:cNvGrpSpPr/>
          <p:nvPr/>
        </p:nvGrpSpPr>
        <p:grpSpPr>
          <a:xfrm>
            <a:off x="1" y="228600"/>
            <a:ext cx="2851516" cy="6638628"/>
            <a:chOff x="2487613" y="285750"/>
            <a:chExt cx="2428875" cy="5654676"/>
          </a:xfrm>
        </p:grpSpPr>
        <p:sp>
          <p:nvSpPr>
            <p:cNvPr id="11" name="Google Shape;11;p22"/>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22"/>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2"/>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4;p22"/>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2"/>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2"/>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22"/>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22"/>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22"/>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22"/>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21;p22"/>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22;p22"/>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3" name="Google Shape;23;p22"/>
          <p:cNvGrpSpPr/>
          <p:nvPr/>
        </p:nvGrpSpPr>
        <p:grpSpPr>
          <a:xfrm>
            <a:off x="27221" y="-786"/>
            <a:ext cx="2356674" cy="6854039"/>
            <a:chOff x="6627813" y="194833"/>
            <a:chExt cx="1952625" cy="5678918"/>
          </a:xfrm>
        </p:grpSpPr>
        <p:sp>
          <p:nvSpPr>
            <p:cNvPr id="24" name="Google Shape;24;p22"/>
            <p:cNvSpPr/>
            <p:nvPr/>
          </p:nvSpPr>
          <p:spPr>
            <a:xfrm>
              <a:off x="6627813" y="194833"/>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5;p22"/>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26;p22"/>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22"/>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2"/>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9;p22"/>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22"/>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31;p22"/>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2;p22"/>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22"/>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22"/>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22"/>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6" name="Google Shape;36;p22"/>
          <p:cNvSpPr/>
          <p:nvPr/>
        </p:nvSpPr>
        <p:spPr>
          <a:xfrm>
            <a:off x="0" y="0"/>
            <a:ext cx="18288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22"/>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rgbClr val="262626"/>
              </a:buClr>
              <a:buSzPts val="3600"/>
              <a:buFont typeface="Century Gothic" panose="020B0502020202020204"/>
              <a:buNone/>
              <a:defRPr sz="3600" b="0" i="0" u="none" strike="noStrike" cap="none">
                <a:solidFill>
                  <a:srgbClr val="262626"/>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p:txBody>
      </p:sp>
      <p:sp>
        <p:nvSpPr>
          <p:cNvPr id="38" name="Google Shape;38;p22"/>
          <p:cNvSpPr txBox="1">
            <a:spLocks noGrp="1"/>
          </p:cNvSpPr>
          <p:nvPr>
            <p:ph type="body" idx="1"/>
          </p:nvPr>
        </p:nvSpPr>
        <p:spPr>
          <a:xfrm>
            <a:off x="2589212" y="2133600"/>
            <a:ext cx="8915400" cy="3886200"/>
          </a:xfrm>
          <a:prstGeom prst="rect">
            <a:avLst/>
          </a:prstGeom>
          <a:noFill/>
          <a:ln>
            <a:noFill/>
          </a:ln>
        </p:spPr>
        <p:txBody>
          <a:bodyPr spcFirstLastPara="1" wrap="square" lIns="91425" tIns="45700" rIns="91425" bIns="45700" anchor="t" anchorCtr="0">
            <a:normAutofit/>
          </a:bodyPr>
          <a:lstStyle>
            <a:lvl1pPr marL="457200" marR="0" lvl="0" indent="-342900" algn="l" rtl="0">
              <a:spcBef>
                <a:spcPts val="1000"/>
              </a:spcBef>
              <a:spcAft>
                <a:spcPts val="0"/>
              </a:spcAft>
              <a:buClr>
                <a:schemeClr val="accent1"/>
              </a:buClr>
              <a:buSzPts val="1800"/>
              <a:buFont typeface="Noto Sans Symbols"/>
              <a:buChar char=""/>
              <a:defRPr sz="18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1pPr>
            <a:lvl2pPr marL="914400" marR="0" lvl="1" indent="-330200" algn="l" rtl="0">
              <a:spcBef>
                <a:spcPts val="1000"/>
              </a:spcBef>
              <a:spcAft>
                <a:spcPts val="0"/>
              </a:spcAft>
              <a:buClr>
                <a:schemeClr val="accent1"/>
              </a:buClr>
              <a:buSzPts val="1600"/>
              <a:buFont typeface="Noto Sans Symbols"/>
              <a:buChar char=""/>
              <a:defRPr sz="16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2pPr>
            <a:lvl3pPr marL="1371600" marR="0" lvl="2" indent="-317500" algn="l" rtl="0">
              <a:spcBef>
                <a:spcPts val="1000"/>
              </a:spcBef>
              <a:spcAft>
                <a:spcPts val="0"/>
              </a:spcAft>
              <a:buClr>
                <a:schemeClr val="accent1"/>
              </a:buClr>
              <a:buSzPts val="1400"/>
              <a:buFont typeface="Noto Sans Symbols"/>
              <a:buChar char=""/>
              <a:defRPr sz="14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3pPr>
            <a:lvl4pPr marL="1828800" marR="0" lvl="3"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4pPr>
            <a:lvl5pPr marL="2286000" marR="0" lvl="4"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5pPr>
            <a:lvl6pPr marL="2743200" marR="0" lvl="5"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6pPr>
            <a:lvl7pPr marL="3200400" marR="0" lvl="6"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7pPr>
            <a:lvl8pPr marL="3657600" marR="0" lvl="7"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8pPr>
            <a:lvl9pPr marL="4114800" marR="0" lvl="8"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39" name="Google Shape;39;p2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40" name="Google Shape;40;p2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entury Gothic" panose="020B0502020202020204"/>
                <a:ea typeface="Century Gothic" panose="020B0502020202020204"/>
                <a:cs typeface="Century Gothic" panose="020B0502020202020204"/>
                <a:sym typeface="Century Gothic" panose="020B0502020202020204"/>
              </a:defRPr>
            </a:lvl1pPr>
            <a:lvl2pPr marR="0" lvl="1"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2pPr>
            <a:lvl3pPr marR="0" lvl="2"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3pPr>
            <a:lvl4pPr marR="0" lvl="3"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4pPr>
            <a:lvl5pPr marR="0" lvl="4"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5pPr>
            <a:lvl6pPr marR="0" lvl="5"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6pPr>
            <a:lvl7pPr marR="0" lvl="6"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7pPr>
            <a:lvl8pPr marR="0" lvl="7"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8pPr>
            <a:lvl9pPr marR="0" lvl="8" algn="l" rtl="0">
              <a:spcBef>
                <a:spcPts val="0"/>
              </a:spcBef>
              <a:spcAft>
                <a:spcPts val="0"/>
              </a:spcAft>
              <a:buSzPts val="1400"/>
              <a:buNone/>
              <a:def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defRPr>
            </a:lvl9pPr>
          </a:lstStyle>
          <a:p/>
        </p:txBody>
      </p:sp>
      <p:sp>
        <p:nvSpPr>
          <p:cNvPr id="41" name="Google Shape;41;p22"/>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1pPr>
            <a:lvl2pPr marL="0" marR="0" lvl="1"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2pPr>
            <a:lvl3pPr marL="0" marR="0" lvl="2"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3pPr>
            <a:lvl4pPr marL="0" marR="0" lvl="3"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4pPr>
            <a:lvl5pPr marL="0" marR="0" lvl="4"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5pPr>
            <a:lvl6pPr marL="0" marR="0" lvl="5"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6pPr>
            <a:lvl7pPr marL="0" marR="0" lvl="6"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7pPr>
            <a:lvl8pPr marL="0" marR="0" lvl="7"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8pPr>
            <a:lvl9pPr marL="0" marR="0" lvl="8" indent="0" algn="r" rtl="0">
              <a:spcBef>
                <a:spcPts val="0"/>
              </a:spcBef>
              <a:buNone/>
              <a:defRPr sz="2000" b="0" i="0" u="none" strike="noStrike" cap="none">
                <a:solidFill>
                  <a:srgbClr val="FEFFFF"/>
                </a:solidFill>
                <a:latin typeface="Century Gothic" panose="020B0502020202020204"/>
                <a:ea typeface="Century Gothic" panose="020B0502020202020204"/>
                <a:cs typeface="Century Gothic" panose="020B0502020202020204"/>
                <a:sym typeface="Century Gothic" panose="020B0502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hyperlink" Target="mailto:khaled@du.ac.bd"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
          <p:cNvSpPr txBox="1">
            <a:spLocks noGrp="1"/>
          </p:cNvSpPr>
          <p:nvPr>
            <p:ph type="ctrTitle"/>
          </p:nvPr>
        </p:nvSpPr>
        <p:spPr>
          <a:xfrm>
            <a:off x="2589213" y="2514600"/>
            <a:ext cx="8915399" cy="2262781"/>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262626"/>
              </a:buClr>
              <a:buSzPts val="4800"/>
              <a:buFont typeface="Century Gothic" panose="020B0502020202020204"/>
              <a:buNone/>
            </a:pPr>
            <a:r>
              <a:rPr lang="en-US" sz="4800" dirty="0"/>
              <a:t>MITM 431: Big Data Analytics</a:t>
            </a:r>
            <a:br>
              <a:rPr lang="en-US" sz="4800" dirty="0"/>
            </a:br>
            <a:r>
              <a:rPr lang="en-US" sz="3200" b="1" dirty="0">
                <a:solidFill>
                  <a:srgbClr val="C00000"/>
                </a:solidFill>
              </a:rPr>
              <a:t>Outline</a:t>
            </a:r>
            <a:r>
              <a:rPr lang="en-US" sz="4800" dirty="0"/>
              <a:t> </a:t>
            </a:r>
            <a:endParaRPr dirty="0"/>
          </a:p>
        </p:txBody>
      </p:sp>
      <p:sp>
        <p:nvSpPr>
          <p:cNvPr id="169" name="Google Shape;169;p1"/>
          <p:cNvSpPr txBox="1">
            <a:spLocks noGrp="1"/>
          </p:cNvSpPr>
          <p:nvPr>
            <p:ph type="subTitle" idx="1"/>
          </p:nvPr>
        </p:nvSpPr>
        <p:spPr>
          <a:xfrm>
            <a:off x="2589213" y="4777379"/>
            <a:ext cx="8915399" cy="112628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a:t>Shah Mostafa Khaled, Ph. D.</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panose="020B0502020202020204"/>
              <a:buNone/>
            </a:pPr>
            <a:r>
              <a:rPr lang="en-US" dirty="0"/>
              <a:t>MITM 431: Big Data Analytics</a:t>
            </a:r>
            <a:endParaRPr dirty="0"/>
          </a:p>
        </p:txBody>
      </p:sp>
      <p:sp>
        <p:nvSpPr>
          <p:cNvPr id="176" name="Google Shape;176;p2"/>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p>
            <a:pPr marL="0" lvl="0" indent="0" algn="r" rtl="0">
              <a:spcBef>
                <a:spcPts val="0"/>
              </a:spcBef>
              <a:spcAft>
                <a:spcPts val="0"/>
              </a:spcAft>
              <a:buSzPts val="1800"/>
              <a:buNone/>
            </a:pPr>
            <a:r>
              <a:rPr lang="en-US" b="1" dirty="0">
                <a:solidFill>
                  <a:srgbClr val="A53010"/>
                </a:solidFill>
              </a:rPr>
              <a:t>Instructor: </a:t>
            </a:r>
            <a:r>
              <a:rPr lang="en-US" b="1" u="sng" dirty="0">
                <a:solidFill>
                  <a:srgbClr val="A53010"/>
                </a:solidFill>
              </a:rPr>
              <a:t>Shah Mostafa Khaled, Ph.D.</a:t>
            </a:r>
            <a:endParaRPr dirty="0"/>
          </a:p>
          <a:p>
            <a:pPr marL="342900" lvl="0" indent="-342900" algn="r" rtl="0">
              <a:spcBef>
                <a:spcPts val="1000"/>
              </a:spcBef>
              <a:spcAft>
                <a:spcPts val="0"/>
              </a:spcAft>
              <a:buSzPts val="1800"/>
              <a:buFont typeface="Wingdings" panose="05000000000000000000" pitchFamily="2" charset="2"/>
              <a:buChar char="§"/>
            </a:pPr>
            <a:r>
              <a:rPr lang="en-US" b="1" dirty="0"/>
              <a:t>Office Location: </a:t>
            </a:r>
            <a:r>
              <a:rPr lang="en-US" dirty="0"/>
              <a:t>Room No: 103, IIT Building, DU</a:t>
            </a:r>
            <a:endParaRPr dirty="0"/>
          </a:p>
          <a:p>
            <a:pPr marL="342900" lvl="0" indent="-342900" algn="r" rtl="0">
              <a:spcBef>
                <a:spcPts val="1000"/>
              </a:spcBef>
              <a:spcAft>
                <a:spcPts val="0"/>
              </a:spcAft>
              <a:buSzPts val="1800"/>
              <a:buFont typeface="Wingdings" panose="05000000000000000000" pitchFamily="2" charset="2"/>
              <a:buChar char="§"/>
            </a:pPr>
            <a:r>
              <a:rPr lang="en-US" b="1" dirty="0"/>
              <a:t>Email:</a:t>
            </a:r>
            <a:r>
              <a:rPr lang="en-US" dirty="0"/>
              <a:t> </a:t>
            </a:r>
            <a:r>
              <a:rPr lang="en-US" u="sng" dirty="0">
                <a:solidFill>
                  <a:schemeClr val="hlink"/>
                </a:solidFill>
                <a:hlinkClick r:id="rId1"/>
              </a:rPr>
              <a:t>khaled@du.ac.bd</a:t>
            </a:r>
            <a:endParaRPr dirty="0"/>
          </a:p>
          <a:p>
            <a:pPr marL="342900" lvl="0" indent="-342900" algn="r" rtl="0">
              <a:spcBef>
                <a:spcPts val="1000"/>
              </a:spcBef>
              <a:spcAft>
                <a:spcPts val="0"/>
              </a:spcAft>
              <a:buSzPts val="1800"/>
              <a:buFont typeface="Wingdings" panose="05000000000000000000" pitchFamily="2" charset="2"/>
              <a:buChar char="§"/>
            </a:pPr>
            <a:r>
              <a:rPr lang="en-US" b="1" dirty="0"/>
              <a:t>Phone and WhatsApp</a:t>
            </a:r>
            <a:r>
              <a:rPr lang="en-US" dirty="0"/>
              <a:t>: To be shared with CR  </a:t>
            </a:r>
            <a:endParaRPr dirty="0"/>
          </a:p>
          <a:p>
            <a:pPr marL="342900" lvl="0" indent="-228600" algn="l" rtl="0">
              <a:spcBef>
                <a:spcPts val="1000"/>
              </a:spcBef>
              <a:spcAft>
                <a:spcPts val="0"/>
              </a:spcAft>
              <a:buSzPts val="1800"/>
              <a:buNone/>
            </a:pPr>
            <a:endParaRPr dirty="0"/>
          </a:p>
          <a:p>
            <a:pPr marL="342900" lvl="0" indent="-342900" algn="l" rtl="0">
              <a:spcBef>
                <a:spcPts val="1000"/>
              </a:spcBef>
              <a:spcAft>
                <a:spcPts val="0"/>
              </a:spcAft>
              <a:buSzPts val="1800"/>
              <a:buFont typeface="Wingdings" panose="05000000000000000000" pitchFamily="2" charset="2"/>
              <a:buChar char="§"/>
            </a:pPr>
            <a:r>
              <a:rPr lang="en-US" b="1" dirty="0"/>
              <a:t>Class Hours: </a:t>
            </a:r>
            <a:r>
              <a:rPr lang="en-US" dirty="0"/>
              <a:t>Saturday 7:50-9:30, Monday 6:00-7:40</a:t>
            </a:r>
            <a:endParaRPr dirty="0"/>
          </a:p>
          <a:p>
            <a:pPr marL="342900" lvl="0" indent="-342900" algn="l" rtl="0">
              <a:spcBef>
                <a:spcPts val="1000"/>
              </a:spcBef>
              <a:spcAft>
                <a:spcPts val="0"/>
              </a:spcAft>
              <a:buSzPts val="1800"/>
              <a:buFont typeface="Wingdings" panose="05000000000000000000" pitchFamily="2" charset="2"/>
              <a:buChar char="§"/>
            </a:pPr>
            <a:r>
              <a:rPr lang="en-US" b="1" dirty="0"/>
              <a:t>Classroom: </a:t>
            </a:r>
            <a:r>
              <a:rPr lang="en-US" dirty="0"/>
              <a:t>Room No. 402</a:t>
            </a:r>
            <a:endParaRPr dirty="0"/>
          </a:p>
          <a:p>
            <a:pPr marL="342900" lvl="0" indent="-342900" algn="l" rtl="0">
              <a:spcBef>
                <a:spcPts val="1000"/>
              </a:spcBef>
              <a:spcAft>
                <a:spcPts val="0"/>
              </a:spcAft>
              <a:buSzPts val="1800"/>
              <a:buFont typeface="Wingdings" panose="05000000000000000000" pitchFamily="2" charset="2"/>
              <a:buChar char="§"/>
            </a:pPr>
            <a:r>
              <a:rPr lang="en-US" b="1" dirty="0"/>
              <a:t>Credit:</a:t>
            </a:r>
            <a:r>
              <a:rPr lang="en-US" dirty="0"/>
              <a:t> 3 credit hours</a:t>
            </a:r>
            <a:endParaRPr dirty="0"/>
          </a:p>
          <a:p>
            <a:pPr marL="342900" lvl="0" indent="-342900" algn="l" rtl="0">
              <a:spcBef>
                <a:spcPts val="1000"/>
              </a:spcBef>
              <a:spcAft>
                <a:spcPts val="0"/>
              </a:spcAft>
              <a:buSzPts val="1800"/>
              <a:buFont typeface="Wingdings" panose="05000000000000000000" pitchFamily="2" charset="2"/>
              <a:buChar char="§"/>
            </a:pPr>
            <a:r>
              <a:rPr lang="en-US" b="1" dirty="0"/>
              <a:t>CR:</a:t>
            </a:r>
            <a:r>
              <a:rPr lang="en-US" dirty="0"/>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panose="020B0502020202020204"/>
              <a:buNone/>
            </a:pPr>
            <a:r>
              <a:rPr lang="en-US" dirty="0"/>
              <a:t>MITM 431: Big Data Analytics</a:t>
            </a:r>
            <a:endParaRPr dirty="0"/>
          </a:p>
        </p:txBody>
      </p:sp>
      <p:sp>
        <p:nvSpPr>
          <p:cNvPr id="183" name="Google Shape;183;p3"/>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b="1" u="sng" dirty="0">
                <a:solidFill>
                  <a:srgbClr val="A53010"/>
                </a:solidFill>
              </a:rPr>
              <a:t>Important Dates</a:t>
            </a:r>
            <a:endParaRPr dirty="0"/>
          </a:p>
          <a:p>
            <a:pPr marL="342900" lvl="0" indent="-342900" algn="l" rtl="0">
              <a:spcBef>
                <a:spcPts val="1000"/>
              </a:spcBef>
              <a:spcAft>
                <a:spcPts val="0"/>
              </a:spcAft>
              <a:buSzPts val="1800"/>
              <a:buFont typeface="Wingdings" panose="05000000000000000000" pitchFamily="2" charset="2"/>
              <a:buChar char="§"/>
            </a:pPr>
            <a:r>
              <a:rPr lang="en-US" b="1" dirty="0">
                <a:solidFill>
                  <a:srgbClr val="A53010"/>
                </a:solidFill>
              </a:rPr>
              <a:t>Class start:</a:t>
            </a:r>
            <a:r>
              <a:rPr lang="en-US" dirty="0"/>
              <a:t> 7.03.2026</a:t>
            </a:r>
            <a:endParaRPr dirty="0"/>
          </a:p>
          <a:p>
            <a:pPr marL="342900" lvl="0" indent="-342900" algn="l" rtl="0">
              <a:spcBef>
                <a:spcPts val="1000"/>
              </a:spcBef>
              <a:spcAft>
                <a:spcPts val="0"/>
              </a:spcAft>
              <a:buSzPts val="1800"/>
              <a:buFont typeface="Wingdings" panose="05000000000000000000" pitchFamily="2" charset="2"/>
              <a:buChar char="§"/>
            </a:pPr>
            <a:r>
              <a:rPr lang="en-US" b="1" dirty="0">
                <a:solidFill>
                  <a:srgbClr val="A53010"/>
                </a:solidFill>
              </a:rPr>
              <a:t>In-course/Midterm 1</a:t>
            </a:r>
            <a:r>
              <a:rPr lang="en-US" dirty="0"/>
              <a:t>: 02-07 May 2026</a:t>
            </a:r>
            <a:endParaRPr dirty="0"/>
          </a:p>
          <a:p>
            <a:pPr marL="342900" lvl="0" indent="-342900" algn="l" rtl="0">
              <a:spcBef>
                <a:spcPts val="1000"/>
              </a:spcBef>
              <a:spcAft>
                <a:spcPts val="0"/>
              </a:spcAft>
              <a:buSzPts val="1800"/>
              <a:buFont typeface="Wingdings" panose="05000000000000000000" pitchFamily="2" charset="2"/>
              <a:buChar char="§"/>
            </a:pPr>
            <a:r>
              <a:rPr lang="en-US" b="1" dirty="0">
                <a:solidFill>
                  <a:srgbClr val="A53010"/>
                </a:solidFill>
              </a:rPr>
              <a:t>Class End</a:t>
            </a:r>
            <a:r>
              <a:rPr lang="en-US" dirty="0"/>
              <a:t>: 25 June 2026</a:t>
            </a:r>
            <a:endParaRPr dirty="0"/>
          </a:p>
          <a:p>
            <a:pPr marL="342900" lvl="0" indent="-342900" algn="l" rtl="0">
              <a:spcBef>
                <a:spcPts val="1000"/>
              </a:spcBef>
              <a:spcAft>
                <a:spcPts val="0"/>
              </a:spcAft>
              <a:buSzPts val="1800"/>
              <a:buFont typeface="Wingdings" panose="05000000000000000000" pitchFamily="2" charset="2"/>
              <a:buChar char="§"/>
            </a:pPr>
            <a:r>
              <a:rPr lang="en-US" b="1" dirty="0">
                <a:solidFill>
                  <a:srgbClr val="A53010"/>
                </a:solidFill>
              </a:rPr>
              <a:t>Final Exam Start</a:t>
            </a:r>
            <a:r>
              <a:rPr lang="en-US" dirty="0"/>
              <a:t>: 04 July 2026</a:t>
            </a:r>
            <a:endParaRPr dirty="0"/>
          </a:p>
          <a:p>
            <a:pPr marL="342900" lvl="0" indent="-342900" algn="l" rtl="0">
              <a:spcBef>
                <a:spcPts val="1000"/>
              </a:spcBef>
              <a:spcAft>
                <a:spcPts val="0"/>
              </a:spcAft>
              <a:buSzPts val="1800"/>
              <a:buFont typeface="Wingdings" panose="05000000000000000000" pitchFamily="2" charset="2"/>
              <a:buChar char="§"/>
            </a:pPr>
            <a:r>
              <a:rPr lang="en-US" dirty="0">
                <a:solidFill>
                  <a:srgbClr val="00B050"/>
                </a:solidFill>
              </a:rPr>
              <a:t>Presentation</a:t>
            </a:r>
            <a:endParaRPr dirty="0"/>
          </a:p>
          <a:p>
            <a:pPr marL="342900" lvl="0" indent="-342900" algn="l" rtl="0">
              <a:spcBef>
                <a:spcPts val="1000"/>
              </a:spcBef>
              <a:spcAft>
                <a:spcPts val="0"/>
              </a:spcAft>
              <a:buSzPts val="1800"/>
              <a:buFont typeface="Wingdings" panose="05000000000000000000" pitchFamily="2" charset="2"/>
              <a:buChar char="§"/>
            </a:pPr>
            <a:r>
              <a:rPr lang="en-US" dirty="0">
                <a:solidFill>
                  <a:srgbClr val="00B050"/>
                </a:solidFill>
              </a:rPr>
              <a:t>Project (Proposal, Confirmation of Proposal, Finalization)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panose="020B0502020202020204"/>
              <a:buNone/>
            </a:pPr>
            <a:r>
              <a:rPr lang="en-US" dirty="0"/>
              <a:t>MITM 431: Big Data Analytics</a:t>
            </a:r>
            <a:endParaRPr dirty="0"/>
          </a:p>
        </p:txBody>
      </p:sp>
      <p:sp>
        <p:nvSpPr>
          <p:cNvPr id="189" name="Google Shape;189;p4"/>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b="1" u="sng">
                <a:solidFill>
                  <a:srgbClr val="A53010"/>
                </a:solidFill>
              </a:rPr>
              <a:t>Marks Distribution</a:t>
            </a:r>
            <a:endParaRPr lang="en-US" b="1" u="sng">
              <a:solidFill>
                <a:srgbClr val="A53010"/>
              </a:solidFill>
            </a:endParaRPr>
          </a:p>
          <a:p>
            <a:pPr marL="0" lvl="0" indent="0" algn="ctr" rtl="0">
              <a:spcBef>
                <a:spcPts val="1000"/>
              </a:spcBef>
              <a:spcAft>
                <a:spcPts val="0"/>
              </a:spcAft>
              <a:buSzPts val="1800"/>
              <a:buNone/>
            </a:pPr>
            <a:endParaRPr>
              <a:solidFill>
                <a:schemeClr val="dk1"/>
              </a:solidFill>
            </a:endParaRPr>
          </a:p>
        </p:txBody>
      </p:sp>
      <p:graphicFrame>
        <p:nvGraphicFramePr>
          <p:cNvPr id="190" name="Google Shape;190;p4"/>
          <p:cNvGraphicFramePr/>
          <p:nvPr/>
        </p:nvGraphicFramePr>
        <p:xfrm>
          <a:off x="2589212" y="2804728"/>
          <a:ext cx="5172350" cy="3335175"/>
        </p:xfrm>
        <a:graphic>
          <a:graphicData uri="http://schemas.openxmlformats.org/drawingml/2006/table">
            <a:tbl>
              <a:tblPr firstRow="1" bandRow="1">
                <a:noFill/>
                <a:tableStyleId>{02A2280E-2C1D-417E-9B28-B857016DC863}</a:tableStyleId>
              </a:tblPr>
              <a:tblGrid>
                <a:gridCol w="4230250"/>
                <a:gridCol w="942100"/>
              </a:tblGrid>
              <a:tr h="370575">
                <a:tc>
                  <a:txBody>
                    <a:bodyPr/>
                    <a:lstStyle/>
                    <a:p>
                      <a:pPr marL="0" marR="0" lvl="0" indent="0" algn="l" rtl="0">
                        <a:spcBef>
                          <a:spcPts val="0"/>
                        </a:spcBef>
                        <a:spcAft>
                          <a:spcPts val="0"/>
                        </a:spcAft>
                        <a:buNone/>
                      </a:pPr>
                      <a:r>
                        <a:rPr lang="en-US" sz="1800" u="none" strike="noStrike" cap="none"/>
                        <a:t>Assessment</a:t>
                      </a:r>
                      <a:endParaRPr lang="en-US" sz="1800" u="none" strike="noStrike" cap="none"/>
                    </a:p>
                  </a:txBody>
                  <a:tcPr marL="91450" marR="91450" marT="45725" marB="45725"/>
                </a:tc>
                <a:tc>
                  <a:txBody>
                    <a:bodyPr/>
                    <a:lstStyle/>
                    <a:p>
                      <a:pPr marL="0" marR="0" lvl="0" indent="0" algn="ctr" rtl="0">
                        <a:spcBef>
                          <a:spcPts val="0"/>
                        </a:spcBef>
                        <a:spcAft>
                          <a:spcPts val="0"/>
                        </a:spcAft>
                        <a:buNone/>
                      </a:pPr>
                      <a:r>
                        <a:rPr lang="en-US" sz="1800"/>
                        <a:t>%</a:t>
                      </a:r>
                      <a:endParaRPr lang="en-US" sz="1800"/>
                    </a:p>
                  </a:txBody>
                  <a:tcPr marL="91450" marR="91450" marT="45725" marB="45725"/>
                </a:tc>
              </a:tr>
              <a:tr h="370575">
                <a:tc>
                  <a:txBody>
                    <a:bodyPr/>
                    <a:lstStyle/>
                    <a:p>
                      <a:pPr marL="0" marR="0" lvl="0" indent="0" algn="l" rtl="0">
                        <a:spcBef>
                          <a:spcPts val="0"/>
                        </a:spcBef>
                        <a:spcAft>
                          <a:spcPts val="0"/>
                        </a:spcAft>
                        <a:buNone/>
                      </a:pPr>
                      <a:r>
                        <a:rPr lang="en-US" sz="1800"/>
                        <a:t>Assignment</a:t>
                      </a:r>
                      <a:endParaRPr lang="en-US" sz="1800"/>
                    </a:p>
                  </a:txBody>
                  <a:tcPr marL="91450" marR="91450" marT="45725" marB="45725"/>
                </a:tc>
                <a:tc>
                  <a:txBody>
                    <a:bodyPr/>
                    <a:lstStyle/>
                    <a:p>
                      <a:pPr marL="0" marR="0" lvl="0" indent="0" algn="r" rtl="0">
                        <a:spcBef>
                          <a:spcPts val="0"/>
                        </a:spcBef>
                        <a:spcAft>
                          <a:spcPts val="0"/>
                        </a:spcAft>
                        <a:buNone/>
                      </a:pPr>
                      <a:endParaRPr sz="1800"/>
                    </a:p>
                  </a:txBody>
                  <a:tcPr marL="91450" marR="91450" marT="45725" marB="45725"/>
                </a:tc>
              </a:tr>
              <a:tr h="370575">
                <a:tc>
                  <a:txBody>
                    <a:bodyPr/>
                    <a:lstStyle/>
                    <a:p>
                      <a:pPr marL="0" marR="0" lvl="0" indent="0" algn="l" rtl="0">
                        <a:spcBef>
                          <a:spcPts val="0"/>
                        </a:spcBef>
                        <a:spcAft>
                          <a:spcPts val="0"/>
                        </a:spcAft>
                        <a:buNone/>
                      </a:pPr>
                      <a:r>
                        <a:rPr lang="en-US" sz="1800"/>
                        <a:t>Quiz</a:t>
                      </a:r>
                      <a:endParaRPr lang="en-US" sz="1800"/>
                    </a:p>
                  </a:txBody>
                  <a:tcPr marL="91450" marR="91450" marT="45725" marB="45725"/>
                </a:tc>
                <a:tc>
                  <a:txBody>
                    <a:bodyPr/>
                    <a:lstStyle/>
                    <a:p>
                      <a:pPr marL="0" marR="0" lvl="0" indent="0" algn="r" rtl="0">
                        <a:spcBef>
                          <a:spcPts val="0"/>
                        </a:spcBef>
                        <a:spcAft>
                          <a:spcPts val="0"/>
                        </a:spcAft>
                        <a:buNone/>
                      </a:pPr>
                      <a:endParaRPr sz="1800"/>
                    </a:p>
                  </a:txBody>
                  <a:tcPr marL="91450" marR="91450" marT="45725" marB="45725"/>
                </a:tc>
              </a:tr>
              <a:tr h="370575">
                <a:tc>
                  <a:txBody>
                    <a:bodyPr/>
                    <a:lstStyle/>
                    <a:p>
                      <a:pPr marL="0" marR="0" lvl="0" indent="0" algn="l" rtl="0">
                        <a:spcBef>
                          <a:spcPts val="0"/>
                        </a:spcBef>
                        <a:spcAft>
                          <a:spcPts val="0"/>
                        </a:spcAft>
                        <a:buNone/>
                      </a:pPr>
                      <a:r>
                        <a:rPr lang="en-US" sz="1800"/>
                        <a:t>Midterm/In-course</a:t>
                      </a:r>
                      <a:endParaRPr lang="en-US" sz="1800"/>
                    </a:p>
                  </a:txBody>
                  <a:tcPr marL="91450" marR="91450" marT="45725" marB="45725"/>
                </a:tc>
                <a:tc>
                  <a:txBody>
                    <a:bodyPr/>
                    <a:lstStyle/>
                    <a:p>
                      <a:pPr marL="0" marR="0" lvl="0" indent="0" algn="r" rtl="0">
                        <a:spcBef>
                          <a:spcPts val="0"/>
                        </a:spcBef>
                        <a:spcAft>
                          <a:spcPts val="0"/>
                        </a:spcAft>
                        <a:buNone/>
                      </a:pPr>
                      <a:r>
                        <a:rPr lang="en-US" sz="1800" dirty="0">
                          <a:solidFill>
                            <a:srgbClr val="A53010"/>
                          </a:solidFill>
                        </a:rPr>
                        <a:t>20</a:t>
                      </a:r>
                      <a:endParaRPr dirty="0"/>
                    </a:p>
                  </a:txBody>
                  <a:tcPr marL="91450" marR="91450" marT="45725" marB="45725"/>
                </a:tc>
              </a:tr>
              <a:tr h="370575">
                <a:tc>
                  <a:txBody>
                    <a:bodyPr/>
                    <a:lstStyle/>
                    <a:p>
                      <a:pPr marL="0" marR="0" lvl="0" indent="0" algn="l" rtl="0">
                        <a:spcBef>
                          <a:spcPts val="0"/>
                        </a:spcBef>
                        <a:spcAft>
                          <a:spcPts val="0"/>
                        </a:spcAft>
                        <a:buNone/>
                      </a:pPr>
                      <a:r>
                        <a:rPr lang="en-US" sz="1800"/>
                        <a:t>Attendance</a:t>
                      </a:r>
                      <a:endParaRPr lang="en-US" sz="1800"/>
                    </a:p>
                  </a:txBody>
                  <a:tcPr marL="91450" marR="91450" marT="45725" marB="45725"/>
                </a:tc>
                <a:tc>
                  <a:txBody>
                    <a:bodyPr/>
                    <a:lstStyle/>
                    <a:p>
                      <a:pPr marL="0" marR="0" lvl="0" indent="0" algn="r" rtl="0">
                        <a:spcBef>
                          <a:spcPts val="0"/>
                        </a:spcBef>
                        <a:spcAft>
                          <a:spcPts val="0"/>
                        </a:spcAft>
                        <a:buNone/>
                      </a:pPr>
                      <a:r>
                        <a:rPr lang="en-US" sz="1800" dirty="0">
                          <a:solidFill>
                            <a:srgbClr val="A53010"/>
                          </a:solidFill>
                        </a:rPr>
                        <a:t>5</a:t>
                      </a:r>
                      <a:endParaRPr dirty="0"/>
                    </a:p>
                  </a:txBody>
                  <a:tcPr marL="91450" marR="91450" marT="45725" marB="45725"/>
                </a:tc>
              </a:tr>
              <a:tr h="370575">
                <a:tc>
                  <a:txBody>
                    <a:bodyPr/>
                    <a:lstStyle/>
                    <a:p>
                      <a:pPr marL="0" marR="0" lvl="0" indent="0" algn="l" rtl="0">
                        <a:spcBef>
                          <a:spcPts val="0"/>
                        </a:spcBef>
                        <a:spcAft>
                          <a:spcPts val="0"/>
                        </a:spcAft>
                        <a:buNone/>
                      </a:pPr>
                      <a:r>
                        <a:rPr lang="en-US" sz="1800"/>
                        <a:t>Presentation</a:t>
                      </a:r>
                      <a:endParaRPr lang="en-US" sz="1800"/>
                    </a:p>
                  </a:txBody>
                  <a:tcPr marL="91450" marR="91450" marT="45725" marB="45725"/>
                </a:tc>
                <a:tc>
                  <a:txBody>
                    <a:bodyPr/>
                    <a:lstStyle/>
                    <a:p>
                      <a:pPr marL="0" marR="0" lvl="0" indent="0" algn="r" rtl="0">
                        <a:spcBef>
                          <a:spcPts val="0"/>
                        </a:spcBef>
                        <a:spcAft>
                          <a:spcPts val="0"/>
                        </a:spcAft>
                        <a:buNone/>
                      </a:pPr>
                      <a:endParaRPr dirty="0"/>
                    </a:p>
                  </a:txBody>
                  <a:tcPr marL="91450" marR="91450" marT="45725" marB="45725"/>
                </a:tc>
              </a:tr>
              <a:tr h="370575">
                <a:tc>
                  <a:txBody>
                    <a:bodyPr/>
                    <a:lstStyle/>
                    <a:p>
                      <a:pPr marL="0" marR="0" lvl="0" indent="0" algn="l" rtl="0">
                        <a:spcBef>
                          <a:spcPts val="0"/>
                        </a:spcBef>
                        <a:spcAft>
                          <a:spcPts val="0"/>
                        </a:spcAft>
                        <a:buNone/>
                      </a:pPr>
                      <a:r>
                        <a:rPr lang="en-US" sz="1800"/>
                        <a:t>Project</a:t>
                      </a:r>
                      <a:endParaRPr lang="en-US" sz="1800"/>
                    </a:p>
                  </a:txBody>
                  <a:tcPr marL="91450" marR="91450" marT="45725" marB="45725"/>
                </a:tc>
                <a:tc>
                  <a:txBody>
                    <a:bodyPr/>
                    <a:lstStyle/>
                    <a:p>
                      <a:pPr marL="0" marR="0" lvl="0" indent="0" algn="r" rtl="0">
                        <a:spcBef>
                          <a:spcPts val="0"/>
                        </a:spcBef>
                        <a:spcAft>
                          <a:spcPts val="0"/>
                        </a:spcAft>
                        <a:buNone/>
                      </a:pPr>
                      <a:r>
                        <a:rPr lang="en-US" sz="1800" dirty="0">
                          <a:solidFill>
                            <a:srgbClr val="00B050"/>
                          </a:solidFill>
                        </a:rPr>
                        <a:t>25</a:t>
                      </a:r>
                      <a:endParaRPr dirty="0"/>
                    </a:p>
                  </a:txBody>
                  <a:tcPr marL="91450" marR="91450" marT="45725" marB="45725"/>
                </a:tc>
              </a:tr>
              <a:tr h="370575">
                <a:tc>
                  <a:txBody>
                    <a:bodyPr/>
                    <a:lstStyle/>
                    <a:p>
                      <a:pPr marL="0" marR="0" lvl="0" indent="0" algn="l" rtl="0">
                        <a:lnSpc>
                          <a:spcPct val="100000"/>
                        </a:lnSpc>
                        <a:spcBef>
                          <a:spcPts val="0"/>
                        </a:spcBef>
                        <a:spcAft>
                          <a:spcPts val="0"/>
                        </a:spcAft>
                        <a:buClr>
                          <a:schemeClr val="dk1"/>
                        </a:buClr>
                        <a:buSzPts val="1800"/>
                        <a:buFont typeface="Century Gothic" panose="020B0502020202020204"/>
                        <a:buNone/>
                      </a:pPr>
                      <a:r>
                        <a:rPr lang="en-US" sz="1800"/>
                        <a:t>Final</a:t>
                      </a:r>
                      <a:endParaRPr lang="en-US" sz="1800"/>
                    </a:p>
                  </a:txBody>
                  <a:tcPr marL="91450" marR="91450" marT="45725" marB="45725"/>
                </a:tc>
                <a:tc>
                  <a:txBody>
                    <a:bodyPr/>
                    <a:lstStyle/>
                    <a:p>
                      <a:pPr marL="0" marR="0" lvl="0" indent="0" algn="r" rtl="0">
                        <a:spcBef>
                          <a:spcPts val="0"/>
                        </a:spcBef>
                        <a:spcAft>
                          <a:spcPts val="0"/>
                        </a:spcAft>
                        <a:buNone/>
                      </a:pPr>
                      <a:r>
                        <a:rPr lang="en-US" sz="1800" dirty="0">
                          <a:solidFill>
                            <a:srgbClr val="A53010"/>
                          </a:solidFill>
                        </a:rPr>
                        <a:t>50</a:t>
                      </a:r>
                      <a:endParaRPr dirty="0"/>
                    </a:p>
                  </a:txBody>
                  <a:tcPr marL="91450" marR="91450" marT="45725" marB="45725"/>
                </a:tc>
              </a:tr>
              <a:tr h="370575">
                <a:tc>
                  <a:txBody>
                    <a:bodyPr/>
                    <a:lstStyle/>
                    <a:p>
                      <a:pPr marL="0" marR="0" lvl="0" indent="0" algn="l" rtl="0">
                        <a:lnSpc>
                          <a:spcPct val="100000"/>
                        </a:lnSpc>
                        <a:spcBef>
                          <a:spcPts val="0"/>
                        </a:spcBef>
                        <a:spcAft>
                          <a:spcPts val="0"/>
                        </a:spcAft>
                        <a:buClr>
                          <a:schemeClr val="dk1"/>
                        </a:buClr>
                        <a:buSzPts val="1800"/>
                        <a:buFont typeface="Century Gothic" panose="020B0502020202020204"/>
                        <a:buNone/>
                      </a:pPr>
                      <a:endParaRPr sz="180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5"/>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panose="020B0502020202020204"/>
              <a:buNone/>
            </a:pPr>
            <a:r>
              <a:rPr lang="en-US" dirty="0"/>
              <a:t>MITM 431: Big Data Analytics</a:t>
            </a:r>
            <a:endParaRPr dirty="0"/>
          </a:p>
        </p:txBody>
      </p:sp>
      <p:sp>
        <p:nvSpPr>
          <p:cNvPr id="196" name="Google Shape;196;p5"/>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800"/>
              <a:buFont typeface="Wingdings" panose="05000000000000000000" pitchFamily="2" charset="2"/>
              <a:buChar char="§"/>
            </a:pPr>
            <a:r>
              <a:rPr lang="en-US" b="1" dirty="0">
                <a:solidFill>
                  <a:srgbClr val="A53010"/>
                </a:solidFill>
              </a:rPr>
              <a:t>Course Objectives</a:t>
            </a:r>
            <a:endParaRPr dirty="0"/>
          </a:p>
          <a:p>
            <a:pPr marL="342900" lvl="0" indent="-342900" algn="just" rtl="0">
              <a:spcBef>
                <a:spcPts val="1000"/>
              </a:spcBef>
              <a:spcAft>
                <a:spcPts val="0"/>
              </a:spcAft>
              <a:buSzPts val="1800"/>
              <a:buFont typeface="Noto Sans Symbols"/>
              <a:buChar char="✔"/>
            </a:pPr>
            <a:r>
              <a:rPr lang="en-US" dirty="0"/>
              <a:t>To introduce Big Data and its characteristics and challenges to students</a:t>
            </a:r>
            <a:endParaRPr dirty="0"/>
          </a:p>
          <a:p>
            <a:pPr marL="342900" lvl="0" indent="-342900" algn="just" rtl="0">
              <a:spcBef>
                <a:spcPts val="1000"/>
              </a:spcBef>
              <a:spcAft>
                <a:spcPts val="0"/>
              </a:spcAft>
              <a:buSzPts val="1800"/>
              <a:buFont typeface="Noto Sans Symbols"/>
              <a:buChar char="✔"/>
            </a:pPr>
            <a:r>
              <a:rPr lang="en-US" dirty="0"/>
              <a:t>To teach them appropriate tools for managing and analyzing such large-scale data</a:t>
            </a:r>
            <a:endParaRPr dirty="0"/>
          </a:p>
          <a:p>
            <a:pPr marL="342900" lvl="0" indent="-342900" algn="just" rtl="0">
              <a:spcBef>
                <a:spcPts val="1000"/>
              </a:spcBef>
              <a:spcAft>
                <a:spcPts val="0"/>
              </a:spcAft>
              <a:buSzPts val="1800"/>
              <a:buFont typeface="Noto Sans Symbols"/>
              <a:buChar char="✔"/>
            </a:pPr>
            <a:r>
              <a:rPr lang="en-US" dirty="0"/>
              <a:t>Understand applications of Big Data in different fields</a:t>
            </a:r>
            <a:endParaRPr dirty="0"/>
          </a:p>
          <a:p>
            <a:pPr marL="342900" lvl="0" indent="-342900" algn="just" rtl="0">
              <a:spcBef>
                <a:spcPts val="1000"/>
              </a:spcBef>
              <a:spcAft>
                <a:spcPts val="0"/>
              </a:spcAft>
              <a:buSzPts val="1800"/>
              <a:buFont typeface="Noto Sans Symbols"/>
              <a:buChar char="✔"/>
            </a:pPr>
            <a:r>
              <a:rPr lang="en-US" dirty="0"/>
              <a:t>Ethical issues related to Big Data</a:t>
            </a:r>
            <a:endParaRPr dirty="0"/>
          </a:p>
          <a:p>
            <a:pPr marL="342900" lvl="0" indent="-228600" algn="l" rtl="0">
              <a:spcBef>
                <a:spcPts val="1000"/>
              </a:spcBef>
              <a:spcAft>
                <a:spcPts val="0"/>
              </a:spcAft>
              <a:buSzPts val="1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8"/>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B050"/>
              </a:buClr>
              <a:buSzPts val="3600"/>
              <a:buFont typeface="Century Gothic" panose="020B0502020202020204"/>
              <a:buNone/>
            </a:pPr>
            <a:r>
              <a:rPr lang="en-US">
                <a:solidFill>
                  <a:srgbClr val="00B050"/>
                </a:solidFill>
              </a:rPr>
              <a:t>The real game starts here…</a:t>
            </a:r>
            <a:endParaRPr lang="en-US">
              <a:solidFill>
                <a:srgbClr val="00B050"/>
              </a:solidFill>
            </a:endParaRPr>
          </a:p>
        </p:txBody>
      </p:sp>
      <p:sp>
        <p:nvSpPr>
          <p:cNvPr id="214" name="Google Shape;214;p8"/>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b="1" u="sng" dirty="0">
                <a:solidFill>
                  <a:srgbClr val="A53010"/>
                </a:solidFill>
              </a:rPr>
              <a:t>Objectives: </a:t>
            </a:r>
            <a:endParaRPr dirty="0"/>
          </a:p>
          <a:p>
            <a:pPr marL="342900" lvl="0" indent="-342900" algn="l" rtl="0">
              <a:spcBef>
                <a:spcPts val="1000"/>
              </a:spcBef>
              <a:spcAft>
                <a:spcPts val="0"/>
              </a:spcAft>
              <a:buSzPts val="1800"/>
              <a:buFont typeface="Wingdings" panose="05000000000000000000" pitchFamily="2" charset="2"/>
              <a:buChar char="§"/>
            </a:pPr>
            <a:r>
              <a:rPr lang="en-US" dirty="0"/>
              <a:t>Review relational database systems and the SQL query language</a:t>
            </a:r>
            <a:endParaRPr dirty="0"/>
          </a:p>
          <a:p>
            <a:pPr marL="342900" lvl="0" indent="-342900" algn="l" rtl="0">
              <a:spcBef>
                <a:spcPts val="1000"/>
              </a:spcBef>
              <a:spcAft>
                <a:spcPts val="0"/>
              </a:spcAft>
              <a:buSzPts val="1800"/>
              <a:buFont typeface="Wingdings" panose="05000000000000000000" pitchFamily="2" charset="2"/>
              <a:buChar char="§"/>
            </a:pPr>
            <a:r>
              <a:rPr lang="en-US" dirty="0"/>
              <a:t>Understand how machine learning algorithms work</a:t>
            </a:r>
            <a:endParaRPr dirty="0"/>
          </a:p>
          <a:p>
            <a:pPr marL="342900" lvl="0" indent="-342900" algn="l" rtl="0">
              <a:spcBef>
                <a:spcPts val="1000"/>
              </a:spcBef>
              <a:spcAft>
                <a:spcPts val="0"/>
              </a:spcAft>
              <a:buSzPts val="1800"/>
              <a:buFont typeface="Wingdings" panose="05000000000000000000" pitchFamily="2" charset="2"/>
              <a:buChar char="§"/>
            </a:pPr>
            <a:r>
              <a:rPr lang="en-US" dirty="0"/>
              <a:t>Understand how big data systems work</a:t>
            </a:r>
            <a:endParaRPr dirty="0"/>
          </a:p>
          <a:p>
            <a:pPr marL="342900" lvl="0" indent="-342900" algn="l" rtl="0">
              <a:spcBef>
                <a:spcPts val="1000"/>
              </a:spcBef>
              <a:spcAft>
                <a:spcPts val="0"/>
              </a:spcAft>
              <a:buSzPts val="1800"/>
              <a:buFont typeface="Wingdings" panose="05000000000000000000" pitchFamily="2" charset="2"/>
              <a:buChar char="§"/>
            </a:pPr>
            <a:r>
              <a:rPr lang="en-US" dirty="0"/>
              <a:t>Apply the Python programming language to solve real(</a:t>
            </a:r>
            <a:r>
              <a:rPr lang="en-US" dirty="0" err="1"/>
              <a:t>istic</a:t>
            </a:r>
            <a:r>
              <a:rPr lang="en-US" dirty="0"/>
              <a:t>) data mining problems</a:t>
            </a:r>
            <a:endParaRPr dirty="0"/>
          </a:p>
          <a:p>
            <a:pPr marL="0" lvl="0" indent="0" algn="l" rtl="0">
              <a:spcBef>
                <a:spcPts val="1000"/>
              </a:spcBef>
              <a:spcAft>
                <a:spcPts val="0"/>
              </a:spcAft>
              <a:buSzPts val="1800"/>
              <a:buNone/>
            </a:pPr>
            <a:r>
              <a:rPr lang="en-US" b="1" u="sng" dirty="0">
                <a:solidFill>
                  <a:srgbClr val="A53010"/>
                </a:solidFill>
              </a:rPr>
              <a:t>Background: </a:t>
            </a:r>
            <a:endParaRPr dirty="0"/>
          </a:p>
          <a:p>
            <a:pPr marL="285750" lvl="0" indent="-285750" algn="l" rtl="0">
              <a:spcBef>
                <a:spcPts val="1000"/>
              </a:spcBef>
              <a:spcAft>
                <a:spcPts val="0"/>
              </a:spcAft>
              <a:buSzPts val="1800"/>
              <a:buFont typeface="Wingdings" panose="05000000000000000000" pitchFamily="2" charset="2"/>
              <a:buChar char="§"/>
            </a:pPr>
            <a:r>
              <a:rPr lang="en-US" dirty="0"/>
              <a:t>Computing: programming, algorithms, data structures</a:t>
            </a:r>
            <a:endParaRPr dirty="0"/>
          </a:p>
          <a:p>
            <a:pPr marL="285750" lvl="0" indent="-285750" algn="l" rtl="0">
              <a:spcBef>
                <a:spcPts val="1000"/>
              </a:spcBef>
              <a:spcAft>
                <a:spcPts val="0"/>
              </a:spcAft>
              <a:buSzPts val="1800"/>
              <a:buFont typeface="Wingdings" panose="05000000000000000000" pitchFamily="2" charset="2"/>
              <a:buChar char="§"/>
            </a:pPr>
            <a:r>
              <a:rPr lang="en-US" dirty="0"/>
              <a:t>Probability/statistics: probability functions, conditional probabilities, correlation, Bayes theorem</a:t>
            </a:r>
            <a:endParaRPr dirty="0"/>
          </a:p>
          <a:p>
            <a:pPr marL="285750" lvl="0" indent="-285750" algn="l" rtl="0">
              <a:spcBef>
                <a:spcPts val="1000"/>
              </a:spcBef>
              <a:spcAft>
                <a:spcPts val="0"/>
              </a:spcAft>
              <a:buSzPts val="1800"/>
              <a:buFont typeface="Wingdings" panose="05000000000000000000" pitchFamily="2" charset="2"/>
              <a:buChar char="§"/>
            </a:pPr>
            <a:r>
              <a:rPr lang="en-US" dirty="0"/>
              <a:t>Optimization: objective functions, heuristics, local/global optima</a:t>
            </a:r>
            <a:endParaRPr dirty="0"/>
          </a:p>
          <a:p>
            <a:pPr marL="285750" lvl="0" indent="-285750" algn="l" rtl="0">
              <a:spcBef>
                <a:spcPts val="1000"/>
              </a:spcBef>
              <a:spcAft>
                <a:spcPts val="0"/>
              </a:spcAft>
              <a:buSzPts val="1800"/>
              <a:buFont typeface="Wingdings" panose="05000000000000000000" pitchFamily="2" charset="2"/>
              <a:buChar char="§"/>
            </a:pPr>
            <a:r>
              <a:rPr lang="en-US" dirty="0"/>
              <a:t>Database systems: SQL, relational model, keys, foreign keys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9"/>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panose="020B0502020202020204"/>
              <a:buNone/>
            </a:pPr>
            <a:r>
              <a:rPr lang="en-US"/>
              <a:t>Syllabus</a:t>
            </a:r>
            <a:endParaRPr lang="en-US"/>
          </a:p>
        </p:txBody>
      </p:sp>
      <p:sp>
        <p:nvSpPr>
          <p:cNvPr id="220" name="Google Shape;220;p9"/>
          <p:cNvSpPr txBox="1">
            <a:spLocks noGrp="1"/>
          </p:cNvSpPr>
          <p:nvPr>
            <p:ph type="body" idx="1"/>
          </p:nvPr>
        </p:nvSpPr>
        <p:spPr>
          <a:xfrm>
            <a:off x="2133600" y="1330036"/>
            <a:ext cx="9698182" cy="4581186"/>
          </a:xfrm>
          <a:prstGeom prst="rect">
            <a:avLst/>
          </a:prstGeom>
          <a:noFill/>
          <a:ln>
            <a:noFill/>
          </a:ln>
        </p:spPr>
        <p:txBody>
          <a:bodyPr spcFirstLastPara="1" wrap="square" lIns="91425" tIns="45700" rIns="91425" bIns="45700" anchor="t" anchorCtr="0">
            <a:normAutofit/>
          </a:bodyPr>
          <a:lstStyle/>
          <a:p>
            <a:pPr marL="342900" lvl="0" indent="-342900" algn="l" rtl="0">
              <a:lnSpc>
                <a:spcPct val="120000"/>
              </a:lnSpc>
              <a:spcBef>
                <a:spcPts val="0"/>
              </a:spcBef>
              <a:spcAft>
                <a:spcPts val="0"/>
              </a:spcAft>
              <a:buSzPts val="1600"/>
              <a:buFont typeface="Wingdings" panose="05000000000000000000" pitchFamily="2" charset="2"/>
              <a:buChar char="§"/>
            </a:pPr>
            <a:r>
              <a:rPr lang="en-US" sz="1600" b="1" dirty="0"/>
              <a:t>Introduction to Big Data: </a:t>
            </a:r>
            <a:endParaRPr dirty="0"/>
          </a:p>
          <a:p>
            <a:pPr marL="0" lvl="0" indent="0" algn="l" rtl="0">
              <a:lnSpc>
                <a:spcPct val="120000"/>
              </a:lnSpc>
              <a:spcBef>
                <a:spcPts val="0"/>
              </a:spcBef>
              <a:spcAft>
                <a:spcPts val="0"/>
              </a:spcAft>
              <a:buSzPts val="1600"/>
              <a:buNone/>
            </a:pPr>
            <a:r>
              <a:rPr lang="en-US" sz="1600" dirty="0"/>
              <a:t>Definition, characteristics and applications of Big Data in various fields.</a:t>
            </a:r>
            <a:endParaRPr dirty="0"/>
          </a:p>
          <a:p>
            <a:pPr marL="342900" lvl="0" indent="-241300" algn="l" rtl="0">
              <a:lnSpc>
                <a:spcPct val="120000"/>
              </a:lnSpc>
              <a:spcBef>
                <a:spcPts val="0"/>
              </a:spcBef>
              <a:spcAft>
                <a:spcPts val="0"/>
              </a:spcAft>
              <a:buSzPts val="1600"/>
              <a:buNone/>
            </a:pPr>
            <a:endParaRPr sz="1600" dirty="0"/>
          </a:p>
          <a:p>
            <a:pPr marL="342900" lvl="0" indent="-342900" algn="l" rtl="0">
              <a:lnSpc>
                <a:spcPct val="120000"/>
              </a:lnSpc>
              <a:spcBef>
                <a:spcPts val="0"/>
              </a:spcBef>
              <a:spcAft>
                <a:spcPts val="0"/>
              </a:spcAft>
              <a:buSzPts val="1600"/>
              <a:buFont typeface="Wingdings" panose="05000000000000000000" pitchFamily="2" charset="2"/>
              <a:buChar char="§"/>
            </a:pPr>
            <a:r>
              <a:rPr lang="en-US" sz="1600" b="1" dirty="0"/>
              <a:t>Data pre-processing: </a:t>
            </a:r>
            <a:endParaRPr dirty="0"/>
          </a:p>
          <a:p>
            <a:pPr marL="0" lvl="0" indent="0" algn="l" rtl="0">
              <a:lnSpc>
                <a:spcPct val="120000"/>
              </a:lnSpc>
              <a:spcBef>
                <a:spcPts val="0"/>
              </a:spcBef>
              <a:spcAft>
                <a:spcPts val="0"/>
              </a:spcAft>
              <a:buSzPts val="1600"/>
              <a:buNone/>
            </a:pPr>
            <a:r>
              <a:rPr lang="en-US" sz="1600" dirty="0"/>
              <a:t>Data collection and extraction - scraping data, data cleaning- handling missing values, noisy data and outliers; redundancy and correlation analysis, tuple duplication, conflict detection and resolution. Structured and unstructured data and databases - relational and NoSQL databases. Data reduction - overview, Wavelet transformation‘, Attribute Subset Selection, Data Cube Aggregation; Data Transformation and Discretization.</a:t>
            </a:r>
            <a:endParaRPr dirty="0"/>
          </a:p>
          <a:p>
            <a:pPr marL="342900" lvl="0" indent="-241300" algn="l" rtl="0">
              <a:lnSpc>
                <a:spcPct val="120000"/>
              </a:lnSpc>
              <a:spcBef>
                <a:spcPts val="0"/>
              </a:spcBef>
              <a:spcAft>
                <a:spcPts val="0"/>
              </a:spcAft>
              <a:buSzPts val="1600"/>
              <a:buNone/>
            </a:pPr>
            <a:endParaRPr sz="1600" dirty="0"/>
          </a:p>
          <a:p>
            <a:pPr marL="342900" lvl="0" indent="-342900" algn="l" rtl="0">
              <a:lnSpc>
                <a:spcPct val="120000"/>
              </a:lnSpc>
              <a:spcBef>
                <a:spcPts val="0"/>
              </a:spcBef>
              <a:spcAft>
                <a:spcPts val="0"/>
              </a:spcAft>
              <a:buSzPts val="1600"/>
              <a:buFont typeface="Wingdings" panose="05000000000000000000" pitchFamily="2" charset="2"/>
              <a:buChar char="§"/>
            </a:pPr>
            <a:r>
              <a:rPr lang="en-US" sz="1600" b="1" dirty="0"/>
              <a:t>Introduction to Big Data Analytics: </a:t>
            </a:r>
            <a:endParaRPr dirty="0"/>
          </a:p>
          <a:p>
            <a:pPr marL="0" lvl="0" indent="0" algn="l" rtl="0">
              <a:lnSpc>
                <a:spcPct val="120000"/>
              </a:lnSpc>
              <a:spcBef>
                <a:spcPts val="0"/>
              </a:spcBef>
              <a:spcAft>
                <a:spcPts val="0"/>
              </a:spcAft>
              <a:buSzPts val="1600"/>
              <a:buNone/>
            </a:pPr>
            <a:r>
              <a:rPr lang="en-US" sz="1600" dirty="0"/>
              <a:t>Techniques to address data analysis issues related to data volume (Scalable and Distributed analysis), data velocity (High-Speed Data Streams), Data Variety (Complex, Heterogeneous, or Unstructured data), and Data Veracity (Data Uncertainty).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0"/>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panose="020B0502020202020204"/>
              <a:buNone/>
            </a:pPr>
            <a:r>
              <a:rPr lang="en-US"/>
              <a:t>Syllabus (continued)</a:t>
            </a:r>
            <a:endParaRPr lang="en-US"/>
          </a:p>
        </p:txBody>
      </p:sp>
      <p:sp>
        <p:nvSpPr>
          <p:cNvPr id="226" name="Google Shape;226;p10"/>
          <p:cNvSpPr txBox="1">
            <a:spLocks noGrp="1"/>
          </p:cNvSpPr>
          <p:nvPr>
            <p:ph type="body" idx="1"/>
          </p:nvPr>
        </p:nvSpPr>
        <p:spPr>
          <a:xfrm>
            <a:off x="2133600" y="1330036"/>
            <a:ext cx="9476510" cy="4581186"/>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SzPts val="1600"/>
              <a:buFont typeface="Wingdings" panose="05000000000000000000" pitchFamily="2" charset="2"/>
              <a:buChar char="§"/>
            </a:pPr>
            <a:r>
              <a:rPr lang="en-US" sz="1600" b="1" dirty="0"/>
              <a:t>Database management essentials for Big Data organization and manipulation: </a:t>
            </a:r>
            <a:endParaRPr dirty="0"/>
          </a:p>
          <a:p>
            <a:pPr marL="0" lvl="0" indent="0" algn="l" rtl="0">
              <a:lnSpc>
                <a:spcPct val="120000"/>
              </a:lnSpc>
              <a:spcBef>
                <a:spcPts val="0"/>
              </a:spcBef>
              <a:spcAft>
                <a:spcPts val="0"/>
              </a:spcAft>
              <a:buSzPts val="1600"/>
              <a:buNone/>
            </a:pPr>
            <a:r>
              <a:rPr lang="en-US" sz="1600" dirty="0"/>
              <a:t>Introduction to data organization (lists, queues, priority queues, trees, graphs, hash). Basic graph models and algorithms for searching, shortest path algorithms, flow networks, matching. Processing and streaming Big Data, introduction to data architecture software including MapReduce, Hadoop distributed file system, Spark, </a:t>
            </a:r>
            <a:r>
              <a:rPr lang="en-US" sz="1600" dirty="0" err="1"/>
              <a:t>Terradata</a:t>
            </a:r>
            <a:r>
              <a:rPr lang="en-US" sz="1600" dirty="0"/>
              <a:t>, and how these tools work.</a:t>
            </a:r>
            <a:endParaRPr dirty="0"/>
          </a:p>
          <a:p>
            <a:pPr marL="342900" lvl="0" indent="-241300" algn="l" rtl="0">
              <a:lnSpc>
                <a:spcPct val="120000"/>
              </a:lnSpc>
              <a:spcBef>
                <a:spcPts val="0"/>
              </a:spcBef>
              <a:spcAft>
                <a:spcPts val="0"/>
              </a:spcAft>
              <a:buSzPts val="1600"/>
              <a:buNone/>
            </a:pPr>
            <a:endParaRPr sz="1600" dirty="0"/>
          </a:p>
          <a:p>
            <a:pPr marL="342900" lvl="0" indent="-342900" algn="l" rtl="0">
              <a:lnSpc>
                <a:spcPct val="120000"/>
              </a:lnSpc>
              <a:spcBef>
                <a:spcPts val="0"/>
              </a:spcBef>
              <a:spcAft>
                <a:spcPts val="0"/>
              </a:spcAft>
              <a:buSzPts val="1600"/>
              <a:buFont typeface="Wingdings" panose="05000000000000000000" pitchFamily="2" charset="2"/>
              <a:buChar char="§"/>
            </a:pPr>
            <a:r>
              <a:rPr lang="en-US" sz="1600" b="1" dirty="0"/>
              <a:t>Data Analysis and Visualization Techniques: </a:t>
            </a:r>
            <a:endParaRPr dirty="0"/>
          </a:p>
          <a:p>
            <a:pPr marL="0" lvl="0" indent="0" algn="l" rtl="0">
              <a:lnSpc>
                <a:spcPct val="120000"/>
              </a:lnSpc>
              <a:spcBef>
                <a:spcPts val="0"/>
              </a:spcBef>
              <a:spcAft>
                <a:spcPts val="0"/>
              </a:spcAft>
              <a:buSzPts val="1600"/>
              <a:buNone/>
            </a:pPr>
            <a:r>
              <a:rPr lang="en-US" sz="1600" dirty="0"/>
              <a:t>Descriptive statistics, probabilistic modeling of Big Data (e.g., graphical models, latent variable models, hidden Markov models.) Bayesian Inference (e.g., variational inference, expectation propagation, sampling.) Bayesian Machine Learning (e.g., Bayesian linear regression). Fundamentals of data visualization, Infographics, layered grammar of graphics. Introduction to Modern, mosaic plots, parallel coordinate plots,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1"/>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panose="020B0502020202020204"/>
              <a:buNone/>
            </a:pPr>
            <a:r>
              <a:rPr lang="en-US"/>
              <a:t>Syllabus (continued)</a:t>
            </a:r>
            <a:endParaRPr lang="en-US"/>
          </a:p>
        </p:txBody>
      </p:sp>
      <p:sp>
        <p:nvSpPr>
          <p:cNvPr id="232" name="Google Shape;232;p11"/>
          <p:cNvSpPr txBox="1">
            <a:spLocks noGrp="1"/>
          </p:cNvSpPr>
          <p:nvPr>
            <p:ph type="body" idx="1"/>
          </p:nvPr>
        </p:nvSpPr>
        <p:spPr>
          <a:xfrm>
            <a:off x="2133600" y="1330036"/>
            <a:ext cx="9476510" cy="4581186"/>
          </a:xfrm>
          <a:prstGeom prst="rect">
            <a:avLst/>
          </a:prstGeom>
          <a:noFill/>
          <a:ln>
            <a:noFill/>
          </a:ln>
        </p:spPr>
        <p:txBody>
          <a:bodyPr spcFirstLastPara="1" wrap="square" lIns="91425" tIns="45700" rIns="91425" bIns="45700" anchor="t" anchorCtr="0">
            <a:noAutofit/>
          </a:bodyPr>
          <a:lstStyle/>
          <a:p>
            <a:pPr marL="342900" lvl="0" indent="-342900" algn="l" rtl="0">
              <a:lnSpc>
                <a:spcPct val="120000"/>
              </a:lnSpc>
              <a:spcBef>
                <a:spcPts val="0"/>
              </a:spcBef>
              <a:spcAft>
                <a:spcPts val="0"/>
              </a:spcAft>
              <a:buSzPts val="1600"/>
              <a:buFont typeface="Wingdings" panose="05000000000000000000" pitchFamily="2" charset="2"/>
              <a:buChar char="§"/>
            </a:pPr>
            <a:r>
              <a:rPr lang="en-US" sz="1600" dirty="0"/>
              <a:t>Introduction to </a:t>
            </a:r>
            <a:r>
              <a:rPr lang="en-US" sz="1600" dirty="0" err="1"/>
              <a:t>GGobi</a:t>
            </a:r>
            <a:r>
              <a:rPr lang="en-US" sz="1600" dirty="0"/>
              <a:t> data visualization system, linked plots, brushing, dynamic graphics, model visualization.</a:t>
            </a:r>
            <a:endParaRPr dirty="0"/>
          </a:p>
          <a:p>
            <a:pPr marL="342900" lvl="0" indent="-241300" algn="l" rtl="0">
              <a:lnSpc>
                <a:spcPct val="120000"/>
              </a:lnSpc>
              <a:spcBef>
                <a:spcPts val="0"/>
              </a:spcBef>
              <a:spcAft>
                <a:spcPts val="0"/>
              </a:spcAft>
              <a:buSzPts val="1600"/>
              <a:buNone/>
            </a:pPr>
            <a:endParaRPr sz="1600" dirty="0"/>
          </a:p>
          <a:p>
            <a:pPr marL="342900" lvl="0" indent="-342900" algn="l" rtl="0">
              <a:lnSpc>
                <a:spcPct val="120000"/>
              </a:lnSpc>
              <a:spcBef>
                <a:spcPts val="0"/>
              </a:spcBef>
              <a:spcAft>
                <a:spcPts val="0"/>
              </a:spcAft>
              <a:buSzPts val="1600"/>
              <a:buFont typeface="Wingdings" panose="05000000000000000000" pitchFamily="2" charset="2"/>
              <a:buChar char="§"/>
            </a:pPr>
            <a:r>
              <a:rPr lang="en-US" sz="1600" b="1" dirty="0"/>
              <a:t>Big Data Ethics and Privacy: </a:t>
            </a:r>
            <a:endParaRPr dirty="0"/>
          </a:p>
          <a:p>
            <a:pPr marL="0" lvl="0" indent="0" algn="l" rtl="0">
              <a:lnSpc>
                <a:spcPct val="120000"/>
              </a:lnSpc>
              <a:spcBef>
                <a:spcPts val="0"/>
              </a:spcBef>
              <a:spcAft>
                <a:spcPts val="0"/>
              </a:spcAft>
              <a:buSzPts val="1600"/>
              <a:buNone/>
            </a:pPr>
            <a:r>
              <a:rPr lang="en-US" sz="1600" dirty="0"/>
              <a:t>Ethical considerations in data collection and analysis, privacy and security concerns in Big Data, legal and regulatory frameworks for Big Data.</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2"/>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List of Topic: </a:t>
            </a:r>
            <a:br>
              <a:rPr lang="en-US" b="1" u="sng">
                <a:solidFill>
                  <a:srgbClr val="A53010"/>
                </a:solidFill>
              </a:rPr>
            </a:br>
            <a:endParaRPr>
              <a:solidFill>
                <a:srgbClr val="00B050"/>
              </a:solidFill>
            </a:endParaRPr>
          </a:p>
        </p:txBody>
      </p:sp>
      <p:sp>
        <p:nvSpPr>
          <p:cNvPr id="238" name="Google Shape;238;p12"/>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numCol="2" anchor="t" anchorCtr="0">
            <a:noAutofit/>
          </a:bodyPr>
          <a:lstStyle/>
          <a:p>
            <a:pPr marL="342900" lvl="0" indent="-342900" algn="l" rtl="0">
              <a:spcBef>
                <a:spcPts val="0"/>
              </a:spcBef>
              <a:spcAft>
                <a:spcPts val="0"/>
              </a:spcAft>
              <a:buSzPts val="1800"/>
              <a:buFont typeface="Wingdings" panose="05000000000000000000" pitchFamily="2" charset="2"/>
              <a:buChar char="§"/>
            </a:pPr>
            <a:r>
              <a:rPr lang="en-US" sz="1400" dirty="0"/>
              <a:t>Introduction to data mining</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Review of relational databases and SQL</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Data exploration and visualization</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Regression</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Classification/model evaluation</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Decision Trees</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Bayesian inference/the Naive Bayes Classifier</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Rule mining/the 1R algorithm/the Prism algorithm</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Association rule mining/the </a:t>
            </a:r>
            <a:r>
              <a:rPr lang="en-US" sz="1400" dirty="0" err="1"/>
              <a:t>Apriori</a:t>
            </a:r>
            <a:r>
              <a:rPr lang="en-US" sz="1400" dirty="0"/>
              <a:t> algorithm</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Distance metrics/Clustering/the k-Means algorithm</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Nearest neighbor classification</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Neural networks and deep learning</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Big data systems</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t>Blockchains and cryptocurrencies</a:t>
            </a:r>
            <a:endParaRPr sz="1400" dirty="0"/>
          </a:p>
          <a:p>
            <a:pPr marL="342900" lvl="0" indent="-342900" algn="l" rtl="0">
              <a:spcBef>
                <a:spcPts val="1000"/>
              </a:spcBef>
              <a:spcAft>
                <a:spcPts val="0"/>
              </a:spcAft>
              <a:buSzPts val="1800"/>
              <a:buFont typeface="Wingdings" panose="05000000000000000000" pitchFamily="2" charset="2"/>
              <a:buChar char="§"/>
            </a:pPr>
            <a:r>
              <a:rPr lang="en-US" sz="1400" dirty="0">
                <a:solidFill>
                  <a:srgbClr val="00B050"/>
                </a:solidFill>
              </a:rPr>
              <a:t>Seven tutorials (labs)</a:t>
            </a:r>
            <a:endParaRP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3"/>
          <p:cNvSpPr txBox="1">
            <a:spLocks noGrp="1"/>
          </p:cNvSpPr>
          <p:nvPr>
            <p:ph type="title"/>
          </p:nvPr>
        </p:nvSpPr>
        <p:spPr>
          <a:xfrm>
            <a:off x="1717965" y="624110"/>
            <a:ext cx="9786648" cy="70592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62626"/>
              </a:buClr>
              <a:buSzPts val="3600"/>
              <a:buFont typeface="Century Gothic" panose="020B0502020202020204"/>
              <a:buNone/>
            </a:pPr>
            <a:r>
              <a:rPr lang="en-US" dirty="0"/>
              <a:t>MITM 431: Big Data Analytics</a:t>
            </a:r>
            <a:endParaRPr dirty="0">
              <a:solidFill>
                <a:srgbClr val="00B050"/>
              </a:solidFill>
            </a:endParaRPr>
          </a:p>
        </p:txBody>
      </p:sp>
      <p:sp>
        <p:nvSpPr>
          <p:cNvPr id="244" name="Google Shape;244;p13"/>
          <p:cNvSpPr txBox="1">
            <a:spLocks noGrp="1"/>
          </p:cNvSpPr>
          <p:nvPr>
            <p:ph type="body" idx="1"/>
          </p:nvPr>
        </p:nvSpPr>
        <p:spPr>
          <a:xfrm>
            <a:off x="2133600" y="1330036"/>
            <a:ext cx="9371012" cy="458118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800"/>
              <a:buNone/>
            </a:pPr>
            <a:r>
              <a:rPr lang="en-US" b="1" u="sng" dirty="0">
                <a:solidFill>
                  <a:srgbClr val="A53010"/>
                </a:solidFill>
              </a:rPr>
              <a:t>Textbooks</a:t>
            </a:r>
            <a:endParaRPr dirty="0"/>
          </a:p>
          <a:p>
            <a:pPr marL="342900" lvl="0" indent="-342900" algn="l" rtl="0">
              <a:spcBef>
                <a:spcPts val="1000"/>
              </a:spcBef>
              <a:spcAft>
                <a:spcPts val="0"/>
              </a:spcAft>
              <a:buSzPts val="1800"/>
              <a:buFont typeface="Wingdings" panose="05000000000000000000" pitchFamily="2" charset="2"/>
              <a:buChar char="§"/>
            </a:pPr>
            <a:r>
              <a:rPr lang="en-US" dirty="0"/>
              <a:t>Balusamy B, Nandhini AR, Kadry S, and </a:t>
            </a:r>
            <a:r>
              <a:rPr lang="en-US" dirty="0" err="1"/>
              <a:t>Gandomi</a:t>
            </a:r>
            <a:r>
              <a:rPr lang="en-US" dirty="0"/>
              <a:t> AH (2021). Big Data: Concepts, Technology, and Architecture. Wiley.</a:t>
            </a:r>
            <a:endParaRPr dirty="0"/>
          </a:p>
          <a:p>
            <a:pPr marL="342900" lvl="0" indent="-342900" algn="l" rtl="0">
              <a:spcBef>
                <a:spcPts val="1000"/>
              </a:spcBef>
              <a:spcAft>
                <a:spcPts val="0"/>
              </a:spcAft>
              <a:buSzPts val="1800"/>
              <a:buFont typeface="Wingdings" panose="05000000000000000000" pitchFamily="2" charset="2"/>
              <a:buChar char="§"/>
            </a:pPr>
            <a:r>
              <a:rPr lang="en-US" dirty="0"/>
              <a:t>[for Data Mining] Tan, PN. Steinbach, M. </a:t>
            </a:r>
            <a:r>
              <a:rPr lang="en-US" dirty="0" err="1"/>
              <a:t>Karpatne</a:t>
            </a:r>
            <a:r>
              <a:rPr lang="en-US" dirty="0"/>
              <a:t>, A. and Kumar V. (2nd Ed.) Introduction to Data Mining, www-users.cs.umn.edu/~</a:t>
            </a:r>
            <a:r>
              <a:rPr lang="en-US" dirty="0" err="1"/>
              <a:t>kumar</a:t>
            </a:r>
            <a:r>
              <a:rPr lang="en-US" dirty="0"/>
              <a:t>/</a:t>
            </a:r>
            <a:r>
              <a:rPr lang="en-US" dirty="0" err="1"/>
              <a:t>dmbook</a:t>
            </a:r>
            <a:r>
              <a:rPr lang="en-US" dirty="0"/>
              <a:t>/</a:t>
            </a:r>
            <a:r>
              <a:rPr lang="en-US" dirty="0" err="1"/>
              <a:t>index.php</a:t>
            </a:r>
            <a:endParaRPr dirty="0"/>
          </a:p>
          <a:p>
            <a:pPr marL="0" lvl="0" indent="0" algn="l" rtl="0">
              <a:spcBef>
                <a:spcPts val="1000"/>
              </a:spcBef>
              <a:spcAft>
                <a:spcPts val="0"/>
              </a:spcAft>
              <a:buSzPts val="1800"/>
              <a:buNone/>
            </a:pPr>
            <a:endParaRPr dirty="0"/>
          </a:p>
          <a:p>
            <a:pPr marL="0" lvl="0" indent="0" algn="l" rtl="0">
              <a:spcBef>
                <a:spcPts val="1000"/>
              </a:spcBef>
              <a:spcAft>
                <a:spcPts val="0"/>
              </a:spcAft>
              <a:buSzPts val="1800"/>
              <a:buNone/>
            </a:pPr>
            <a:r>
              <a:rPr lang="en-US" b="1" u="sng" dirty="0">
                <a:solidFill>
                  <a:srgbClr val="A53010"/>
                </a:solidFill>
              </a:rPr>
              <a:t>Other Reference Books</a:t>
            </a:r>
            <a:endParaRPr dirty="0"/>
          </a:p>
          <a:p>
            <a:pPr marL="342900" lvl="0" indent="-342900" algn="l" rtl="0">
              <a:spcBef>
                <a:spcPts val="1000"/>
              </a:spcBef>
              <a:spcAft>
                <a:spcPts val="0"/>
              </a:spcAft>
              <a:buSzPts val="1800"/>
              <a:buFont typeface="Wingdings" panose="05000000000000000000" pitchFamily="2" charset="2"/>
              <a:buChar char="§"/>
            </a:pPr>
            <a:r>
              <a:rPr lang="en-US" dirty="0"/>
              <a:t>Li K-C, Jiang H, Yang LT, and </a:t>
            </a:r>
            <a:r>
              <a:rPr lang="en-US" dirty="0" err="1"/>
              <a:t>Cuzzocrea</a:t>
            </a:r>
            <a:r>
              <a:rPr lang="en-US" dirty="0"/>
              <a:t> A (2015). Big Data: Algorithms, Analytics, and Applications. Chapman &amp; Hall/CRC.</a:t>
            </a:r>
            <a:endParaRPr dirty="0"/>
          </a:p>
          <a:p>
            <a:pPr marL="342900" lvl="0" indent="-342900" algn="l" rtl="0">
              <a:spcBef>
                <a:spcPts val="1000"/>
              </a:spcBef>
              <a:spcAft>
                <a:spcPts val="0"/>
              </a:spcAft>
              <a:buSzPts val="1800"/>
              <a:buFont typeface="Wingdings" panose="05000000000000000000" pitchFamily="2" charset="2"/>
              <a:buChar char="§"/>
            </a:pPr>
            <a:r>
              <a:rPr lang="en-US" dirty="0"/>
              <a:t>Erl T, Khattak W, and Buhler P (2016). Big Data Fundamentals: Concepts, Drivers &amp; Techniques. The Prentice Hall.</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4"/>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Project </a:t>
            </a:r>
            <a:br>
              <a:rPr lang="en-US" b="1" u="sng">
                <a:solidFill>
                  <a:srgbClr val="A53010"/>
                </a:solidFill>
              </a:rPr>
            </a:br>
            <a:endParaRPr>
              <a:solidFill>
                <a:srgbClr val="00B050"/>
              </a:solidFill>
            </a:endParaRPr>
          </a:p>
        </p:txBody>
      </p:sp>
      <p:sp>
        <p:nvSpPr>
          <p:cNvPr id="250" name="Google Shape;250;p14"/>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ct val="100000"/>
              <a:buFont typeface="Wingdings" panose="05000000000000000000" pitchFamily="2" charset="2"/>
              <a:buChar char="§"/>
            </a:pPr>
            <a:r>
              <a:rPr lang="en-US" dirty="0"/>
              <a:t>The goal of the term project is to apply machine learning techniques to a real-world problem of your choosing. Your project may show how to predict something given a set of data that you will collect, or how to discover previously unknown structure or patterns in your data (or both!).</a:t>
            </a:r>
            <a:endParaRPr dirty="0"/>
          </a:p>
          <a:p>
            <a:pPr marL="342900" lvl="0" indent="-342900" algn="l" rtl="0">
              <a:spcBef>
                <a:spcPts val="1000"/>
              </a:spcBef>
              <a:spcAft>
                <a:spcPts val="0"/>
              </a:spcAft>
              <a:buSzPct val="100000"/>
              <a:buFont typeface="Wingdings" panose="05000000000000000000" pitchFamily="2" charset="2"/>
              <a:buChar char="§"/>
            </a:pPr>
            <a:r>
              <a:rPr lang="en-US" dirty="0"/>
              <a:t>Marking scheme: 20 points for technical content, creativity and originality, clarity and organization, 5 points for presentation and clarity. Suggested length: up to 20 pages, excluding the appendix. </a:t>
            </a:r>
            <a:endParaRPr dirty="0"/>
          </a:p>
          <a:p>
            <a:pPr marL="0" lvl="0" indent="0" algn="l" rtl="0">
              <a:spcBef>
                <a:spcPts val="1000"/>
              </a:spcBef>
              <a:spcAft>
                <a:spcPts val="0"/>
              </a:spcAft>
              <a:buSzPct val="100000"/>
              <a:buNone/>
            </a:pPr>
            <a:endParaRPr b="1" u="sng" dirty="0">
              <a:solidFill>
                <a:srgbClr val="A53010"/>
              </a:solidFill>
            </a:endParaRPr>
          </a:p>
          <a:p>
            <a:pPr marL="0" lvl="0" indent="0" algn="l" rtl="0">
              <a:spcBef>
                <a:spcPts val="1000"/>
              </a:spcBef>
              <a:spcAft>
                <a:spcPts val="0"/>
              </a:spcAft>
              <a:buSzPct val="100000"/>
              <a:buNone/>
            </a:pPr>
            <a:r>
              <a:rPr lang="en-US" b="1" u="sng" dirty="0">
                <a:solidFill>
                  <a:srgbClr val="A53010"/>
                </a:solidFill>
              </a:rPr>
              <a:t>Suggested outline:</a:t>
            </a:r>
            <a:endParaRPr dirty="0"/>
          </a:p>
          <a:p>
            <a:pPr marL="342900" lvl="0" indent="-342900" algn="l" rtl="0">
              <a:spcBef>
                <a:spcPts val="1000"/>
              </a:spcBef>
              <a:spcAft>
                <a:spcPts val="0"/>
              </a:spcAft>
              <a:buSzPct val="100000"/>
              <a:buFont typeface="Wingdings" panose="05000000000000000000" pitchFamily="2" charset="2"/>
              <a:buChar char="§"/>
            </a:pPr>
            <a:r>
              <a:rPr lang="en-US" b="1" dirty="0"/>
              <a:t>Title</a:t>
            </a:r>
            <a:endParaRPr dirty="0"/>
          </a:p>
          <a:p>
            <a:pPr marL="342900" lvl="0" indent="-342900" algn="l" rtl="0">
              <a:spcBef>
                <a:spcPts val="1000"/>
              </a:spcBef>
              <a:spcAft>
                <a:spcPts val="0"/>
              </a:spcAft>
              <a:buSzPct val="100000"/>
              <a:buFont typeface="Wingdings" panose="05000000000000000000" pitchFamily="2" charset="2"/>
              <a:buChar char="§"/>
            </a:pPr>
            <a:r>
              <a:rPr lang="en-US" b="1" dirty="0" err="1"/>
              <a:t>ToC</a:t>
            </a:r>
            <a:endParaRPr b="1" dirty="0"/>
          </a:p>
          <a:p>
            <a:pPr marL="342900" lvl="0" indent="-342900" algn="l" rtl="0">
              <a:spcBef>
                <a:spcPts val="1000"/>
              </a:spcBef>
              <a:spcAft>
                <a:spcPts val="0"/>
              </a:spcAft>
              <a:buSzPct val="100000"/>
              <a:buFont typeface="Wingdings" panose="05000000000000000000" pitchFamily="2" charset="2"/>
              <a:buChar char="§"/>
            </a:pPr>
            <a:r>
              <a:rPr lang="en-US" b="1" dirty="0"/>
              <a:t>Abstract: </a:t>
            </a:r>
            <a:r>
              <a:rPr lang="en-US" dirty="0"/>
              <a:t>briefly summarize your project and the main findings </a:t>
            </a:r>
            <a:br>
              <a:rPr lang="en-US" dirty="0"/>
            </a:b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5"/>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Project </a:t>
            </a:r>
            <a:r>
              <a:rPr lang="en-US" sz="2000" b="0" i="0" u="none" strike="noStrike" cap="none">
                <a:solidFill>
                  <a:srgbClr val="A53010"/>
                </a:solidFill>
                <a:latin typeface="Century Gothic" panose="020B0502020202020204"/>
                <a:ea typeface="Century Gothic" panose="020B0502020202020204"/>
                <a:cs typeface="Century Gothic" panose="020B0502020202020204"/>
                <a:sym typeface="Century Gothic" panose="020B0502020202020204"/>
              </a:rPr>
              <a:t> (contd.)</a:t>
            </a:r>
            <a:br>
              <a:rPr lang="en-US" b="1" u="sng">
                <a:solidFill>
                  <a:srgbClr val="A53010"/>
                </a:solidFill>
              </a:rPr>
            </a:br>
            <a:endParaRPr>
              <a:solidFill>
                <a:srgbClr val="00B050"/>
              </a:solidFill>
            </a:endParaRPr>
          </a:p>
        </p:txBody>
      </p:sp>
      <p:sp>
        <p:nvSpPr>
          <p:cNvPr id="256" name="Google Shape;256;p15"/>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1800"/>
              <a:buFont typeface="Wingdings" panose="05000000000000000000" pitchFamily="2" charset="2"/>
              <a:buChar char="§"/>
            </a:pPr>
            <a:r>
              <a:rPr lang="en-US" b="1" dirty="0"/>
              <a:t>Introduction: </a:t>
            </a:r>
            <a:r>
              <a:rPr lang="en-US" dirty="0"/>
              <a:t>Explain the purpose of your project and highlight the main hypotheses and results. Explain why your project is interesting and non-trivial. Make sure the following points are clearly explained:</a:t>
            </a:r>
            <a:endParaRPr dirty="0"/>
          </a:p>
          <a:p>
            <a:pPr marL="742950" lvl="1" indent="-285750" algn="l" rtl="0">
              <a:spcBef>
                <a:spcPts val="1000"/>
              </a:spcBef>
              <a:spcAft>
                <a:spcPts val="0"/>
              </a:spcAft>
              <a:buSzPts val="1600"/>
              <a:buFont typeface="Wingdings" panose="05000000000000000000" pitchFamily="2" charset="2"/>
              <a:buChar char="§"/>
            </a:pPr>
            <a:r>
              <a:rPr lang="en-US" dirty="0"/>
              <a:t>What business problem will you solve using data mining?</a:t>
            </a:r>
            <a:endParaRPr dirty="0"/>
          </a:p>
          <a:p>
            <a:pPr marL="742950" lvl="1" indent="-285750" algn="l" rtl="0">
              <a:spcBef>
                <a:spcPts val="1000"/>
              </a:spcBef>
              <a:spcAft>
                <a:spcPts val="0"/>
              </a:spcAft>
              <a:buSzPts val="1600"/>
              <a:buFont typeface="Wingdings" panose="05000000000000000000" pitchFamily="2" charset="2"/>
              <a:buChar char="§"/>
            </a:pPr>
            <a:r>
              <a:rPr lang="en-US" dirty="0"/>
              <a:t>Why is your problem interesting and important? Who would be interested or could benefit from the results?</a:t>
            </a:r>
            <a:endParaRPr dirty="0"/>
          </a:p>
          <a:p>
            <a:pPr marL="742950" lvl="1" indent="-285750" algn="l" rtl="0">
              <a:spcBef>
                <a:spcPts val="1000"/>
              </a:spcBef>
              <a:spcAft>
                <a:spcPts val="0"/>
              </a:spcAft>
              <a:buSzPts val="1600"/>
              <a:buFont typeface="Wingdings" panose="05000000000000000000" pitchFamily="2" charset="2"/>
              <a:buChar char="§"/>
            </a:pPr>
            <a:r>
              <a:rPr lang="en-US" dirty="0"/>
              <a:t>What variable will you predict? What explanatory variables will your prediction model use (include variable names and data types)?</a:t>
            </a:r>
            <a:endParaRPr dirty="0"/>
          </a:p>
          <a:p>
            <a:pPr marL="742950" lvl="1" indent="-285750" algn="l" rtl="0">
              <a:spcBef>
                <a:spcPts val="1000"/>
              </a:spcBef>
              <a:spcAft>
                <a:spcPts val="0"/>
              </a:spcAft>
              <a:buSzPts val="1600"/>
              <a:buFont typeface="Wingdings" panose="05000000000000000000" pitchFamily="2" charset="2"/>
              <a:buChar char="§"/>
            </a:pPr>
            <a:r>
              <a:rPr lang="en-US" dirty="0"/>
              <a:t>If you plan to do clustering, explain why and which variables you will use. Otherwise, explain why clustering doesn’t make sense in your problem.</a:t>
            </a:r>
            <a:endParaRPr dirty="0"/>
          </a:p>
          <a:p>
            <a:pPr marL="742950" lvl="1" indent="-285750" algn="l" rtl="0">
              <a:spcBef>
                <a:spcPts val="1000"/>
              </a:spcBef>
              <a:spcAft>
                <a:spcPts val="0"/>
              </a:spcAft>
              <a:buSzPts val="1600"/>
              <a:buFont typeface="Wingdings" panose="05000000000000000000" pitchFamily="2" charset="2"/>
              <a:buChar char="§"/>
            </a:pPr>
            <a:r>
              <a:rPr lang="en-US" dirty="0"/>
              <a:t>If you plan to do association rule mining, explain why and which variables will be tested for association.</a:t>
            </a:r>
            <a:endParaRPr dirty="0"/>
          </a:p>
          <a:p>
            <a:pPr marL="742950" lvl="1" indent="-285750" algn="l" rtl="0">
              <a:spcBef>
                <a:spcPts val="1000"/>
              </a:spcBef>
              <a:spcAft>
                <a:spcPts val="0"/>
              </a:spcAft>
              <a:buSzPts val="1600"/>
              <a:buFont typeface="Wingdings" panose="05000000000000000000" pitchFamily="2" charset="2"/>
              <a:buChar char="§"/>
            </a:pPr>
            <a:r>
              <a:rPr lang="en-US" dirty="0"/>
              <a:t>Otherwise, explain why association rule mining doesn’t make sense in your problem.</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6"/>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Project </a:t>
            </a:r>
            <a:r>
              <a:rPr lang="en-US" sz="2000" b="0" i="0" u="none" strike="noStrike" cap="none">
                <a:solidFill>
                  <a:srgbClr val="A53010"/>
                </a:solidFill>
                <a:latin typeface="Century Gothic" panose="020B0502020202020204"/>
                <a:ea typeface="Century Gothic" panose="020B0502020202020204"/>
                <a:cs typeface="Century Gothic" panose="020B0502020202020204"/>
                <a:sym typeface="Century Gothic" panose="020B0502020202020204"/>
              </a:rPr>
              <a:t> (contd.)</a:t>
            </a:r>
            <a:br>
              <a:rPr lang="en-US" b="1" u="sng">
                <a:solidFill>
                  <a:srgbClr val="A53010"/>
                </a:solidFill>
              </a:rPr>
            </a:br>
            <a:endParaRPr>
              <a:solidFill>
                <a:srgbClr val="00B050"/>
              </a:solidFill>
            </a:endParaRPr>
          </a:p>
        </p:txBody>
      </p:sp>
      <p:sp>
        <p:nvSpPr>
          <p:cNvPr id="262" name="Google Shape;262;p16"/>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800"/>
              <a:buFont typeface="Wingdings" panose="05000000000000000000" pitchFamily="2" charset="2"/>
              <a:buChar char="§"/>
            </a:pPr>
            <a:r>
              <a:rPr lang="en-US" b="1" dirty="0"/>
              <a:t>Related work: </a:t>
            </a:r>
            <a:r>
              <a:rPr lang="en-US" dirty="0"/>
              <a:t>Give an overview of prior scholarly work on your topic. Has anyone worked with similar data before? How is your analysis different? Have you discovered any new patterns or insights in the data?</a:t>
            </a:r>
            <a:endParaRPr dirty="0"/>
          </a:p>
          <a:p>
            <a:pPr marL="342900" lvl="0" indent="-342900" algn="l" rtl="0">
              <a:spcBef>
                <a:spcPts val="1000"/>
              </a:spcBef>
              <a:spcAft>
                <a:spcPts val="0"/>
              </a:spcAft>
              <a:buSzPts val="1800"/>
              <a:buFont typeface="Wingdings" panose="05000000000000000000" pitchFamily="2" charset="2"/>
              <a:buChar char="§"/>
            </a:pPr>
            <a:r>
              <a:rPr lang="en-US" b="1" dirty="0"/>
              <a:t>Data: </a:t>
            </a:r>
            <a:r>
              <a:rPr lang="en-US" dirty="0"/>
              <a:t>Explain how you collected the data. Explain any data cleaning or data transformation that you had to do. Explain how you dealt with missing data, if applicable. Present some statistics about the data using tables and/or graphs. </a:t>
            </a:r>
            <a:br>
              <a:rPr lang="en-US" dirty="0"/>
            </a:b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7"/>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Project</a:t>
            </a:r>
            <a:r>
              <a:rPr lang="en-US" sz="2000" b="0" i="0" u="none" strike="noStrike" cap="none">
                <a:solidFill>
                  <a:srgbClr val="A53010"/>
                </a:solidFill>
                <a:latin typeface="Century Gothic" panose="020B0502020202020204"/>
                <a:ea typeface="Century Gothic" panose="020B0502020202020204"/>
                <a:cs typeface="Century Gothic" panose="020B0502020202020204"/>
                <a:sym typeface="Century Gothic" panose="020B0502020202020204"/>
              </a:rPr>
              <a:t> (contd.)</a:t>
            </a:r>
            <a:br>
              <a:rPr lang="en-US" b="1" u="sng">
                <a:solidFill>
                  <a:srgbClr val="A53010"/>
                </a:solidFill>
              </a:rPr>
            </a:br>
            <a:endParaRPr>
              <a:solidFill>
                <a:srgbClr val="00B050"/>
              </a:solidFill>
            </a:endParaRPr>
          </a:p>
        </p:txBody>
      </p:sp>
      <p:sp>
        <p:nvSpPr>
          <p:cNvPr id="268" name="Google Shape;268;p17"/>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800"/>
              <a:buFont typeface="Wingdings" panose="05000000000000000000" pitchFamily="2" charset="2"/>
              <a:buChar char="§"/>
            </a:pPr>
            <a:r>
              <a:rPr lang="en-US" b="1" dirty="0"/>
              <a:t>Results: </a:t>
            </a:r>
            <a:r>
              <a:rPr lang="en-US" dirty="0"/>
              <a:t>You must do at least one supervised learning task, depending on the type of your outcome variable. If you are doing classification, compare several algorithms and feature sets. If you are doing numeric prediction, you will probably only use linear regression, but you can try different features. Additionally, you must do an unsupervised learning task, i.e., one of association or clustering (preferably both, if you can). If you are doing association rule mining, try different support and confidence thresholds. For association, you can use all the features that you used for classification plus the class variable. For clustering, remove the class variable and only use the remaining features. If you want to visualize your clusters using 3-d plots but have more than 3 feature variables, pick up to 3 features at a time, and experiment with different subsets of 3 features. Use one section per task/experiment, and clearly state the purpose of each experiment, your hypothesis and your findings. Explain every result, and emphasize surprising and unexpected results. </a:t>
            </a:r>
            <a:br>
              <a:rPr lang="en-US" dirty="0"/>
            </a:b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8"/>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Project</a:t>
            </a:r>
            <a:r>
              <a:rPr lang="en-US" sz="2000">
                <a:solidFill>
                  <a:srgbClr val="A53010"/>
                </a:solidFill>
              </a:rPr>
              <a:t> (contd.)</a:t>
            </a:r>
            <a:br>
              <a:rPr lang="en-US" b="1" u="sng">
                <a:solidFill>
                  <a:srgbClr val="A53010"/>
                </a:solidFill>
              </a:rPr>
            </a:br>
            <a:endParaRPr>
              <a:solidFill>
                <a:srgbClr val="00B050"/>
              </a:solidFill>
            </a:endParaRPr>
          </a:p>
        </p:txBody>
      </p:sp>
      <p:sp>
        <p:nvSpPr>
          <p:cNvPr id="274" name="Google Shape;274;p18"/>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800"/>
              <a:buFont typeface="Wingdings" panose="05000000000000000000" pitchFamily="2" charset="2"/>
              <a:buChar char="§"/>
            </a:pPr>
            <a:r>
              <a:rPr lang="en-US" b="1" dirty="0"/>
              <a:t>Conclusions: </a:t>
            </a:r>
            <a:r>
              <a:rPr lang="en-US" dirty="0"/>
              <a:t>Summarize the main findings. Discuss lessons learned (specific lessons from the data and general lessons about data mining), and discuss who can benefit from the results of your analysis and how.</a:t>
            </a:r>
            <a:endParaRPr dirty="0"/>
          </a:p>
          <a:p>
            <a:pPr marL="342900" lvl="0" indent="-342900" algn="l" rtl="0">
              <a:spcBef>
                <a:spcPts val="1000"/>
              </a:spcBef>
              <a:spcAft>
                <a:spcPts val="0"/>
              </a:spcAft>
              <a:buSzPts val="1800"/>
              <a:buFont typeface="Wingdings" panose="05000000000000000000" pitchFamily="2" charset="2"/>
              <a:buChar char="§"/>
            </a:pPr>
            <a:r>
              <a:rPr lang="en-US" b="1" dirty="0"/>
              <a:t>References</a:t>
            </a:r>
            <a:r>
              <a:rPr lang="en-US" dirty="0"/>
              <a:t>: Provide the title, authors, journal/conference name and page numbers of all the works you cited.</a:t>
            </a:r>
            <a:endParaRPr dirty="0"/>
          </a:p>
          <a:p>
            <a:pPr marL="342900" lvl="0" indent="-342900" algn="l" rtl="0">
              <a:spcBef>
                <a:spcPts val="1000"/>
              </a:spcBef>
              <a:spcAft>
                <a:spcPts val="0"/>
              </a:spcAft>
              <a:buSzPts val="1800"/>
              <a:buFont typeface="Wingdings" panose="05000000000000000000" pitchFamily="2" charset="2"/>
              <a:buChar char="§"/>
            </a:pPr>
            <a:r>
              <a:rPr lang="en-US" b="1" dirty="0"/>
              <a:t>Appendix</a:t>
            </a:r>
            <a:r>
              <a:rPr lang="en-US" dirty="0"/>
              <a:t>: Include all your code and make sure it is well commented. </a:t>
            </a:r>
            <a:br>
              <a:rPr lang="en-US" dirty="0"/>
            </a:b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9"/>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Project</a:t>
            </a:r>
            <a:r>
              <a:rPr lang="en-US" sz="2000" b="1">
                <a:solidFill>
                  <a:srgbClr val="A53010"/>
                </a:solidFill>
              </a:rPr>
              <a:t> </a:t>
            </a:r>
            <a:r>
              <a:rPr lang="en-US" sz="2000" b="1" u="sng">
                <a:solidFill>
                  <a:srgbClr val="00B050"/>
                </a:solidFill>
              </a:rPr>
              <a:t>Tips</a:t>
            </a:r>
            <a:r>
              <a:rPr lang="en-US" sz="2000" b="1" u="sng">
                <a:solidFill>
                  <a:srgbClr val="A53010"/>
                </a:solidFill>
              </a:rPr>
              <a:t> </a:t>
            </a:r>
            <a:br>
              <a:rPr lang="en-US" b="1" u="sng">
                <a:solidFill>
                  <a:srgbClr val="A53010"/>
                </a:solidFill>
              </a:rPr>
            </a:br>
            <a:endParaRPr>
              <a:solidFill>
                <a:srgbClr val="00B050"/>
              </a:solidFill>
            </a:endParaRPr>
          </a:p>
        </p:txBody>
      </p:sp>
      <p:sp>
        <p:nvSpPr>
          <p:cNvPr id="280" name="Google Shape;280;p19"/>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ct val="100000"/>
              <a:buFont typeface="Wingdings" panose="05000000000000000000" pitchFamily="2" charset="2"/>
              <a:buChar char="§"/>
            </a:pPr>
            <a:r>
              <a:rPr lang="en-US" dirty="0"/>
              <a:t>You will be graded on technical content, novelty/originality/creativity, and writing quality. Please proofread your work, define all non-obvious terms and provide citations to any facts or numbers you mention. Stick to facts and avoid opinions.</a:t>
            </a:r>
            <a:endParaRPr dirty="0"/>
          </a:p>
          <a:p>
            <a:pPr marL="342900" lvl="0" indent="-342900" algn="l" rtl="0">
              <a:spcBef>
                <a:spcPts val="1000"/>
              </a:spcBef>
              <a:spcAft>
                <a:spcPts val="0"/>
              </a:spcAft>
              <a:buSzPct val="100000"/>
              <a:buFont typeface="Wingdings" panose="05000000000000000000" pitchFamily="2" charset="2"/>
              <a:buChar char="§"/>
            </a:pPr>
            <a:r>
              <a:rPr lang="en-US" dirty="0"/>
              <a:t>Clearly explain the business problem or scientific hypothesis you want to solve using data mining.</a:t>
            </a:r>
            <a:endParaRPr dirty="0"/>
          </a:p>
          <a:p>
            <a:pPr marL="342900" lvl="0" indent="-342900" algn="l" rtl="0">
              <a:spcBef>
                <a:spcPts val="1000"/>
              </a:spcBef>
              <a:spcAft>
                <a:spcPts val="0"/>
              </a:spcAft>
              <a:buSzPct val="100000"/>
              <a:buFont typeface="Wingdings" panose="05000000000000000000" pitchFamily="2" charset="2"/>
              <a:buChar char="§"/>
            </a:pPr>
            <a:r>
              <a:rPr lang="en-US" dirty="0"/>
              <a:t>Your problem must be complex enough to require a data mining solution. There must be a variable whose value is unknown and cannot be easily guessed. For example, it’s not easy to guess what engineering program is right for a prospective student!</a:t>
            </a:r>
            <a:endParaRPr dirty="0"/>
          </a:p>
          <a:p>
            <a:pPr marL="342900" lvl="0" indent="-342900" algn="l" rtl="0">
              <a:spcBef>
                <a:spcPts val="1000"/>
              </a:spcBef>
              <a:spcAft>
                <a:spcPts val="0"/>
              </a:spcAft>
              <a:buSzPct val="100000"/>
              <a:buFont typeface="Wingdings" panose="05000000000000000000" pitchFamily="2" charset="2"/>
              <a:buChar char="§"/>
            </a:pPr>
            <a:r>
              <a:rPr lang="en-US" dirty="0"/>
              <a:t>If you can solve your problem using SQL, it’s probably not complex enough. For example, suppose you wanted to recommend a restaurant based on location, cuisine and price. If someone tells you they want an inexpensive (say under $20) Italian restaurant in Dhaka, you could simply return all Italian restaurants in your database whose average dinner price is &lt;$20. You don’t need a model to learn which restaurants in Dhaka serve inexpensive Italian food. </a:t>
            </a:r>
            <a:br>
              <a:rPr lang="en-US" dirty="0"/>
            </a:b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0"/>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Project</a:t>
            </a:r>
            <a:r>
              <a:rPr lang="en-US" sz="2000" b="1">
                <a:solidFill>
                  <a:srgbClr val="A53010"/>
                </a:solidFill>
              </a:rPr>
              <a:t> </a:t>
            </a:r>
            <a:r>
              <a:rPr lang="en-US" sz="2000" b="1" u="sng">
                <a:solidFill>
                  <a:srgbClr val="00B050"/>
                </a:solidFill>
              </a:rPr>
              <a:t>Tips</a:t>
            </a:r>
            <a:r>
              <a:rPr lang="en-US" sz="2000">
                <a:solidFill>
                  <a:srgbClr val="00B050"/>
                </a:solidFill>
              </a:rPr>
              <a:t> (contd.)</a:t>
            </a:r>
            <a:r>
              <a:rPr lang="en-US" sz="2000" b="1" u="sng">
                <a:solidFill>
                  <a:srgbClr val="A53010"/>
                </a:solidFill>
              </a:rPr>
              <a:t> </a:t>
            </a:r>
            <a:br>
              <a:rPr lang="en-US" b="1" u="sng">
                <a:solidFill>
                  <a:srgbClr val="A53010"/>
                </a:solidFill>
              </a:rPr>
            </a:br>
            <a:endParaRPr>
              <a:solidFill>
                <a:srgbClr val="00B050"/>
              </a:solidFill>
            </a:endParaRPr>
          </a:p>
        </p:txBody>
      </p:sp>
      <p:sp>
        <p:nvSpPr>
          <p:cNvPr id="286" name="Google Shape;286;p20"/>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ct val="100000"/>
              <a:buFont typeface="Wingdings" panose="05000000000000000000" pitchFamily="2" charset="2"/>
              <a:buChar char="§"/>
            </a:pPr>
            <a:r>
              <a:rPr lang="en-US" dirty="0"/>
              <a:t>However, if you want to use data available online, consider merging several datasets to come up with your own unique dataset, and make sure you can formulate an interesting business problem or scientific hypothesis. Avoid copying datasets and problems from online data mining competitions.</a:t>
            </a:r>
            <a:endParaRPr dirty="0"/>
          </a:p>
          <a:p>
            <a:pPr marL="342900" lvl="0" indent="-342900" algn="l" rtl="0">
              <a:spcBef>
                <a:spcPts val="1000"/>
              </a:spcBef>
              <a:spcAft>
                <a:spcPts val="0"/>
              </a:spcAft>
              <a:buSzPct val="100000"/>
              <a:buFont typeface="Wingdings" panose="05000000000000000000" pitchFamily="2" charset="2"/>
              <a:buChar char="§"/>
            </a:pPr>
            <a:r>
              <a:rPr lang="en-US" dirty="0"/>
              <a:t>Describe the data: number of rows, number of columns, name/data type/semantic meaning of each column, semantic meaning of each row (i.e., one row = one event, or one purchase transaction, or one response to a survey, or one loan application, etc.). Include graphs and illustrations.</a:t>
            </a:r>
            <a:endParaRPr dirty="0"/>
          </a:p>
          <a:p>
            <a:pPr marL="342900" lvl="0" indent="-342900" algn="l" rtl="0">
              <a:spcBef>
                <a:spcPts val="1000"/>
              </a:spcBef>
              <a:spcAft>
                <a:spcPts val="0"/>
              </a:spcAft>
              <a:buSzPct val="100000"/>
              <a:buFont typeface="Wingdings" panose="05000000000000000000" pitchFamily="2" charset="2"/>
              <a:buChar char="§"/>
            </a:pPr>
            <a:r>
              <a:rPr lang="en-US" dirty="0"/>
              <a:t>Be clear about your variables and why they make sense. For example: in an engineering quiz, we wanted to predict the best academic program (which is a discrete variable with 12 values corresponding to the 12 engineering programs offered at DU) using explanatory variables corresponding to a student’s personality and interests. We believe that different engineering programs are suitable for different types of students and therefore students’ personality and interests should be highly correlated with their program of choice.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1"/>
          <p:cNvSpPr txBox="1">
            <a:spLocks noGrp="1"/>
          </p:cNvSpPr>
          <p:nvPr>
            <p:ph type="title"/>
          </p:nvPr>
        </p:nvSpPr>
        <p:spPr>
          <a:xfrm>
            <a:off x="1717965" y="624109"/>
            <a:ext cx="9786648" cy="1103091"/>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00B050"/>
              </a:buClr>
              <a:buSzPct val="100000"/>
              <a:buFont typeface="Century Gothic" panose="020B0502020202020204"/>
              <a:buNone/>
            </a:pPr>
            <a:r>
              <a:rPr lang="en-US" sz="4000">
                <a:solidFill>
                  <a:srgbClr val="00B050"/>
                </a:solidFill>
              </a:rPr>
              <a:t>The real game starts here…</a:t>
            </a:r>
            <a:br>
              <a:rPr lang="en-US">
                <a:solidFill>
                  <a:srgbClr val="00B050"/>
                </a:solidFill>
              </a:rPr>
            </a:br>
            <a:r>
              <a:rPr lang="en-US" sz="2000" b="1" u="sng">
                <a:solidFill>
                  <a:srgbClr val="A53010"/>
                </a:solidFill>
              </a:rPr>
              <a:t>Project</a:t>
            </a:r>
            <a:r>
              <a:rPr lang="en-US" sz="2000" b="1">
                <a:solidFill>
                  <a:srgbClr val="A53010"/>
                </a:solidFill>
              </a:rPr>
              <a:t> </a:t>
            </a:r>
            <a:r>
              <a:rPr lang="en-US" sz="2000" b="1" u="sng">
                <a:solidFill>
                  <a:srgbClr val="00B050"/>
                </a:solidFill>
              </a:rPr>
              <a:t>Tips</a:t>
            </a:r>
            <a:r>
              <a:rPr lang="en-US" sz="2000">
                <a:solidFill>
                  <a:srgbClr val="00B050"/>
                </a:solidFill>
              </a:rPr>
              <a:t> (contd.)</a:t>
            </a:r>
            <a:br>
              <a:rPr lang="en-US" b="1" u="sng">
                <a:solidFill>
                  <a:srgbClr val="A53010"/>
                </a:solidFill>
              </a:rPr>
            </a:br>
            <a:endParaRPr>
              <a:solidFill>
                <a:srgbClr val="00B050"/>
              </a:solidFill>
            </a:endParaRPr>
          </a:p>
        </p:txBody>
      </p:sp>
      <p:sp>
        <p:nvSpPr>
          <p:cNvPr id="292" name="Google Shape;292;p21"/>
          <p:cNvSpPr txBox="1">
            <a:spLocks noGrp="1"/>
          </p:cNvSpPr>
          <p:nvPr>
            <p:ph type="body" idx="1"/>
          </p:nvPr>
        </p:nvSpPr>
        <p:spPr>
          <a:xfrm>
            <a:off x="1856509" y="1902690"/>
            <a:ext cx="9873673" cy="4008531"/>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SzPct val="100000"/>
              <a:buFont typeface="Wingdings" panose="05000000000000000000" pitchFamily="2" charset="2"/>
              <a:buChar char="§"/>
            </a:pPr>
            <a:r>
              <a:rPr lang="en-US" dirty="0"/>
              <a:t>To obtain these explanatory variables, we designed 10 questions about where a student would like to work, what they would like to have invented, who they would like to work with, whether they would like to be a specialist or a multi-disciplinary generalist, etc. Of course, the survey also asked about the academic program (and whether the student is happy with their choice) - the training dataset must include the class/dependent variable, not just the independent/explanatory variables.</a:t>
            </a:r>
            <a:endParaRPr dirty="0"/>
          </a:p>
          <a:p>
            <a:pPr marL="342900" lvl="0" indent="-342900" algn="l" rtl="0">
              <a:spcBef>
                <a:spcPts val="1000"/>
              </a:spcBef>
              <a:spcAft>
                <a:spcPts val="0"/>
              </a:spcAft>
              <a:buSzPct val="100000"/>
              <a:buFont typeface="Wingdings" panose="05000000000000000000" pitchFamily="2" charset="2"/>
              <a:buChar char="§"/>
            </a:pPr>
            <a:r>
              <a:rPr lang="en-US" dirty="0"/>
              <a:t>How many features/explanatory variables do you need for a good model? It depends on the application but I would say at least 10 or so.</a:t>
            </a:r>
            <a:endParaRPr dirty="0"/>
          </a:p>
          <a:p>
            <a:pPr marL="342900" lvl="0" indent="-342900" algn="l" rtl="0">
              <a:spcBef>
                <a:spcPts val="1000"/>
              </a:spcBef>
              <a:spcAft>
                <a:spcPts val="0"/>
              </a:spcAft>
              <a:buSzPct val="100000"/>
              <a:buFont typeface="Wingdings" panose="05000000000000000000" pitchFamily="2" charset="2"/>
              <a:buChar char="§"/>
            </a:pPr>
            <a:r>
              <a:rPr lang="en-US" dirty="0"/>
              <a:t>You may not be able to collect all relevant explanatory variables, or your dataset may be missing some important information. This is OK as long as you identify what is/might be missing and argue that you have enough variables for a reasonable model.</a:t>
            </a:r>
            <a:endParaRPr dirty="0"/>
          </a:p>
          <a:p>
            <a:pPr marL="342900" lvl="0" indent="-342900" algn="l" rtl="0">
              <a:spcBef>
                <a:spcPts val="1000"/>
              </a:spcBef>
              <a:spcAft>
                <a:spcPts val="0"/>
              </a:spcAft>
              <a:buSzPct val="100000"/>
              <a:buFont typeface="Wingdings" panose="05000000000000000000" pitchFamily="2" charset="2"/>
              <a:buChar char="§"/>
            </a:pPr>
            <a:r>
              <a:rPr lang="en-US" dirty="0"/>
              <a:t>For prior work, try Google Scholar, the IEEE Explore library or the ACM Digital Library to find at least 10 scientific publications related to your topic </a:t>
            </a:r>
            <a:br>
              <a:rPr lang="en-US" dirty="0"/>
            </a:br>
            <a:endParaRPr dirty="0"/>
          </a:p>
        </p:txBody>
      </p:sp>
    </p:spTree>
  </p:cSld>
  <p:clrMapOvr>
    <a:masterClrMapping/>
  </p:clrMapOvr>
</p:sld>
</file>

<file path=ppt/theme/theme1.xml><?xml version="1.0" encoding="utf-8"?>
<a:theme xmlns:a="http://schemas.openxmlformats.org/drawingml/2006/main"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11498</Words>
  <Application>WPS Presentation</Application>
  <PresentationFormat>Widescreen</PresentationFormat>
  <Paragraphs>188</Paragraphs>
  <Slides>19</Slides>
  <Notes>21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Arial</vt:lpstr>
      <vt:lpstr>Century Gothic</vt:lpstr>
      <vt:lpstr>Noto Sans Symbols</vt:lpstr>
      <vt:lpstr>Segoe Print</vt:lpstr>
      <vt:lpstr>Calibri</vt:lpstr>
      <vt:lpstr>Microsoft YaHei</vt:lpstr>
      <vt:lpstr>Arial Unicode MS</vt:lpstr>
      <vt:lpstr>Wisp</vt:lpstr>
      <vt:lpstr>MITM 431: Big Data Analytics Outline </vt:lpstr>
      <vt:lpstr>MITM 431: Big Data Analytics</vt:lpstr>
      <vt:lpstr>MITM 431: Big Data Analytics</vt:lpstr>
      <vt:lpstr>MITM 431: Big Data Analytics</vt:lpstr>
      <vt:lpstr>MITM 431: Big Data Analytics</vt:lpstr>
      <vt:lpstr>The real game starts here…</vt:lpstr>
      <vt:lpstr>Syllabus</vt:lpstr>
      <vt:lpstr>Syllabus (continued)</vt:lpstr>
      <vt:lpstr>Syllabus (continued)</vt:lpstr>
      <vt:lpstr>The real game starts here… List of Topic:  </vt:lpstr>
      <vt:lpstr>MITM 431: Big Data Analytics</vt:lpstr>
      <vt:lpstr>The real game starts here… Project  </vt:lpstr>
      <vt:lpstr>The real game starts here… Project  (contd.) </vt:lpstr>
      <vt:lpstr>The real game starts here… Project  (contd.) </vt:lpstr>
      <vt:lpstr>The real game starts here… Project (contd.) </vt:lpstr>
      <vt:lpstr>The real game starts here… Project (contd.) </vt:lpstr>
      <vt:lpstr>The real game starts here… Project Tips  </vt:lpstr>
      <vt:lpstr>The real game starts here… Project Tips (contd.)  </vt:lpstr>
      <vt:lpstr>The real game starts here… Project Tips (contd.)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Khaled Mostafa Shah</dc:creator>
  <cp:lastModifiedBy>Md. Musfiqur Rahman Shishir</cp:lastModifiedBy>
  <cp:revision>7</cp:revision>
  <dcterms:created xsi:type="dcterms:W3CDTF">2025-08-17T04:39:00Z</dcterms:created>
  <dcterms:modified xsi:type="dcterms:W3CDTF">2026-03-07T01:54:05Z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83A8C2DB60264C428B1816DF365C9B5F_12</vt:lpwstr>
  </property>
  <property fmtid="{D5CDD505-2E9C-101B-9397-08002B2CF9AE}" pid="3" name="KSOProductBuildVer">
    <vt:lpwstr>1033-12.2.0.23196</vt:lpwstr>
  </property>
</Properties>
</file>