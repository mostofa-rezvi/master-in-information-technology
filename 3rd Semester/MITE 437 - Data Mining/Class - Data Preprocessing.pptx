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doc" ContentType="application/msword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569" r:id="rId2"/>
    <p:sldId id="599" r:id="rId3"/>
    <p:sldId id="517" r:id="rId4"/>
    <p:sldId id="518" r:id="rId5"/>
    <p:sldId id="605" r:id="rId6"/>
    <p:sldId id="526" r:id="rId7"/>
    <p:sldId id="625" r:id="rId8"/>
    <p:sldId id="572" r:id="rId9"/>
    <p:sldId id="663" r:id="rId10"/>
    <p:sldId id="521" r:id="rId11"/>
    <p:sldId id="527" r:id="rId12"/>
    <p:sldId id="531" r:id="rId13"/>
    <p:sldId id="529" r:id="rId14"/>
    <p:sldId id="607" r:id="rId15"/>
    <p:sldId id="532" r:id="rId16"/>
    <p:sldId id="678" r:id="rId17"/>
    <p:sldId id="550" r:id="rId18"/>
    <p:sldId id="534" r:id="rId19"/>
    <p:sldId id="552" r:id="rId20"/>
    <p:sldId id="629" r:id="rId21"/>
    <p:sldId id="662" r:id="rId22"/>
    <p:sldId id="631" r:id="rId23"/>
    <p:sldId id="632" r:id="rId24"/>
    <p:sldId id="638" r:id="rId25"/>
    <p:sldId id="644" r:id="rId26"/>
    <p:sldId id="645" r:id="rId27"/>
    <p:sldId id="551" r:id="rId28"/>
    <p:sldId id="553" r:id="rId29"/>
    <p:sldId id="573" r:id="rId30"/>
    <p:sldId id="540" r:id="rId31"/>
    <p:sldId id="539" r:id="rId32"/>
    <p:sldId id="601" r:id="rId33"/>
    <p:sldId id="609" r:id="rId34"/>
    <p:sldId id="565" r:id="rId35"/>
    <p:sldId id="679" r:id="rId36"/>
    <p:sldId id="670" r:id="rId37"/>
    <p:sldId id="664" r:id="rId38"/>
    <p:sldId id="665" r:id="rId39"/>
    <p:sldId id="667" r:id="rId40"/>
    <p:sldId id="668" r:id="rId41"/>
  </p:sldIdLst>
  <p:sldSz cx="9144000" cy="6858000" type="screen4x3"/>
  <p:notesSz cx="7315200" cy="96012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1400" b="1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 userDrawn="1">
          <p15:clr>
            <a:srgbClr val="A4A3A4"/>
          </p15:clr>
        </p15:guide>
        <p15:guide id="2" pos="2305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A8487"/>
    <a:srgbClr val="1C5A61"/>
    <a:srgbClr val="0C6D9C"/>
    <a:srgbClr val="FF0000"/>
    <a:srgbClr val="CC3300"/>
    <a:srgbClr val="F5F5F5"/>
    <a:srgbClr val="CC66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848" autoAdjust="0"/>
    <p:restoredTop sz="94541" autoAdjust="0"/>
  </p:normalViewPr>
  <p:slideViewPr>
    <p:cSldViewPr>
      <p:cViewPr varScale="1">
        <p:scale>
          <a:sx n="68" d="100"/>
          <a:sy n="68" d="100"/>
        </p:scale>
        <p:origin x="1596" y="60"/>
      </p:cViewPr>
      <p:guideLst>
        <p:guide orient="horz" pos="2160"/>
        <p:guide pos="2736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14592"/>
    </p:cViewPr>
  </p:sorterViewPr>
  <p:notesViewPr>
    <p:cSldViewPr>
      <p:cViewPr varScale="1">
        <p:scale>
          <a:sx n="82" d="100"/>
          <a:sy n="82" d="100"/>
        </p:scale>
        <p:origin x="-3060" y="-78"/>
      </p:cViewPr>
      <p:guideLst>
        <p:guide orient="horz" pos="3025"/>
        <p:guide pos="2305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23.xml"/><Relationship Id="rId7" Type="http://schemas.openxmlformats.org/officeDocument/2006/relationships/slide" Target="slides/slide38.xml"/><Relationship Id="rId2" Type="http://schemas.openxmlformats.org/officeDocument/2006/relationships/slide" Target="slides/slide22.xml"/><Relationship Id="rId1" Type="http://schemas.openxmlformats.org/officeDocument/2006/relationships/slide" Target="slides/slide20.xml"/><Relationship Id="rId6" Type="http://schemas.openxmlformats.org/officeDocument/2006/relationships/slide" Target="slides/slide26.xml"/><Relationship Id="rId5" Type="http://schemas.openxmlformats.org/officeDocument/2006/relationships/slide" Target="slides/slide25.xml"/><Relationship Id="rId4" Type="http://schemas.openxmlformats.org/officeDocument/2006/relationships/slide" Target="slides/slide24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image" Target="../media/image14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82765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3016" y="4560901"/>
            <a:ext cx="5367494" cy="431789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100420" tIns="50212" rIns="100420" bIns="502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notes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499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70000" y="728663"/>
            <a:ext cx="4778375" cy="3584575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12140441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69900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382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408113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76425" algn="l" defTabSz="963613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3650" y="722313"/>
            <a:ext cx="4795838" cy="3597275"/>
          </a:xfrm>
          <a:ln/>
        </p:spPr>
      </p:sp>
      <p:sp>
        <p:nvSpPr>
          <p:cNvPr id="860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60901"/>
            <a:ext cx="5365820" cy="4317895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4989" tIns="47491" rIns="94989" bIns="47491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429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solidFill>
            <a:srgbClr val="FFFFFF"/>
          </a:solidFill>
          <a:ln/>
        </p:spPr>
      </p:sp>
      <p:sp>
        <p:nvSpPr>
          <p:cNvPr id="870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1225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solidFill>
            <a:srgbClr val="FFFFFF"/>
          </a:solidFill>
          <a:ln/>
        </p:spPr>
      </p:sp>
      <p:sp>
        <p:nvSpPr>
          <p:cNvPr id="890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21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21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8723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3356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8595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63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993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2787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13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869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2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02666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34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808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44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883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990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85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2718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09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824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16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07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2063" y="720725"/>
            <a:ext cx="4797425" cy="3598863"/>
          </a:xfrm>
          <a:ln/>
        </p:spPr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4690" y="4559248"/>
            <a:ext cx="5365820" cy="4321201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5017" tIns="47507" rIns="95017" bIns="47507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741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4371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1852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27465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993348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17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09286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4977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112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66639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26442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5084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43688" y="152400"/>
            <a:ext cx="2085975" cy="6172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110288" cy="6172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479948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2804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1116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143000"/>
            <a:ext cx="4083050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53798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8280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11163" y="1143000"/>
            <a:ext cx="83185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</p:txBody>
      </p:sp>
      <p:grpSp>
        <p:nvGrpSpPr>
          <p:cNvPr id="1028" name="Group 16"/>
          <p:cNvGrpSpPr>
            <a:grpSpLocks/>
          </p:cNvGrpSpPr>
          <p:nvPr userDrawn="1"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1030" name="Rectangle 17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1" name="Rectangle 18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" name="Rectangle 1"/>
          <p:cNvSpPr/>
          <p:nvPr userDrawn="1"/>
        </p:nvSpPr>
        <p:spPr>
          <a:xfrm>
            <a:off x="8454919" y="6400800"/>
            <a:ext cx="4026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fld id="{20C2B3EF-A58E-4072-B0B8-DA68EAC103CC}" type="slidenum">
              <a:rPr lang="en-US" smtClean="0"/>
              <a:pPr>
                <a:spcBef>
                  <a:spcPct val="50000"/>
                </a:spcBef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/>
  <p:txStyles>
    <p:titleStyle>
      <a:lvl1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2pPr>
      <a:lvl3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3pPr>
      <a:lvl4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4pPr>
      <a:lvl5pPr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5pPr>
      <a:lvl6pPr marL="4572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6pPr>
      <a:lvl7pPr marL="9144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7pPr>
      <a:lvl8pPr marL="13716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8pPr>
      <a:lvl9pPr marL="1828800" algn="l" rtl="0" eaLnBrk="0" fontAlgn="base" hangingPunct="0">
        <a:lnSpc>
          <a:spcPts val="3600"/>
        </a:lnSpc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Tahoma" pitchFamily="34" charset="0"/>
        </a:defRPr>
      </a:lvl9pPr>
    </p:titleStyle>
    <p:bodyStyle>
      <a:lvl1pPr marL="292100" indent="-2921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5000"/>
        <a:buFont typeface="Monotype Sorts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100000"/>
        <a:buFont typeface="Arial" pitchFamily="34" charset="0"/>
        <a:buChar char="–"/>
        <a:defRPr sz="2400">
          <a:solidFill>
            <a:schemeClr val="tx1"/>
          </a:solidFill>
          <a:latin typeface="+mn-lt"/>
        </a:defRPr>
      </a:lvl2pPr>
      <a:lvl3pPr marL="914400" algn="l" rtl="0" eaLnBrk="0" fontAlgn="base" hangingPunct="0">
        <a:spcBef>
          <a:spcPct val="10000"/>
        </a:spcBef>
        <a:spcAft>
          <a:spcPts val="400"/>
        </a:spcAft>
        <a:buClr>
          <a:srgbClr val="0C7B9C"/>
        </a:buClr>
        <a:buSzPct val="70000"/>
        <a:buFont typeface="Wingdings" pitchFamily="2" charset="2"/>
        <a:buChar char="u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SzPct val="100000"/>
        <a:buChar char="•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Word_97_-_2003_Document.doc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.wmf"/><Relationship Id="rId4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notesSlide" Target="../notesSlides/notesSlide8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5.wmf"/><Relationship Id="rId5" Type="http://schemas.openxmlformats.org/officeDocument/2006/relationships/image" Target="../media/image3.wmf"/><Relationship Id="rId4" Type="http://schemas.openxmlformats.org/officeDocument/2006/relationships/oleObject" Target="../embeddings/oleObject3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5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5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14.wmf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8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743200"/>
            <a:ext cx="8763000" cy="1219200"/>
          </a:xfrm>
        </p:spPr>
        <p:txBody>
          <a:bodyPr/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lang="en-US" sz="4800" dirty="0"/>
              <a:t>Data Preprocessing</a:t>
            </a:r>
            <a:endParaRPr lang="en-US" sz="4400" dirty="0"/>
          </a:p>
        </p:txBody>
      </p:sp>
      <p:sp>
        <p:nvSpPr>
          <p:cNvPr id="2" name="TextBox 1"/>
          <p:cNvSpPr txBox="1"/>
          <p:nvPr/>
        </p:nvSpPr>
        <p:spPr>
          <a:xfrm>
            <a:off x="1065187" y="5638800"/>
            <a:ext cx="7394626" cy="617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sz="1100" b="0" dirty="0"/>
              <a:t>Based on “Introduction to Data Mining” </a:t>
            </a:r>
            <a:r>
              <a:rPr lang="en-US" sz="1050" b="0" dirty="0"/>
              <a:t>by</a:t>
            </a:r>
          </a:p>
          <a:p>
            <a:pPr algn="ctr" eaLnBrk="1" hangingPunct="1">
              <a:spcBef>
                <a:spcPct val="20000"/>
              </a:spcBef>
              <a:buClr>
                <a:schemeClr val="folHlink"/>
              </a:buClr>
              <a:buSzPct val="60000"/>
            </a:pPr>
            <a:r>
              <a:rPr lang="en-US" sz="1050" b="0" dirty="0"/>
              <a:t>Tan, Steinbach, </a:t>
            </a:r>
            <a:r>
              <a:rPr lang="en-US" sz="1050" b="0" dirty="0" err="1"/>
              <a:t>Karpatne</a:t>
            </a:r>
            <a:r>
              <a:rPr lang="en-US" sz="1050" b="0" dirty="0"/>
              <a:t>, Kumar</a:t>
            </a:r>
          </a:p>
          <a:p>
            <a:endParaRPr lang="en-US" sz="105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Features and Instances</a:t>
            </a:r>
          </a:p>
          <a:p>
            <a:endParaRPr lang="en-US" dirty="0"/>
          </a:p>
          <a:p>
            <a:r>
              <a:rPr lang="en-US" dirty="0"/>
              <a:t>Types of Data</a:t>
            </a:r>
          </a:p>
          <a:p>
            <a:endParaRPr lang="en-US" dirty="0"/>
          </a:p>
          <a:p>
            <a:r>
              <a:rPr lang="en-US" dirty="0"/>
              <a:t>Data Quality</a:t>
            </a:r>
          </a:p>
          <a:p>
            <a:endParaRPr lang="en-US" dirty="0"/>
          </a:p>
          <a:p>
            <a:r>
              <a:rPr lang="en-US" dirty="0"/>
              <a:t>Similarity and Distance</a:t>
            </a:r>
          </a:p>
          <a:p>
            <a:endParaRPr lang="en-US" dirty="0"/>
          </a:p>
          <a:p>
            <a:r>
              <a:rPr lang="en-US" dirty="0"/>
              <a:t>Data Preprocessing</a:t>
            </a:r>
          </a:p>
          <a:p>
            <a:pPr>
              <a:buFont typeface="Monotype Sorts" charset="2"/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Data?</a:t>
            </a:r>
          </a:p>
        </p:txBody>
      </p:sp>
      <p:sp>
        <p:nvSpPr>
          <p:cNvPr id="4099" name="Rectangle 9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143000"/>
            <a:ext cx="4267200" cy="518160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Collection of </a:t>
            </a:r>
            <a:r>
              <a:rPr lang="en-US" sz="2400" b="1" i="1" dirty="0">
                <a:solidFill>
                  <a:srgbClr val="CC6600"/>
                </a:solidFill>
              </a:rPr>
              <a:t>data instances </a:t>
            </a:r>
            <a:r>
              <a:rPr lang="en-US" sz="2400" dirty="0"/>
              <a:t>and their </a:t>
            </a:r>
            <a:r>
              <a:rPr lang="en-US" sz="2400" b="1" i="1" dirty="0">
                <a:solidFill>
                  <a:srgbClr val="CC6600"/>
                </a:solidFill>
              </a:rPr>
              <a:t>features</a:t>
            </a:r>
          </a:p>
          <a:p>
            <a:pPr lvl="4"/>
            <a:endParaRPr lang="en-US" sz="600" dirty="0"/>
          </a:p>
          <a:p>
            <a:r>
              <a:rPr lang="en-US" sz="2400" dirty="0"/>
              <a:t>An </a:t>
            </a:r>
            <a:r>
              <a:rPr lang="en-US" sz="2400" b="1" i="1" dirty="0">
                <a:solidFill>
                  <a:srgbClr val="CC6600"/>
                </a:solidFill>
              </a:rPr>
              <a:t>feature</a:t>
            </a:r>
            <a:r>
              <a:rPr lang="en-US" sz="2400" dirty="0"/>
              <a:t> is a property or characteristic of an instance</a:t>
            </a:r>
          </a:p>
          <a:p>
            <a:pPr lvl="1"/>
            <a:r>
              <a:rPr lang="en-US" sz="2000" dirty="0"/>
              <a:t>Examples: eye color of a person, temperature, etc.</a:t>
            </a:r>
          </a:p>
          <a:p>
            <a:pPr lvl="1"/>
            <a:r>
              <a:rPr lang="en-US" sz="2000" dirty="0"/>
              <a:t>feature is also known as variable, field, characteristic, dimension, or attribute</a:t>
            </a:r>
          </a:p>
          <a:p>
            <a:pPr lvl="1"/>
            <a:endParaRPr lang="en-US" sz="2000" dirty="0"/>
          </a:p>
          <a:p>
            <a:r>
              <a:rPr lang="en-US" sz="2400" dirty="0"/>
              <a:t>A collection of features describe an </a:t>
            </a:r>
            <a:r>
              <a:rPr lang="en-US" sz="2400" b="1" i="1" dirty="0">
                <a:solidFill>
                  <a:srgbClr val="CC6600"/>
                </a:solidFill>
              </a:rPr>
              <a:t>instance</a:t>
            </a:r>
          </a:p>
          <a:p>
            <a:pPr lvl="1"/>
            <a:r>
              <a:rPr lang="en-US" sz="2000" dirty="0"/>
              <a:t>Instance is also known as object, record, data point, sample or entity</a:t>
            </a:r>
            <a:endParaRPr lang="en-US" dirty="0"/>
          </a:p>
        </p:txBody>
      </p:sp>
      <p:grpSp>
        <p:nvGrpSpPr>
          <p:cNvPr id="4100" name="Group 16"/>
          <p:cNvGrpSpPr>
            <a:grpSpLocks/>
          </p:cNvGrpSpPr>
          <p:nvPr/>
        </p:nvGrpSpPr>
        <p:grpSpPr bwMode="auto">
          <a:xfrm>
            <a:off x="5630863" y="1601788"/>
            <a:ext cx="3513137" cy="5027612"/>
            <a:chOff x="3403" y="1104"/>
            <a:chExt cx="2213" cy="2640"/>
          </a:xfrm>
        </p:grpSpPr>
        <p:graphicFrame>
          <p:nvGraphicFramePr>
            <p:cNvPr id="4107" name="Object 10"/>
            <p:cNvGraphicFramePr>
              <a:graphicFrameLocks noChangeAspect="1"/>
            </p:cNvGraphicFramePr>
            <p:nvPr/>
          </p:nvGraphicFramePr>
          <p:xfrm>
            <a:off x="3403" y="1378"/>
            <a:ext cx="2213" cy="236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319" name="Document" r:id="rId4" imgW="5405628" imgH="5779008" progId="Word.Document.8">
                    <p:embed/>
                  </p:oleObj>
                </mc:Choice>
                <mc:Fallback>
                  <p:oleObj name="Document" r:id="rId4" imgW="5405628" imgH="5779008" progId="Word.Document.8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03" y="1378"/>
                          <a:ext cx="2213" cy="236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2700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08" name="AutoShape 12"/>
            <p:cNvSpPr>
              <a:spLocks/>
            </p:cNvSpPr>
            <p:nvPr/>
          </p:nvSpPr>
          <p:spPr bwMode="auto">
            <a:xfrm rot="5400000">
              <a:off x="4340" y="240"/>
              <a:ext cx="240" cy="1968"/>
            </a:xfrm>
            <a:prstGeom prst="leftBrace">
              <a:avLst>
                <a:gd name="adj1" fmla="val 68333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4101" name="Text Box 14"/>
          <p:cNvSpPr txBox="1">
            <a:spLocks noChangeArrowheads="1"/>
          </p:cNvSpPr>
          <p:nvPr/>
        </p:nvSpPr>
        <p:spPr bwMode="auto">
          <a:xfrm>
            <a:off x="6858000" y="1229262"/>
            <a:ext cx="198120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features</a:t>
            </a:r>
          </a:p>
        </p:txBody>
      </p:sp>
      <p:sp>
        <p:nvSpPr>
          <p:cNvPr id="4102" name="AutoShape 15"/>
          <p:cNvSpPr>
            <a:spLocks/>
          </p:cNvSpPr>
          <p:nvPr/>
        </p:nvSpPr>
        <p:spPr bwMode="auto">
          <a:xfrm>
            <a:off x="5257800" y="2517775"/>
            <a:ext cx="381000" cy="3808413"/>
          </a:xfrm>
          <a:prstGeom prst="leftBrace">
            <a:avLst>
              <a:gd name="adj1" fmla="val 83299"/>
              <a:gd name="adj2" fmla="val 50000"/>
            </a:avLst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3" name="Text Box 17"/>
          <p:cNvSpPr txBox="1">
            <a:spLocks noChangeArrowheads="1"/>
          </p:cNvSpPr>
          <p:nvPr/>
        </p:nvSpPr>
        <p:spPr bwMode="auto">
          <a:xfrm rot="16200000">
            <a:off x="3960020" y="3802954"/>
            <a:ext cx="197008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dirty="0">
                <a:solidFill>
                  <a:srgbClr val="FF0000"/>
                </a:solidFill>
              </a:rPr>
              <a:t>Instances</a:t>
            </a:r>
            <a:endParaRPr lang="en-US" sz="1600" dirty="0">
              <a:solidFill>
                <a:srgbClr val="FF0000"/>
              </a:solidFill>
            </a:endParaRPr>
          </a:p>
        </p:txBody>
      </p:sp>
      <p:grpSp>
        <p:nvGrpSpPr>
          <p:cNvPr id="4104" name="Group 19"/>
          <p:cNvGrpSpPr>
            <a:grpSpLocks/>
          </p:cNvGrpSpPr>
          <p:nvPr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4105" name="Rectangle 20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06" name="Rectangle 21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features </a:t>
            </a:r>
          </a:p>
        </p:txBody>
      </p:sp>
      <p:sp>
        <p:nvSpPr>
          <p:cNvPr id="7171" name="Rectangle 10"/>
          <p:cNvSpPr>
            <a:spLocks noGrp="1" noChangeArrowheads="1"/>
          </p:cNvSpPr>
          <p:nvPr>
            <p:ph type="body" idx="1"/>
          </p:nvPr>
        </p:nvSpPr>
        <p:spPr>
          <a:xfrm>
            <a:off x="152400" y="1143000"/>
            <a:ext cx="8915400" cy="5181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 There are different types of features</a:t>
            </a:r>
          </a:p>
          <a:p>
            <a:pPr marL="749300" lvl="1">
              <a:spcBef>
                <a:spcPts val="300"/>
              </a:spcBef>
            </a:pPr>
            <a:r>
              <a:rPr lang="en-US" sz="2800" dirty="0">
                <a:solidFill>
                  <a:srgbClr val="FF0000"/>
                </a:solidFill>
              </a:rPr>
              <a:t>Nominal</a:t>
            </a:r>
            <a:endParaRPr lang="en-US" sz="2800" dirty="0"/>
          </a:p>
          <a:p>
            <a:pPr marL="1257300" lvl="2" indent="-393700">
              <a:spcBef>
                <a:spcPts val="300"/>
              </a:spcBef>
            </a:pPr>
            <a:r>
              <a:rPr lang="en-US" sz="2400" dirty="0"/>
              <a:t>Examples: ID numbers, eye color, zip codes</a:t>
            </a:r>
          </a:p>
          <a:p>
            <a:pPr marL="749300" lvl="1">
              <a:spcBef>
                <a:spcPts val="300"/>
              </a:spcBef>
            </a:pPr>
            <a:r>
              <a:rPr lang="en-US" sz="2800" dirty="0">
                <a:solidFill>
                  <a:srgbClr val="FF0000"/>
                </a:solidFill>
              </a:rPr>
              <a:t>Ordinal</a:t>
            </a:r>
            <a:endParaRPr lang="en-US" sz="2800" dirty="0"/>
          </a:p>
          <a:p>
            <a:pPr marL="1257300" lvl="2" indent="-393700">
              <a:spcBef>
                <a:spcPts val="300"/>
              </a:spcBef>
            </a:pPr>
            <a:r>
              <a:rPr lang="en-US" sz="2400" dirty="0"/>
              <a:t>Examples: rankings (e.g., taste of potato chips on a scale from 1-10), grades, height {tall, medium, short}</a:t>
            </a:r>
          </a:p>
          <a:p>
            <a:pPr marL="749300" lvl="1">
              <a:spcBef>
                <a:spcPts val="300"/>
              </a:spcBef>
            </a:pPr>
            <a:r>
              <a:rPr lang="en-US" sz="2800" dirty="0">
                <a:solidFill>
                  <a:srgbClr val="FF0000"/>
                </a:solidFill>
              </a:rPr>
              <a:t>Interval</a:t>
            </a:r>
            <a:endParaRPr lang="en-US" sz="2800" dirty="0"/>
          </a:p>
          <a:p>
            <a:pPr marL="1257300" lvl="2" indent="-393700">
              <a:spcBef>
                <a:spcPts val="300"/>
              </a:spcBef>
            </a:pPr>
            <a:r>
              <a:rPr lang="en-US" sz="2400" dirty="0"/>
              <a:t>Examples: calendar dates, temperatures in Celsius or Fahrenheit.</a:t>
            </a:r>
          </a:p>
          <a:p>
            <a:pPr marL="749300" lvl="1">
              <a:spcBef>
                <a:spcPts val="300"/>
              </a:spcBef>
            </a:pPr>
            <a:r>
              <a:rPr lang="en-US" sz="2800" dirty="0">
                <a:solidFill>
                  <a:srgbClr val="FF0000"/>
                </a:solidFill>
              </a:rPr>
              <a:t>Ratio</a:t>
            </a:r>
            <a:endParaRPr lang="en-US" sz="2800" dirty="0"/>
          </a:p>
          <a:p>
            <a:pPr marL="1257300" lvl="2" indent="-393700">
              <a:spcBef>
                <a:spcPts val="300"/>
              </a:spcBef>
            </a:pPr>
            <a:r>
              <a:rPr lang="en-US" sz="2400" dirty="0"/>
              <a:t>Examples: temperature in Kelvin, length, counts, elapsed time (e.g., time to run a race) 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42" name="Object 10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312627"/>
              </p:ext>
            </p:extLst>
          </p:nvPr>
        </p:nvGraphicFramePr>
        <p:xfrm>
          <a:off x="279400" y="542925"/>
          <a:ext cx="8369300" cy="5237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52" name="Document" r:id="rId3" imgW="8597589" imgH="5369793" progId="Word.Document.8">
                  <p:embed/>
                </p:oleObj>
              </mc:Choice>
              <mc:Fallback>
                <p:oleObj name="Document" r:id="rId3" imgW="8597589" imgH="5369793" progId="Word.Document.8">
                  <p:embed/>
                  <p:pic>
                    <p:nvPicPr>
                      <p:cNvPr id="0" name="Object 10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" y="542925"/>
                        <a:ext cx="8369300" cy="5237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 and Continuous features </a:t>
            </a:r>
          </a:p>
        </p:txBody>
      </p:sp>
      <p:sp>
        <p:nvSpPr>
          <p:cNvPr id="1229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Discrete feature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Has only a finite set of values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Examples: postal codes, counts, or the set of words in a collection of documents 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Often represented as integer variables.   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Note: </a:t>
            </a:r>
            <a:r>
              <a:rPr lang="en-US" sz="2200" dirty="0">
                <a:solidFill>
                  <a:srgbClr val="CC3300"/>
                </a:solidFill>
              </a:rPr>
              <a:t>binary features</a:t>
            </a:r>
            <a:r>
              <a:rPr lang="en-US" sz="2200" dirty="0"/>
              <a:t> are a special case of discrete features </a:t>
            </a:r>
          </a:p>
          <a:p>
            <a:pPr>
              <a:lnSpc>
                <a:spcPct val="90000"/>
              </a:lnSpc>
            </a:pPr>
            <a:r>
              <a:rPr lang="en-US" dirty="0"/>
              <a:t>Continuous feature 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Has real numbers as feature values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Examples: temperature, height, or weight.  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Practically, real values can only be measured and represented using a finite number of digits.</a:t>
            </a:r>
          </a:p>
          <a:p>
            <a:pPr lvl="1">
              <a:lnSpc>
                <a:spcPct val="90000"/>
              </a:lnSpc>
            </a:pPr>
            <a:r>
              <a:rPr lang="en-US" sz="2200" dirty="0"/>
              <a:t>Continuous features are typically represented as floating-point variables.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Messages for feature Types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066800"/>
            <a:ext cx="8428037" cy="5181600"/>
          </a:xfrm>
        </p:spPr>
        <p:txBody>
          <a:bodyPr>
            <a:normAutofit fontScale="92500" lnSpcReduction="20000"/>
          </a:bodyPr>
          <a:lstStyle/>
          <a:p>
            <a:endParaRPr lang="en-US" sz="2000" dirty="0"/>
          </a:p>
          <a:p>
            <a:r>
              <a:rPr lang="en-US" dirty="0"/>
              <a:t>The types of operations you choose should be “meaningful” for the type of data you have</a:t>
            </a:r>
          </a:p>
          <a:p>
            <a:pPr lvl="1"/>
            <a:r>
              <a:rPr lang="en-US" dirty="0"/>
              <a:t>Distinctness, order, meaningful intervals, and meaningful ratios are only four (among </a:t>
            </a:r>
            <a:r>
              <a:rPr lang="en-US"/>
              <a:t>many possible) </a:t>
            </a:r>
            <a:r>
              <a:rPr lang="en-US" dirty="0"/>
              <a:t>properties of data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The data type you see – often numbers or strings – may not capture all the properties or may suggest properties that are not present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Analysis may depend on these other properties of the data</a:t>
            </a:r>
          </a:p>
          <a:p>
            <a:pPr lvl="2" indent="233363"/>
            <a:r>
              <a:rPr lang="en-US" dirty="0"/>
              <a:t>Many statistical analyses depend only on the distribution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 the end, what is meaningful can be specific to domain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774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 sz="2800"/>
              <a:t>Important Characteristics of Data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>
            <a:normAutofit fontScale="92500" lnSpcReduction="10000"/>
          </a:bodyPr>
          <a:lstStyle/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/>
              <a:t>Dimensionality (number of features)</a:t>
            </a:r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sz="2400" dirty="0"/>
              <a:t> High dimensional data brings a number of challenges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 err="1"/>
              <a:t>Sparsity</a:t>
            </a:r>
            <a:endParaRPr lang="en-US" sz="2800" dirty="0"/>
          </a:p>
          <a:p>
            <a:pPr lvl="2">
              <a:lnSpc>
                <a:spcPct val="95000"/>
              </a:lnSpc>
              <a:spcBef>
                <a:spcPct val="20000"/>
              </a:spcBef>
            </a:pPr>
            <a:r>
              <a:rPr lang="en-US" sz="2400" dirty="0"/>
              <a:t> Only presence counts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/>
              <a:t>Resolution</a:t>
            </a:r>
          </a:p>
          <a:p>
            <a:pPr lvl="2" indent="-342900">
              <a:lnSpc>
                <a:spcPct val="105000"/>
              </a:lnSpc>
              <a:spcBef>
                <a:spcPct val="20000"/>
              </a:spcBef>
            </a:pPr>
            <a:r>
              <a:rPr lang="en-US" sz="2400" dirty="0"/>
              <a:t> Patterns depend on the scale </a:t>
            </a:r>
          </a:p>
          <a:p>
            <a:pPr lvl="2">
              <a:lnSpc>
                <a:spcPct val="95000"/>
              </a:lnSpc>
              <a:spcBef>
                <a:spcPct val="20000"/>
              </a:spcBef>
            </a:pPr>
            <a:endParaRPr lang="en-US" sz="2400" dirty="0"/>
          </a:p>
          <a:p>
            <a:pPr lvl="1">
              <a:lnSpc>
                <a:spcPct val="95000"/>
              </a:lnSpc>
              <a:spcBef>
                <a:spcPct val="20000"/>
              </a:spcBef>
            </a:pPr>
            <a:r>
              <a:rPr lang="en-US" sz="2800" dirty="0"/>
              <a:t>Size</a:t>
            </a:r>
          </a:p>
          <a:p>
            <a:pPr lvl="2" indent="-342900">
              <a:lnSpc>
                <a:spcPct val="115000"/>
              </a:lnSpc>
              <a:spcBef>
                <a:spcPct val="20000"/>
              </a:spcBef>
            </a:pPr>
            <a:r>
              <a:rPr lang="en-US" sz="2400" dirty="0"/>
              <a:t>Type of analysis may depend on size of data</a:t>
            </a: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95000"/>
              </a:lnSpc>
              <a:spcBef>
                <a:spcPct val="20000"/>
              </a:spcBef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Types of data sets </a:t>
            </a:r>
          </a:p>
        </p:txBody>
      </p:sp>
      <p:sp>
        <p:nvSpPr>
          <p:cNvPr id="14339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914400" y="990600"/>
            <a:ext cx="7626350" cy="5029200"/>
          </a:xfrm>
          <a:noFill/>
        </p:spPr>
        <p:txBody>
          <a:bodyPr/>
          <a:lstStyle/>
          <a:p>
            <a:pPr marL="285750" indent="-285750">
              <a:lnSpc>
                <a:spcPct val="90000"/>
              </a:lnSpc>
            </a:pPr>
            <a:r>
              <a:rPr lang="en-US" sz="2600" dirty="0">
                <a:cs typeface="Times New Roman" pitchFamily="18" charset="0"/>
              </a:rPr>
              <a:t>Record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Data Matrix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Document Data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Transaction Data</a:t>
            </a:r>
            <a:endParaRPr lang="en-US" dirty="0"/>
          </a:p>
          <a:p>
            <a:pPr marL="285750" indent="-285750">
              <a:lnSpc>
                <a:spcPct val="90000"/>
              </a:lnSpc>
            </a:pPr>
            <a:r>
              <a:rPr lang="en-US" sz="2600" dirty="0">
                <a:cs typeface="Times New Roman" pitchFamily="18" charset="0"/>
              </a:rPr>
              <a:t>Graph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World Wide Web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Molecular Structures</a:t>
            </a:r>
          </a:p>
          <a:p>
            <a:pPr marL="285750" indent="-285750">
              <a:lnSpc>
                <a:spcPct val="90000"/>
              </a:lnSpc>
            </a:pPr>
            <a:r>
              <a:rPr lang="en-US" sz="2600" dirty="0">
                <a:cs typeface="Times New Roman" pitchFamily="18" charset="0"/>
              </a:rPr>
              <a:t>Ordered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Spatial Data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Temporal Data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Sequential Data</a:t>
            </a:r>
          </a:p>
          <a:p>
            <a:pPr lvl="1">
              <a:lnSpc>
                <a:spcPct val="90000"/>
              </a:lnSpc>
            </a:pPr>
            <a:r>
              <a:rPr lang="en-US" dirty="0">
                <a:cs typeface="Times New Roman" pitchFamily="18" charset="0"/>
              </a:rPr>
              <a:t>Genetic Sequence Data</a:t>
            </a:r>
          </a:p>
          <a:p>
            <a:pPr lvl="1">
              <a:lnSpc>
                <a:spcPct val="95000"/>
              </a:lnSpc>
              <a:spcBef>
                <a:spcPct val="20000"/>
              </a:spcBef>
              <a:buFont typeface="Arial" pitchFamily="34" charset="0"/>
              <a:buNone/>
            </a:pP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73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Record Data </a:t>
            </a:r>
          </a:p>
        </p:txBody>
      </p:sp>
      <p:sp>
        <p:nvSpPr>
          <p:cNvPr id="16387" name="Rectangle 7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990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 that consists of a collection of records, each of which consists of a fixed set of features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16388" name="Object 5"/>
          <p:cNvGraphicFramePr>
            <a:graphicFrameLocks noChangeAspect="1"/>
          </p:cNvGraphicFramePr>
          <p:nvPr/>
        </p:nvGraphicFramePr>
        <p:xfrm>
          <a:off x="2209800" y="2209800"/>
          <a:ext cx="3848100" cy="411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97" name="Document" r:id="rId4" imgW="5405628" imgH="5779008" progId="Word.Document.8">
                  <p:embed/>
                </p:oleObj>
              </mc:Choice>
              <mc:Fallback>
                <p:oleObj name="Document" r:id="rId4" imgW="5405628" imgH="5779008" progId="Word.Document.8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2209800"/>
                        <a:ext cx="3848100" cy="411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 Data </a:t>
            </a:r>
          </a:p>
        </p:txBody>
      </p:sp>
      <p:sp>
        <p:nvSpPr>
          <p:cNvPr id="20483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181600"/>
          </a:xfrm>
        </p:spPr>
        <p:txBody>
          <a:bodyPr/>
          <a:lstStyle/>
          <a:p>
            <a:r>
              <a:rPr lang="en-US" sz="2500" dirty="0"/>
              <a:t>Examples: Generic graph, a molecule, and webpages </a:t>
            </a:r>
          </a:p>
        </p:txBody>
      </p:sp>
      <p:graphicFrame>
        <p:nvGraphicFramePr>
          <p:cNvPr id="20484" name="Object 5"/>
          <p:cNvGraphicFramePr>
            <a:graphicFrameLocks noChangeAspect="1"/>
          </p:cNvGraphicFramePr>
          <p:nvPr/>
        </p:nvGraphicFramePr>
        <p:xfrm>
          <a:off x="152400" y="1676400"/>
          <a:ext cx="2979738" cy="2289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4" name="VISIO" r:id="rId4" imgW="839724" imgH="646176" progId="Visio.Drawing.6">
                  <p:embed/>
                </p:oleObj>
              </mc:Choice>
              <mc:Fallback>
                <p:oleObj name="VISIO" r:id="rId4" imgW="839724" imgH="646176" progId="Visio.Drawing.6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1676400"/>
                        <a:ext cx="2979738" cy="2289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485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600200"/>
            <a:ext cx="5959475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0486" name="Object 10"/>
          <p:cNvGraphicFramePr>
            <a:graphicFrameLocks noChangeAspect="1"/>
          </p:cNvGraphicFramePr>
          <p:nvPr/>
        </p:nvGraphicFramePr>
        <p:xfrm>
          <a:off x="381000" y="4191000"/>
          <a:ext cx="1965325" cy="183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5" name="VISIO" r:id="rId7" imgW="5792724" imgH="5411724" progId="Visio.Drawing.6">
                  <p:embed/>
                </p:oleObj>
              </mc:Choice>
              <mc:Fallback>
                <p:oleObj name="VISIO" r:id="rId7" imgW="5792724" imgH="5411724" progId="Visio.Drawing.6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4191000"/>
                        <a:ext cx="1965325" cy="183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Rectangle 11"/>
          <p:cNvSpPr>
            <a:spLocks noChangeArrowheads="1"/>
          </p:cNvSpPr>
          <p:nvPr/>
        </p:nvSpPr>
        <p:spPr bwMode="auto">
          <a:xfrm>
            <a:off x="0" y="5943600"/>
            <a:ext cx="30654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1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None/>
            </a:pPr>
            <a:r>
              <a:rPr lang="en-US" sz="2000" b="0"/>
              <a:t>Benzene Molecule: C6H6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Ordered Data </a:t>
            </a:r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 Genomic sequence data</a:t>
            </a:r>
          </a:p>
        </p:txBody>
      </p:sp>
      <p:graphicFrame>
        <p:nvGraphicFramePr>
          <p:cNvPr id="22532" name="Object 4"/>
          <p:cNvGraphicFramePr>
            <a:graphicFrameLocks noChangeAspect="1"/>
          </p:cNvGraphicFramePr>
          <p:nvPr/>
        </p:nvGraphicFramePr>
        <p:xfrm>
          <a:off x="1600200" y="1676400"/>
          <a:ext cx="5356225" cy="4570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1" name="VISIO" r:id="rId4" imgW="2330196" imgH="1991868" progId="Visio.Drawing.6">
                  <p:embed/>
                </p:oleObj>
              </mc:Choice>
              <mc:Fallback>
                <p:oleObj name="VISIO" r:id="rId4" imgW="2330196" imgH="1991868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676400"/>
                        <a:ext cx="5356225" cy="4570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9" descr="sst_land_temp_82_best"/>
          <p:cNvPicPr>
            <a:picLocks noGrp="1" noChangeAspect="1" noChangeArrowheads="1" noCrop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38400" y="1427163"/>
            <a:ext cx="6629400" cy="4973637"/>
          </a:xfrm>
          <a:noFill/>
        </p:spPr>
      </p:pic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/>
              <a:t>Ordered Data</a:t>
            </a:r>
          </a:p>
        </p:txBody>
      </p:sp>
      <p:sp>
        <p:nvSpPr>
          <p:cNvPr id="23556" name="Rectangle 1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Spatio-Temporal Data</a:t>
            </a:r>
          </a:p>
        </p:txBody>
      </p:sp>
      <p:sp>
        <p:nvSpPr>
          <p:cNvPr id="23557" name="Rectangle 3"/>
          <p:cNvSpPr>
            <a:spLocks noChangeArrowheads="1"/>
          </p:cNvSpPr>
          <p:nvPr/>
        </p:nvSpPr>
        <p:spPr bwMode="auto">
          <a:xfrm>
            <a:off x="2667000" y="26670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  <p:sp>
        <p:nvSpPr>
          <p:cNvPr id="23558" name="Text Box 12"/>
          <p:cNvSpPr txBox="1">
            <a:spLocks noChangeArrowheads="1"/>
          </p:cNvSpPr>
          <p:nvPr/>
        </p:nvSpPr>
        <p:spPr bwMode="auto">
          <a:xfrm>
            <a:off x="457200" y="2955925"/>
            <a:ext cx="2667000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/>
              <a:t>Average Monthly Temperature of land and ocean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Quality 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400" dirty="0"/>
              <a:t>Poor data quality negatively affects many data processing efforts</a:t>
            </a:r>
          </a:p>
          <a:p>
            <a:pPr>
              <a:buFont typeface="Monotype Sorts" charset="2"/>
              <a:buNone/>
            </a:pPr>
            <a:endParaRPr lang="en-US" sz="2400" dirty="0">
              <a:latin typeface="Times New Roman" pitchFamily="18" charset="0"/>
            </a:endParaRPr>
          </a:p>
          <a:p>
            <a:pPr>
              <a:buFont typeface="Monotype Sorts" charset="2"/>
              <a:buNone/>
            </a:pPr>
            <a:endParaRPr lang="en-US" sz="900" dirty="0">
              <a:latin typeface="Times New Roman" pitchFamily="18" charset="0"/>
            </a:endParaRPr>
          </a:p>
          <a:p>
            <a:r>
              <a:rPr lang="en-US" sz="2400" dirty="0"/>
              <a:t>Data mining example: a classification model for detecting people who are loan risks is built using poor data</a:t>
            </a:r>
          </a:p>
          <a:p>
            <a:pPr lvl="1"/>
            <a:r>
              <a:rPr lang="en-US" sz="2200" dirty="0"/>
              <a:t>Some credit-worthy candidates are denied loans</a:t>
            </a:r>
          </a:p>
          <a:p>
            <a:pPr lvl="1"/>
            <a:r>
              <a:rPr lang="en-US" sz="2200" dirty="0"/>
              <a:t>More loans are given to individuals that default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Quality …</a:t>
            </a:r>
          </a:p>
        </p:txBody>
      </p:sp>
      <p:sp>
        <p:nvSpPr>
          <p:cNvPr id="25603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kinds of data quality problems?</a:t>
            </a:r>
          </a:p>
          <a:p>
            <a:r>
              <a:rPr lang="en-US" dirty="0"/>
              <a:t>How can we detect problems with the data? </a:t>
            </a:r>
          </a:p>
          <a:p>
            <a:r>
              <a:rPr lang="en-US" dirty="0"/>
              <a:t>What can we do about these problems? </a:t>
            </a:r>
          </a:p>
          <a:p>
            <a:pPr lvl="4"/>
            <a:endParaRPr lang="en-US" dirty="0"/>
          </a:p>
          <a:p>
            <a:pPr lvl="4"/>
            <a:endParaRPr lang="en-US" dirty="0"/>
          </a:p>
          <a:p>
            <a:r>
              <a:rPr lang="en-US" dirty="0"/>
              <a:t>Examples of data quality problems: </a:t>
            </a:r>
          </a:p>
          <a:p>
            <a:pPr lvl="1"/>
            <a:r>
              <a:rPr lang="en-US" dirty="0"/>
              <a:t>Noise and outliers </a:t>
            </a:r>
          </a:p>
          <a:p>
            <a:pPr lvl="1"/>
            <a:r>
              <a:rPr lang="en-US" dirty="0"/>
              <a:t>Wrong data </a:t>
            </a:r>
          </a:p>
          <a:p>
            <a:pPr lvl="1"/>
            <a:r>
              <a:rPr lang="en-US" dirty="0"/>
              <a:t>Fake data </a:t>
            </a:r>
          </a:p>
          <a:p>
            <a:pPr lvl="1"/>
            <a:r>
              <a:rPr lang="en-US" dirty="0"/>
              <a:t>Missing values </a:t>
            </a:r>
          </a:p>
          <a:p>
            <a:pPr lvl="1"/>
            <a:r>
              <a:rPr lang="en-US" dirty="0"/>
              <a:t>Duplicate data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Noise</a:t>
            </a:r>
          </a:p>
        </p:txBody>
      </p:sp>
      <p:sp>
        <p:nvSpPr>
          <p:cNvPr id="26627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411163" y="1143000"/>
            <a:ext cx="8318500" cy="2362200"/>
          </a:xfrm>
        </p:spPr>
        <p:txBody>
          <a:bodyPr>
            <a:normAutofit fontScale="85000" lnSpcReduction="20000"/>
          </a:bodyPr>
          <a:lstStyle/>
          <a:p>
            <a:r>
              <a:rPr lang="en-US" sz="2600" dirty="0">
                <a:latin typeface="+mj-lt"/>
              </a:rPr>
              <a:t>For instances, noise is an extraneous instance</a:t>
            </a:r>
          </a:p>
          <a:p>
            <a:r>
              <a:rPr lang="en-US" sz="2600" dirty="0">
                <a:latin typeface="+mj-lt"/>
              </a:rPr>
              <a:t>For features, noise refers to modification of original values</a:t>
            </a:r>
          </a:p>
          <a:p>
            <a:pPr lvl="1"/>
            <a:r>
              <a:rPr lang="en-US" sz="2100" dirty="0">
                <a:latin typeface="+mj-lt"/>
              </a:rPr>
              <a:t>Examples: distortion of a person’s voice when talking on a poor phone and “snow” on television screen</a:t>
            </a:r>
          </a:p>
          <a:p>
            <a:pPr lvl="1"/>
            <a:r>
              <a:rPr lang="en-US" sz="2100" dirty="0">
                <a:latin typeface="+mj-lt"/>
              </a:rPr>
              <a:t>The figures below show two sine waves of the same magnitude and different frequencies, the waves combined, and the two sine waves with random noise</a:t>
            </a:r>
          </a:p>
          <a:p>
            <a:pPr lvl="2"/>
            <a:r>
              <a:rPr lang="en-US" sz="1700" dirty="0">
                <a:latin typeface="+mj-lt"/>
              </a:rPr>
              <a:t> The magnitude and shape of the original signal is distorted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B54409-6EE6-4A1C-9D0B-7CD3AF6E4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33800"/>
            <a:ext cx="3045649" cy="2286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1AF5E1-14E2-4B56-A568-ADB4A4652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681" y="3733800"/>
            <a:ext cx="3045649" cy="22860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986DA59-19B3-4F8E-A616-32746CC706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9881" y="3733800"/>
            <a:ext cx="3045649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696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1" dirty="0">
                <a:solidFill>
                  <a:srgbClr val="CC6600"/>
                </a:solidFill>
              </a:rPr>
              <a:t>Outliers</a:t>
            </a:r>
            <a:r>
              <a:rPr lang="en-US" dirty="0"/>
              <a:t> are data instances with characteristics that are considerably different than most of the other data instances in the data set</a:t>
            </a:r>
          </a:p>
          <a:p>
            <a:pPr lvl="1"/>
            <a:r>
              <a:rPr lang="en-US" b="1" dirty="0"/>
              <a:t>Case 1:</a:t>
            </a:r>
            <a:r>
              <a:rPr lang="en-US" dirty="0"/>
              <a:t> Outliers are </a:t>
            </a:r>
            <a:br>
              <a:rPr lang="en-US" dirty="0"/>
            </a:br>
            <a:r>
              <a:rPr lang="en-US" dirty="0"/>
              <a:t>noise that interferes</a:t>
            </a:r>
            <a:br>
              <a:rPr lang="en-US" dirty="0"/>
            </a:br>
            <a:r>
              <a:rPr lang="en-US" dirty="0"/>
              <a:t>with data analysis </a:t>
            </a:r>
            <a:br>
              <a:rPr lang="en-US" dirty="0"/>
            </a:br>
            <a:endParaRPr lang="en-US" sz="1200" dirty="0"/>
          </a:p>
          <a:p>
            <a:pPr lvl="1"/>
            <a:r>
              <a:rPr lang="en-US" b="1" dirty="0"/>
              <a:t>Case 2: </a:t>
            </a:r>
            <a:r>
              <a:rPr lang="en-US" dirty="0"/>
              <a:t>Outliers are </a:t>
            </a:r>
            <a:br>
              <a:rPr lang="en-US" dirty="0"/>
            </a:br>
            <a:r>
              <a:rPr lang="en-US" dirty="0"/>
              <a:t>the goal of our analysis</a:t>
            </a:r>
          </a:p>
          <a:p>
            <a:pPr lvl="2"/>
            <a:r>
              <a:rPr lang="en-US" dirty="0"/>
              <a:t> </a:t>
            </a:r>
            <a:r>
              <a:rPr lang="en-US" sz="2200" dirty="0"/>
              <a:t>Credit card fraud</a:t>
            </a:r>
          </a:p>
          <a:p>
            <a:pPr lvl="2"/>
            <a:r>
              <a:rPr lang="en-US" sz="2200" dirty="0"/>
              <a:t> Intrusion detection</a:t>
            </a:r>
            <a:r>
              <a:rPr lang="en-US" dirty="0"/>
              <a:t> </a:t>
            </a:r>
          </a:p>
          <a:p>
            <a:pPr lvl="2"/>
            <a:endParaRPr lang="en-US" sz="1200" dirty="0"/>
          </a:p>
        </p:txBody>
      </p:sp>
      <p:grpSp>
        <p:nvGrpSpPr>
          <p:cNvPr id="27651" name="Group 4"/>
          <p:cNvGrpSpPr>
            <a:grpSpLocks/>
          </p:cNvGrpSpPr>
          <p:nvPr/>
        </p:nvGrpSpPr>
        <p:grpSpPr bwMode="auto">
          <a:xfrm>
            <a:off x="4495800" y="2439988"/>
            <a:ext cx="4267200" cy="3884612"/>
            <a:chOff x="3648" y="2448"/>
            <a:chExt cx="2112" cy="1872"/>
          </a:xfrm>
        </p:grpSpPr>
        <p:pic>
          <p:nvPicPr>
            <p:cNvPr id="27653" name="Picture 5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8" y="2448"/>
              <a:ext cx="2112" cy="18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654" name="Oval 6"/>
            <p:cNvSpPr>
              <a:spLocks noChangeArrowheads="1"/>
            </p:cNvSpPr>
            <p:nvPr/>
          </p:nvSpPr>
          <p:spPr bwMode="auto">
            <a:xfrm>
              <a:off x="3766" y="2961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5" name="Oval 7"/>
            <p:cNvSpPr>
              <a:spLocks noChangeArrowheads="1"/>
            </p:cNvSpPr>
            <p:nvPr/>
          </p:nvSpPr>
          <p:spPr bwMode="auto">
            <a:xfrm>
              <a:off x="3907" y="3224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6" name="Oval 8"/>
            <p:cNvSpPr>
              <a:spLocks noChangeArrowheads="1"/>
            </p:cNvSpPr>
            <p:nvPr/>
          </p:nvSpPr>
          <p:spPr bwMode="auto">
            <a:xfrm>
              <a:off x="5612" y="3871"/>
              <a:ext cx="86" cy="85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7" name="Oval 9"/>
            <p:cNvSpPr>
              <a:spLocks noChangeArrowheads="1"/>
            </p:cNvSpPr>
            <p:nvPr/>
          </p:nvSpPr>
          <p:spPr bwMode="auto">
            <a:xfrm>
              <a:off x="4319" y="3937"/>
              <a:ext cx="86" cy="84"/>
            </a:xfrm>
            <a:prstGeom prst="ellips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8" name="Rectangle 10"/>
            <p:cNvSpPr>
              <a:spLocks noChangeArrowheads="1"/>
            </p:cNvSpPr>
            <p:nvPr/>
          </p:nvSpPr>
          <p:spPr bwMode="auto">
            <a:xfrm>
              <a:off x="4944" y="3072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59" name="Rectangle 11"/>
            <p:cNvSpPr>
              <a:spLocks noChangeArrowheads="1"/>
            </p:cNvSpPr>
            <p:nvPr/>
          </p:nvSpPr>
          <p:spPr bwMode="auto">
            <a:xfrm>
              <a:off x="3888" y="3120"/>
              <a:ext cx="192" cy="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76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Outliers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Values</a:t>
            </a:r>
          </a:p>
        </p:txBody>
      </p:sp>
      <p:sp>
        <p:nvSpPr>
          <p:cNvPr id="2867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Reasons for missing values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Information is not collected </a:t>
            </a:r>
            <a:br>
              <a:rPr lang="en-US" dirty="0"/>
            </a:br>
            <a:r>
              <a:rPr lang="en-US" dirty="0"/>
              <a:t>(e.g., people decline to give their age and weight)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features may not be applicable to all cases </a:t>
            </a:r>
            <a:br>
              <a:rPr lang="en-US" dirty="0"/>
            </a:br>
            <a:r>
              <a:rPr lang="en-US" dirty="0"/>
              <a:t>(e.g., annual income is not applicable to children)</a:t>
            </a:r>
          </a:p>
          <a:p>
            <a:pPr lvl="1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Handling missing values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Eliminate data instances or variables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Estimate missing values</a:t>
            </a:r>
          </a:p>
          <a:p>
            <a:pPr marL="1147763" lvl="2" indent="-233363">
              <a:lnSpc>
                <a:spcPct val="90000"/>
              </a:lnSpc>
            </a:pPr>
            <a:r>
              <a:rPr lang="en-US" dirty="0"/>
              <a:t>Example: time series of temperature</a:t>
            </a:r>
          </a:p>
          <a:p>
            <a:pPr marL="1147763" lvl="2" indent="-233363">
              <a:lnSpc>
                <a:spcPct val="90000"/>
              </a:lnSpc>
            </a:pPr>
            <a:r>
              <a:rPr lang="en-US" dirty="0"/>
              <a:t>Example: census results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Ignore the missing value during analysis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Duplicate Data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set may include data instances that are duplicates, or almost duplicates of one another</a:t>
            </a:r>
          </a:p>
          <a:p>
            <a:pPr lvl="1"/>
            <a:r>
              <a:rPr lang="en-US" dirty="0"/>
              <a:t>Major issue when merging data from heterogeneous sources</a:t>
            </a:r>
          </a:p>
          <a:p>
            <a:pPr lvl="1"/>
            <a:endParaRPr lang="en-US" dirty="0"/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Same person with multiple email addresses</a:t>
            </a:r>
          </a:p>
          <a:p>
            <a:pPr lvl="1"/>
            <a:endParaRPr lang="en-US" dirty="0"/>
          </a:p>
          <a:p>
            <a:r>
              <a:rPr lang="en-US" dirty="0"/>
              <a:t>Data cleaning</a:t>
            </a:r>
          </a:p>
          <a:p>
            <a:pPr lvl="1"/>
            <a:r>
              <a:rPr lang="en-US" dirty="0"/>
              <a:t>Process of dealing with duplicate data issues</a:t>
            </a:r>
          </a:p>
          <a:p>
            <a:pPr marL="457200" lvl="1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Similarity and Dissimilarity Measures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Similarity measure</a:t>
            </a:r>
          </a:p>
          <a:p>
            <a:pPr lvl="1"/>
            <a:r>
              <a:rPr lang="en-US" dirty="0"/>
              <a:t>Numerical measure of how alike two data instances are.</a:t>
            </a:r>
          </a:p>
          <a:p>
            <a:pPr lvl="1"/>
            <a:r>
              <a:rPr lang="en-US" dirty="0"/>
              <a:t>Is higher when instances are more alike.</a:t>
            </a:r>
          </a:p>
          <a:p>
            <a:pPr lvl="1"/>
            <a:r>
              <a:rPr lang="en-US" dirty="0"/>
              <a:t>Often falls in the range [0,1]</a:t>
            </a:r>
          </a:p>
          <a:p>
            <a:r>
              <a:rPr lang="en-US" dirty="0"/>
              <a:t>Dissimilarity measure</a:t>
            </a:r>
          </a:p>
          <a:p>
            <a:pPr lvl="1"/>
            <a:r>
              <a:rPr lang="en-US" dirty="0"/>
              <a:t>Numerical measure of how different two data instances are </a:t>
            </a:r>
          </a:p>
          <a:p>
            <a:pPr lvl="1"/>
            <a:r>
              <a:rPr lang="en-US" dirty="0"/>
              <a:t>Lower when instances are more alike</a:t>
            </a:r>
          </a:p>
          <a:p>
            <a:pPr lvl="1"/>
            <a:r>
              <a:rPr lang="en-US" dirty="0"/>
              <a:t>Minimum dissimilarity is often 0</a:t>
            </a:r>
          </a:p>
          <a:p>
            <a:pPr lvl="1"/>
            <a:r>
              <a:rPr lang="en-US" dirty="0"/>
              <a:t>Upper limit varies</a:t>
            </a:r>
          </a:p>
          <a:p>
            <a:r>
              <a:rPr lang="en-US" dirty="0">
                <a:solidFill>
                  <a:srgbClr val="CC6600"/>
                </a:solidFill>
              </a:rPr>
              <a:t>Proximity</a:t>
            </a:r>
            <a:r>
              <a:rPr lang="en-US" dirty="0"/>
              <a:t> refers to a similarity or dissimilarity</a:t>
            </a:r>
          </a:p>
        </p:txBody>
      </p:sp>
    </p:spTree>
    <p:extLst>
      <p:ext uri="{BB962C8B-B14F-4D97-AF65-F5344CB8AC3E}">
        <p14:creationId xmlns:p14="http://schemas.microsoft.com/office/powerpoint/2010/main" val="38230394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Similarity/Dissimilarity for Simple features</a:t>
            </a:r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228600" y="1143000"/>
            <a:ext cx="86868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b="0" dirty="0"/>
              <a:t>The following table shows the similarity and dissimilarity between two instances, 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b="0" dirty="0"/>
              <a:t> and </a:t>
            </a:r>
            <a:r>
              <a:rPr lang="en-US" sz="2400" b="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y,</a:t>
            </a:r>
            <a:r>
              <a:rPr lang="en-US" sz="2400" b="0" dirty="0"/>
              <a:t> with respect to a single, simple feature.</a:t>
            </a:r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592750"/>
            <a:ext cx="9144000" cy="2741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13879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/>
              <a:t>Euclidean Distance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11163" y="1143000"/>
            <a:ext cx="8351837" cy="5181600"/>
          </a:xfrm>
        </p:spPr>
        <p:txBody>
          <a:bodyPr/>
          <a:lstStyle/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r>
              <a:rPr lang="en-US" sz="2400" dirty="0"/>
              <a:t>Euclidean Distance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</a:pPr>
            <a:endParaRPr lang="en-US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000" dirty="0"/>
          </a:p>
          <a:p>
            <a:pPr marL="342900" indent="-342900">
              <a:lnSpc>
                <a:spcPct val="90000"/>
              </a:lnSpc>
              <a:spcBef>
                <a:spcPct val="20000"/>
              </a:spcBef>
            </a:pPr>
            <a:endParaRPr lang="en-US" sz="2000" dirty="0"/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sz="1800" dirty="0"/>
              <a:t>   </a:t>
            </a:r>
          </a:p>
          <a:p>
            <a:pPr marL="742950" lvl="1" indent="0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dirty="0"/>
              <a:t>where </a:t>
            </a:r>
            <a:r>
              <a:rPr lang="en-US" i="1" dirty="0"/>
              <a:t>n</a:t>
            </a:r>
            <a:r>
              <a:rPr lang="en-US" dirty="0"/>
              <a:t> is the number of dimensions (features) and </a:t>
            </a:r>
            <a:r>
              <a:rPr lang="en-US" i="1" dirty="0">
                <a:latin typeface="Times New Roman" panose="02020603050405020304" pitchFamily="18" charset="0"/>
              </a:rPr>
              <a:t>x</a:t>
            </a:r>
            <a:r>
              <a:rPr lang="en-US" i="1" baseline="-25000" dirty="0">
                <a:latin typeface="Times New Roman" panose="02020603050405020304" pitchFamily="18" charset="0"/>
              </a:rPr>
              <a:t>k</a:t>
            </a:r>
            <a:r>
              <a:rPr lang="en-US" dirty="0"/>
              <a:t> and </a:t>
            </a:r>
            <a:r>
              <a:rPr lang="en-US" i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y</a:t>
            </a:r>
            <a:r>
              <a:rPr lang="en-US" i="1" baseline="-250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k</a:t>
            </a:r>
            <a:r>
              <a:rPr lang="en-US" i="1" baseline="-25000" dirty="0">
                <a:latin typeface="Times New Roman" panose="02020603050405020304" pitchFamily="18" charset="0"/>
              </a:rPr>
              <a:t> </a:t>
            </a:r>
            <a:r>
              <a:rPr lang="en-US" dirty="0"/>
              <a:t> are, respectively, the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dirty="0"/>
              <a:t> features (components) or data instances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</a:t>
            </a:r>
          </a:p>
          <a:p>
            <a:pPr marL="742950" lvl="1" indent="-285750">
              <a:lnSpc>
                <a:spcPct val="90000"/>
              </a:lnSpc>
              <a:spcBef>
                <a:spcPct val="20000"/>
              </a:spcBef>
              <a:buFont typeface="Arial" pitchFamily="34" charset="0"/>
              <a:buNone/>
            </a:pPr>
            <a:endParaRPr lang="en-US" dirty="0"/>
          </a:p>
        </p:txBody>
      </p:sp>
      <p:sp>
        <p:nvSpPr>
          <p:cNvPr id="880645" name="Rectangle 5"/>
          <p:cNvSpPr>
            <a:spLocks noChangeArrowheads="1"/>
          </p:cNvSpPr>
          <p:nvPr/>
        </p:nvSpPr>
        <p:spPr bwMode="auto">
          <a:xfrm>
            <a:off x="761998" y="4876800"/>
            <a:ext cx="7899402" cy="12146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sz="2400" b="0" dirty="0"/>
              <a:t> Standardization is necessary, if scales differ.</a:t>
            </a:r>
          </a:p>
          <a:p>
            <a:pPr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rgbClr val="0C7B9C"/>
              </a:buClr>
              <a:buSzPct val="75000"/>
              <a:buFont typeface="Monotype Sorts" charset="2"/>
              <a:buChar char="l"/>
            </a:pPr>
            <a:r>
              <a:rPr lang="en-US" sz="2400" b="0" dirty="0"/>
              <a:t> Other distances (Manhattan, </a:t>
            </a:r>
            <a:r>
              <a:rPr lang="en-US" sz="2400" b="0" dirty="0" err="1"/>
              <a:t>Monkowski</a:t>
            </a:r>
            <a:r>
              <a:rPr lang="en-US" sz="2400" b="0" dirty="0"/>
              <a:t>, </a:t>
            </a:r>
            <a:r>
              <a:rPr lang="en-US" sz="2400" b="0" dirty="0" err="1"/>
              <a:t>Mahalanabis</a:t>
            </a:r>
            <a:r>
              <a:rPr lang="en-US" sz="2400" b="0" dirty="0"/>
              <a:t>, etc.) are also used.</a:t>
            </a:r>
          </a:p>
        </p:txBody>
      </p:sp>
      <p:pic>
        <p:nvPicPr>
          <p:cNvPr id="78895" name="Picture 47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358" y="1600200"/>
            <a:ext cx="400764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85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064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/>
              <a:t>Euclidean Distance</a:t>
            </a:r>
          </a:p>
        </p:txBody>
      </p:sp>
      <p:graphicFrame>
        <p:nvGraphicFramePr>
          <p:cNvPr id="64515" name="Object 3"/>
          <p:cNvGraphicFramePr>
            <a:graphicFrameLocks noChangeAspect="1"/>
          </p:cNvGraphicFramePr>
          <p:nvPr/>
        </p:nvGraphicFramePr>
        <p:xfrm>
          <a:off x="228600" y="1143000"/>
          <a:ext cx="4378325" cy="319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32" name="VISIO" r:id="rId3" imgW="3631692" imgH="2656332" progId="Visio.Drawing.6">
                  <p:embed/>
                </p:oleObj>
              </mc:Choice>
              <mc:Fallback>
                <p:oleObj name="VISIO" r:id="rId3" imgW="3631692" imgH="2656332" progId="Visio.Drawing.6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1143000"/>
                        <a:ext cx="4378325" cy="319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6" name="Object 4"/>
          <p:cNvGraphicFramePr>
            <a:graphicFrameLocks noChangeAspect="1"/>
          </p:cNvGraphicFramePr>
          <p:nvPr/>
        </p:nvGraphicFramePr>
        <p:xfrm>
          <a:off x="4862513" y="1674813"/>
          <a:ext cx="3976687" cy="183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33" name="Worksheet" r:id="rId5" imgW="1836725" imgH="846287" progId="Excel.Sheet.8">
                  <p:embed/>
                </p:oleObj>
              </mc:Choice>
              <mc:Fallback>
                <p:oleObj name="Worksheet" r:id="rId5" imgW="18367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2513" y="1674813"/>
                        <a:ext cx="3976687" cy="183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3048000" y="5973763"/>
            <a:ext cx="2819400" cy="427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Distance Matrix</a:t>
            </a:r>
          </a:p>
        </p:txBody>
      </p:sp>
      <p:graphicFrame>
        <p:nvGraphicFramePr>
          <p:cNvPr id="64518" name="Object 6"/>
          <p:cNvGraphicFramePr>
            <a:graphicFrameLocks noChangeAspect="1"/>
          </p:cNvGraphicFramePr>
          <p:nvPr/>
        </p:nvGraphicFramePr>
        <p:xfrm>
          <a:off x="1371600" y="4114800"/>
          <a:ext cx="6599238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434" name="Worksheet" r:id="rId7" imgW="3055925" imgH="846287" progId="Excel.Sheet.8">
                  <p:embed/>
                </p:oleObj>
              </mc:Choice>
              <mc:Fallback>
                <p:oleObj name="Worksheet" r:id="rId7" imgW="3055925" imgH="846287" progId="Excel.Shee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4114800"/>
                        <a:ext cx="6599238" cy="182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6232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/>
              <a:t>Common Properties of a Distance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9763" y="1143000"/>
            <a:ext cx="8001000" cy="5106988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r>
              <a:rPr lang="en-US" dirty="0"/>
              <a:t>Distances, such as the Euclidean distance, have some well known properties.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endParaRPr lang="en-US" sz="1400" dirty="0"/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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0   </a:t>
            </a:r>
            <a:r>
              <a:rPr lang="en-US" dirty="0"/>
              <a:t>for all </a:t>
            </a:r>
            <a:r>
              <a:rPr lang="en-US" i="1" dirty="0"/>
              <a:t>x</a:t>
            </a:r>
            <a:r>
              <a:rPr lang="en-US" dirty="0"/>
              <a:t> and </a:t>
            </a:r>
            <a:r>
              <a:rPr lang="en-US" i="1" dirty="0"/>
              <a:t>y</a:t>
            </a:r>
            <a:r>
              <a:rPr lang="en-US" dirty="0"/>
              <a:t> and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0 </a:t>
            </a:r>
            <a:r>
              <a:rPr lang="en-US" dirty="0">
                <a:cs typeface="Times New Roman" panose="02020603050405020304" pitchFamily="18" charset="0"/>
              </a:rPr>
              <a:t>if and </a:t>
            </a:r>
            <a:r>
              <a:rPr lang="en-US" dirty="0"/>
              <a:t>only if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</a:t>
            </a:r>
            <a:r>
              <a:rPr lang="en-US" i="1" dirty="0"/>
              <a:t>=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</a:t>
            </a:r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=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 </a:t>
            </a:r>
            <a:r>
              <a:rPr lang="en-US" dirty="0"/>
              <a:t>for all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. (Symmetry)</a:t>
            </a:r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itchFamily="34" charset="0"/>
              <a:buAutoNum type="arabicPeriod"/>
            </a:pP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+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/>
              <a:t>   for all points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/>
              <a:t>,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/>
              <a:t>,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</a:t>
            </a:r>
            <a:r>
              <a:rPr lang="en-US" dirty="0"/>
              <a:t>.  </a:t>
            </a:r>
            <a:br>
              <a:rPr lang="en-US" dirty="0"/>
            </a:br>
            <a:r>
              <a:rPr lang="en-US" dirty="0"/>
              <a:t>(Triangle Inequality)</a:t>
            </a:r>
          </a:p>
          <a:p>
            <a:pPr marL="990600" lvl="1" indent="-533400">
              <a:lnSpc>
                <a:spcPct val="80000"/>
              </a:lnSpc>
              <a:spcBef>
                <a:spcPct val="20000"/>
              </a:spcBef>
              <a:buFont typeface="Arial" pitchFamily="34" charset="0"/>
              <a:buNone/>
            </a:pPr>
            <a:endParaRPr lang="en-US" sz="12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None/>
            </a:pPr>
            <a:r>
              <a:rPr lang="en-US" sz="2400" dirty="0"/>
              <a:t>	where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2400" dirty="0"/>
              <a:t> is the distance (dissimilarity) between points (data instances),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/>
              <a:t> and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2400" dirty="0"/>
              <a:t>.</a:t>
            </a:r>
          </a:p>
          <a:p>
            <a:pPr marL="533400" indent="-533400">
              <a:lnSpc>
                <a:spcPct val="80000"/>
              </a:lnSpc>
              <a:spcBef>
                <a:spcPct val="20000"/>
              </a:spcBef>
              <a:buFont typeface="Monotype Sorts" charset="2"/>
              <a:buNone/>
            </a:pPr>
            <a:endParaRPr lang="en-US" sz="1400" dirty="0"/>
          </a:p>
          <a:p>
            <a:pPr marL="533400" indent="-533400">
              <a:lnSpc>
                <a:spcPct val="80000"/>
              </a:lnSpc>
              <a:spcBef>
                <a:spcPct val="20000"/>
              </a:spcBef>
            </a:pPr>
            <a:r>
              <a:rPr lang="en-US" dirty="0"/>
              <a:t>A distance that satisfies these properties is a </a:t>
            </a:r>
            <a:r>
              <a:rPr lang="en-US" dirty="0">
                <a:solidFill>
                  <a:srgbClr val="FF0000"/>
                </a:solidFill>
              </a:rPr>
              <a:t>metric</a:t>
            </a:r>
          </a:p>
        </p:txBody>
      </p:sp>
    </p:spTree>
    <p:extLst>
      <p:ext uri="{BB962C8B-B14F-4D97-AF65-F5344CB8AC3E}">
        <p14:creationId xmlns:p14="http://schemas.microsoft.com/office/powerpoint/2010/main" val="6616083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>
          <a:xfrm>
            <a:off x="342900" y="381000"/>
            <a:ext cx="8280400" cy="53340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Correlation measures the linear relationship between instances</a:t>
            </a:r>
          </a:p>
        </p:txBody>
      </p:sp>
      <p:pic>
        <p:nvPicPr>
          <p:cNvPr id="85160" name="Picture 16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267" y="990600"/>
            <a:ext cx="7251990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239709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8280400" cy="552450"/>
          </a:xfrm>
        </p:spPr>
        <p:txBody>
          <a:bodyPr/>
          <a:lstStyle/>
          <a:p>
            <a:r>
              <a:rPr lang="en-US" sz="2800"/>
              <a:t>Visually Evaluating Correlation</a:t>
            </a:r>
          </a:p>
        </p:txBody>
      </p:sp>
      <p:graphicFrame>
        <p:nvGraphicFramePr>
          <p:cNvPr id="77827" name="Object 3"/>
          <p:cNvGraphicFramePr>
            <a:graphicFrameLocks noChangeAspect="1"/>
          </p:cNvGraphicFramePr>
          <p:nvPr/>
        </p:nvGraphicFramePr>
        <p:xfrm>
          <a:off x="228600" y="990600"/>
          <a:ext cx="5915025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204" name="Bitmap Image" r:id="rId3" imgW="7542857" imgH="7228571" progId="Paint.Picture">
                  <p:embed/>
                </p:oleObj>
              </mc:Choice>
              <mc:Fallback>
                <p:oleObj name="Bitmap Image" r:id="rId3" imgW="7542857" imgH="7228571" progId="Paint.Picture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8243" t="1854" r="5334" b="10373"/>
                      <a:stretch>
                        <a:fillRect/>
                      </a:stretch>
                    </p:blipFill>
                    <p:spPr bwMode="auto">
                      <a:xfrm>
                        <a:off x="228600" y="990600"/>
                        <a:ext cx="5915025" cy="563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Text Box 4"/>
          <p:cNvSpPr txBox="1">
            <a:spLocks noChangeArrowheads="1"/>
          </p:cNvSpPr>
          <p:nvPr/>
        </p:nvSpPr>
        <p:spPr bwMode="auto">
          <a:xfrm>
            <a:off x="6629400" y="2971800"/>
            <a:ext cx="228600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200"/>
              <a:t>Scatter plots showing the similarity from –1 to 1.</a:t>
            </a:r>
          </a:p>
        </p:txBody>
      </p:sp>
      <p:grpSp>
        <p:nvGrpSpPr>
          <p:cNvPr id="77829" name="Group 5"/>
          <p:cNvGrpSpPr>
            <a:grpSpLocks/>
          </p:cNvGrpSpPr>
          <p:nvPr/>
        </p:nvGrpSpPr>
        <p:grpSpPr bwMode="auto">
          <a:xfrm>
            <a:off x="304800" y="838200"/>
            <a:ext cx="8534400" cy="152400"/>
            <a:chOff x="264" y="788"/>
            <a:chExt cx="5232" cy="124"/>
          </a:xfrm>
        </p:grpSpPr>
        <p:sp>
          <p:nvSpPr>
            <p:cNvPr id="77830" name="Rectangle 6"/>
            <p:cNvSpPr>
              <a:spLocks noChangeArrowheads="1"/>
            </p:cNvSpPr>
            <p:nvPr/>
          </p:nvSpPr>
          <p:spPr bwMode="auto">
            <a:xfrm>
              <a:off x="264" y="788"/>
              <a:ext cx="5232" cy="61"/>
            </a:xfrm>
            <a:prstGeom prst="rect">
              <a:avLst/>
            </a:prstGeom>
            <a:gradFill rotWithShape="0">
              <a:gsLst>
                <a:gs pos="0">
                  <a:srgbClr val="0E9BBA"/>
                </a:gs>
                <a:gs pos="50000">
                  <a:srgbClr val="12C2E9"/>
                </a:gs>
                <a:gs pos="100000">
                  <a:srgbClr val="0E9BBA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77831" name="Rectangle 7"/>
            <p:cNvSpPr>
              <a:spLocks noChangeArrowheads="1"/>
            </p:cNvSpPr>
            <p:nvPr/>
          </p:nvSpPr>
          <p:spPr bwMode="auto">
            <a:xfrm>
              <a:off x="264" y="881"/>
              <a:ext cx="5232" cy="31"/>
            </a:xfrm>
            <a:prstGeom prst="rect">
              <a:avLst/>
            </a:prstGeom>
            <a:gradFill rotWithShape="0">
              <a:gsLst>
                <a:gs pos="0">
                  <a:srgbClr val="B200B2"/>
                </a:gs>
                <a:gs pos="50000">
                  <a:srgbClr val="FF00FF"/>
                </a:gs>
                <a:gs pos="100000">
                  <a:srgbClr val="B200B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465539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Preprocessing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dirty="0"/>
              <a:t>Aggregation</a:t>
            </a:r>
          </a:p>
          <a:p>
            <a:pPr>
              <a:lnSpc>
                <a:spcPct val="120000"/>
              </a:lnSpc>
            </a:pPr>
            <a:r>
              <a:rPr lang="en-US" dirty="0"/>
              <a:t>Sampling</a:t>
            </a:r>
          </a:p>
          <a:p>
            <a:pPr>
              <a:lnSpc>
                <a:spcPct val="120000"/>
              </a:lnSpc>
            </a:pPr>
            <a:r>
              <a:rPr lang="en-US" dirty="0"/>
              <a:t>Discretization and </a:t>
            </a:r>
            <a:r>
              <a:rPr lang="en-US" dirty="0" err="1"/>
              <a:t>Binarization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feature Transformation</a:t>
            </a:r>
          </a:p>
          <a:p>
            <a:pPr>
              <a:lnSpc>
                <a:spcPct val="120000"/>
              </a:lnSpc>
            </a:pPr>
            <a:r>
              <a:rPr lang="en-US" dirty="0"/>
              <a:t>Dimensionality Reduction</a:t>
            </a:r>
          </a:p>
          <a:p>
            <a:pPr>
              <a:lnSpc>
                <a:spcPct val="120000"/>
              </a:lnSpc>
            </a:pPr>
            <a:r>
              <a:rPr lang="en-US" dirty="0"/>
              <a:t>Feature subset selection</a:t>
            </a:r>
          </a:p>
          <a:p>
            <a:pPr>
              <a:lnSpc>
                <a:spcPct val="120000"/>
              </a:lnSpc>
            </a:pPr>
            <a:r>
              <a:rPr lang="en-US" dirty="0"/>
              <a:t>Feature creation</a:t>
            </a:r>
          </a:p>
          <a:p>
            <a:pPr>
              <a:lnSpc>
                <a:spcPct val="120000"/>
              </a:lnSpc>
            </a:pP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Aggregation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78372" y="1143000"/>
            <a:ext cx="8318500" cy="3124200"/>
          </a:xfrm>
        </p:spPr>
        <p:txBody>
          <a:bodyPr/>
          <a:lstStyle/>
          <a:p>
            <a:r>
              <a:rPr lang="en-US" sz="2200" dirty="0"/>
              <a:t>Combining two or more features (or instances) into a single feature (or instance)</a:t>
            </a:r>
          </a:p>
          <a:p>
            <a:r>
              <a:rPr lang="en-US" sz="2200" dirty="0"/>
              <a:t>Purpose</a:t>
            </a:r>
          </a:p>
          <a:p>
            <a:pPr lvl="1"/>
            <a:r>
              <a:rPr lang="en-US" sz="1600" dirty="0"/>
              <a:t>Data reduction -  reduce the number of features or instances</a:t>
            </a:r>
          </a:p>
          <a:p>
            <a:pPr lvl="1"/>
            <a:r>
              <a:rPr lang="en-US" sz="1600" dirty="0"/>
              <a:t>Change of scale</a:t>
            </a:r>
          </a:p>
          <a:p>
            <a:pPr lvl="2"/>
            <a:r>
              <a:rPr lang="en-US" sz="1600" dirty="0"/>
              <a:t> Cities aggregated into regions, states, countries, etc.</a:t>
            </a:r>
          </a:p>
          <a:p>
            <a:pPr lvl="2"/>
            <a:r>
              <a:rPr lang="en-US" sz="1600" dirty="0"/>
              <a:t> Days aggregated into weeks, months, or years</a:t>
            </a:r>
          </a:p>
          <a:p>
            <a:pPr lvl="1"/>
            <a:r>
              <a:rPr lang="en-US" sz="1600" dirty="0"/>
              <a:t>More “stable” data -  aggregated data tends to have less variability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E508B9-B245-40B3-9120-1E4CFDB87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72537"/>
            <a:ext cx="6400800" cy="217586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Sampling 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>
            <a:normAutofit/>
          </a:bodyPr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dirty="0">
                <a:ea typeface="MS Mincho" pitchFamily="49" charset="-128"/>
              </a:rPr>
              <a:t>Sampling is the main technique employed for data reduction.</a:t>
            </a:r>
          </a:p>
          <a:p>
            <a:pPr lvl="1" algn="just">
              <a:lnSpc>
                <a:spcPct val="95000"/>
              </a:lnSpc>
              <a:spcBef>
                <a:spcPct val="20000"/>
              </a:spcBef>
            </a:pPr>
            <a:r>
              <a:rPr lang="en-US" dirty="0">
                <a:ea typeface="MS Mincho" pitchFamily="49" charset="-128"/>
              </a:rPr>
              <a:t>It is often used for both the preliminary investigation of the data and the final data analysis.</a:t>
            </a:r>
          </a:p>
          <a:p>
            <a:pPr lvl="1" algn="just">
              <a:lnSpc>
                <a:spcPct val="95000"/>
              </a:lnSpc>
              <a:spcBef>
                <a:spcPct val="20000"/>
              </a:spcBef>
              <a:buFont typeface="Arial" pitchFamily="34" charset="0"/>
              <a:buNone/>
            </a:pPr>
            <a:r>
              <a:rPr lang="en-US" sz="2000" dirty="0">
                <a:ea typeface="MS Mincho" pitchFamily="49" charset="-128"/>
              </a:rPr>
              <a:t> </a:t>
            </a:r>
            <a:endParaRPr lang="en-US" sz="2000" dirty="0">
              <a:cs typeface="Times New Roman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dirty="0">
                <a:cs typeface="Times New Roman" pitchFamily="18" charset="0"/>
              </a:rPr>
              <a:t>Statisticians often sample because </a:t>
            </a:r>
            <a:r>
              <a:rPr lang="en-US" dirty="0">
                <a:solidFill>
                  <a:srgbClr val="CC6600"/>
                </a:solidFill>
                <a:cs typeface="Times New Roman" pitchFamily="18" charset="0"/>
              </a:rPr>
              <a:t>obtaining</a:t>
            </a:r>
            <a:r>
              <a:rPr lang="en-US" dirty="0">
                <a:cs typeface="Times New Roman" pitchFamily="18" charset="0"/>
              </a:rPr>
              <a:t> the entire set of data of interest is too expensive or time consuming.</a:t>
            </a: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r>
              <a:rPr lang="en-US" dirty="0"/>
              <a:t>Using a sample will work almost as well as using the entire data set, if the sample is </a:t>
            </a:r>
            <a:r>
              <a:rPr lang="en-US" dirty="0">
                <a:solidFill>
                  <a:srgbClr val="CC6600"/>
                </a:solidFill>
              </a:rPr>
              <a:t>representative</a:t>
            </a:r>
            <a:endParaRPr lang="en-US" dirty="0">
              <a:cs typeface="Times New Roman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buFont typeface="Monotype Sorts" charset="2"/>
              <a:buNone/>
            </a:pPr>
            <a:r>
              <a:rPr lang="en-US" sz="2400" dirty="0"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050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585200" cy="685800"/>
          </a:xfrm>
        </p:spPr>
        <p:txBody>
          <a:bodyPr/>
          <a:lstStyle/>
          <a:p>
            <a:r>
              <a:rPr lang="en-US"/>
              <a:t>Sample Size</a:t>
            </a:r>
          </a:p>
        </p:txBody>
      </p:sp>
      <p:sp>
        <p:nvSpPr>
          <p:cNvPr id="36867" name="Rectangle 2051"/>
          <p:cNvSpPr>
            <a:spLocks noGrp="1" noChangeArrowheads="1"/>
          </p:cNvSpPr>
          <p:nvPr>
            <p:ph type="body" idx="1"/>
          </p:nvPr>
        </p:nvSpPr>
        <p:spPr>
          <a:xfrm>
            <a:off x="146050" y="990600"/>
            <a:ext cx="8394700" cy="5029200"/>
          </a:xfrm>
          <a:noFill/>
        </p:spPr>
        <p:txBody>
          <a:bodyPr/>
          <a:lstStyle/>
          <a:p>
            <a:pPr marL="285750" indent="-285750" algn="just">
              <a:lnSpc>
                <a:spcPct val="95000"/>
              </a:lnSpc>
              <a:spcBef>
                <a:spcPct val="20000"/>
              </a:spcBef>
            </a:pPr>
            <a:endParaRPr lang="en-US" b="1">
              <a:latin typeface="Times New Roman" pitchFamily="18" charset="0"/>
              <a:cs typeface="Times New Roman" pitchFamily="18" charset="0"/>
            </a:endParaRPr>
          </a:p>
          <a:p>
            <a:pPr marL="285750" indent="-285750" algn="just">
              <a:lnSpc>
                <a:spcPct val="95000"/>
              </a:lnSpc>
              <a:spcBef>
                <a:spcPct val="20000"/>
              </a:spcBef>
              <a:buFont typeface="Monotype Sorts" charset="2"/>
              <a:buNone/>
            </a:pPr>
            <a:r>
              <a:rPr lang="en-US" b="1"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pic>
        <p:nvPicPr>
          <p:cNvPr id="36868" name="Picture 205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6" r="12498"/>
          <a:stretch>
            <a:fillRect/>
          </a:stretch>
        </p:blipFill>
        <p:spPr bwMode="auto">
          <a:xfrm>
            <a:off x="52388" y="1844675"/>
            <a:ext cx="3198812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69" name="Picture 205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56" t="13811" r="14642" b="10954"/>
          <a:stretch>
            <a:fillRect/>
          </a:stretch>
        </p:blipFill>
        <p:spPr bwMode="auto">
          <a:xfrm>
            <a:off x="3048000" y="2206625"/>
            <a:ext cx="3198813" cy="240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70" name="Picture 205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06" r="13213"/>
          <a:stretch>
            <a:fillRect/>
          </a:stretch>
        </p:blipFill>
        <p:spPr bwMode="auto">
          <a:xfrm>
            <a:off x="5943600" y="1828800"/>
            <a:ext cx="3198813" cy="318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71" name="Text Box 2055"/>
          <p:cNvSpPr txBox="1">
            <a:spLocks noChangeArrowheads="1"/>
          </p:cNvSpPr>
          <p:nvPr/>
        </p:nvSpPr>
        <p:spPr bwMode="auto">
          <a:xfrm>
            <a:off x="914400" y="4495800"/>
            <a:ext cx="8077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/>
              <a:t>8000 points		         2000 Points			500 Points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Sampling</a:t>
            </a:r>
          </a:p>
        </p:txBody>
      </p:sp>
      <p:sp>
        <p:nvSpPr>
          <p:cNvPr id="37891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411163" y="990600"/>
            <a:ext cx="8580437" cy="51816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Simple Random Sampling</a:t>
            </a:r>
          </a:p>
          <a:p>
            <a:pPr marL="749300" lvl="1">
              <a:lnSpc>
                <a:spcPct val="90000"/>
              </a:lnSpc>
            </a:pPr>
            <a:r>
              <a:rPr lang="en-US" dirty="0"/>
              <a:t>There is an equal probability of selecting any particular item</a:t>
            </a:r>
          </a:p>
          <a:p>
            <a:pPr marL="749300" lvl="1">
              <a:lnSpc>
                <a:spcPct val="90000"/>
              </a:lnSpc>
            </a:pPr>
            <a:r>
              <a:rPr lang="en-US" dirty="0"/>
              <a:t>Sampling without replacement</a:t>
            </a:r>
          </a:p>
          <a:p>
            <a:pPr marL="1147763" lvl="2" indent="-284163">
              <a:lnSpc>
                <a:spcPct val="90000"/>
              </a:lnSpc>
            </a:pPr>
            <a:r>
              <a:rPr lang="en-US" sz="2400" dirty="0"/>
              <a:t>As each item is selected, it is removed from the population</a:t>
            </a:r>
          </a:p>
          <a:p>
            <a:pPr marL="749300" lvl="1">
              <a:lnSpc>
                <a:spcPct val="90000"/>
              </a:lnSpc>
            </a:pPr>
            <a:r>
              <a:rPr lang="en-US" dirty="0"/>
              <a:t>Sampling with replacement</a:t>
            </a:r>
          </a:p>
          <a:p>
            <a:pPr marL="1147763" lvl="2" indent="-284163">
              <a:lnSpc>
                <a:spcPct val="90000"/>
              </a:lnSpc>
            </a:pPr>
            <a:r>
              <a:rPr lang="en-US" sz="2400" dirty="0"/>
              <a:t>instances are not removed from the population as they are selected for the sample.   </a:t>
            </a:r>
          </a:p>
          <a:p>
            <a:pPr marL="1147763" lvl="2" indent="-284163"/>
            <a:r>
              <a:rPr lang="en-US" sz="2400" dirty="0"/>
              <a:t>In sampling with replacement, the same instance can be picked up more than once</a:t>
            </a:r>
          </a:p>
          <a:p>
            <a:pPr>
              <a:lnSpc>
                <a:spcPct val="90000"/>
              </a:lnSpc>
            </a:pPr>
            <a:r>
              <a:rPr lang="en-US" dirty="0"/>
              <a:t>Stratified sampling</a:t>
            </a:r>
          </a:p>
          <a:p>
            <a:pPr marL="749300" lvl="1">
              <a:lnSpc>
                <a:spcPct val="90000"/>
              </a:lnSpc>
            </a:pPr>
            <a:r>
              <a:rPr lang="en-US" dirty="0"/>
              <a:t>Split the data into several partitions; then draw random samples from each partition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Discretization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CC6600"/>
                </a:solidFill>
              </a:rPr>
              <a:t>Discretization</a:t>
            </a:r>
            <a:r>
              <a:rPr lang="en-US" dirty="0"/>
              <a:t> is the process of converting a continuous feature into an ordinal feature</a:t>
            </a:r>
          </a:p>
          <a:p>
            <a:pPr lvl="1"/>
            <a:r>
              <a:rPr lang="en-US" dirty="0"/>
              <a:t>A potentially infinite number of values are mapped into  a small number of categories</a:t>
            </a:r>
          </a:p>
          <a:p>
            <a:pPr lvl="1"/>
            <a:r>
              <a:rPr lang="en-US" dirty="0"/>
              <a:t>Discretization is  used in both unsupervised and supervised settings</a:t>
            </a:r>
            <a:endParaRPr lang="en-US" sz="26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Binarization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Binarization maps a continuous or categorical feature into one or more binary variables</a:t>
            </a:r>
          </a:p>
          <a:p>
            <a:pPr marL="0" indent="0">
              <a:lnSpc>
                <a:spcPct val="90000"/>
              </a:lnSpc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588A01-8704-4203-9A16-AB2253E83F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2743200"/>
            <a:ext cx="8229600" cy="2530836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Transformation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1163" y="1066800"/>
            <a:ext cx="8318500" cy="51816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</a:t>
            </a:r>
            <a:r>
              <a:rPr lang="en-US" dirty="0">
                <a:solidFill>
                  <a:srgbClr val="CC6600"/>
                </a:solidFill>
              </a:rPr>
              <a:t>feature transform</a:t>
            </a:r>
            <a:r>
              <a:rPr lang="en-US" dirty="0"/>
              <a:t> is a function that maps the entire set of values of a given feature to a new set of replacement values such that each old value can be identified with one of the new values</a:t>
            </a:r>
          </a:p>
          <a:p>
            <a:pPr lvl="1"/>
            <a:r>
              <a:rPr lang="en-US" sz="2600" dirty="0"/>
              <a:t>Simple functions: x</a:t>
            </a:r>
            <a:r>
              <a:rPr lang="en-US" sz="2600" baseline="30000" dirty="0"/>
              <a:t>k</a:t>
            </a:r>
            <a:r>
              <a:rPr lang="en-US" sz="2600" dirty="0"/>
              <a:t>, log(x), e</a:t>
            </a:r>
            <a:r>
              <a:rPr lang="en-US" sz="2600" baseline="30000" dirty="0"/>
              <a:t>x</a:t>
            </a:r>
            <a:r>
              <a:rPr lang="en-US" sz="2600" dirty="0"/>
              <a:t>, |x|</a:t>
            </a:r>
          </a:p>
          <a:p>
            <a:pPr lvl="1"/>
            <a:r>
              <a:rPr lang="en-US" sz="2600" dirty="0">
                <a:solidFill>
                  <a:srgbClr val="CC6600"/>
                </a:solidFill>
              </a:rPr>
              <a:t>Normalization</a:t>
            </a:r>
          </a:p>
          <a:p>
            <a:pPr marL="1257300" lvl="2" indent="-279400"/>
            <a:r>
              <a:rPr lang="en-US" sz="2400" dirty="0"/>
              <a:t>Refers to various techniques to adjust to differences among features in terms of frequency of occurrence, mean, variance, range</a:t>
            </a:r>
          </a:p>
          <a:p>
            <a:pPr marL="1257300" lvl="2" indent="-279400"/>
            <a:r>
              <a:rPr lang="en-US" sz="2400" dirty="0"/>
              <a:t>Take out unwanted, common signal, e.g., seasonality  </a:t>
            </a:r>
          </a:p>
          <a:p>
            <a:pPr lvl="1"/>
            <a:r>
              <a:rPr lang="en-US" dirty="0"/>
              <a:t>In statistics, </a:t>
            </a:r>
            <a:r>
              <a:rPr lang="en-US" dirty="0">
                <a:solidFill>
                  <a:srgbClr val="CC6600"/>
                </a:solidFill>
              </a:rPr>
              <a:t>standardization</a:t>
            </a:r>
            <a:r>
              <a:rPr lang="en-US" dirty="0"/>
              <a:t> refers to subtracting off the means and dividing by the standard deviation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7042" name="Picture 2" descr="Normalization and Standardization - Naukri Learn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263187"/>
            <a:ext cx="4813301" cy="2623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7046" name="Picture 6" descr="AlgoDaily - Standardization &amp; Normalization - Introduction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9742" y="4308434"/>
            <a:ext cx="6242915" cy="2024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6465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9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Curse of Dimensionality</a:t>
            </a:r>
          </a:p>
        </p:txBody>
      </p:sp>
      <p:sp>
        <p:nvSpPr>
          <p:cNvPr id="39939" name="Rectangle 10"/>
          <p:cNvSpPr>
            <a:spLocks noGrp="1" noChangeArrowheads="1"/>
          </p:cNvSpPr>
          <p:nvPr>
            <p:ph type="body" sz="half" idx="1"/>
          </p:nvPr>
        </p:nvSpPr>
        <p:spPr>
          <a:xfrm>
            <a:off x="76200" y="1143000"/>
            <a:ext cx="4083050" cy="5181600"/>
          </a:xfrm>
        </p:spPr>
        <p:txBody>
          <a:bodyPr/>
          <a:lstStyle/>
          <a:p>
            <a:r>
              <a:rPr lang="en-US" sz="2400" dirty="0"/>
              <a:t>When dimensionality increases, data becomes increasingly sparse in the space that it occupies</a:t>
            </a:r>
          </a:p>
          <a:p>
            <a:endParaRPr lang="en-US" sz="2400" dirty="0"/>
          </a:p>
          <a:p>
            <a:r>
              <a:rPr lang="en-US" sz="2400" dirty="0"/>
              <a:t>Definitions of density and distance between points, which are critical for clustering and outlier detection, become less meaningful</a:t>
            </a: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39941" name="Rectangle 5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  <p:pic>
        <p:nvPicPr>
          <p:cNvPr id="39942" name="Picture 11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02" r="8356"/>
          <a:stretch>
            <a:fillRect/>
          </a:stretch>
        </p:blipFill>
        <p:spPr>
          <a:xfrm>
            <a:off x="4114800" y="1066800"/>
            <a:ext cx="5029200" cy="3963988"/>
          </a:xfrm>
          <a:noFill/>
        </p:spPr>
      </p:pic>
      <p:sp>
        <p:nvSpPr>
          <p:cNvPr id="39943" name="Text Box 13"/>
          <p:cNvSpPr txBox="1">
            <a:spLocks noChangeArrowheads="1"/>
          </p:cNvSpPr>
          <p:nvPr/>
        </p:nvSpPr>
        <p:spPr bwMode="auto">
          <a:xfrm>
            <a:off x="3733800" y="5105400"/>
            <a:ext cx="53340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14300" indent="-114300"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sz="2000"/>
              <a:t>Randomly generate 500 points</a:t>
            </a:r>
          </a:p>
          <a:p>
            <a:pPr>
              <a:spcBef>
                <a:spcPct val="50000"/>
              </a:spcBef>
              <a:buFontTx/>
              <a:buChar char="•"/>
            </a:pPr>
            <a:r>
              <a:rPr lang="en-US" sz="2000"/>
              <a:t>Compute difference between max and min distance between any pair of points</a:t>
            </a:r>
          </a:p>
        </p:txBody>
      </p:sp>
    </p:spTree>
    <p:extLst>
      <p:ext uri="{BB962C8B-B14F-4D97-AF65-F5344CB8AC3E}">
        <p14:creationId xmlns:p14="http://schemas.microsoft.com/office/powerpoint/2010/main" val="24046863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Dimensionality Reduction</a:t>
            </a:r>
          </a:p>
        </p:txBody>
      </p:sp>
      <p:sp>
        <p:nvSpPr>
          <p:cNvPr id="4096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Purpose: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Avoid curse of dimensionality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Reduce amount of time and memory required by data mining algorithms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Allow data to be more easily visualized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May help to eliminate irrelevant features or reduce noise</a:t>
            </a:r>
          </a:p>
          <a:p>
            <a:pPr lvl="4">
              <a:lnSpc>
                <a:spcPct val="90000"/>
              </a:lnSpc>
            </a:pPr>
            <a:endParaRPr lang="en-US" dirty="0"/>
          </a:p>
          <a:p>
            <a:pPr>
              <a:lnSpc>
                <a:spcPct val="90000"/>
              </a:lnSpc>
            </a:pPr>
            <a:r>
              <a:rPr lang="en-US" dirty="0"/>
              <a:t>Techniques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Principal Components Analysis (PCA)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Singular Value Decomposition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T-SNE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Others: supervised and non-linear techniques</a:t>
            </a:r>
          </a:p>
        </p:txBody>
      </p:sp>
    </p:spTree>
    <p:extLst>
      <p:ext uri="{BB962C8B-B14F-4D97-AF65-F5344CB8AC3E}">
        <p14:creationId xmlns:p14="http://schemas.microsoft.com/office/powerpoint/2010/main" val="2690872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05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Dimensionality Reduction: PCA</a:t>
            </a:r>
          </a:p>
        </p:txBody>
      </p:sp>
      <p:sp>
        <p:nvSpPr>
          <p:cNvPr id="41987" name="Rectangle 105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Goal is to find a projection that captures the largest  amount of variation in data</a:t>
            </a:r>
          </a:p>
          <a:p>
            <a:endParaRPr lang="en-US"/>
          </a:p>
        </p:txBody>
      </p:sp>
      <p:grpSp>
        <p:nvGrpSpPr>
          <p:cNvPr id="41988" name="Group 1088"/>
          <p:cNvGrpSpPr>
            <a:grpSpLocks/>
          </p:cNvGrpSpPr>
          <p:nvPr/>
        </p:nvGrpSpPr>
        <p:grpSpPr bwMode="auto">
          <a:xfrm>
            <a:off x="2057400" y="2286000"/>
            <a:ext cx="3546475" cy="4051300"/>
            <a:chOff x="1498" y="1664"/>
            <a:chExt cx="2234" cy="1950"/>
          </a:xfrm>
        </p:grpSpPr>
        <p:sp>
          <p:nvSpPr>
            <p:cNvPr id="41989" name="Line 1059"/>
            <p:cNvSpPr>
              <a:spLocks noChangeShapeType="1"/>
            </p:cNvSpPr>
            <p:nvPr/>
          </p:nvSpPr>
          <p:spPr bwMode="auto">
            <a:xfrm flipV="1">
              <a:off x="1820" y="1664"/>
              <a:ext cx="0" cy="16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0" name="Line 1060"/>
            <p:cNvSpPr>
              <a:spLocks noChangeShapeType="1"/>
            </p:cNvSpPr>
            <p:nvPr/>
          </p:nvSpPr>
          <p:spPr bwMode="auto">
            <a:xfrm>
              <a:off x="1820" y="3320"/>
              <a:ext cx="17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1" name="Line 1061"/>
            <p:cNvSpPr>
              <a:spLocks noChangeShapeType="1"/>
            </p:cNvSpPr>
            <p:nvPr/>
          </p:nvSpPr>
          <p:spPr bwMode="auto">
            <a:xfrm flipV="1">
              <a:off x="1828" y="2429"/>
              <a:ext cx="1632" cy="882"/>
            </a:xfrm>
            <a:prstGeom prst="line">
              <a:avLst/>
            </a:prstGeom>
            <a:noFill/>
            <a:ln w="28575">
              <a:solidFill>
                <a:schemeClr val="tx2"/>
              </a:solidFill>
              <a:round/>
              <a:headEnd type="none" w="sm" len="sm"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2" name="Oval 1063"/>
            <p:cNvSpPr>
              <a:spLocks noChangeArrowheads="1"/>
            </p:cNvSpPr>
            <p:nvPr/>
          </p:nvSpPr>
          <p:spPr bwMode="auto">
            <a:xfrm>
              <a:off x="2164" y="2946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3" name="Oval 1064"/>
            <p:cNvSpPr>
              <a:spLocks noChangeArrowheads="1"/>
            </p:cNvSpPr>
            <p:nvPr/>
          </p:nvSpPr>
          <p:spPr bwMode="auto">
            <a:xfrm>
              <a:off x="2340" y="2805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4" name="Oval 1065"/>
            <p:cNvSpPr>
              <a:spLocks noChangeArrowheads="1"/>
            </p:cNvSpPr>
            <p:nvPr/>
          </p:nvSpPr>
          <p:spPr bwMode="auto">
            <a:xfrm>
              <a:off x="2044" y="3129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5" name="Oval 1066"/>
            <p:cNvSpPr>
              <a:spLocks noChangeArrowheads="1"/>
            </p:cNvSpPr>
            <p:nvPr/>
          </p:nvSpPr>
          <p:spPr bwMode="auto">
            <a:xfrm>
              <a:off x="2428" y="2872"/>
              <a:ext cx="47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6" name="Oval 1067"/>
            <p:cNvSpPr>
              <a:spLocks noChangeArrowheads="1"/>
            </p:cNvSpPr>
            <p:nvPr/>
          </p:nvSpPr>
          <p:spPr bwMode="auto">
            <a:xfrm>
              <a:off x="2332" y="2938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7" name="Oval 1068"/>
            <p:cNvSpPr>
              <a:spLocks noChangeArrowheads="1"/>
            </p:cNvSpPr>
            <p:nvPr/>
          </p:nvSpPr>
          <p:spPr bwMode="auto">
            <a:xfrm>
              <a:off x="2692" y="293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8" name="Oval 1069"/>
            <p:cNvSpPr>
              <a:spLocks noChangeArrowheads="1"/>
            </p:cNvSpPr>
            <p:nvPr/>
          </p:nvSpPr>
          <p:spPr bwMode="auto">
            <a:xfrm>
              <a:off x="2612" y="3138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999" name="Oval 1070"/>
            <p:cNvSpPr>
              <a:spLocks noChangeArrowheads="1"/>
            </p:cNvSpPr>
            <p:nvPr/>
          </p:nvSpPr>
          <p:spPr bwMode="auto">
            <a:xfrm>
              <a:off x="2468" y="3071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0" name="Oval 1071"/>
            <p:cNvSpPr>
              <a:spLocks noChangeArrowheads="1"/>
            </p:cNvSpPr>
            <p:nvPr/>
          </p:nvSpPr>
          <p:spPr bwMode="auto">
            <a:xfrm>
              <a:off x="2588" y="273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1" name="Oval 1072"/>
            <p:cNvSpPr>
              <a:spLocks noChangeArrowheads="1"/>
            </p:cNvSpPr>
            <p:nvPr/>
          </p:nvSpPr>
          <p:spPr bwMode="auto">
            <a:xfrm>
              <a:off x="2964" y="2805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2" name="Oval 1073"/>
            <p:cNvSpPr>
              <a:spLocks noChangeArrowheads="1"/>
            </p:cNvSpPr>
            <p:nvPr/>
          </p:nvSpPr>
          <p:spPr bwMode="auto">
            <a:xfrm>
              <a:off x="3204" y="248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3" name="Oval 1074"/>
            <p:cNvSpPr>
              <a:spLocks noChangeArrowheads="1"/>
            </p:cNvSpPr>
            <p:nvPr/>
          </p:nvSpPr>
          <p:spPr bwMode="auto">
            <a:xfrm>
              <a:off x="2236" y="3154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4" name="Oval 1075"/>
            <p:cNvSpPr>
              <a:spLocks noChangeArrowheads="1"/>
            </p:cNvSpPr>
            <p:nvPr/>
          </p:nvSpPr>
          <p:spPr bwMode="auto">
            <a:xfrm>
              <a:off x="2756" y="2713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5" name="Oval 1076"/>
            <p:cNvSpPr>
              <a:spLocks noChangeArrowheads="1"/>
            </p:cNvSpPr>
            <p:nvPr/>
          </p:nvSpPr>
          <p:spPr bwMode="auto">
            <a:xfrm>
              <a:off x="2932" y="2530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6" name="Oval 1077"/>
            <p:cNvSpPr>
              <a:spLocks noChangeArrowheads="1"/>
            </p:cNvSpPr>
            <p:nvPr/>
          </p:nvSpPr>
          <p:spPr bwMode="auto">
            <a:xfrm>
              <a:off x="2452" y="2738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7" name="Oval 1078"/>
            <p:cNvSpPr>
              <a:spLocks noChangeArrowheads="1"/>
            </p:cNvSpPr>
            <p:nvPr/>
          </p:nvSpPr>
          <p:spPr bwMode="auto">
            <a:xfrm>
              <a:off x="2836" y="2614"/>
              <a:ext cx="47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8" name="Oval 1079"/>
            <p:cNvSpPr>
              <a:spLocks noChangeArrowheads="1"/>
            </p:cNvSpPr>
            <p:nvPr/>
          </p:nvSpPr>
          <p:spPr bwMode="auto">
            <a:xfrm>
              <a:off x="2908" y="2955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09" name="Freeform 1080"/>
            <p:cNvSpPr>
              <a:spLocks/>
            </p:cNvSpPr>
            <p:nvPr/>
          </p:nvSpPr>
          <p:spPr bwMode="auto">
            <a:xfrm>
              <a:off x="1928" y="2409"/>
              <a:ext cx="1457" cy="1006"/>
            </a:xfrm>
            <a:custGeom>
              <a:avLst/>
              <a:gdLst>
                <a:gd name="T0" fmla="*/ 4 w 1457"/>
                <a:gd name="T1" fmla="*/ 1002 h 968"/>
                <a:gd name="T2" fmla="*/ 212 w 1457"/>
                <a:gd name="T3" fmla="*/ 488 h 968"/>
                <a:gd name="T4" fmla="*/ 716 w 1457"/>
                <a:gd name="T5" fmla="*/ 166 h 968"/>
                <a:gd name="T6" fmla="*/ 1356 w 1457"/>
                <a:gd name="T7" fmla="*/ 26 h 968"/>
                <a:gd name="T8" fmla="*/ 1324 w 1457"/>
                <a:gd name="T9" fmla="*/ 318 h 968"/>
                <a:gd name="T10" fmla="*/ 940 w 1457"/>
                <a:gd name="T11" fmla="*/ 882 h 968"/>
                <a:gd name="T12" fmla="*/ 188 w 1457"/>
                <a:gd name="T13" fmla="*/ 1194 h 968"/>
                <a:gd name="T14" fmla="*/ 4 w 1457"/>
                <a:gd name="T15" fmla="*/ 1002 h 9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57"/>
                <a:gd name="T25" fmla="*/ 0 h 968"/>
                <a:gd name="T26" fmla="*/ 1457 w 1457"/>
                <a:gd name="T27" fmla="*/ 968 h 968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57" h="968">
                  <a:moveTo>
                    <a:pt x="4" y="796"/>
                  </a:moveTo>
                  <a:cubicBezTo>
                    <a:pt x="8" y="703"/>
                    <a:pt x="93" y="499"/>
                    <a:pt x="212" y="388"/>
                  </a:cubicBezTo>
                  <a:cubicBezTo>
                    <a:pt x="331" y="277"/>
                    <a:pt x="525" y="193"/>
                    <a:pt x="716" y="132"/>
                  </a:cubicBezTo>
                  <a:cubicBezTo>
                    <a:pt x="907" y="71"/>
                    <a:pt x="1255" y="0"/>
                    <a:pt x="1356" y="20"/>
                  </a:cubicBezTo>
                  <a:cubicBezTo>
                    <a:pt x="1457" y="40"/>
                    <a:pt x="1393" y="139"/>
                    <a:pt x="1324" y="252"/>
                  </a:cubicBezTo>
                  <a:cubicBezTo>
                    <a:pt x="1255" y="365"/>
                    <a:pt x="1129" y="584"/>
                    <a:pt x="940" y="700"/>
                  </a:cubicBezTo>
                  <a:cubicBezTo>
                    <a:pt x="751" y="816"/>
                    <a:pt x="344" y="928"/>
                    <a:pt x="188" y="948"/>
                  </a:cubicBezTo>
                  <a:cubicBezTo>
                    <a:pt x="32" y="968"/>
                    <a:pt x="0" y="889"/>
                    <a:pt x="4" y="796"/>
                  </a:cubicBez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0" name="Oval 1081"/>
            <p:cNvSpPr>
              <a:spLocks noChangeArrowheads="1"/>
            </p:cNvSpPr>
            <p:nvPr/>
          </p:nvSpPr>
          <p:spPr bwMode="auto">
            <a:xfrm>
              <a:off x="2124" y="3271"/>
              <a:ext cx="47" cy="49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2011" name="Text Box 1085"/>
            <p:cNvSpPr txBox="1">
              <a:spLocks noChangeArrowheads="1"/>
            </p:cNvSpPr>
            <p:nvPr/>
          </p:nvSpPr>
          <p:spPr bwMode="auto">
            <a:xfrm>
              <a:off x="1498" y="1666"/>
              <a:ext cx="27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en-US" sz="2400" b="0">
                  <a:latin typeface="Times New Roman" pitchFamily="18" charset="0"/>
                </a:rPr>
                <a:t>x</a:t>
              </a:r>
              <a:r>
                <a:rPr lang="en-US" sz="2400" b="0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42012" name="Text Box 1086"/>
            <p:cNvSpPr txBox="1">
              <a:spLocks noChangeArrowheads="1"/>
            </p:cNvSpPr>
            <p:nvPr/>
          </p:nvSpPr>
          <p:spPr bwMode="auto">
            <a:xfrm>
              <a:off x="3456" y="3394"/>
              <a:ext cx="276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en-US" sz="2400" b="0">
                  <a:latin typeface="Times New Roman" pitchFamily="18" charset="0"/>
                </a:rPr>
                <a:t>x</a:t>
              </a:r>
              <a:r>
                <a:rPr lang="en-US" sz="2400" b="0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42013" name="Text Box 1087"/>
            <p:cNvSpPr txBox="1">
              <a:spLocks noChangeArrowheads="1"/>
            </p:cNvSpPr>
            <p:nvPr/>
          </p:nvSpPr>
          <p:spPr bwMode="auto">
            <a:xfrm>
              <a:off x="3504" y="2242"/>
              <a:ext cx="201" cy="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rgbClr val="000000"/>
                  </a:solidFill>
                  <a:miter lim="800000"/>
                  <a:headEnd type="none" w="sm" len="sm"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1400" b="1">
                  <a:solidFill>
                    <a:schemeClr val="tx1"/>
                  </a:solidFill>
                  <a:latin typeface="Arial" pitchFamily="34" charset="0"/>
                </a:defRPr>
              </a:lvl1pPr>
              <a:lvl2pPr marL="742950" indent="-28575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2pPr>
              <a:lvl3pPr marL="11430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3pPr>
              <a:lvl4pPr marL="16002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4pPr>
              <a:lvl5pPr marL="2057400" indent="-228600">
                <a:defRPr sz="1400" b="1">
                  <a:solidFill>
                    <a:schemeClr val="tx1"/>
                  </a:solidFill>
                  <a:latin typeface="Arial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400" b="1">
                  <a:solidFill>
                    <a:schemeClr val="tx1"/>
                  </a:solidFill>
                  <a:latin typeface="Arial" pitchFamily="34" charset="0"/>
                </a:defRPr>
              </a:lvl9pPr>
            </a:lstStyle>
            <a:p>
              <a:pPr algn="ctr"/>
              <a:r>
                <a:rPr lang="en-US" sz="2400" b="0">
                  <a:latin typeface="Times New Roman" pitchFamily="18" charset="0"/>
                </a:rPr>
                <a:t>e</a:t>
              </a:r>
              <a:endParaRPr lang="en-US" sz="2400" b="0" baseline="-25000">
                <a:latin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84769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Subset Selection</a:t>
            </a:r>
          </a:p>
        </p:txBody>
      </p:sp>
      <p:sp>
        <p:nvSpPr>
          <p:cNvPr id="44035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dirty="0"/>
              <a:t>Another way to reduce dimensionality of data</a:t>
            </a:r>
          </a:p>
          <a:p>
            <a:pPr>
              <a:lnSpc>
                <a:spcPct val="90000"/>
              </a:lnSpc>
            </a:pPr>
            <a:r>
              <a:rPr lang="en-US" dirty="0"/>
              <a:t>Redundant features 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Duplicate much or all of the information contained in one or more other features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Example: purchase price of a product and the amount of sales tax paid</a:t>
            </a:r>
          </a:p>
          <a:p>
            <a:pPr>
              <a:lnSpc>
                <a:spcPct val="90000"/>
              </a:lnSpc>
            </a:pPr>
            <a:r>
              <a:rPr lang="en-US" dirty="0"/>
              <a:t>Irrelevant features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Contain no information that is useful for the data mining task at hand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Example: students' ID is often irrelevant to the task of predicting students' GPA</a:t>
            </a:r>
          </a:p>
          <a:p>
            <a:pPr>
              <a:lnSpc>
                <a:spcPct val="90000"/>
              </a:lnSpc>
            </a:pPr>
            <a:r>
              <a:rPr lang="en-US" dirty="0"/>
              <a:t>Many techniques developed, especially for classification</a:t>
            </a: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1676400" y="3657600"/>
            <a:ext cx="16002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1400"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>
              <a:defRPr sz="1400"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>
              <a:defRPr sz="1400"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>
              <a:spcBef>
                <a:spcPct val="50000"/>
              </a:spcBef>
            </a:pPr>
            <a:endParaRPr lang="en-US"/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auto">
          <a:xfrm>
            <a:off x="1717675" y="5984875"/>
            <a:ext cx="1841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7550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Creation</a:t>
            </a:r>
          </a:p>
        </p:txBody>
      </p:sp>
      <p:sp>
        <p:nvSpPr>
          <p:cNvPr id="4505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new features that can capture the important information in a data set much more efficiently than the original features</a:t>
            </a:r>
          </a:p>
          <a:p>
            <a:pPr lvl="4"/>
            <a:endParaRPr lang="en-US" dirty="0"/>
          </a:p>
          <a:p>
            <a:r>
              <a:rPr lang="en-US" dirty="0"/>
              <a:t>Three general methodologies:</a:t>
            </a:r>
          </a:p>
          <a:p>
            <a:pPr lvl="1"/>
            <a:r>
              <a:rPr lang="en-US" dirty="0"/>
              <a:t>Feature extraction</a:t>
            </a:r>
          </a:p>
          <a:p>
            <a:pPr marL="1147763" lvl="2" indent="-233363"/>
            <a:r>
              <a:rPr lang="en-US" sz="2400" dirty="0"/>
              <a:t> </a:t>
            </a:r>
            <a:r>
              <a:rPr lang="en-US" sz="2200" dirty="0"/>
              <a:t>Example: extracting edges from images</a:t>
            </a:r>
          </a:p>
          <a:p>
            <a:pPr lvl="1"/>
            <a:r>
              <a:rPr lang="en-US" dirty="0"/>
              <a:t>Feature construction</a:t>
            </a:r>
          </a:p>
          <a:p>
            <a:pPr marL="1147763" lvl="2" indent="-233363"/>
            <a:r>
              <a:rPr lang="en-US" sz="2200" dirty="0"/>
              <a:t> Example: dividing mass by volume to get density</a:t>
            </a:r>
            <a:r>
              <a:rPr lang="en-US" sz="2400" dirty="0"/>
              <a:t> </a:t>
            </a:r>
          </a:p>
          <a:p>
            <a:pPr lvl="1"/>
            <a:r>
              <a:rPr lang="en-US" dirty="0"/>
              <a:t>Mapping data to new space</a:t>
            </a:r>
          </a:p>
          <a:p>
            <a:pPr marL="1147763" lvl="2" indent="-233363"/>
            <a:r>
              <a:rPr lang="en-US" sz="2200" dirty="0"/>
              <a:t> Example: Fourier and wavelet analysis </a:t>
            </a:r>
          </a:p>
        </p:txBody>
      </p:sp>
    </p:spTree>
    <p:extLst>
      <p:ext uri="{BB962C8B-B14F-4D97-AF65-F5344CB8AC3E}">
        <p14:creationId xmlns:p14="http://schemas.microsoft.com/office/powerpoint/2010/main" val="3188242257"/>
      </p:ext>
    </p:extLst>
  </p:cSld>
  <p:clrMapOvr>
    <a:masterClrMapping/>
  </p:clrMapOvr>
</p:sld>
</file>

<file path=ppt/theme/theme1.xml><?xml version="1.0" encoding="utf-8"?>
<a:theme xmlns:a="http://schemas.openxmlformats.org/drawingml/2006/main" name="LC.BRev.FY97">
  <a:themeElements>
    <a:clrScheme name="">
      <a:dk1>
        <a:srgbClr val="000000"/>
      </a:dk1>
      <a:lt1>
        <a:srgbClr val="FFFFFF"/>
      </a:lt1>
      <a:dk2>
        <a:srgbClr val="006B61"/>
      </a:dk2>
      <a:lt2>
        <a:srgbClr val="C0C0C0"/>
      </a:lt2>
      <a:accent1>
        <a:srgbClr val="FF00FF"/>
      </a:accent1>
      <a:accent2>
        <a:srgbClr val="00C0C0"/>
      </a:accent2>
      <a:accent3>
        <a:srgbClr val="FFFFFF"/>
      </a:accent3>
      <a:accent4>
        <a:srgbClr val="000000"/>
      </a:accent4>
      <a:accent5>
        <a:srgbClr val="FFAAFF"/>
      </a:accent5>
      <a:accent6>
        <a:srgbClr val="00AEAE"/>
      </a:accent6>
      <a:hlink>
        <a:srgbClr val="00C000"/>
      </a:hlink>
      <a:folHlink>
        <a:srgbClr val="800080"/>
      </a:folHlink>
    </a:clrScheme>
    <a:fontScheme name="LC.BRev.FY97">
      <a:majorFont>
        <a:latin typeface="Tahom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LC.BRev.FY97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C.BRev.FY97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C.BRev.FY97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Porky:Words:ASCI:PSE:Budgets FY97:LC.BRev.FY97</Template>
  <TotalTime>146482041</TotalTime>
  <Pages>3</Pages>
  <Words>1688</Words>
  <Application>Microsoft Office PowerPoint</Application>
  <PresentationFormat>On-screen Show (4:3)</PresentationFormat>
  <Paragraphs>273</Paragraphs>
  <Slides>40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5</vt:i4>
      </vt:variant>
      <vt:variant>
        <vt:lpstr>Slide Titles</vt:lpstr>
      </vt:variant>
      <vt:variant>
        <vt:i4>40</vt:i4>
      </vt:variant>
    </vt:vector>
  </HeadingPairs>
  <TitlesOfParts>
    <vt:vector size="54" baseType="lpstr">
      <vt:lpstr>MS Mincho</vt:lpstr>
      <vt:lpstr>Arial</vt:lpstr>
      <vt:lpstr>Cambria Math</vt:lpstr>
      <vt:lpstr>Monotype Sorts</vt:lpstr>
      <vt:lpstr>Symbol</vt:lpstr>
      <vt:lpstr>Tahoma</vt:lpstr>
      <vt:lpstr>Times New Roman</vt:lpstr>
      <vt:lpstr>Wingdings</vt:lpstr>
      <vt:lpstr>LC.BRev.FY97</vt:lpstr>
      <vt:lpstr>Document</vt:lpstr>
      <vt:lpstr>Microsoft Word 97 - 2003 Document</vt:lpstr>
      <vt:lpstr>VISIO</vt:lpstr>
      <vt:lpstr>Worksheet</vt:lpstr>
      <vt:lpstr>Bitmap Image</vt:lpstr>
      <vt:lpstr>Data Preprocessing</vt:lpstr>
      <vt:lpstr>Outline</vt:lpstr>
      <vt:lpstr>What is Data?</vt:lpstr>
      <vt:lpstr>Types of features </vt:lpstr>
      <vt:lpstr>PowerPoint Presentation</vt:lpstr>
      <vt:lpstr>Discrete and Continuous features </vt:lpstr>
      <vt:lpstr>Key Messages for feature Types</vt:lpstr>
      <vt:lpstr>Important Characteristics of Data</vt:lpstr>
      <vt:lpstr>Types of data sets </vt:lpstr>
      <vt:lpstr>Record Data </vt:lpstr>
      <vt:lpstr>Graph Data </vt:lpstr>
      <vt:lpstr>Ordered Data </vt:lpstr>
      <vt:lpstr>Ordered Data</vt:lpstr>
      <vt:lpstr>Data Quality </vt:lpstr>
      <vt:lpstr>Data Quality …</vt:lpstr>
      <vt:lpstr>Noise</vt:lpstr>
      <vt:lpstr>Outliers</vt:lpstr>
      <vt:lpstr>Missing Values</vt:lpstr>
      <vt:lpstr>Duplicate Data</vt:lpstr>
      <vt:lpstr>Similarity and Dissimilarity Measures</vt:lpstr>
      <vt:lpstr>Similarity/Dissimilarity for Simple features</vt:lpstr>
      <vt:lpstr>Euclidean Distance</vt:lpstr>
      <vt:lpstr>Euclidean Distance</vt:lpstr>
      <vt:lpstr>Common Properties of a Distance</vt:lpstr>
      <vt:lpstr>Correlation measures the linear relationship between instances</vt:lpstr>
      <vt:lpstr>Visually Evaluating Correlation</vt:lpstr>
      <vt:lpstr>Data Preprocessing</vt:lpstr>
      <vt:lpstr>Aggregation</vt:lpstr>
      <vt:lpstr>Sampling </vt:lpstr>
      <vt:lpstr>Sample Size</vt:lpstr>
      <vt:lpstr>Types of Sampling</vt:lpstr>
      <vt:lpstr>Discretization</vt:lpstr>
      <vt:lpstr>Binarization</vt:lpstr>
      <vt:lpstr>Feature Transformation</vt:lpstr>
      <vt:lpstr>Feature Scaling</vt:lpstr>
      <vt:lpstr>Curse of Dimensionality</vt:lpstr>
      <vt:lpstr>Dimensionality Reduction</vt:lpstr>
      <vt:lpstr>Dimensionality Reduction: PCA</vt:lpstr>
      <vt:lpstr>Feature Subset Selection</vt:lpstr>
      <vt:lpstr>Feature Creation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Steven F. Ashby Center for Applied Scientific Computing  Month DD, 1997</dc:title>
  <dc:creator>Computations</dc:creator>
  <cp:lastModifiedBy>Ahmedul Kabir</cp:lastModifiedBy>
  <cp:revision>624</cp:revision>
  <cp:lastPrinted>2019-08-22T18:06:35Z</cp:lastPrinted>
  <dcterms:created xsi:type="dcterms:W3CDTF">1998-03-18T13:44:31Z</dcterms:created>
  <dcterms:modified xsi:type="dcterms:W3CDTF">2026-02-01T16:43:52Z</dcterms:modified>
</cp:coreProperties>
</file>