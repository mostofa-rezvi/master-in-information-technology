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78"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3" r:id="rId18"/>
    <p:sldId id="275" r:id="rId19"/>
    <p:sldId id="276" r:id="rId20"/>
    <p:sldId id="277"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68705-C775-44F4-AA64-C641BA48D5F2}"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B1C77-8F8B-43EC-A24A-D245C794C8F7}" type="slidenum">
              <a:rPr lang="en-US" smtClean="0"/>
              <a:t>‹#›</a:t>
            </a:fld>
            <a:endParaRPr lang="en-US"/>
          </a:p>
        </p:txBody>
      </p:sp>
    </p:spTree>
    <p:extLst>
      <p:ext uri="{BB962C8B-B14F-4D97-AF65-F5344CB8AC3E}">
        <p14:creationId xmlns:p14="http://schemas.microsoft.com/office/powerpoint/2010/main" val="6971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D6EC9A-48C9-4BFF-8D6F-D6BB2C049F02}" type="datetime1">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915881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C4C988-4FAF-4609-B937-A57EB54FCEFB}" type="datetime1">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871326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581F7A8-C35E-46B1-97E2-BBBD1E85313D}" type="datetime1">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460912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F55354-E373-4509-960E-DCCD6362860A}" type="datetime1">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1410091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0B0CF93-D89A-4582-8659-D512AAE6DD76}" type="datetime1">
              <a:rPr lang="en-US" smtClean="0"/>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1600554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A438D5-5008-4886-80F4-7030DDB2A4F0}" type="datetime1">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996617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F08678-E831-4469-B7DA-E20D217FF722}" type="datetime1">
              <a:rPr lang="en-US" smtClean="0"/>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1371968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5A9A62-D6B9-43C0-B92D-550EB5DF89E4}" type="datetime1">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214735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E060E9B-5838-4647-A44B-9D5BC4AFE985}" type="datetime1">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1517359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70D2729-780C-49AB-9BA5-C9FE9EAAC0A3}" type="datetime1">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56345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8C04C6-631F-4DD2-A7AB-BBDF04F0583C}" type="datetime1">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31C55-8A95-4E66-B3B3-FC55E596DC59}" type="slidenum">
              <a:rPr lang="en-US" smtClean="0"/>
              <a:t>‹#›</a:t>
            </a:fld>
            <a:endParaRPr lang="en-US"/>
          </a:p>
        </p:txBody>
      </p:sp>
    </p:spTree>
    <p:extLst>
      <p:ext uri="{BB962C8B-B14F-4D97-AF65-F5344CB8AC3E}">
        <p14:creationId xmlns:p14="http://schemas.microsoft.com/office/powerpoint/2010/main" val="298644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323305-01A3-434C-9D91-05772360439C}" type="datetime1">
              <a:rPr lang="en-US" smtClean="0"/>
              <a:t>5/5/2025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31C55-8A95-4E66-B3B3-FC55E596DC59}" type="slidenum">
              <a:rPr lang="en-US" smtClean="0"/>
              <a:t>‹#›</a:t>
            </a:fld>
            <a:endParaRPr lang="en-US"/>
          </a:p>
        </p:txBody>
      </p:sp>
    </p:spTree>
    <p:extLst>
      <p:ext uri="{BB962C8B-B14F-4D97-AF65-F5344CB8AC3E}">
        <p14:creationId xmlns:p14="http://schemas.microsoft.com/office/powerpoint/2010/main" val="3058219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aclweb.org/anthology/D14-1181" TargetMode="External"/><Relationship Id="rId7" Type="http://schemas.openxmlformats.org/officeDocument/2006/relationships/hyperlink" Target="https://www.deeplearning.ai/the-batch/transformer-takeover/" TargetMode="External"/><Relationship Id="rId2" Type="http://schemas.openxmlformats.org/officeDocument/2006/relationships/hyperlink" Target="https://arxiv.org/abs/1511.08458" TargetMode="External"/><Relationship Id="rId1" Type="http://schemas.openxmlformats.org/officeDocument/2006/relationships/slideLayout" Target="../slideLayouts/slideLayout2.xml"/><Relationship Id="rId6" Type="http://schemas.openxmlformats.org/officeDocument/2006/relationships/hyperlink" Target="https://towardsdatascience.com/understanding-encoder-decoder-sequence-to-sequence-model-679e04af4346" TargetMode="External"/><Relationship Id="rId5" Type="http://schemas.openxmlformats.org/officeDocument/2006/relationships/hyperlink" Target="https://www.deeplearningbook.org/contents/autoencoders.html" TargetMode="External"/><Relationship Id="rId4" Type="http://schemas.openxmlformats.org/officeDocument/2006/relationships/hyperlink" Target="https://arxiv.org/abs/1808.0331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Natural Language Processing</a:t>
            </a:r>
            <a:endParaRPr lang="en-US"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12731C55-8A95-4E66-B3B3-FC55E596DC59}" type="slidenum">
              <a:rPr lang="en-US" smtClean="0"/>
              <a:t>1</a:t>
            </a:fld>
            <a:endParaRPr lang="en-US"/>
          </a:p>
        </p:txBody>
      </p:sp>
    </p:spTree>
    <p:extLst>
      <p:ext uri="{BB962C8B-B14F-4D97-AF65-F5344CB8AC3E}">
        <p14:creationId xmlns:p14="http://schemas.microsoft.com/office/powerpoint/2010/main" val="2145975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Processing</a:t>
            </a:r>
            <a:endParaRPr lang="en-US" dirty="0"/>
          </a:p>
        </p:txBody>
      </p:sp>
      <p:sp>
        <p:nvSpPr>
          <p:cNvPr id="3" name="Content Placeholder 2"/>
          <p:cNvSpPr>
            <a:spLocks noGrp="1"/>
          </p:cNvSpPr>
          <p:nvPr>
            <p:ph idx="1"/>
          </p:nvPr>
        </p:nvSpPr>
        <p:spPr>
          <a:xfrm>
            <a:off x="838200" y="1825625"/>
            <a:ext cx="6873815" cy="4230118"/>
          </a:xfrm>
        </p:spPr>
        <p:txBody>
          <a:bodyPr>
            <a:normAutofit fontScale="85000" lnSpcReduction="10000"/>
          </a:bodyPr>
          <a:lstStyle/>
          <a:p>
            <a:pPr algn="just"/>
            <a:r>
              <a:rPr lang="en-US" dirty="0"/>
              <a:t>Natural language processing studies interactions between humans and computers to find ways for computers to process written and spoken words similar to how humans do. The field blends computer science, </a:t>
            </a:r>
            <a:r>
              <a:rPr lang="en-US" dirty="0" smtClean="0"/>
              <a:t>linguistics, </a:t>
            </a:r>
            <a:r>
              <a:rPr lang="en-US" dirty="0"/>
              <a:t>and machine learning</a:t>
            </a:r>
            <a:r>
              <a:rPr lang="en-US" dirty="0" smtClean="0"/>
              <a:t>.</a:t>
            </a:r>
          </a:p>
          <a:p>
            <a:pPr algn="just"/>
            <a:r>
              <a:rPr lang="en-US" dirty="0" smtClean="0"/>
              <a:t>The </a:t>
            </a:r>
            <a:r>
              <a:rPr lang="en-US" dirty="0"/>
              <a:t>goal of NLP is to enable computers to understand and interpret human language in a way that is similar to how humans process language</a:t>
            </a:r>
            <a:r>
              <a:rPr lang="en-US" dirty="0" smtClean="0"/>
              <a:t>.</a:t>
            </a:r>
          </a:p>
          <a:p>
            <a:pPr algn="just"/>
            <a:r>
              <a:rPr lang="en-US" dirty="0"/>
              <a:t>NLP combines the field of linguistics and computer science to decipher language structure and guidelines and to make models which can comprehend, break down and separate significant details from text and speech.     </a:t>
            </a:r>
          </a:p>
        </p:txBody>
      </p:sp>
      <p:pic>
        <p:nvPicPr>
          <p:cNvPr id="1026" name="Picture 2" descr="ConstituentsofNL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2951" y="1914975"/>
            <a:ext cx="3771900" cy="31242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2</a:t>
            </a:fld>
            <a:endParaRPr lang="en-US"/>
          </a:p>
        </p:txBody>
      </p:sp>
    </p:spTree>
    <p:extLst>
      <p:ext uri="{BB962C8B-B14F-4D97-AF65-F5344CB8AC3E}">
        <p14:creationId xmlns:p14="http://schemas.microsoft.com/office/powerpoint/2010/main" val="2793463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and NLP</a:t>
            </a:r>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3</a:t>
            </a:fld>
            <a:endParaRPr lang="en-US"/>
          </a:p>
        </p:txBody>
      </p:sp>
      <p:pic>
        <p:nvPicPr>
          <p:cNvPr id="1026" name="Picture 2" descr="a pictorial representation of NLP in AI.web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3691" y="1466491"/>
            <a:ext cx="8807569" cy="4710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64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Natural Language Processing </a:t>
            </a:r>
            <a:r>
              <a:rPr lang="en-US" b="1" dirty="0" smtClean="0"/>
              <a:t>is </a:t>
            </a:r>
            <a:r>
              <a:rPr lang="en-US" b="1" dirty="0" smtClean="0"/>
              <a:t>Difficult</a:t>
            </a:r>
            <a:endParaRPr lang="en-US" dirty="0"/>
          </a:p>
        </p:txBody>
      </p:sp>
      <p:sp>
        <p:nvSpPr>
          <p:cNvPr id="3" name="Content Placeholder 2"/>
          <p:cNvSpPr>
            <a:spLocks noGrp="1"/>
          </p:cNvSpPr>
          <p:nvPr>
            <p:ph idx="1"/>
          </p:nvPr>
        </p:nvSpPr>
        <p:spPr/>
        <p:txBody>
          <a:bodyPr/>
          <a:lstStyle/>
          <a:p>
            <a:r>
              <a:rPr lang="en-US" dirty="0" smtClean="0"/>
              <a:t>We </a:t>
            </a:r>
            <a:r>
              <a:rPr lang="en-US" dirty="0"/>
              <a:t>can convey the same meaning in different ways (i.e., speech, gesture, signs, etc.) </a:t>
            </a:r>
            <a:endParaRPr lang="en-US" dirty="0" smtClean="0"/>
          </a:p>
          <a:p>
            <a:r>
              <a:rPr lang="en-US" dirty="0" smtClean="0"/>
              <a:t>The </a:t>
            </a:r>
            <a:r>
              <a:rPr lang="en-US" dirty="0"/>
              <a:t>encoding by the human brain is a continuous pattern of activation by which the symbols are transmitted via continuous signals of sound and vision</a:t>
            </a:r>
            <a:r>
              <a:rPr lang="en-US" dirty="0" smtClean="0"/>
              <a:t>.</a:t>
            </a:r>
          </a:p>
          <a:p>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4</a:t>
            </a:fld>
            <a:endParaRPr lang="en-US"/>
          </a:p>
        </p:txBody>
      </p:sp>
    </p:spTree>
    <p:extLst>
      <p:ext uri="{BB962C8B-B14F-4D97-AF65-F5344CB8AC3E}">
        <p14:creationId xmlns:p14="http://schemas.microsoft.com/office/powerpoint/2010/main" val="121341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Syntactic and Semantic </a:t>
            </a:r>
            <a:r>
              <a:rPr lang="en-US" b="1" dirty="0" smtClean="0"/>
              <a:t>Analysis</a:t>
            </a:r>
            <a:endParaRPr lang="en-US" dirty="0"/>
          </a:p>
        </p:txBody>
      </p:sp>
      <p:sp>
        <p:nvSpPr>
          <p:cNvPr id="3" name="Content Placeholder 2"/>
          <p:cNvSpPr>
            <a:spLocks noGrp="1"/>
          </p:cNvSpPr>
          <p:nvPr>
            <p:ph idx="1"/>
          </p:nvPr>
        </p:nvSpPr>
        <p:spPr/>
        <p:txBody>
          <a:bodyPr>
            <a:normAutofit lnSpcReduction="10000"/>
          </a:bodyPr>
          <a:lstStyle/>
          <a:p>
            <a:pPr algn="just"/>
            <a:r>
              <a:rPr lang="en-US" dirty="0"/>
              <a:t>Syntactic analysis (syntax) and semantic analysis (semantic) are the two primary techniques that lead to the understanding of natural </a:t>
            </a:r>
            <a:r>
              <a:rPr lang="en-US" dirty="0" smtClean="0"/>
              <a:t>language.</a:t>
            </a:r>
          </a:p>
          <a:p>
            <a:pPr algn="just"/>
            <a:r>
              <a:rPr lang="en-US" dirty="0" smtClean="0"/>
              <a:t>The syntax </a:t>
            </a:r>
            <a:r>
              <a:rPr lang="en-US" dirty="0"/>
              <a:t>is the grammatical structure of the text, whereas semantics is the meaning being conveyed. </a:t>
            </a:r>
            <a:endParaRPr lang="en-US" dirty="0" smtClean="0"/>
          </a:p>
          <a:p>
            <a:pPr algn="just"/>
            <a:r>
              <a:rPr lang="en-US" dirty="0" smtClean="0"/>
              <a:t>A syntactically correct sentence, </a:t>
            </a:r>
            <a:r>
              <a:rPr lang="en-US" dirty="0"/>
              <a:t>however, is not always semantically correct. For example, “cows flow supremely” is grammatically valid </a:t>
            </a:r>
            <a:r>
              <a:rPr lang="en-US" dirty="0" smtClean="0"/>
              <a:t>(subject—verb</a:t>
            </a:r>
            <a:r>
              <a:rPr lang="en-US" dirty="0"/>
              <a:t> — adverb) but it doesn’t make any sense</a:t>
            </a:r>
            <a:r>
              <a:rPr lang="en-US" dirty="0" smtClean="0"/>
              <a:t>.</a:t>
            </a:r>
          </a:p>
          <a:p>
            <a:pPr algn="just"/>
            <a:r>
              <a:rPr lang="en-US" dirty="0"/>
              <a:t>Syntactic analysis, also referred to as syntax analysis or </a:t>
            </a:r>
            <a:r>
              <a:rPr lang="en-US" b="1" dirty="0" smtClean="0">
                <a:solidFill>
                  <a:srgbClr val="FF0000"/>
                </a:solidFill>
              </a:rPr>
              <a:t>parsing,</a:t>
            </a:r>
            <a:r>
              <a:rPr lang="en-US" dirty="0" smtClean="0"/>
              <a:t> </a:t>
            </a:r>
            <a:r>
              <a:rPr lang="en-US" dirty="0"/>
              <a:t>is the process of analyzing natural language with the rules of a formal grammar.</a:t>
            </a:r>
          </a:p>
        </p:txBody>
      </p:sp>
      <p:sp>
        <p:nvSpPr>
          <p:cNvPr id="4" name="Slide Number Placeholder 3"/>
          <p:cNvSpPr>
            <a:spLocks noGrp="1"/>
          </p:cNvSpPr>
          <p:nvPr>
            <p:ph type="sldNum" sz="quarter" idx="12"/>
          </p:nvPr>
        </p:nvSpPr>
        <p:spPr/>
        <p:txBody>
          <a:bodyPr/>
          <a:lstStyle/>
          <a:p>
            <a:fld id="{12731C55-8A95-4E66-B3B3-FC55E596DC59}" type="slidenum">
              <a:rPr lang="en-US" smtClean="0"/>
              <a:t>5</a:t>
            </a:fld>
            <a:endParaRPr lang="en-US"/>
          </a:p>
        </p:txBody>
      </p:sp>
    </p:spTree>
    <p:extLst>
      <p:ext uri="{BB962C8B-B14F-4D97-AF65-F5344CB8AC3E}">
        <p14:creationId xmlns:p14="http://schemas.microsoft.com/office/powerpoint/2010/main" val="50158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Syntactic and Semantic Analysis</a:t>
            </a:r>
            <a:endParaRPr lang="en-US" dirty="0"/>
          </a:p>
        </p:txBody>
      </p:sp>
      <p:sp>
        <p:nvSpPr>
          <p:cNvPr id="3" name="Content Placeholder 2"/>
          <p:cNvSpPr>
            <a:spLocks noGrp="1"/>
          </p:cNvSpPr>
          <p:nvPr>
            <p:ph idx="1"/>
          </p:nvPr>
        </p:nvSpPr>
        <p:spPr/>
        <p:txBody>
          <a:bodyPr/>
          <a:lstStyle/>
          <a:p>
            <a:pPr algn="just"/>
            <a:r>
              <a:rPr lang="en-US" dirty="0"/>
              <a:t>The way we understand what someone has said is an unconscious process relying on our intuition and knowledge about language itself. </a:t>
            </a:r>
            <a:endParaRPr lang="en-US" dirty="0" smtClean="0"/>
          </a:p>
          <a:p>
            <a:pPr algn="just"/>
            <a:r>
              <a:rPr lang="en-US" dirty="0"/>
              <a:t>Semantic analysis is the process of understanding the meaning and interpretation of words, </a:t>
            </a:r>
            <a:r>
              <a:rPr lang="en-US" dirty="0" smtClean="0"/>
              <a:t>signs, </a:t>
            </a:r>
            <a:r>
              <a:rPr lang="en-US" dirty="0"/>
              <a:t>and sentence structure. This lets computers </a:t>
            </a:r>
            <a:r>
              <a:rPr lang="en-US" b="1" dirty="0">
                <a:solidFill>
                  <a:srgbClr val="FF0000"/>
                </a:solidFill>
              </a:rPr>
              <a:t>partly</a:t>
            </a:r>
            <a:r>
              <a:rPr lang="en-US" dirty="0"/>
              <a:t> understand natural language the way humans do. </a:t>
            </a:r>
            <a:endParaRPr lang="en-US" dirty="0" smtClean="0"/>
          </a:p>
          <a:p>
            <a:pPr algn="just"/>
            <a:r>
              <a:rPr lang="en-US" dirty="0"/>
              <a:t>I say this </a:t>
            </a:r>
            <a:r>
              <a:rPr lang="en-US" b="1" dirty="0">
                <a:solidFill>
                  <a:srgbClr val="FF0000"/>
                </a:solidFill>
              </a:rPr>
              <a:t>partly</a:t>
            </a:r>
            <a:r>
              <a:rPr lang="en-US" dirty="0"/>
              <a:t> because semantic analysis is one of the toughest parts of natural language processing and it’s not fully solved yet.</a:t>
            </a:r>
          </a:p>
        </p:txBody>
      </p:sp>
      <p:sp>
        <p:nvSpPr>
          <p:cNvPr id="4" name="Slide Number Placeholder 3"/>
          <p:cNvSpPr>
            <a:spLocks noGrp="1"/>
          </p:cNvSpPr>
          <p:nvPr>
            <p:ph type="sldNum" sz="quarter" idx="12"/>
          </p:nvPr>
        </p:nvSpPr>
        <p:spPr/>
        <p:txBody>
          <a:bodyPr/>
          <a:lstStyle/>
          <a:p>
            <a:fld id="{12731C55-8A95-4E66-B3B3-FC55E596DC59}" type="slidenum">
              <a:rPr lang="en-US" smtClean="0"/>
              <a:t>6</a:t>
            </a:fld>
            <a:endParaRPr lang="en-US"/>
          </a:p>
        </p:txBody>
      </p:sp>
    </p:spTree>
    <p:extLst>
      <p:ext uri="{BB962C8B-B14F-4D97-AF65-F5344CB8AC3E}">
        <p14:creationId xmlns:p14="http://schemas.microsoft.com/office/powerpoint/2010/main" val="225664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Different Parts of NLP</a:t>
            </a:r>
            <a:endParaRPr lang="en-US" b="1" dirty="0"/>
          </a:p>
        </p:txBody>
      </p:sp>
      <p:sp>
        <p:nvSpPr>
          <p:cNvPr id="3" name="Content Placeholder 2"/>
          <p:cNvSpPr>
            <a:spLocks noGrp="1"/>
          </p:cNvSpPr>
          <p:nvPr>
            <p:ph idx="1"/>
          </p:nvPr>
        </p:nvSpPr>
        <p:spPr>
          <a:xfrm>
            <a:off x="838199" y="1825625"/>
            <a:ext cx="4708585" cy="3453741"/>
          </a:xfrm>
        </p:spPr>
        <p:txBody>
          <a:bodyPr/>
          <a:lstStyle/>
          <a:p>
            <a:r>
              <a:rPr lang="en-US" b="1" dirty="0">
                <a:solidFill>
                  <a:srgbClr val="FF0000"/>
                </a:solidFill>
              </a:rPr>
              <a:t>Segmentation:</a:t>
            </a:r>
          </a:p>
          <a:p>
            <a:pPr lvl="1" algn="just"/>
            <a:r>
              <a:rPr lang="en-US" dirty="0"/>
              <a:t>T</a:t>
            </a:r>
            <a:r>
              <a:rPr lang="en-US" dirty="0" smtClean="0"/>
              <a:t>o </a:t>
            </a:r>
            <a:r>
              <a:rPr lang="en-US" dirty="0"/>
              <a:t>break the entire document down into its constituent sentences. You can do this by segmenting the article along with its punctuations like full stops and commas. </a:t>
            </a:r>
            <a:endParaRPr lang="en-US" dirty="0" smtClean="0"/>
          </a:p>
          <a:p>
            <a:pPr lvl="1"/>
            <a:endParaRPr lang="en-US" dirty="0" smtClean="0"/>
          </a:p>
          <a:p>
            <a:pPr lvl="1"/>
            <a:endParaRPr lang="en-US" dirty="0"/>
          </a:p>
        </p:txBody>
      </p:sp>
      <p:pic>
        <p:nvPicPr>
          <p:cNvPr id="2054" name="Picture 6" descr="Stemm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8623" y="2432649"/>
            <a:ext cx="5570820" cy="167352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7</a:t>
            </a:fld>
            <a:endParaRPr lang="en-US"/>
          </a:p>
        </p:txBody>
      </p:sp>
    </p:spTree>
    <p:extLst>
      <p:ext uri="{BB962C8B-B14F-4D97-AF65-F5344CB8AC3E}">
        <p14:creationId xmlns:p14="http://schemas.microsoft.com/office/powerpoint/2010/main" val="89039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Tokenizing</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838199" y="1825626"/>
            <a:ext cx="10289875" cy="1944118"/>
          </a:xfrm>
        </p:spPr>
        <p:txBody>
          <a:bodyPr>
            <a:normAutofit/>
          </a:bodyPr>
          <a:lstStyle/>
          <a:p>
            <a:pPr algn="just"/>
            <a:r>
              <a:rPr lang="en-US" dirty="0" smtClean="0"/>
              <a:t>To understand </a:t>
            </a:r>
            <a:r>
              <a:rPr lang="en-US" dirty="0"/>
              <a:t>these sentences, you need to get the words in a sentence and explain them </a:t>
            </a:r>
            <a:r>
              <a:rPr lang="en-US" dirty="0" smtClean="0"/>
              <a:t>individually. </a:t>
            </a:r>
            <a:r>
              <a:rPr lang="en-US" dirty="0"/>
              <a:t>So, you break down your sentence into its constituent words and store them. This is called tokenizing, and each world is called a token.</a:t>
            </a:r>
          </a:p>
        </p:txBody>
      </p:sp>
      <p:pic>
        <p:nvPicPr>
          <p:cNvPr id="3074" name="Picture 2" descr="Tokeniz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9703" y="4013470"/>
            <a:ext cx="9029700" cy="22098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8</a:t>
            </a:fld>
            <a:endParaRPr lang="en-US"/>
          </a:p>
        </p:txBody>
      </p:sp>
    </p:spTree>
    <p:extLst>
      <p:ext uri="{BB962C8B-B14F-4D97-AF65-F5344CB8AC3E}">
        <p14:creationId xmlns:p14="http://schemas.microsoft.com/office/powerpoint/2010/main" val="965065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smtClean="0"/>
              <a:t>PARSING</a:t>
            </a:r>
            <a:endParaRPr lang="en-US" dirty="0"/>
          </a:p>
        </p:txBody>
      </p:sp>
      <p:sp>
        <p:nvSpPr>
          <p:cNvPr id="3" name="Content Placeholder 2"/>
          <p:cNvSpPr>
            <a:spLocks noGrp="1"/>
          </p:cNvSpPr>
          <p:nvPr>
            <p:ph idx="1"/>
          </p:nvPr>
        </p:nvSpPr>
        <p:spPr>
          <a:xfrm>
            <a:off x="838199" y="1483743"/>
            <a:ext cx="10013831" cy="2553419"/>
          </a:xfrm>
        </p:spPr>
        <p:txBody>
          <a:bodyPr>
            <a:normAutofit fontScale="62500" lnSpcReduction="20000"/>
          </a:bodyPr>
          <a:lstStyle/>
          <a:p>
            <a:pPr algn="just"/>
            <a:r>
              <a:rPr lang="en-US" dirty="0"/>
              <a:t>According to the dictionary, to parse is to “resolve a sentence into its </a:t>
            </a:r>
            <a:r>
              <a:rPr lang="en-US" dirty="0" smtClean="0"/>
              <a:t>component parts </a:t>
            </a:r>
            <a:r>
              <a:rPr lang="en-US" dirty="0"/>
              <a:t>and describe their syntactic roles</a:t>
            </a:r>
            <a:r>
              <a:rPr lang="en-US" dirty="0" smtClean="0"/>
              <a:t>.</a:t>
            </a:r>
          </a:p>
          <a:p>
            <a:pPr algn="just"/>
            <a:r>
              <a:rPr lang="en-US" dirty="0"/>
              <a:t>Parsing is the process of analyzing the grammatical structure of a sentence to determine its syntactic and semantic meaning.</a:t>
            </a:r>
            <a:endParaRPr lang="en-US" dirty="0" smtClean="0"/>
          </a:p>
          <a:p>
            <a:pPr algn="just"/>
            <a:r>
              <a:rPr lang="en-US" dirty="0"/>
              <a:t>Parsing refers to the formal analysis of a sentence by a computer into its constituents, which results in a </a:t>
            </a:r>
            <a:r>
              <a:rPr lang="en-US" b="1" dirty="0">
                <a:solidFill>
                  <a:srgbClr val="FF0000"/>
                </a:solidFill>
              </a:rPr>
              <a:t>parse tree </a:t>
            </a:r>
            <a:r>
              <a:rPr lang="en-US" dirty="0"/>
              <a:t>showing their syntactic relation to one another in visual form, which can be used for further processing and understanding</a:t>
            </a:r>
            <a:r>
              <a:rPr lang="en-US" dirty="0" smtClean="0"/>
              <a:t>.</a:t>
            </a:r>
          </a:p>
          <a:p>
            <a:pPr algn="just"/>
            <a:r>
              <a:rPr lang="en-US" dirty="0"/>
              <a:t>In essence, </a:t>
            </a:r>
            <a:r>
              <a:rPr lang="en-US" dirty="0">
                <a:solidFill>
                  <a:srgbClr val="FF0000"/>
                </a:solidFill>
              </a:rPr>
              <a:t>tokenizing deals with segmentation</a:t>
            </a:r>
            <a:r>
              <a:rPr lang="en-US" dirty="0"/>
              <a:t>, while </a:t>
            </a:r>
            <a:r>
              <a:rPr lang="en-US" dirty="0">
                <a:solidFill>
                  <a:srgbClr val="FF0000"/>
                </a:solidFill>
              </a:rPr>
              <a:t>parsing deals with the syntactic and semantic structure</a:t>
            </a:r>
            <a:r>
              <a:rPr lang="en-US" dirty="0"/>
              <a:t> </a:t>
            </a:r>
            <a:r>
              <a:rPr lang="en-US" dirty="0">
                <a:solidFill>
                  <a:srgbClr val="FF0000"/>
                </a:solidFill>
              </a:rPr>
              <a:t>of the segmented units</a:t>
            </a:r>
            <a:r>
              <a:rPr lang="en-US" dirty="0"/>
              <a:t>. </a:t>
            </a:r>
            <a:endParaRPr lang="en-US" dirty="0" smtClean="0"/>
          </a:p>
          <a:p>
            <a:pPr algn="just"/>
            <a:r>
              <a:rPr lang="en-US" dirty="0"/>
              <a:t>Below is a parse tree for the sentence “The thief robbed the apartment.” </a:t>
            </a:r>
          </a:p>
        </p:txBody>
      </p:sp>
      <p:pic>
        <p:nvPicPr>
          <p:cNvPr id="4098" name="Picture 2" descr="Speech NL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756" y="4037162"/>
            <a:ext cx="8807270" cy="282083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9</a:t>
            </a:fld>
            <a:endParaRPr lang="en-US"/>
          </a:p>
        </p:txBody>
      </p:sp>
    </p:spTree>
    <p:extLst>
      <p:ext uri="{BB962C8B-B14F-4D97-AF65-F5344CB8AC3E}">
        <p14:creationId xmlns:p14="http://schemas.microsoft.com/office/powerpoint/2010/main" val="3660177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smtClean="0"/>
              <a:t>PARSING</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Noun phrases are one or more words that contain a noun and maybe some descriptors, verbs or adverbs. The idea is to group nouns with words that are in relation to them</a:t>
            </a:r>
            <a:r>
              <a:rPr lang="en-US" dirty="0" smtClean="0"/>
              <a:t>.</a:t>
            </a:r>
          </a:p>
          <a:p>
            <a:pPr algn="just"/>
            <a:r>
              <a:rPr lang="en-US" dirty="0"/>
              <a:t>A parse tree also provides us with information about the grammatical relationships of the words due to the structure of their representation. For example, we can see in the structure that “the thief” is the subject of “robbed</a:t>
            </a:r>
            <a:r>
              <a:rPr lang="en-US" dirty="0" smtClean="0"/>
              <a:t>.</a:t>
            </a:r>
          </a:p>
          <a:p>
            <a:pPr algn="just"/>
            <a:r>
              <a:rPr lang="en-US" dirty="0"/>
              <a:t>With structure I mean that we have the verb (“robbed”), which is marked with a “V” above it and a “VP” above that, which is linked with a “S” to the subject (“the thief”), which has a “NP” above it. This is like a template for a subject-verb relationship and there are many others for other types of relationships.</a:t>
            </a:r>
            <a:endParaRPr lang="en-US" dirty="0" smtClean="0"/>
          </a:p>
          <a:p>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10</a:t>
            </a:fld>
            <a:endParaRPr lang="en-US"/>
          </a:p>
        </p:txBody>
      </p:sp>
    </p:spTree>
    <p:extLst>
      <p:ext uri="{BB962C8B-B14F-4D97-AF65-F5344CB8AC3E}">
        <p14:creationId xmlns:p14="http://schemas.microsoft.com/office/powerpoint/2010/main" val="2689570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Removing Stop </a:t>
            </a:r>
            <a:r>
              <a:rPr lang="en-US" b="1" dirty="0" smtClean="0"/>
              <a:t>Words</a:t>
            </a:r>
            <a:endParaRPr lang="en-US" b="1" dirty="0"/>
          </a:p>
        </p:txBody>
      </p:sp>
      <p:sp>
        <p:nvSpPr>
          <p:cNvPr id="3" name="Content Placeholder 2"/>
          <p:cNvSpPr>
            <a:spLocks noGrp="1"/>
          </p:cNvSpPr>
          <p:nvPr>
            <p:ph idx="1"/>
          </p:nvPr>
        </p:nvSpPr>
        <p:spPr>
          <a:xfrm>
            <a:off x="838200" y="1825625"/>
            <a:ext cx="10515600" cy="1236752"/>
          </a:xfrm>
        </p:spPr>
        <p:txBody>
          <a:bodyPr/>
          <a:lstStyle/>
          <a:p>
            <a:r>
              <a:rPr lang="en-US" dirty="0"/>
              <a:t>Words such as was, in, is, and, the, are called stop words and can be removed</a:t>
            </a:r>
            <a:r>
              <a:rPr lang="en-US" dirty="0" smtClean="0"/>
              <a:t>.</a:t>
            </a:r>
          </a:p>
          <a:p>
            <a:endParaRPr lang="en-US" dirty="0"/>
          </a:p>
        </p:txBody>
      </p:sp>
      <p:pic>
        <p:nvPicPr>
          <p:cNvPr id="5126" name="Picture 6" descr="StopWor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874" y="2957452"/>
            <a:ext cx="6315075" cy="22860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11</a:t>
            </a:fld>
            <a:endParaRPr lang="en-US"/>
          </a:p>
        </p:txBody>
      </p:sp>
    </p:spTree>
    <p:extLst>
      <p:ext uri="{BB962C8B-B14F-4D97-AF65-F5344CB8AC3E}">
        <p14:creationId xmlns:p14="http://schemas.microsoft.com/office/powerpoint/2010/main" val="4130435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smtClean="0"/>
              <a:t>STEMMING</a:t>
            </a:r>
            <a:endParaRPr lang="en-US" dirty="0"/>
          </a:p>
        </p:txBody>
      </p:sp>
      <p:sp>
        <p:nvSpPr>
          <p:cNvPr id="3" name="Content Placeholder 2"/>
          <p:cNvSpPr>
            <a:spLocks noGrp="1"/>
          </p:cNvSpPr>
          <p:nvPr>
            <p:ph idx="1"/>
          </p:nvPr>
        </p:nvSpPr>
        <p:spPr>
          <a:xfrm>
            <a:off x="838200" y="1825625"/>
            <a:ext cx="6399362" cy="4109349"/>
          </a:xfrm>
        </p:spPr>
        <p:txBody>
          <a:bodyPr/>
          <a:lstStyle/>
          <a:p>
            <a:pPr algn="just"/>
            <a:r>
              <a:rPr lang="en-US" dirty="0" smtClean="0"/>
              <a:t>Stemming </a:t>
            </a:r>
            <a:r>
              <a:rPr lang="en-US" dirty="0"/>
              <a:t>is the process of reducing words to their word stem. A “stem” is the part of a word that remains after the removal of all affixes. For example, the stem for the word “touched” is “touch.” “</a:t>
            </a:r>
            <a:r>
              <a:rPr lang="en-US" dirty="0" smtClean="0"/>
              <a:t>Touch</a:t>
            </a:r>
            <a:r>
              <a:rPr lang="en-US" dirty="0"/>
              <a:t>” is also the stem of “touching,” and so on</a:t>
            </a:r>
            <a:r>
              <a:rPr lang="en-US" dirty="0" smtClean="0"/>
              <a:t>.</a:t>
            </a:r>
          </a:p>
          <a:p>
            <a:pPr algn="just"/>
            <a:r>
              <a:rPr lang="en-US" dirty="0"/>
              <a:t> Popular algorithms for stemming include the </a:t>
            </a:r>
            <a:r>
              <a:rPr lang="en-US" b="1" dirty="0"/>
              <a:t>Porter stemming algorithm </a:t>
            </a:r>
            <a:r>
              <a:rPr lang="en-US" dirty="0"/>
              <a:t>from 1979, which still works well.</a:t>
            </a:r>
          </a:p>
        </p:txBody>
      </p:sp>
      <p:pic>
        <p:nvPicPr>
          <p:cNvPr id="6146" name="Picture 2" descr="Figure5_Stemm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2149" y="2586456"/>
            <a:ext cx="4245334" cy="21717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12</a:t>
            </a:fld>
            <a:endParaRPr lang="en-US"/>
          </a:p>
        </p:txBody>
      </p:sp>
    </p:spTree>
    <p:extLst>
      <p:ext uri="{BB962C8B-B14F-4D97-AF65-F5344CB8AC3E}">
        <p14:creationId xmlns:p14="http://schemas.microsoft.com/office/powerpoint/2010/main" val="171416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of Speech </a:t>
            </a:r>
            <a:r>
              <a:rPr lang="en-US" dirty="0" smtClean="0"/>
              <a:t>Tagging</a:t>
            </a:r>
            <a:endParaRPr lang="en-US" dirty="0"/>
          </a:p>
        </p:txBody>
      </p:sp>
      <p:pic>
        <p:nvPicPr>
          <p:cNvPr id="7170" name="Picture 2" descr="Figure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822908"/>
            <a:ext cx="10515600" cy="235677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12731C55-8A95-4E66-B3B3-FC55E596DC59}" type="slidenum">
              <a:rPr lang="en-US" smtClean="0"/>
              <a:t>13</a:t>
            </a:fld>
            <a:endParaRPr lang="en-US"/>
          </a:p>
        </p:txBody>
      </p:sp>
    </p:spTree>
    <p:extLst>
      <p:ext uri="{BB962C8B-B14F-4D97-AF65-F5344CB8AC3E}">
        <p14:creationId xmlns:p14="http://schemas.microsoft.com/office/powerpoint/2010/main" val="1928152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a:t>NAMED ENTITY RECOGNITION</a:t>
            </a:r>
          </a:p>
        </p:txBody>
      </p:sp>
      <p:sp>
        <p:nvSpPr>
          <p:cNvPr id="3" name="Content Placeholder 2"/>
          <p:cNvSpPr>
            <a:spLocks noGrp="1"/>
          </p:cNvSpPr>
          <p:nvPr>
            <p:ph idx="1"/>
          </p:nvPr>
        </p:nvSpPr>
        <p:spPr/>
        <p:txBody>
          <a:bodyPr/>
          <a:lstStyle/>
          <a:p>
            <a:pPr algn="just"/>
            <a:r>
              <a:rPr lang="en-US" dirty="0"/>
              <a:t>Named entity recognition (NER) concentrates on determining which items in a text (i.e. the “named entities”) can be located and classified into </a:t>
            </a:r>
            <a:r>
              <a:rPr lang="en-US" b="1" dirty="0"/>
              <a:t>predefined categories</a:t>
            </a:r>
            <a:r>
              <a:rPr lang="en-US" dirty="0"/>
              <a:t>. These categories can range from the names of persons</a:t>
            </a:r>
            <a:r>
              <a:rPr lang="en-US"/>
              <a:t>, </a:t>
            </a:r>
            <a:r>
              <a:rPr lang="en-US" smtClean="0"/>
              <a:t>organizations, </a:t>
            </a:r>
            <a:r>
              <a:rPr lang="en-US" dirty="0"/>
              <a:t>and locations to monetary values and percentages.</a:t>
            </a:r>
          </a:p>
          <a:p>
            <a:pPr lvl="1" algn="just"/>
            <a:r>
              <a:rPr lang="en-US" dirty="0"/>
              <a:t>For example:</a:t>
            </a:r>
          </a:p>
          <a:p>
            <a:pPr lvl="1" algn="just"/>
            <a:r>
              <a:rPr lang="en-US" dirty="0"/>
              <a:t>Before NER: </a:t>
            </a:r>
            <a:r>
              <a:rPr lang="en-US" i="1" dirty="0"/>
              <a:t>Martin bought 300 shares of SAP in 2016.</a:t>
            </a:r>
            <a:endParaRPr lang="en-US" dirty="0"/>
          </a:p>
          <a:p>
            <a:pPr lvl="1" algn="just"/>
            <a:r>
              <a:rPr lang="en-US" dirty="0"/>
              <a:t>After NER: </a:t>
            </a:r>
            <a:r>
              <a:rPr lang="en-US" i="1" dirty="0"/>
              <a:t>[Martin]Person bought 300 shares of [SAP]Organization in [2016]Time.</a:t>
            </a:r>
            <a:endParaRPr lang="en-US" dirty="0"/>
          </a:p>
          <a:p>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14</a:t>
            </a:fld>
            <a:endParaRPr lang="en-US"/>
          </a:p>
        </p:txBody>
      </p:sp>
    </p:spTree>
    <p:extLst>
      <p:ext uri="{BB962C8B-B14F-4D97-AF65-F5344CB8AC3E}">
        <p14:creationId xmlns:p14="http://schemas.microsoft.com/office/powerpoint/2010/main" val="2982840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a:t>SENTIMENT </a:t>
            </a:r>
            <a:r>
              <a:rPr lang="en-US" b="1" cap="all" dirty="0" smtClean="0"/>
              <a:t>ANALYSIS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With sentiment </a:t>
            </a:r>
            <a:r>
              <a:rPr lang="en-US" dirty="0" smtClean="0"/>
              <a:t>analysis,</a:t>
            </a:r>
            <a:r>
              <a:rPr lang="en-US" dirty="0"/>
              <a:t> we want to determine the attitude (i.e. the sentiment) of a speaker or writer </a:t>
            </a:r>
            <a:r>
              <a:rPr lang="en-US" dirty="0" smtClean="0"/>
              <a:t>concerning </a:t>
            </a:r>
            <a:r>
              <a:rPr lang="en-US" dirty="0"/>
              <a:t>a document, interaction or </a:t>
            </a:r>
            <a:r>
              <a:rPr lang="en-US" dirty="0" smtClean="0"/>
              <a:t>event.</a:t>
            </a:r>
          </a:p>
          <a:p>
            <a:pPr algn="just"/>
            <a:r>
              <a:rPr lang="en-US" dirty="0"/>
              <a:t>Therefore it is a natural language processing problem where text needs to be understood </a:t>
            </a:r>
            <a:r>
              <a:rPr lang="en-US" dirty="0" smtClean="0"/>
              <a:t>to </a:t>
            </a:r>
            <a:r>
              <a:rPr lang="en-US" dirty="0"/>
              <a:t>predict the underlying intent. </a:t>
            </a:r>
            <a:endParaRPr lang="en-US" dirty="0" smtClean="0"/>
          </a:p>
          <a:p>
            <a:pPr algn="just"/>
            <a:r>
              <a:rPr lang="en-US" dirty="0"/>
              <a:t>The sentiment is mostly categorized into positive, </a:t>
            </a:r>
            <a:r>
              <a:rPr lang="en-US" dirty="0" smtClean="0"/>
              <a:t>negative,</a:t>
            </a:r>
            <a:r>
              <a:rPr lang="en-US" dirty="0"/>
              <a:t> and neutral categories</a:t>
            </a:r>
            <a:r>
              <a:rPr lang="en-US" dirty="0" smtClean="0"/>
              <a:t>.</a:t>
            </a:r>
          </a:p>
          <a:p>
            <a:pPr algn="just"/>
            <a:r>
              <a:rPr lang="en-US" dirty="0"/>
              <a:t>With the use of sentiment analysis, for example, we may want to predict a customer’s opinion and attitude about a product based on a review they wrote. </a:t>
            </a:r>
            <a:endParaRPr lang="en-US" dirty="0" smtClean="0"/>
          </a:p>
          <a:p>
            <a:pPr algn="just"/>
            <a:r>
              <a:rPr lang="en-US" dirty="0" smtClean="0"/>
              <a:t>Sentiment </a:t>
            </a:r>
            <a:r>
              <a:rPr lang="en-US" dirty="0"/>
              <a:t>analysis is widely applied to reviews, surveys, documents and much more.</a:t>
            </a:r>
          </a:p>
        </p:txBody>
      </p:sp>
      <p:sp>
        <p:nvSpPr>
          <p:cNvPr id="4" name="Slide Number Placeholder 3"/>
          <p:cNvSpPr>
            <a:spLocks noGrp="1"/>
          </p:cNvSpPr>
          <p:nvPr>
            <p:ph type="sldNum" sz="quarter" idx="12"/>
          </p:nvPr>
        </p:nvSpPr>
        <p:spPr/>
        <p:txBody>
          <a:bodyPr/>
          <a:lstStyle/>
          <a:p>
            <a:fld id="{12731C55-8A95-4E66-B3B3-FC55E596DC59}" type="slidenum">
              <a:rPr lang="en-US" smtClean="0"/>
              <a:t>15</a:t>
            </a:fld>
            <a:endParaRPr lang="en-US"/>
          </a:p>
        </p:txBody>
      </p:sp>
    </p:spTree>
    <p:extLst>
      <p:ext uri="{BB962C8B-B14F-4D97-AF65-F5344CB8AC3E}">
        <p14:creationId xmlns:p14="http://schemas.microsoft.com/office/powerpoint/2010/main" val="2280053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a:t>
            </a:r>
            <a:r>
              <a:rPr lang="en-US" b="1" dirty="0" smtClean="0"/>
              <a:t>NLP</a:t>
            </a:r>
            <a:endParaRPr lang="en-US" b="1" dirty="0"/>
          </a:p>
        </p:txBody>
      </p:sp>
      <p:sp>
        <p:nvSpPr>
          <p:cNvPr id="3" name="Content Placeholder 2"/>
          <p:cNvSpPr>
            <a:spLocks noGrp="1"/>
          </p:cNvSpPr>
          <p:nvPr>
            <p:ph idx="1"/>
          </p:nvPr>
        </p:nvSpPr>
        <p:spPr/>
        <p:txBody>
          <a:bodyPr/>
          <a:lstStyle/>
          <a:p>
            <a:r>
              <a:rPr lang="en-US" dirty="0"/>
              <a:t>Translation </a:t>
            </a:r>
            <a:r>
              <a:rPr lang="en-US" dirty="0" smtClean="0"/>
              <a:t>Tools</a:t>
            </a:r>
          </a:p>
          <a:p>
            <a:r>
              <a:rPr lang="en-US" dirty="0" err="1" smtClean="0"/>
              <a:t>Chatbots</a:t>
            </a:r>
            <a:r>
              <a:rPr lang="en-US" dirty="0" smtClean="0"/>
              <a:t>, </a:t>
            </a:r>
            <a:r>
              <a:rPr lang="en-US" b="1" cap="all" dirty="0"/>
              <a:t>CUSTOMER </a:t>
            </a:r>
            <a:r>
              <a:rPr lang="en-US" b="1" cap="all" dirty="0" smtClean="0"/>
              <a:t>SERVICE, HEALTHCARE</a:t>
            </a:r>
          </a:p>
          <a:p>
            <a:r>
              <a:rPr lang="en-US" b="1" dirty="0"/>
              <a:t>Text summarization:</a:t>
            </a:r>
            <a:endParaRPr lang="en-US" dirty="0" smtClean="0"/>
          </a:p>
          <a:p>
            <a:r>
              <a:rPr lang="en-US" dirty="0"/>
              <a:t>Targeted </a:t>
            </a:r>
            <a:r>
              <a:rPr lang="en-US" dirty="0" smtClean="0"/>
              <a:t>Advertising, </a:t>
            </a:r>
            <a:r>
              <a:rPr lang="en-US" b="1" cap="all" dirty="0" smtClean="0"/>
              <a:t>MARKETING</a:t>
            </a:r>
            <a:endParaRPr lang="en-US" dirty="0" smtClean="0"/>
          </a:p>
          <a:p>
            <a:r>
              <a:rPr lang="en-US" dirty="0"/>
              <a:t>Autocorrect: </a:t>
            </a:r>
            <a:endParaRPr lang="en-US" dirty="0" smtClean="0"/>
          </a:p>
          <a:p>
            <a:r>
              <a:rPr lang="en-US" b="1" cap="all" dirty="0" smtClean="0"/>
              <a:t>CYBERSECURITY</a:t>
            </a:r>
          </a:p>
          <a:p>
            <a:r>
              <a:rPr lang="en-US" b="1" dirty="0"/>
              <a:t>Social media sentiment analysis:</a:t>
            </a:r>
            <a:endParaRPr lang="en-US" b="1" cap="all" dirty="0"/>
          </a:p>
          <a:p>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16</a:t>
            </a:fld>
            <a:endParaRPr lang="en-US"/>
          </a:p>
        </p:txBody>
      </p:sp>
    </p:spTree>
    <p:extLst>
      <p:ext uri="{BB962C8B-B14F-4D97-AF65-F5344CB8AC3E}">
        <p14:creationId xmlns:p14="http://schemas.microsoft.com/office/powerpoint/2010/main" val="2920270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Machine Learning and NLP</a:t>
            </a:r>
            <a:endParaRPr lang="en-US" dirty="0"/>
          </a:p>
        </p:txBody>
      </p:sp>
      <p:sp>
        <p:nvSpPr>
          <p:cNvPr id="3" name="Content Placeholder 2"/>
          <p:cNvSpPr>
            <a:spLocks noGrp="1"/>
          </p:cNvSpPr>
          <p:nvPr>
            <p:ph idx="1"/>
          </p:nvPr>
        </p:nvSpPr>
        <p:spPr/>
        <p:txBody>
          <a:bodyPr/>
          <a:lstStyle/>
          <a:p>
            <a:pPr algn="just"/>
            <a:r>
              <a:rPr lang="en-US" dirty="0"/>
              <a:t>ML can be applied in NLP </a:t>
            </a:r>
            <a:r>
              <a:rPr lang="en-US" dirty="0" smtClean="0"/>
              <a:t>technology.  </a:t>
            </a:r>
            <a:r>
              <a:rPr lang="en-US" dirty="0"/>
              <a:t>B</a:t>
            </a:r>
            <a:r>
              <a:rPr lang="en-US" dirty="0" smtClean="0"/>
              <a:t>ut there are several types of NLP that function </a:t>
            </a:r>
            <a:r>
              <a:rPr lang="en-US" dirty="0"/>
              <a:t>without relying on AI or </a:t>
            </a:r>
            <a:r>
              <a:rPr lang="en-US" dirty="0" smtClean="0"/>
              <a:t>ML</a:t>
            </a:r>
          </a:p>
          <a:p>
            <a:pPr algn="just"/>
            <a:r>
              <a:rPr lang="en-US" dirty="0"/>
              <a:t>When used in natural language processing, machine learning can identify patterns in human speech, understand sentient context, pick up contextual clues, and learn any other component of the text or voice input. </a:t>
            </a:r>
            <a:endParaRPr lang="en-US" dirty="0" smtClean="0"/>
          </a:p>
          <a:p>
            <a:pPr algn="just"/>
            <a:r>
              <a:rPr lang="en-US" dirty="0"/>
              <a:t>Machine learning for NLP encompasses a series of arithmetical systems to identify different sections of speech, sentiment, entities, and other text aspects.</a:t>
            </a:r>
          </a:p>
        </p:txBody>
      </p:sp>
      <p:sp>
        <p:nvSpPr>
          <p:cNvPr id="4" name="Slide Number Placeholder 3"/>
          <p:cNvSpPr>
            <a:spLocks noGrp="1"/>
          </p:cNvSpPr>
          <p:nvPr>
            <p:ph type="sldNum" sz="quarter" idx="12"/>
          </p:nvPr>
        </p:nvSpPr>
        <p:spPr/>
        <p:txBody>
          <a:bodyPr/>
          <a:lstStyle/>
          <a:p>
            <a:fld id="{12731C55-8A95-4E66-B3B3-FC55E596DC59}" type="slidenum">
              <a:rPr lang="en-US" smtClean="0"/>
              <a:t>17</a:t>
            </a:fld>
            <a:endParaRPr lang="en-US"/>
          </a:p>
        </p:txBody>
      </p:sp>
    </p:spTree>
    <p:extLst>
      <p:ext uri="{BB962C8B-B14F-4D97-AF65-F5344CB8AC3E}">
        <p14:creationId xmlns:p14="http://schemas.microsoft.com/office/powerpoint/2010/main" val="2766046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Supervised machine learning for </a:t>
            </a:r>
            <a:r>
              <a:rPr lang="en-US" b="1" dirty="0" smtClean="0"/>
              <a:t>NLP</a:t>
            </a:r>
            <a:endParaRPr lang="en-US" b="1" dirty="0"/>
          </a:p>
        </p:txBody>
      </p:sp>
      <p:sp>
        <p:nvSpPr>
          <p:cNvPr id="3" name="Content Placeholder 2"/>
          <p:cNvSpPr>
            <a:spLocks noGrp="1"/>
          </p:cNvSpPr>
          <p:nvPr>
            <p:ph idx="1"/>
          </p:nvPr>
        </p:nvSpPr>
        <p:spPr/>
        <p:txBody>
          <a:bodyPr/>
          <a:lstStyle/>
          <a:p>
            <a:pPr algn="just"/>
            <a:r>
              <a:rPr lang="en-US" dirty="0"/>
              <a:t>In supervised ML, a huge amount of text is annotated or tagged with samples of what the system should look for as well as how it should interpret it. </a:t>
            </a:r>
            <a:endParaRPr lang="en-US" dirty="0" smtClean="0"/>
          </a:p>
          <a:p>
            <a:pPr algn="just"/>
            <a:r>
              <a:rPr lang="en-US" dirty="0"/>
              <a:t>These texts are used to teach a statistical model that is assigned un-tagged text to examine. </a:t>
            </a:r>
            <a:endParaRPr lang="en-US" dirty="0" smtClean="0"/>
          </a:p>
          <a:p>
            <a:pPr algn="just"/>
            <a:r>
              <a:rPr lang="en-US" dirty="0"/>
              <a:t>For instance, you can utilize supervised machine learning to train a specific model to examine film or TV show reviews and later teach it to incorporate the star rating of each reviewer.</a:t>
            </a:r>
          </a:p>
        </p:txBody>
      </p:sp>
      <p:sp>
        <p:nvSpPr>
          <p:cNvPr id="4" name="Slide Number Placeholder 3"/>
          <p:cNvSpPr>
            <a:spLocks noGrp="1"/>
          </p:cNvSpPr>
          <p:nvPr>
            <p:ph type="sldNum" sz="quarter" idx="12"/>
          </p:nvPr>
        </p:nvSpPr>
        <p:spPr/>
        <p:txBody>
          <a:bodyPr/>
          <a:lstStyle/>
          <a:p>
            <a:fld id="{12731C55-8A95-4E66-B3B3-FC55E596DC59}" type="slidenum">
              <a:rPr lang="en-US" smtClean="0"/>
              <a:t>18</a:t>
            </a:fld>
            <a:endParaRPr lang="en-US"/>
          </a:p>
        </p:txBody>
      </p:sp>
    </p:spTree>
    <p:extLst>
      <p:ext uri="{BB962C8B-B14F-4D97-AF65-F5344CB8AC3E}">
        <p14:creationId xmlns:p14="http://schemas.microsoft.com/office/powerpoint/2010/main" val="1241972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machine learning for </a:t>
            </a:r>
            <a:r>
              <a:rPr lang="en-US" dirty="0" smtClean="0"/>
              <a:t>NLP</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Unsupervised machine learning involves training a particular model without annotating or pre-tagging. This type of ML can be tricky but it is far less data- and labor-intensive compared to supervised ML</a:t>
            </a:r>
            <a:r>
              <a:rPr lang="en-US" dirty="0" smtClean="0"/>
              <a:t>.</a:t>
            </a:r>
          </a:p>
          <a:p>
            <a:pPr algn="just"/>
            <a:r>
              <a:rPr lang="en-US" b="1" dirty="0"/>
              <a:t>Clustering </a:t>
            </a:r>
            <a:r>
              <a:rPr lang="en-US" dirty="0"/>
              <a:t>means grouping similar documents together into groups or sets. These clusters are then sorted based on importance and relevancy (hierarchical clustering</a:t>
            </a:r>
            <a:r>
              <a:rPr lang="en-US" dirty="0" smtClean="0"/>
              <a:t>).</a:t>
            </a:r>
          </a:p>
          <a:p>
            <a:pPr algn="just"/>
            <a:r>
              <a:rPr lang="en-US" dirty="0"/>
              <a:t>Another type of unsupervised learning is </a:t>
            </a:r>
            <a:r>
              <a:rPr lang="en-US" b="1" dirty="0"/>
              <a:t>Latent Semantic Indexing </a:t>
            </a:r>
            <a:r>
              <a:rPr lang="en-US" dirty="0"/>
              <a:t>(LSI). This technique identifies on words and phrases that frequently occur with each other. </a:t>
            </a:r>
            <a:endParaRPr lang="en-US" dirty="0" smtClean="0"/>
          </a:p>
          <a:p>
            <a:pPr algn="just"/>
            <a:r>
              <a:rPr lang="en-US" b="1" dirty="0" smtClean="0"/>
              <a:t>Matrix </a:t>
            </a:r>
            <a:r>
              <a:rPr lang="en-US" b="1" dirty="0"/>
              <a:t>factorization </a:t>
            </a:r>
            <a:r>
              <a:rPr lang="en-US" dirty="0"/>
              <a:t>is a mathematical technique used for extracting meaningful representations of words, documents, or other textual elements by decomposing large matrices into lower-dimensional matrices. The primary goal is to capture latent semantic relationships between words or documents, facilitating various NLP tasks. </a:t>
            </a:r>
            <a:endParaRPr lang="en-US" dirty="0" smtClean="0"/>
          </a:p>
          <a:p>
            <a:pPr algn="just"/>
            <a:r>
              <a:rPr lang="en-US" dirty="0"/>
              <a:t>Important Python libraries for NLP</a:t>
            </a:r>
          </a:p>
          <a:p>
            <a:pPr lvl="1" algn="just"/>
            <a:r>
              <a:rPr lang="en-US" dirty="0"/>
              <a:t>Natural Language Toolkit (NLTK)</a:t>
            </a:r>
          </a:p>
          <a:p>
            <a:pPr lvl="1" algn="just"/>
            <a:r>
              <a:rPr lang="en-US" dirty="0" err="1"/>
              <a:t>spaCy</a:t>
            </a:r>
            <a:endParaRPr lang="en-US" dirty="0"/>
          </a:p>
          <a:p>
            <a:pPr lvl="1" algn="just"/>
            <a:r>
              <a:rPr lang="en-US" dirty="0" err="1"/>
              <a:t>TextBlob</a:t>
            </a:r>
            <a:endParaRPr lang="en-US" dirty="0"/>
          </a:p>
          <a:p>
            <a:pPr lvl="1" algn="just"/>
            <a:r>
              <a:rPr lang="en-US" dirty="0" err="1"/>
              <a:t>CoreNLP</a:t>
            </a:r>
            <a:endParaRPr lang="en-US" dirty="0"/>
          </a:p>
          <a:p>
            <a:pPr lvl="1"/>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19</a:t>
            </a:fld>
            <a:endParaRPr lang="en-US"/>
          </a:p>
        </p:txBody>
      </p:sp>
    </p:spTree>
    <p:extLst>
      <p:ext uri="{BB962C8B-B14F-4D97-AF65-F5344CB8AC3E}">
        <p14:creationId xmlns:p14="http://schemas.microsoft.com/office/powerpoint/2010/main" val="3613252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Deep learning NLP Techniques</a:t>
            </a:r>
            <a:endParaRPr lang="en-US" dirty="0"/>
          </a:p>
        </p:txBody>
      </p:sp>
      <p:sp>
        <p:nvSpPr>
          <p:cNvPr id="3" name="Content Placeholder 2"/>
          <p:cNvSpPr>
            <a:spLocks noGrp="1"/>
          </p:cNvSpPr>
          <p:nvPr>
            <p:ph idx="1"/>
          </p:nvPr>
        </p:nvSpPr>
        <p:spPr/>
        <p:txBody>
          <a:bodyPr>
            <a:normAutofit lnSpcReduction="10000"/>
          </a:bodyPr>
          <a:lstStyle/>
          <a:p>
            <a:r>
              <a:rPr lang="en-US" b="1" dirty="0">
                <a:hlinkClick r:id="rId2"/>
              </a:rPr>
              <a:t>Convolutional Neural Network</a:t>
            </a:r>
            <a:r>
              <a:rPr lang="en-US" b="1" dirty="0"/>
              <a:t> (CNN):</a:t>
            </a:r>
            <a:r>
              <a:rPr lang="en-US" dirty="0"/>
              <a:t> The idea of using a CNN to classify text was first presented in the paper “</a:t>
            </a:r>
            <a:r>
              <a:rPr lang="en-US" dirty="0">
                <a:hlinkClick r:id="rId3"/>
              </a:rPr>
              <a:t>Convolutional Neural Networks for Sentence Classification</a:t>
            </a:r>
            <a:r>
              <a:rPr lang="en-US" dirty="0"/>
              <a:t>” by Yoon Kim. The central intuition is to see a document as an image. However, instead of pixels, the input is sentences or documents represented as a matrix of words.</a:t>
            </a:r>
          </a:p>
          <a:p>
            <a:r>
              <a:rPr lang="en-US" b="1" dirty="0">
                <a:hlinkClick r:id="rId4"/>
              </a:rPr>
              <a:t>Recurrent Neural Network (RNN</a:t>
            </a:r>
            <a:r>
              <a:rPr lang="en-US" b="1" dirty="0" smtClean="0">
                <a:hlinkClick r:id="rId4"/>
              </a:rPr>
              <a:t>)</a:t>
            </a:r>
            <a:endParaRPr lang="en-US" dirty="0"/>
          </a:p>
          <a:p>
            <a:r>
              <a:rPr lang="en-US" b="1" dirty="0" err="1" smtClean="0">
                <a:hlinkClick r:id="rId5"/>
              </a:rPr>
              <a:t>Autoencoders</a:t>
            </a:r>
            <a:endParaRPr lang="en-US" b="1" dirty="0" smtClean="0"/>
          </a:p>
          <a:p>
            <a:r>
              <a:rPr lang="en-US" b="1" dirty="0">
                <a:hlinkClick r:id="rId6"/>
              </a:rPr>
              <a:t>Encoder-decoder </a:t>
            </a:r>
            <a:r>
              <a:rPr lang="en-US" b="1" dirty="0" smtClean="0">
                <a:hlinkClick r:id="rId6"/>
              </a:rPr>
              <a:t>sequence-to-sequence</a:t>
            </a:r>
            <a:endParaRPr lang="en-US" b="1" dirty="0"/>
          </a:p>
          <a:p>
            <a:r>
              <a:rPr lang="en-US" b="1" dirty="0">
                <a:hlinkClick r:id="rId7"/>
              </a:rPr>
              <a:t>Transformers</a:t>
            </a:r>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20</a:t>
            </a:fld>
            <a:endParaRPr lang="en-US"/>
          </a:p>
        </p:txBody>
      </p:sp>
    </p:spTree>
    <p:extLst>
      <p:ext uri="{BB962C8B-B14F-4D97-AF65-F5344CB8AC3E}">
        <p14:creationId xmlns:p14="http://schemas.microsoft.com/office/powerpoint/2010/main" val="2389481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Some Important </a:t>
            </a:r>
            <a:r>
              <a:rPr lang="en-US" b="1" dirty="0"/>
              <a:t>P</a:t>
            </a:r>
            <a:r>
              <a:rPr lang="en-US" b="1" dirty="0" smtClean="0"/>
              <a:t>oints</a:t>
            </a:r>
            <a:endParaRPr lang="en-US" b="1" dirty="0"/>
          </a:p>
        </p:txBody>
      </p:sp>
      <p:sp>
        <p:nvSpPr>
          <p:cNvPr id="3" name="Content Placeholder 2"/>
          <p:cNvSpPr>
            <a:spLocks noGrp="1"/>
          </p:cNvSpPr>
          <p:nvPr>
            <p:ph idx="1"/>
          </p:nvPr>
        </p:nvSpPr>
        <p:spPr/>
        <p:txBody>
          <a:bodyPr>
            <a:normAutofit fontScale="92500" lnSpcReduction="10000"/>
          </a:bodyPr>
          <a:lstStyle/>
          <a:p>
            <a:pPr fontAlgn="base"/>
            <a:r>
              <a:rPr lang="en-US" dirty="0"/>
              <a:t>Preprocessing: Before applying NLP techniques, it is essential to preprocess the text data by cleaning, tokenizing, and normalizing it.</a:t>
            </a:r>
          </a:p>
          <a:p>
            <a:pPr fontAlgn="base"/>
            <a:r>
              <a:rPr lang="en-US" dirty="0"/>
              <a:t>Feature Extraction: Feature extraction is the process of representing the text data as a set of features that can be used in machine learning models.</a:t>
            </a:r>
          </a:p>
          <a:p>
            <a:pPr fontAlgn="base"/>
            <a:r>
              <a:rPr lang="en-US" dirty="0"/>
              <a:t>Word </a:t>
            </a:r>
            <a:r>
              <a:rPr lang="en-US" dirty="0" err="1"/>
              <a:t>Embeddings</a:t>
            </a:r>
            <a:r>
              <a:rPr lang="en-US" dirty="0"/>
              <a:t>: Word </a:t>
            </a:r>
            <a:r>
              <a:rPr lang="en-US" dirty="0" err="1"/>
              <a:t>embeddings</a:t>
            </a:r>
            <a:r>
              <a:rPr lang="en-US" dirty="0"/>
              <a:t> are a type of feature representation that captures the semantic meaning of words in a high-dimensional space.</a:t>
            </a:r>
          </a:p>
          <a:p>
            <a:pPr fontAlgn="base"/>
            <a:r>
              <a:rPr lang="en-US" dirty="0"/>
              <a:t>Neural Networks: Deep learning models, such as neural networks, have shown promising results in NLP tasks, such as language modeling, sentiment analysis, and machine translation.</a:t>
            </a:r>
          </a:p>
          <a:p>
            <a:pPr fontAlgn="base"/>
            <a:r>
              <a:rPr lang="en-US" dirty="0"/>
              <a:t>Evaluation Metrics: It is important to use appropriate evaluation metrics for NLP tasks, such as accuracy, precision, recall, F1 score, and perplexity.</a:t>
            </a:r>
          </a:p>
          <a:p>
            <a:endParaRPr lang="en-US" dirty="0"/>
          </a:p>
        </p:txBody>
      </p:sp>
      <p:sp>
        <p:nvSpPr>
          <p:cNvPr id="4" name="Slide Number Placeholder 3"/>
          <p:cNvSpPr>
            <a:spLocks noGrp="1"/>
          </p:cNvSpPr>
          <p:nvPr>
            <p:ph type="sldNum" sz="quarter" idx="12"/>
          </p:nvPr>
        </p:nvSpPr>
        <p:spPr/>
        <p:txBody>
          <a:bodyPr/>
          <a:lstStyle/>
          <a:p>
            <a:fld id="{12731C55-8A95-4E66-B3B3-FC55E596DC59}" type="slidenum">
              <a:rPr lang="en-US" smtClean="0"/>
              <a:t>21</a:t>
            </a:fld>
            <a:endParaRPr lang="en-US"/>
          </a:p>
        </p:txBody>
      </p:sp>
    </p:spTree>
    <p:extLst>
      <p:ext uri="{BB962C8B-B14F-4D97-AF65-F5344CB8AC3E}">
        <p14:creationId xmlns:p14="http://schemas.microsoft.com/office/powerpoint/2010/main" val="1546901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1099</Words>
  <Application>Microsoft Office PowerPoint</Application>
  <PresentationFormat>Widescreen</PresentationFormat>
  <Paragraphs>109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Natural Language Processing</vt:lpstr>
      <vt:lpstr>Natural Language Processing</vt:lpstr>
      <vt:lpstr>AI and NLP</vt:lpstr>
      <vt:lpstr>Why Natural Language Processing is Difficult</vt:lpstr>
      <vt:lpstr>Syntactic and Semantic Analysis</vt:lpstr>
      <vt:lpstr>Syntactic and Semantic Analysis</vt:lpstr>
      <vt:lpstr>Different Parts of NLP</vt:lpstr>
      <vt:lpstr>Tokenizing:</vt:lpstr>
      <vt:lpstr>PARSING</vt:lpstr>
      <vt:lpstr>PARSING</vt:lpstr>
      <vt:lpstr>Removing Stop Words</vt:lpstr>
      <vt:lpstr>STEMMING</vt:lpstr>
      <vt:lpstr>Part of Speech Tagging</vt:lpstr>
      <vt:lpstr>NAMED ENTITY RECOGNITION</vt:lpstr>
      <vt:lpstr>SENTIMENT ANALYSIS</vt:lpstr>
      <vt:lpstr>Applications of NLP</vt:lpstr>
      <vt:lpstr>Machine Learning and NLP</vt:lpstr>
      <vt:lpstr>Supervised machine learning for NLP</vt:lpstr>
      <vt:lpstr>Unsupervised machine learning for NLP</vt:lpstr>
      <vt:lpstr>Deep learning NLP Techniques</vt:lpstr>
      <vt:lpstr>Some Important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dc:title>
  <dc:creator>Windows User</dc:creator>
  <cp:lastModifiedBy>Windows User</cp:lastModifiedBy>
  <cp:revision>39</cp:revision>
  <dcterms:created xsi:type="dcterms:W3CDTF">2023-11-14T07:28:48Z</dcterms:created>
  <dcterms:modified xsi:type="dcterms:W3CDTF">2025-05-05T12:09:44Z</dcterms:modified>
</cp:coreProperties>
</file>