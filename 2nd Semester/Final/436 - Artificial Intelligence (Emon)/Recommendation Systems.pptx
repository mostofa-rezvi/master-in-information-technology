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6" r:id="rId3"/>
    <p:sldId id="267" r:id="rId4"/>
    <p:sldId id="268" r:id="rId5"/>
    <p:sldId id="269" r:id="rId6"/>
    <p:sldId id="257" r:id="rId7"/>
    <p:sldId id="258" r:id="rId8"/>
    <p:sldId id="259" r:id="rId9"/>
    <p:sldId id="260" r:id="rId10"/>
    <p:sldId id="261" r:id="rId11"/>
    <p:sldId id="274" r:id="rId12"/>
    <p:sldId id="262" r:id="rId13"/>
    <p:sldId id="263" r:id="rId14"/>
    <p:sldId id="264" r:id="rId15"/>
    <p:sldId id="265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2E7F6-B64F-4B14-90F7-A3E9F0C27353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33B8E-A343-4A5B-843B-BD172EF75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9B03-89C3-4447-8E93-B64B015FF42A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81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99A6B-46A9-4A1F-8A58-49D3996046A2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71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ACF30-D83C-4705-9CD3-B2B5B9B21B36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29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E0C6B-3EA3-45B8-8563-91042DB4BAF6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08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9FAE-C35D-4C19-BC3A-20AF0584799E}" type="datetime1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7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2688B-7E7D-4AAD-AFE0-E5A6653FF73F}" type="datetime1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44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4AA73-94B6-4FF2-A435-0F8E2F796D42}" type="datetime1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12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84881-2E4D-448E-BC68-6E73A10DFF3C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82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B1626-81AA-4691-8887-BA8FEA0021C5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72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6E37-7DC1-48AF-B1B9-59518E660EF1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9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BE00-DDA5-4228-B0F9-5E17B952A148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24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CC746-3AE8-471C-A694-56413F7E23C1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2C7A3-6970-4EA3-9718-337E63D68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32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3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Jaccard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Similarity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Jaccard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Similarity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(number of observations in both sets) / (number in either set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mathematically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J(A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B) =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|A∩B| / |A∪B|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3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Jaccard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Similarity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5253" y="1825625"/>
            <a:ext cx="8621494" cy="435133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4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1215" y="1825625"/>
            <a:ext cx="7829569" cy="435133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9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Pearson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(Centered Cosine)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rating by subtracting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mean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6" y="2352518"/>
            <a:ext cx="7635240" cy="416036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71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similarity refers to measuring how similar two pieces of text are, based on their content, structure, or semantic meaning.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TF-IDF: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 Frequency (TF)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Measures how often a word appears in a document.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Inverse Document Frequency (IDF)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Measures how unique or rare a word is across a collection of documents.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helps in weighting the words and improving the cosine similarity measure by reducing the impact of common words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6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Split the text into individual words or tokens.</a:t>
            </a: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Lowercasing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Convert all text to lowercase to ensure uniformity.</a:t>
            </a:r>
          </a:p>
          <a:p>
            <a:pPr lvl="1"/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Removal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Remove common words (like "the", "and", "is") that do not contribute much to the meaning.</a:t>
            </a: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Stemming/Lemmatization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Reduce words to their base or root form.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 Representation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 Frequency (TF)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Count the frequency of each word in the document.</a:t>
            </a: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Inverse Document Frequency (IDF)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Calculate the importance of a word based on its rarity across multiple documents.</a:t>
            </a: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Combine TF and IDF to get a weighted score that reflects the importance of a word in a document relative to a collection of documents.</a:t>
            </a:r>
          </a:p>
          <a:p>
            <a:endParaRPr lang="en-US" b="1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38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Vectors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each document as a vector of TF-IDF scores, where each dimension corresponds to a unique word in the corpus.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Cosine Similarity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the cosine similarity formula to compute the similarity between two document vectors.</a:t>
            </a:r>
          </a:p>
          <a:p>
            <a:pPr lvl="1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https://studymachinelearning.com/wp-content/uploads/2019/09/Cosine-similarity-Wikiped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255" y="4427220"/>
            <a:ext cx="500062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31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(Example)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"I love machine learning and data science."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"Data science and machine learning are fascinating."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tokenization and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removal:</a:t>
            </a:r>
          </a:p>
          <a:p>
            <a:pPr lvl="1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["love", "machine", "learning", "data", "science"]</a:t>
            </a:r>
          </a:p>
          <a:p>
            <a:pPr lvl="1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:["data", "science", "machine", "learning", "fascinating"]</a:t>
            </a:r>
          </a:p>
          <a:p>
            <a:pPr marL="457200" lvl="1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lnSpc>
                <a:spcPct val="100000"/>
              </a:lnSpc>
              <a:spcBef>
                <a:spcPts val="1000"/>
              </a:spcBef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 Representation</a:t>
            </a:r>
          </a:p>
          <a:p>
            <a:pPr marL="0" lvl="1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Create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vocabulary:</a:t>
            </a:r>
          </a:p>
          <a:p>
            <a:pPr marL="457200" lvl="1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["love", "machine", "learning", "data", "science", "fascinating"]</a:t>
            </a:r>
          </a:p>
          <a:p>
            <a:pPr marL="457200" lvl="1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TF-IDF for each word in both texts.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7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(Example)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Vectors:</a:t>
            </a:r>
          </a:p>
          <a:p>
            <a:pPr lvl="1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[1, 1, 1, 1, 1, 0]</a:t>
            </a:r>
          </a:p>
          <a:p>
            <a:pPr lvl="1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[0, 1, 1, 1, 1, 1]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64" y="3822572"/>
            <a:ext cx="8735989" cy="16089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29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Recommendation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User-user collaborative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Item-item collaborative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Knowledge-based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recommendation systems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77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iltering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 is a popular technique in recommendation systems that predicts a user's preferences by leveraging other users' preferences.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main types of collaborative filtering: </a:t>
            </a: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user-user collaborative filtering,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item-item collaborative filtering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97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User-Based Collaborative Filtering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approach predicts a user's rating for an item based on ratings given by other users who have similar preference</a:t>
            </a:r>
          </a:p>
          <a:p>
            <a:pPr marL="0" indent="0">
              <a:buNone/>
            </a:pPr>
            <a:r>
              <a:rPr lang="en-US" dirty="0" smtClean="0"/>
              <a:t>Step1: User Similarity Computation</a:t>
            </a:r>
          </a:p>
          <a:p>
            <a:pPr lvl="1"/>
            <a:r>
              <a:rPr lang="en-US" dirty="0" smtClean="0"/>
              <a:t>Calculate the similarity between users using metrics like </a:t>
            </a:r>
            <a:r>
              <a:rPr lang="en-US" b="1" dirty="0" err="1" smtClean="0">
                <a:solidFill>
                  <a:srgbClr val="FF0000"/>
                </a:solidFill>
              </a:rPr>
              <a:t>Jaccard</a:t>
            </a:r>
            <a:r>
              <a:rPr lang="en-US" b="1" dirty="0" smtClean="0">
                <a:solidFill>
                  <a:srgbClr val="FF0000"/>
                </a:solidFill>
              </a:rPr>
              <a:t> similarity, cosine similarity, or Pearson correlation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Step </a:t>
            </a:r>
            <a:r>
              <a:rPr lang="en-US" dirty="0"/>
              <a:t>2: Neighborhood Formation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Identify a group of users (neighbors) who are most similar to the target user.</a:t>
            </a:r>
          </a:p>
          <a:p>
            <a:pPr marL="0" indent="0">
              <a:buNone/>
            </a:pPr>
            <a:r>
              <a:rPr lang="en-US" dirty="0" smtClean="0"/>
              <a:t>Step 3: Prediction</a:t>
            </a:r>
          </a:p>
          <a:p>
            <a:pPr lvl="1"/>
            <a:r>
              <a:rPr lang="en-US" dirty="0" smtClean="0"/>
              <a:t>Predict the rating for an item by averaging the ratings given by similar users, possibly weighted by their similarity scores.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102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Item-Based Collaborative Filtering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predicts a user's rating for an item based on the user’s previous ratings of similar items.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a user likes movie A and movie B is similar to movie A, the system can recommend movie B to the user.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Item Similarity Computation</a:t>
            </a: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Neighborhood Formation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Prediction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17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66978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4962" y="2358231"/>
            <a:ext cx="8982075" cy="328612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75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Model-Based Collaborative Filtering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Utilizes machine learning models to learn user-item interactions and make predictions.</a:t>
            </a:r>
          </a:p>
          <a:p>
            <a:r>
              <a:rPr lang="en-US" dirty="0" smtClean="0"/>
              <a:t>Techniques:</a:t>
            </a:r>
          </a:p>
          <a:p>
            <a:pPr lvl="1"/>
            <a:r>
              <a:rPr lang="en-US" b="1" dirty="0" smtClean="0"/>
              <a:t>Matrix Factorization (e.g., SVD, ALS)</a:t>
            </a:r>
            <a:r>
              <a:rPr lang="en-US" dirty="0" smtClean="0"/>
              <a:t>: Decomposes the user-item matrix into latent factors representing users and items.</a:t>
            </a:r>
          </a:p>
          <a:p>
            <a:pPr lvl="1"/>
            <a:r>
              <a:rPr lang="en-US" b="1" dirty="0" smtClean="0"/>
              <a:t>Deep Learning</a:t>
            </a:r>
            <a:r>
              <a:rPr lang="en-US" dirty="0" smtClean="0"/>
              <a:t>: Neural networks to capture complex user-item interactions.</a:t>
            </a:r>
          </a:p>
          <a:p>
            <a:pPr marL="457200" lvl="1" indent="0">
              <a:buNone/>
            </a:pPr>
            <a:endParaRPr lang="en-US" b="1" dirty="0" smtClean="0"/>
          </a:p>
          <a:p>
            <a:pPr marL="457200" lvl="1" indent="0"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Netflix’s recommendation system uses matrix factorization to predict user preferences for movies.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80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Start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cold start problem occurs when a recommendation system struggles to make accurate suggestions due to insufficient data about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users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items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both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Cold Start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26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Start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Problem-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Solutions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New User Cold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Onboarding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questionnaires/preference elicitation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Demographic-based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items / trending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New Item Cold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curation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New System Cold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 data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/ Cross-domain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</a:p>
          <a:p>
            <a:pPr marL="228600" lvl="1">
              <a:spcBef>
                <a:spcPts val="1000"/>
              </a:spcBef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7A3-6970-4EA3-9718-337E63D684C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14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818</Words>
  <Application>Microsoft Office PowerPoint</Application>
  <PresentationFormat>Widescreen</PresentationFormat>
  <Paragraphs>124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Recommendation Systems</vt:lpstr>
      <vt:lpstr>Jaccard Similarity</vt:lpstr>
      <vt:lpstr>Jaccard Similarity</vt:lpstr>
      <vt:lpstr>Cosine Similarity</vt:lpstr>
      <vt:lpstr>Pearson Correlation (Centered Cosine)</vt:lpstr>
      <vt:lpstr>Text Similarity</vt:lpstr>
      <vt:lpstr>Cosine Similarity</vt:lpstr>
      <vt:lpstr>Cosine Similarity</vt:lpstr>
      <vt:lpstr>Cosine Similarity (Example)</vt:lpstr>
      <vt:lpstr>Cosine Similarity (Example)</vt:lpstr>
      <vt:lpstr>Types of Recommendation Systems</vt:lpstr>
      <vt:lpstr>Collaborative Filtering</vt:lpstr>
      <vt:lpstr>User-Based Collaborative Filtering:</vt:lpstr>
      <vt:lpstr>Item-Based Collaborative Filtering:</vt:lpstr>
      <vt:lpstr>Example</vt:lpstr>
      <vt:lpstr>Model-Based Collaborative Filtering:</vt:lpstr>
      <vt:lpstr>Cold Start Problem</vt:lpstr>
      <vt:lpstr>Cold Start Problem- Common Solutions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46</cp:revision>
  <dcterms:created xsi:type="dcterms:W3CDTF">2025-01-07T05:32:47Z</dcterms:created>
  <dcterms:modified xsi:type="dcterms:W3CDTF">2025-05-12T12:37:23Z</dcterms:modified>
</cp:coreProperties>
</file>