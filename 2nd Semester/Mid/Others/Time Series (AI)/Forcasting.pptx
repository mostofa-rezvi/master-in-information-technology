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Lst>
  <p:notesMasterIdLst>
    <p:notesMasterId r:id="rId31"/>
  </p:notesMasterIdLst>
  <p:sldIdLst>
    <p:sldId id="330" r:id="rId2"/>
    <p:sldId id="257" r:id="rId3"/>
    <p:sldId id="258" r:id="rId4"/>
    <p:sldId id="259" r:id="rId5"/>
    <p:sldId id="263" r:id="rId6"/>
    <p:sldId id="264" r:id="rId7"/>
    <p:sldId id="265" r:id="rId8"/>
    <p:sldId id="266" r:id="rId9"/>
    <p:sldId id="267" r:id="rId10"/>
    <p:sldId id="319" r:id="rId11"/>
    <p:sldId id="269" r:id="rId12"/>
    <p:sldId id="270" r:id="rId13"/>
    <p:sldId id="271" r:id="rId14"/>
    <p:sldId id="274" r:id="rId15"/>
    <p:sldId id="275" r:id="rId16"/>
    <p:sldId id="276" r:id="rId17"/>
    <p:sldId id="277" r:id="rId18"/>
    <p:sldId id="278" r:id="rId19"/>
    <p:sldId id="279" r:id="rId20"/>
    <p:sldId id="280" r:id="rId21"/>
    <p:sldId id="328" r:id="rId22"/>
    <p:sldId id="284" r:id="rId23"/>
    <p:sldId id="306" r:id="rId24"/>
    <p:sldId id="287" r:id="rId25"/>
    <p:sldId id="288" r:id="rId26"/>
    <p:sldId id="290" r:id="rId27"/>
    <p:sldId id="291" r:id="rId28"/>
    <p:sldId id="292" r:id="rId29"/>
    <p:sldId id="293" r:id="rId3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84" userDrawn="1">
          <p15:clr>
            <a:srgbClr val="A4A3A4"/>
          </p15:clr>
        </p15:guide>
        <p15:guide id="2" pos="28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ala Trim" initials="P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77BFAB-829F-4ADB-84EB-49F49E7A7FBE}">
  <a:tblStyle styleId="{8C77BFAB-829F-4ADB-84EB-49F49E7A7FBE}"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87" autoAdjust="0"/>
    <p:restoredTop sz="94667" autoAdjust="0"/>
  </p:normalViewPr>
  <p:slideViewPr>
    <p:cSldViewPr snapToGrid="0">
      <p:cViewPr varScale="1">
        <p:scale>
          <a:sx n="68" d="100"/>
          <a:sy n="68" d="100"/>
        </p:scale>
        <p:origin x="1074" y="72"/>
      </p:cViewPr>
      <p:guideLst>
        <p:guide orient="horz" pos="984"/>
        <p:guide pos="288"/>
      </p:guideLst>
    </p:cSldViewPr>
  </p:slideViewPr>
  <p:outlineViewPr>
    <p:cViewPr>
      <p:scale>
        <a:sx n="33" d="100"/>
        <a:sy n="33" d="100"/>
      </p:scale>
      <p:origin x="0" y="-30198"/>
    </p:cViewPr>
  </p:outlin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411119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dirty="0"/>
          </a:p>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a:ea typeface="Arial"/>
                <a:cs typeface="Arial"/>
                <a:sym typeface="Arial"/>
              </a:rPr>
              <a:t>1) MathType Plugin</a:t>
            </a:r>
            <a:endParaRPr dirty="0"/>
          </a:p>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a:ea typeface="Arial"/>
                <a:cs typeface="Arial"/>
                <a:sym typeface="Arial"/>
              </a:rPr>
              <a:t>2) Math Player (free versions available)</a:t>
            </a:r>
            <a:endParaRPr dirty="0"/>
          </a:p>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a:ea typeface="Arial"/>
                <a:cs typeface="Arial"/>
                <a:sym typeface="Arial"/>
              </a:rPr>
              <a:t>3) NVDA Reader (free versions available)</a:t>
            </a:r>
            <a:endParaRPr sz="1200" b="0" i="0" u="none" strike="noStrike" cap="none" dirty="0">
              <a:solidFill>
                <a:schemeClr val="dk1"/>
              </a:solidFill>
              <a:latin typeface="Arial"/>
              <a:ea typeface="Arial"/>
              <a:cs typeface="Arial"/>
              <a:sym typeface="Arial"/>
            </a:endParaRPr>
          </a:p>
        </p:txBody>
      </p:sp>
      <p:sp>
        <p:nvSpPr>
          <p:cNvPr id="210" name="Google Shape;21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462935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3" name="Google Shape;21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9166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0" name="Google Shape;22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5818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6" name="Google Shape;22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5060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4" name="Google Shape;25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8520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3" name="Google Shape;26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1559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0" name="Google Shape;27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1449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7" name="Google Shape;27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6173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4" name="Google Shape;28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8915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6" name="Google Shape;29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6916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5" name="Google Shape;30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5368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12" name="Google Shape;31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268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5" name="Google Shape;33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502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8" name="Google Shape;34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511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5" name="Google Shape;35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547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76" name="Google Shape;37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5669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84" name="Google Shape;38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9575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93" name="Google Shape;39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1075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00" name="Google Shape;400;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1349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20" name="Google Shape;42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2603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5" name="Google Shape;43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70519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3" name="Google Shape;46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83902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9" name="Google Shape;46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67944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84" name="Google Shape;48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37652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90" name="Google Shape;49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86250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98" name="Google Shape;498;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6871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5" name="Google Shape;50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3512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hapter Opener">
  <p:cSld name="Chapter Opener">
    <p:spTree>
      <p:nvGrpSpPr>
        <p:cNvPr id="1" name="Shape 18"/>
        <p:cNvGrpSpPr/>
        <p:nvPr/>
      </p:nvGrpSpPr>
      <p:grpSpPr>
        <a:xfrm>
          <a:off x="0" y="0"/>
          <a:ext cx="0" cy="0"/>
          <a:chOff x="0" y="0"/>
          <a:chExt cx="0" cy="0"/>
        </a:xfrm>
      </p:grpSpPr>
      <p:sp>
        <p:nvSpPr>
          <p:cNvPr id="19" name="Google Shape;19;p2"/>
          <p:cNvSpPr txBox="1">
            <a:spLocks noGrp="1"/>
          </p:cNvSpPr>
          <p:nvPr>
            <p:ph type="title"/>
          </p:nvPr>
        </p:nvSpPr>
        <p:spPr>
          <a:xfrm>
            <a:off x="457200" y="215372"/>
            <a:ext cx="8229600" cy="622828"/>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2"/>
          <p:cNvSpPr txBox="1">
            <a:spLocks noGrp="1"/>
          </p:cNvSpPr>
          <p:nvPr>
            <p:ph type="body" idx="1"/>
          </p:nvPr>
        </p:nvSpPr>
        <p:spPr>
          <a:xfrm>
            <a:off x="457200" y="816430"/>
            <a:ext cx="8229600" cy="478970"/>
          </a:xfrm>
          <a:prstGeom prst="rect">
            <a:avLst/>
          </a:prstGeom>
          <a:noFill/>
          <a:ln>
            <a:noFill/>
          </a:ln>
        </p:spPr>
        <p:txBody>
          <a:bodyPr spcFirstLastPara="1" wrap="square" lIns="0" tIns="0" rIns="0" bIns="0" anchor="t" anchorCtr="0"/>
          <a:lstStyle>
            <a:lvl1pPr marL="457200" marR="0" lvl="0" indent="-228600" algn="l" rtl="0">
              <a:spcBef>
                <a:spcPts val="0"/>
              </a:spcBef>
              <a:spcAft>
                <a:spcPts val="0"/>
              </a:spcAft>
              <a:buClr>
                <a:srgbClr val="007FA3"/>
              </a:buClr>
              <a:buSzPts val="2000"/>
              <a:buFont typeface="Arial"/>
              <a:buNone/>
              <a:defRPr sz="2000" b="0" i="0" u="none" strike="noStrike" cap="none">
                <a:solidFill>
                  <a:srgbClr val="007FA3"/>
                </a:solidFill>
                <a:latin typeface="Arial"/>
                <a:ea typeface="Arial"/>
                <a:cs typeface="Arial"/>
                <a:sym typeface="Arial"/>
              </a:defRPr>
            </a:lvl1pPr>
            <a:lvl2pPr marL="914400" marR="0" lvl="1"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rtl="0">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21" name="Google Shape;21;p2"/>
          <p:cNvSpPr txBox="1">
            <a:spLocks noGrp="1"/>
          </p:cNvSpPr>
          <p:nvPr>
            <p:ph type="body" idx="2"/>
          </p:nvPr>
        </p:nvSpPr>
        <p:spPr>
          <a:xfrm>
            <a:off x="5029200" y="1600201"/>
            <a:ext cx="3657600" cy="1600199"/>
          </a:xfrm>
          <a:prstGeom prst="rect">
            <a:avLst/>
          </a:prstGeom>
          <a:noFill/>
          <a:ln>
            <a:noFill/>
          </a:ln>
        </p:spPr>
        <p:txBody>
          <a:bodyPr spcFirstLastPara="1" wrap="square" lIns="0" tIns="0" rIns="0" bIns="0" anchor="b" anchorCtr="0"/>
          <a:lstStyle>
            <a:lvl1pPr marL="457200" marR="0" lvl="0" indent="-228600" algn="l" rtl="0">
              <a:spcBef>
                <a:spcPts val="0"/>
              </a:spcBef>
              <a:spcAft>
                <a:spcPts val="0"/>
              </a:spcAft>
              <a:buClr>
                <a:srgbClr val="007FA3"/>
              </a:buClr>
              <a:buSzPts val="3000"/>
              <a:buFont typeface="Arial"/>
              <a:buNone/>
              <a:defRPr sz="30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rgbClr val="007FA3"/>
              </a:buClr>
              <a:buSzPts val="4400"/>
              <a:buFont typeface="Arial"/>
              <a:buNone/>
              <a:defRPr sz="44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rgbClr val="007FA3"/>
              </a:buClr>
              <a:buSzPts val="4400"/>
              <a:buFont typeface="Noto Sans Symbols"/>
              <a:buNone/>
              <a:defRPr sz="44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rgbClr val="007FA3"/>
              </a:buClr>
              <a:buSzPts val="4400"/>
              <a:buFont typeface="Arial"/>
              <a:buNone/>
              <a:defRPr sz="44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rgbClr val="007FA3"/>
              </a:buClr>
              <a:buSzPts val="4400"/>
              <a:buFont typeface="Arial"/>
              <a:buNone/>
              <a:defRPr sz="44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rgbClr val="007FA3"/>
              </a:buClr>
              <a:buSzPts val="4400"/>
              <a:buFont typeface="Arial"/>
              <a:buNone/>
              <a:defRPr sz="44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rgbClr val="007FA3"/>
              </a:buClr>
              <a:buSzPts val="4400"/>
              <a:buFont typeface="Arial"/>
              <a:buNone/>
              <a:defRPr sz="44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rgbClr val="007FA3"/>
              </a:buClr>
              <a:buSzPts val="4400"/>
              <a:buFont typeface="Arial"/>
              <a:buNone/>
              <a:defRPr sz="44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rgbClr val="007FA3"/>
              </a:buClr>
              <a:buSzPts val="4400"/>
              <a:buFont typeface="Arial"/>
              <a:buNone/>
              <a:defRPr sz="4400" b="0" i="0" u="none" strike="noStrike" cap="none">
                <a:solidFill>
                  <a:schemeClr val="dk1"/>
                </a:solidFill>
                <a:latin typeface="Arial"/>
                <a:ea typeface="Arial"/>
                <a:cs typeface="Arial"/>
                <a:sym typeface="Arial"/>
              </a:defRPr>
            </a:lvl9pPr>
          </a:lstStyle>
          <a:p>
            <a:endParaRPr/>
          </a:p>
        </p:txBody>
      </p:sp>
      <p:sp>
        <p:nvSpPr>
          <p:cNvPr id="22" name="Google Shape;22;p2"/>
          <p:cNvSpPr txBox="1">
            <a:spLocks noGrp="1"/>
          </p:cNvSpPr>
          <p:nvPr>
            <p:ph type="body" idx="3"/>
          </p:nvPr>
        </p:nvSpPr>
        <p:spPr>
          <a:xfrm>
            <a:off x="5029200" y="3200400"/>
            <a:ext cx="3657600" cy="2925763"/>
          </a:xfrm>
          <a:prstGeom prst="rect">
            <a:avLst/>
          </a:prstGeom>
          <a:noFill/>
          <a:ln>
            <a:noFill/>
          </a:ln>
        </p:spPr>
        <p:txBody>
          <a:bodyPr spcFirstLastPara="1" wrap="square" lIns="0" tIns="0" rIns="0" bIns="0" anchor="t" anchorCtr="0"/>
          <a:lstStyle>
            <a:lvl1pPr marL="457200" marR="0" lvl="0" indent="-228600" algn="l" rtl="0">
              <a:spcBef>
                <a:spcPts val="0"/>
              </a:spcBef>
              <a:spcAft>
                <a:spcPts val="0"/>
              </a:spcAft>
              <a:buClr>
                <a:srgbClr val="007FA3"/>
              </a:buClr>
              <a:buSzPts val="2200"/>
              <a:buFont typeface="Arial"/>
              <a:buNone/>
              <a:defRPr sz="2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rgbClr val="007FA3"/>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rgbClr val="007FA3"/>
              </a:buClr>
              <a:buSzPts val="2800"/>
              <a:buFont typeface="Noto Sans Symbols"/>
              <a:buNone/>
              <a:defRPr sz="28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rgbClr val="007FA3"/>
              </a:buClr>
              <a:buSzPts val="2800"/>
              <a:buFont typeface="Arial"/>
              <a:buNone/>
              <a:defRPr sz="28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rgbClr val="007FA3"/>
              </a:buClr>
              <a:buSzPts val="2800"/>
              <a:buFont typeface="Arial"/>
              <a:buNone/>
              <a:defRPr sz="28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rgbClr val="007FA3"/>
              </a:buClr>
              <a:buSzPts val="2800"/>
              <a:buFont typeface="Arial"/>
              <a:buNone/>
              <a:defRPr sz="28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rgbClr val="007FA3"/>
              </a:buClr>
              <a:buSzPts val="2800"/>
              <a:buFont typeface="Arial"/>
              <a:buNone/>
              <a:defRPr sz="28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rgbClr val="007FA3"/>
              </a:buClr>
              <a:buSzPts val="2800"/>
              <a:buFont typeface="Arial"/>
              <a:buNone/>
              <a:defRPr sz="28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rgbClr val="007FA3"/>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23" name="Google Shape;23;p2"/>
          <p:cNvSpPr txBox="1">
            <a:spLocks noGrp="1"/>
          </p:cNvSpPr>
          <p:nvPr>
            <p:ph type="ftr" idx="11"/>
          </p:nvPr>
        </p:nvSpPr>
        <p:spPr>
          <a:xfrm>
            <a:off x="93969" y="6165337"/>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24" name="Google Shape;24;p2"/>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25" name="Google Shape;25;p2"/>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26" name="Google Shape;26;p2"/>
          <p:cNvSpPr txBox="1">
            <a:spLocks noGrp="1"/>
          </p:cNvSpPr>
          <p:nvPr>
            <p:ph type="body" idx="4"/>
          </p:nvPr>
        </p:nvSpPr>
        <p:spPr>
          <a:xfrm>
            <a:off x="1219200" y="6529254"/>
            <a:ext cx="5867400" cy="187537"/>
          </a:xfrm>
          <a:prstGeom prst="rect">
            <a:avLst/>
          </a:prstGeom>
          <a:noFill/>
          <a:ln>
            <a:noFill/>
          </a:ln>
        </p:spPr>
        <p:txBody>
          <a:bodyPr spcFirstLastPara="1" wrap="square" lIns="0" tIns="0" rIns="0" bIns="0" anchor="t" anchorCtr="0"/>
          <a:lstStyle>
            <a:lvl1pPr marL="457200" marR="0" lvl="0" indent="-228600" algn="r" rtl="0">
              <a:spcBef>
                <a:spcPts val="1500"/>
              </a:spcBef>
              <a:spcAft>
                <a:spcPts val="0"/>
              </a:spcAft>
              <a:buClr>
                <a:srgbClr val="007FA3"/>
              </a:buClr>
              <a:buSzPts val="800"/>
              <a:buFont typeface="Arial"/>
              <a:buNone/>
              <a:defRPr sz="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27" name="Google Shape;27;p2"/>
          <p:cNvSpPr txBox="1"/>
          <p:nvPr/>
        </p:nvSpPr>
        <p:spPr>
          <a:xfrm>
            <a:off x="7848600" y="6428601"/>
            <a:ext cx="740520" cy="2462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Arial"/>
                <a:ea typeface="Arial"/>
                <a:cs typeface="Arial"/>
                <a:sym typeface="Arial"/>
              </a:rPr>
              <a:t>Slide - </a:t>
            </a:r>
            <a:fld id="{00000000-1234-1234-1234-123412341234}" type="slidenum">
              <a:rPr lang="en-US" sz="1000">
                <a:solidFill>
                  <a:schemeClr val="dk1"/>
                </a:solidFill>
                <a:latin typeface="Arial"/>
                <a:ea typeface="Arial"/>
                <a:cs typeface="Arial"/>
                <a:sym typeface="Arial"/>
              </a:rPr>
              <a:t>‹#›</a:t>
            </a:fld>
            <a:endParaRPr sz="1000" dirty="0">
              <a:solidFill>
                <a:schemeClr val="dk1"/>
              </a:solidFill>
              <a:latin typeface="Arial"/>
              <a:ea typeface="Arial"/>
              <a:cs typeface="Arial"/>
              <a:sym typeface="Arial"/>
            </a:endParaRPr>
          </a:p>
        </p:txBody>
      </p:sp>
      <p:pic>
        <p:nvPicPr>
          <p:cNvPr id="28" name="Google Shape;28;p2" descr="Pearson Logo"/>
          <p:cNvPicPr preferRelativeResize="0"/>
          <p:nvPr/>
        </p:nvPicPr>
        <p:blipFill rotWithShape="1">
          <a:blip r:embed="rId2">
            <a:alphaModFix/>
          </a:blip>
          <a:srcRect/>
          <a:stretch/>
        </p:blipFill>
        <p:spPr>
          <a:xfrm>
            <a:off x="457200" y="6376789"/>
            <a:ext cx="918000" cy="27991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9"/>
        <p:cNvGrpSpPr/>
        <p:nvPr/>
      </p:nvGrpSpPr>
      <p:grpSpPr>
        <a:xfrm>
          <a:off x="0" y="0"/>
          <a:ext cx="0" cy="0"/>
          <a:chOff x="0" y="0"/>
          <a:chExt cx="0" cy="0"/>
        </a:xfrm>
      </p:grpSpPr>
      <p:sp>
        <p:nvSpPr>
          <p:cNvPr id="30" name="Google Shape;30;p3"/>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3"/>
          <p:cNvSpPr txBox="1">
            <a:spLocks noGrp="1"/>
          </p:cNvSpPr>
          <p:nvPr>
            <p:ph type="body" idx="1"/>
          </p:nvPr>
        </p:nvSpPr>
        <p:spPr>
          <a:xfrm>
            <a:off x="457200" y="1600201"/>
            <a:ext cx="8229600" cy="19050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32" name="Google Shape;32;p3"/>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33" name="Google Shape;33;p3"/>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34" name="Google Shape;34;p3"/>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35" name="Google Shape;35;p3"/>
          <p:cNvSpPr txBox="1">
            <a:spLocks noGrp="1"/>
          </p:cNvSpPr>
          <p:nvPr>
            <p:ph type="body" idx="2"/>
          </p:nvPr>
        </p:nvSpPr>
        <p:spPr>
          <a:xfrm>
            <a:off x="457200" y="3657600"/>
            <a:ext cx="8229600" cy="2209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4"/>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39" name="Google Shape;39;p4"/>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40" name="Google Shape;40;p4"/>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41" name="Google Shape;41;p4"/>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5"/>
          <p:cNvSpPr txBox="1">
            <a:spLocks noGrp="1"/>
          </p:cNvSpPr>
          <p:nvPr>
            <p:ph type="body" idx="1"/>
          </p:nvPr>
        </p:nvSpPr>
        <p:spPr>
          <a:xfrm>
            <a:off x="457200" y="1600201"/>
            <a:ext cx="8229600" cy="7620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45" name="Google Shape;45;p5"/>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46" name="Google Shape;46;p5"/>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47" name="Google Shape;47;p5"/>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48" name="Google Shape;48;p5"/>
          <p:cNvSpPr txBox="1">
            <a:spLocks noGrp="1"/>
          </p:cNvSpPr>
          <p:nvPr>
            <p:ph type="body" idx="2"/>
          </p:nvPr>
        </p:nvSpPr>
        <p:spPr>
          <a:xfrm>
            <a:off x="457200" y="2617355"/>
            <a:ext cx="8229600" cy="7620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49" name="Google Shape;49;p5"/>
          <p:cNvSpPr txBox="1">
            <a:spLocks noGrp="1"/>
          </p:cNvSpPr>
          <p:nvPr>
            <p:ph type="body" idx="3"/>
          </p:nvPr>
        </p:nvSpPr>
        <p:spPr>
          <a:xfrm>
            <a:off x="457200" y="4450976"/>
            <a:ext cx="8229600" cy="7620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50" name="Google Shape;50;p5"/>
          <p:cNvSpPr txBox="1">
            <a:spLocks noGrp="1"/>
          </p:cNvSpPr>
          <p:nvPr>
            <p:ph type="body" idx="4"/>
          </p:nvPr>
        </p:nvSpPr>
        <p:spPr>
          <a:xfrm>
            <a:off x="457200" y="3567952"/>
            <a:ext cx="8229600" cy="7620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51" name="Google Shape;51;p5"/>
          <p:cNvSpPr txBox="1">
            <a:spLocks noGrp="1"/>
          </p:cNvSpPr>
          <p:nvPr>
            <p:ph type="body" idx="5"/>
          </p:nvPr>
        </p:nvSpPr>
        <p:spPr>
          <a:xfrm>
            <a:off x="457200" y="5289176"/>
            <a:ext cx="8229600" cy="7620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52"/>
        <p:cNvGrpSpPr/>
        <p:nvPr/>
      </p:nvGrpSpPr>
      <p:grpSpPr>
        <a:xfrm>
          <a:off x="0" y="0"/>
          <a:ext cx="0" cy="0"/>
          <a:chOff x="0" y="0"/>
          <a:chExt cx="0" cy="0"/>
        </a:xfrm>
      </p:grpSpPr>
      <p:sp>
        <p:nvSpPr>
          <p:cNvPr id="53" name="Google Shape;53;p6"/>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 name="Google Shape;54;p6"/>
          <p:cNvSpPr txBox="1">
            <a:spLocks noGrp="1"/>
          </p:cNvSpPr>
          <p:nvPr>
            <p:ph type="body" idx="1"/>
          </p:nvPr>
        </p:nvSpPr>
        <p:spPr>
          <a:xfrm>
            <a:off x="457200" y="1600201"/>
            <a:ext cx="8229600" cy="8382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55" name="Google Shape;55;p6"/>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56" name="Google Shape;56;p6"/>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57" name="Google Shape;57;p6"/>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58" name="Google Shape;58;p6"/>
          <p:cNvSpPr txBox="1">
            <a:spLocks noGrp="1"/>
          </p:cNvSpPr>
          <p:nvPr>
            <p:ph type="body" idx="2"/>
          </p:nvPr>
        </p:nvSpPr>
        <p:spPr>
          <a:xfrm>
            <a:off x="452718" y="2760451"/>
            <a:ext cx="8229600" cy="8382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59" name="Google Shape;59;p6"/>
          <p:cNvSpPr txBox="1">
            <a:spLocks noGrp="1"/>
          </p:cNvSpPr>
          <p:nvPr>
            <p:ph type="body" idx="3"/>
          </p:nvPr>
        </p:nvSpPr>
        <p:spPr>
          <a:xfrm>
            <a:off x="452718" y="4091710"/>
            <a:ext cx="8229600" cy="8382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60" name="Google Shape;60;p6"/>
          <p:cNvSpPr txBox="1">
            <a:spLocks noGrp="1"/>
          </p:cNvSpPr>
          <p:nvPr>
            <p:ph type="body" idx="4"/>
          </p:nvPr>
        </p:nvSpPr>
        <p:spPr>
          <a:xfrm>
            <a:off x="452718" y="5155500"/>
            <a:ext cx="8229600" cy="8382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7"/>
          <p:cNvSpPr txBox="1">
            <a:spLocks noGrp="1"/>
          </p:cNvSpPr>
          <p:nvPr>
            <p:ph type="body" idx="1"/>
          </p:nvPr>
        </p:nvSpPr>
        <p:spPr>
          <a:xfrm>
            <a:off x="457200" y="1600200"/>
            <a:ext cx="8229600" cy="2163763"/>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64" name="Google Shape;64;p7"/>
          <p:cNvSpPr txBox="1">
            <a:spLocks noGrp="1"/>
          </p:cNvSpPr>
          <p:nvPr>
            <p:ph type="body" idx="2"/>
          </p:nvPr>
        </p:nvSpPr>
        <p:spPr>
          <a:xfrm>
            <a:off x="457200" y="3962400"/>
            <a:ext cx="8229600" cy="2163763"/>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65" name="Google Shape;65;p7"/>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66" name="Google Shape;66;p7"/>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67" name="Google Shape;67;p7"/>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4 Content">
  <p:cSld name="Title and 4 Content">
    <p:spTree>
      <p:nvGrpSpPr>
        <p:cNvPr id="1" name="Shape 68"/>
        <p:cNvGrpSpPr/>
        <p:nvPr/>
      </p:nvGrpSpPr>
      <p:grpSpPr>
        <a:xfrm>
          <a:off x="0" y="0"/>
          <a:ext cx="0" cy="0"/>
          <a:chOff x="0" y="0"/>
          <a:chExt cx="0" cy="0"/>
        </a:xfrm>
      </p:grpSpPr>
      <p:sp>
        <p:nvSpPr>
          <p:cNvPr id="69" name="Google Shape;69;p8"/>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8"/>
          <p:cNvSpPr txBox="1">
            <a:spLocks noGrp="1"/>
          </p:cNvSpPr>
          <p:nvPr>
            <p:ph type="body" idx="1"/>
          </p:nvPr>
        </p:nvSpPr>
        <p:spPr>
          <a:xfrm>
            <a:off x="457200" y="1600200"/>
            <a:ext cx="8229600" cy="711176"/>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1" name="Google Shape;71;p8"/>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72" name="Google Shape;72;p8"/>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73" name="Google Shape;73;p8"/>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74" name="Google Shape;74;p8"/>
          <p:cNvSpPr txBox="1">
            <a:spLocks noGrp="1"/>
          </p:cNvSpPr>
          <p:nvPr>
            <p:ph type="body" idx="2"/>
          </p:nvPr>
        </p:nvSpPr>
        <p:spPr>
          <a:xfrm>
            <a:off x="473720" y="2641680"/>
            <a:ext cx="8229600" cy="711176"/>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5" name="Google Shape;75;p8"/>
          <p:cNvSpPr txBox="1">
            <a:spLocks noGrp="1"/>
          </p:cNvSpPr>
          <p:nvPr>
            <p:ph type="body" idx="3"/>
          </p:nvPr>
        </p:nvSpPr>
        <p:spPr>
          <a:xfrm>
            <a:off x="457200" y="3683160"/>
            <a:ext cx="8229600" cy="711176"/>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6" name="Google Shape;76;p8"/>
          <p:cNvSpPr txBox="1">
            <a:spLocks noGrp="1"/>
          </p:cNvSpPr>
          <p:nvPr>
            <p:ph type="body" idx="4"/>
          </p:nvPr>
        </p:nvSpPr>
        <p:spPr>
          <a:xfrm>
            <a:off x="457200" y="4724640"/>
            <a:ext cx="8229600" cy="711176"/>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9"/>
          <p:cNvSpPr txBox="1">
            <a:spLocks noGrp="1"/>
          </p:cNvSpPr>
          <p:nvPr>
            <p:ph type="body" idx="1"/>
          </p:nvPr>
        </p:nvSpPr>
        <p:spPr>
          <a:xfrm>
            <a:off x="457200" y="1600201"/>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80" name="Google Shape;80;p9"/>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81" name="Google Shape;81;p9"/>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82" name="Google Shape;82;p9"/>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83" name="Google Shape;83;p9"/>
          <p:cNvSpPr txBox="1">
            <a:spLocks noGrp="1"/>
          </p:cNvSpPr>
          <p:nvPr>
            <p:ph type="body" idx="2"/>
          </p:nvPr>
        </p:nvSpPr>
        <p:spPr>
          <a:xfrm>
            <a:off x="457200" y="1972351"/>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84" name="Google Shape;84;p9"/>
          <p:cNvSpPr txBox="1">
            <a:spLocks noGrp="1"/>
          </p:cNvSpPr>
          <p:nvPr>
            <p:ph type="body" idx="3"/>
          </p:nvPr>
        </p:nvSpPr>
        <p:spPr>
          <a:xfrm>
            <a:off x="443753" y="2286348"/>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85" name="Google Shape;85;p9"/>
          <p:cNvSpPr txBox="1">
            <a:spLocks noGrp="1"/>
          </p:cNvSpPr>
          <p:nvPr>
            <p:ph type="body" idx="4"/>
          </p:nvPr>
        </p:nvSpPr>
        <p:spPr>
          <a:xfrm>
            <a:off x="457200" y="2598450"/>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86" name="Google Shape;86;p9"/>
          <p:cNvSpPr txBox="1">
            <a:spLocks noGrp="1"/>
          </p:cNvSpPr>
          <p:nvPr>
            <p:ph type="body" idx="5"/>
          </p:nvPr>
        </p:nvSpPr>
        <p:spPr>
          <a:xfrm>
            <a:off x="443753" y="2955376"/>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87" name="Google Shape;87;p9"/>
          <p:cNvSpPr txBox="1">
            <a:spLocks noGrp="1"/>
          </p:cNvSpPr>
          <p:nvPr>
            <p:ph type="body" idx="6"/>
          </p:nvPr>
        </p:nvSpPr>
        <p:spPr>
          <a:xfrm>
            <a:off x="457200" y="3319125"/>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88" name="Google Shape;88;p9"/>
          <p:cNvSpPr txBox="1">
            <a:spLocks noGrp="1"/>
          </p:cNvSpPr>
          <p:nvPr>
            <p:ph type="body" idx="7"/>
          </p:nvPr>
        </p:nvSpPr>
        <p:spPr>
          <a:xfrm>
            <a:off x="457200" y="3615626"/>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89" name="Google Shape;89;p9"/>
          <p:cNvSpPr txBox="1">
            <a:spLocks noGrp="1"/>
          </p:cNvSpPr>
          <p:nvPr>
            <p:ph type="body" idx="8"/>
          </p:nvPr>
        </p:nvSpPr>
        <p:spPr>
          <a:xfrm>
            <a:off x="457200" y="3894066"/>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90" name="Google Shape;90;p9"/>
          <p:cNvSpPr txBox="1">
            <a:spLocks noGrp="1"/>
          </p:cNvSpPr>
          <p:nvPr>
            <p:ph type="body" idx="9"/>
          </p:nvPr>
        </p:nvSpPr>
        <p:spPr>
          <a:xfrm>
            <a:off x="457200" y="4182268"/>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91" name="Google Shape;91;p9"/>
          <p:cNvSpPr txBox="1">
            <a:spLocks noGrp="1"/>
          </p:cNvSpPr>
          <p:nvPr>
            <p:ph type="body" idx="13"/>
          </p:nvPr>
        </p:nvSpPr>
        <p:spPr>
          <a:xfrm>
            <a:off x="457200" y="4524473"/>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92" name="Google Shape;92;p9"/>
          <p:cNvSpPr txBox="1">
            <a:spLocks noGrp="1"/>
          </p:cNvSpPr>
          <p:nvPr>
            <p:ph type="body" idx="14"/>
          </p:nvPr>
        </p:nvSpPr>
        <p:spPr>
          <a:xfrm>
            <a:off x="443753" y="4866678"/>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93"/>
        <p:cNvGrpSpPr/>
        <p:nvPr/>
      </p:nvGrpSpPr>
      <p:grpSpPr>
        <a:xfrm>
          <a:off x="0" y="0"/>
          <a:ext cx="0" cy="0"/>
          <a:chOff x="0" y="0"/>
          <a:chExt cx="0" cy="0"/>
        </a:xfrm>
      </p:grpSpPr>
      <p:sp>
        <p:nvSpPr>
          <p:cNvPr id="94" name="Google Shape;94;p10"/>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5" name="Google Shape;95;p10"/>
          <p:cNvSpPr txBox="1">
            <a:spLocks noGrp="1"/>
          </p:cNvSpPr>
          <p:nvPr>
            <p:ph type="body" idx="1"/>
          </p:nvPr>
        </p:nvSpPr>
        <p:spPr>
          <a:xfrm>
            <a:off x="457200" y="1600201"/>
            <a:ext cx="8229600" cy="609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96" name="Google Shape;96;p10"/>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97" name="Google Shape;97;p10"/>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98" name="Google Shape;98;p10"/>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99" name="Google Shape;99;p10"/>
          <p:cNvSpPr txBox="1">
            <a:spLocks noGrp="1"/>
          </p:cNvSpPr>
          <p:nvPr>
            <p:ph type="body" idx="2"/>
          </p:nvPr>
        </p:nvSpPr>
        <p:spPr>
          <a:xfrm>
            <a:off x="459729" y="2256526"/>
            <a:ext cx="8229600" cy="609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00" name="Google Shape;100;p10"/>
          <p:cNvSpPr txBox="1">
            <a:spLocks noGrp="1"/>
          </p:cNvSpPr>
          <p:nvPr>
            <p:ph type="body" idx="3"/>
          </p:nvPr>
        </p:nvSpPr>
        <p:spPr>
          <a:xfrm>
            <a:off x="452718" y="2912851"/>
            <a:ext cx="8229600" cy="609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01" name="Google Shape;101;p10"/>
          <p:cNvSpPr txBox="1">
            <a:spLocks noGrp="1"/>
          </p:cNvSpPr>
          <p:nvPr>
            <p:ph type="body" idx="4"/>
          </p:nvPr>
        </p:nvSpPr>
        <p:spPr>
          <a:xfrm>
            <a:off x="434789" y="3564694"/>
            <a:ext cx="8229600" cy="609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02" name="Google Shape;102;p10"/>
          <p:cNvSpPr txBox="1">
            <a:spLocks noGrp="1"/>
          </p:cNvSpPr>
          <p:nvPr>
            <p:ph type="body" idx="5"/>
          </p:nvPr>
        </p:nvSpPr>
        <p:spPr>
          <a:xfrm>
            <a:off x="434789" y="4225501"/>
            <a:ext cx="8229600" cy="609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03" name="Google Shape;103;p10"/>
          <p:cNvSpPr txBox="1">
            <a:spLocks noGrp="1"/>
          </p:cNvSpPr>
          <p:nvPr>
            <p:ph type="body" idx="6"/>
          </p:nvPr>
        </p:nvSpPr>
        <p:spPr>
          <a:xfrm>
            <a:off x="452718" y="4859550"/>
            <a:ext cx="8229600" cy="609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04" name="Google Shape;104;p10"/>
          <p:cNvSpPr txBox="1">
            <a:spLocks noGrp="1"/>
          </p:cNvSpPr>
          <p:nvPr>
            <p:ph type="body" idx="7"/>
          </p:nvPr>
        </p:nvSpPr>
        <p:spPr>
          <a:xfrm>
            <a:off x="452718" y="5548475"/>
            <a:ext cx="8229600" cy="609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3 Content">
  <p:cSld name="Title and 3 Content">
    <p:spTree>
      <p:nvGrpSpPr>
        <p:cNvPr id="1" name="Shape 105"/>
        <p:cNvGrpSpPr/>
        <p:nvPr/>
      </p:nvGrpSpPr>
      <p:grpSpPr>
        <a:xfrm>
          <a:off x="0" y="0"/>
          <a:ext cx="0" cy="0"/>
          <a:chOff x="0" y="0"/>
          <a:chExt cx="0" cy="0"/>
        </a:xfrm>
      </p:grpSpPr>
      <p:sp>
        <p:nvSpPr>
          <p:cNvPr id="106" name="Google Shape;106;p1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7" name="Google Shape;107;p11"/>
          <p:cNvSpPr txBox="1">
            <a:spLocks noGrp="1"/>
          </p:cNvSpPr>
          <p:nvPr>
            <p:ph type="body" idx="1"/>
          </p:nvPr>
        </p:nvSpPr>
        <p:spPr>
          <a:xfrm>
            <a:off x="457200" y="1600200"/>
            <a:ext cx="8229600" cy="919336"/>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8" name="Google Shape;108;p11"/>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09" name="Google Shape;109;p11"/>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10" name="Google Shape;110;p11"/>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11" name="Google Shape;111;p11"/>
          <p:cNvSpPr txBox="1">
            <a:spLocks noGrp="1"/>
          </p:cNvSpPr>
          <p:nvPr>
            <p:ph type="body" idx="2"/>
          </p:nvPr>
        </p:nvSpPr>
        <p:spPr>
          <a:xfrm>
            <a:off x="473720" y="2807084"/>
            <a:ext cx="8229600" cy="919336"/>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12" name="Google Shape;112;p11"/>
          <p:cNvSpPr txBox="1">
            <a:spLocks noGrp="1"/>
          </p:cNvSpPr>
          <p:nvPr>
            <p:ph type="body" idx="3"/>
          </p:nvPr>
        </p:nvSpPr>
        <p:spPr>
          <a:xfrm>
            <a:off x="473720" y="4013968"/>
            <a:ext cx="8229600" cy="919336"/>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13"/>
        <p:cNvGrpSpPr/>
        <p:nvPr/>
      </p:nvGrpSpPr>
      <p:grpSpPr>
        <a:xfrm>
          <a:off x="0" y="0"/>
          <a:ext cx="0" cy="0"/>
          <a:chOff x="0" y="0"/>
          <a:chExt cx="0" cy="0"/>
        </a:xfrm>
      </p:grpSpPr>
      <p:sp>
        <p:nvSpPr>
          <p:cNvPr id="114" name="Google Shape;114;p12"/>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5" name="Google Shape;115;p12"/>
          <p:cNvSpPr txBox="1">
            <a:spLocks noGrp="1"/>
          </p:cNvSpPr>
          <p:nvPr>
            <p:ph type="body" idx="1"/>
          </p:nvPr>
        </p:nvSpPr>
        <p:spPr>
          <a:xfrm>
            <a:off x="457200" y="1600201"/>
            <a:ext cx="8229600" cy="12192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16" name="Google Shape;116;p12"/>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17" name="Google Shape;117;p12"/>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18" name="Google Shape;118;p12"/>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19" name="Google Shape;119;p12"/>
          <p:cNvSpPr txBox="1">
            <a:spLocks noGrp="1"/>
          </p:cNvSpPr>
          <p:nvPr>
            <p:ph type="body" idx="2"/>
          </p:nvPr>
        </p:nvSpPr>
        <p:spPr>
          <a:xfrm>
            <a:off x="457200" y="3106611"/>
            <a:ext cx="8229600" cy="12192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20" name="Google Shape;120;p12"/>
          <p:cNvSpPr txBox="1">
            <a:spLocks noGrp="1"/>
          </p:cNvSpPr>
          <p:nvPr>
            <p:ph type="body" idx="3"/>
          </p:nvPr>
        </p:nvSpPr>
        <p:spPr>
          <a:xfrm>
            <a:off x="457200" y="4800600"/>
            <a:ext cx="8229600" cy="12192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21"/>
        <p:cNvGrpSpPr/>
        <p:nvPr/>
      </p:nvGrpSpPr>
      <p:grpSpPr>
        <a:xfrm>
          <a:off x="0" y="0"/>
          <a:ext cx="0" cy="0"/>
          <a:chOff x="0" y="0"/>
          <a:chExt cx="0" cy="0"/>
        </a:xfrm>
      </p:grpSpPr>
      <p:sp>
        <p:nvSpPr>
          <p:cNvPr id="122" name="Google Shape;122;p13"/>
          <p:cNvSpPr/>
          <p:nvPr/>
        </p:nvSpPr>
        <p:spPr>
          <a:xfrm>
            <a:off x="0" y="0"/>
            <a:ext cx="9144000" cy="388620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23" name="Google Shape;123;p13"/>
          <p:cNvSpPr txBox="1">
            <a:spLocks noGrp="1"/>
          </p:cNvSpPr>
          <p:nvPr>
            <p:ph type="ctrTitle"/>
          </p:nvPr>
        </p:nvSpPr>
        <p:spPr>
          <a:xfrm>
            <a:off x="685800" y="762000"/>
            <a:ext cx="7772400" cy="2838451"/>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chemeClr val="lt1"/>
              </a:buClr>
              <a:buSzPts val="3600"/>
              <a:buFont typeface="Arial"/>
              <a:buNone/>
              <a:defRPr sz="36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4" name="Google Shape;124;p13"/>
          <p:cNvSpPr txBox="1">
            <a:spLocks noGrp="1"/>
          </p:cNvSpPr>
          <p:nvPr>
            <p:ph type="subTitle" idx="1"/>
          </p:nvPr>
        </p:nvSpPr>
        <p:spPr>
          <a:xfrm>
            <a:off x="674687" y="3962400"/>
            <a:ext cx="7794626" cy="1752600"/>
          </a:xfrm>
          <a:prstGeom prst="rect">
            <a:avLst/>
          </a:prstGeom>
          <a:noFill/>
          <a:ln>
            <a:noFill/>
          </a:ln>
        </p:spPr>
        <p:txBody>
          <a:bodyPr spcFirstLastPara="1" wrap="square" lIns="0" tIns="0" rIns="0" bIns="0" anchor="t" anchorCtr="0"/>
          <a:lstStyle>
            <a:lvl1pPr marR="0" lvl="0" algn="l" rtl="0">
              <a:spcBef>
                <a:spcPts val="0"/>
              </a:spcBef>
              <a:spcAft>
                <a:spcPts val="0"/>
              </a:spcAft>
              <a:buClr>
                <a:srgbClr val="007FA3"/>
              </a:buClr>
              <a:buSzPts val="1800"/>
              <a:buFont typeface="Arial"/>
              <a:buNone/>
              <a:defRPr sz="1800" b="0" i="0" u="none" strike="noStrike" cap="none">
                <a:solidFill>
                  <a:schemeClr val="dk1"/>
                </a:solidFill>
                <a:latin typeface="Arial"/>
                <a:ea typeface="Arial"/>
                <a:cs typeface="Arial"/>
                <a:sym typeface="Arial"/>
              </a:defRPr>
            </a:lvl1pPr>
            <a:lvl2pPr marR="0" lvl="1" algn="ctr" rtl="0">
              <a:spcBef>
                <a:spcPts val="600"/>
              </a:spcBef>
              <a:spcAft>
                <a:spcPts val="0"/>
              </a:spcAft>
              <a:buClr>
                <a:srgbClr val="007FA3"/>
              </a:buClr>
              <a:buSzPts val="2800"/>
              <a:buFont typeface="Arial"/>
              <a:buNone/>
              <a:defRPr sz="2800" b="0" i="0" u="none" strike="noStrike" cap="none">
                <a:solidFill>
                  <a:srgbClr val="888888"/>
                </a:solidFill>
                <a:latin typeface="Arial"/>
                <a:ea typeface="Arial"/>
                <a:cs typeface="Arial"/>
                <a:sym typeface="Arial"/>
              </a:defRPr>
            </a:lvl2pPr>
            <a:lvl3pPr marR="0" lvl="2" algn="ctr" rtl="0">
              <a:spcBef>
                <a:spcPts val="600"/>
              </a:spcBef>
              <a:spcAft>
                <a:spcPts val="0"/>
              </a:spcAft>
              <a:buClr>
                <a:srgbClr val="007FA3"/>
              </a:buClr>
              <a:buSzPts val="2800"/>
              <a:buFont typeface="Noto Sans Symbols"/>
              <a:buNone/>
              <a:defRPr sz="2800" b="0" i="0" u="none" strike="noStrike" cap="none">
                <a:solidFill>
                  <a:srgbClr val="888888"/>
                </a:solidFill>
                <a:latin typeface="Arial"/>
                <a:ea typeface="Arial"/>
                <a:cs typeface="Arial"/>
                <a:sym typeface="Arial"/>
              </a:defRPr>
            </a:lvl3pPr>
            <a:lvl4pPr marR="0" lvl="3" algn="ctr" rtl="0">
              <a:spcBef>
                <a:spcPts val="600"/>
              </a:spcBef>
              <a:spcAft>
                <a:spcPts val="0"/>
              </a:spcAft>
              <a:buClr>
                <a:srgbClr val="007FA3"/>
              </a:buClr>
              <a:buSzPts val="2800"/>
              <a:buFont typeface="Arial"/>
              <a:buNone/>
              <a:defRPr sz="2800" b="0" i="0" u="none" strike="noStrike" cap="none">
                <a:solidFill>
                  <a:srgbClr val="888888"/>
                </a:solidFill>
                <a:latin typeface="Arial"/>
                <a:ea typeface="Arial"/>
                <a:cs typeface="Arial"/>
                <a:sym typeface="Arial"/>
              </a:defRPr>
            </a:lvl4pPr>
            <a:lvl5pPr marR="0" lvl="4" algn="ctr" rtl="0">
              <a:spcBef>
                <a:spcPts val="600"/>
              </a:spcBef>
              <a:spcAft>
                <a:spcPts val="0"/>
              </a:spcAft>
              <a:buClr>
                <a:srgbClr val="007FA3"/>
              </a:buClr>
              <a:buSzPts val="2800"/>
              <a:buFont typeface="Arial"/>
              <a:buNone/>
              <a:defRPr sz="2800" b="0" i="0" u="none" strike="noStrike" cap="none">
                <a:solidFill>
                  <a:srgbClr val="888888"/>
                </a:solidFill>
                <a:latin typeface="Arial"/>
                <a:ea typeface="Arial"/>
                <a:cs typeface="Arial"/>
                <a:sym typeface="Arial"/>
              </a:defRPr>
            </a:lvl5pPr>
            <a:lvl6pPr marR="0" lvl="5" algn="ctr" rtl="0">
              <a:spcBef>
                <a:spcPts val="300"/>
              </a:spcBef>
              <a:spcAft>
                <a:spcPts val="0"/>
              </a:spcAft>
              <a:buClr>
                <a:srgbClr val="007FA3"/>
              </a:buClr>
              <a:buSzPts val="2800"/>
              <a:buFont typeface="Arial"/>
              <a:buNone/>
              <a:defRPr sz="2800" b="0" i="0" u="none" strike="noStrike" cap="none">
                <a:solidFill>
                  <a:srgbClr val="888888"/>
                </a:solidFill>
                <a:latin typeface="Arial"/>
                <a:ea typeface="Arial"/>
                <a:cs typeface="Arial"/>
                <a:sym typeface="Arial"/>
              </a:defRPr>
            </a:lvl6pPr>
            <a:lvl7pPr marR="0" lvl="6" algn="ctr" rtl="0">
              <a:spcBef>
                <a:spcPts val="300"/>
              </a:spcBef>
              <a:spcAft>
                <a:spcPts val="0"/>
              </a:spcAft>
              <a:buClr>
                <a:srgbClr val="007FA3"/>
              </a:buClr>
              <a:buSzPts val="2800"/>
              <a:buFont typeface="Arial"/>
              <a:buNone/>
              <a:defRPr sz="2800" b="0" i="0" u="none" strike="noStrike" cap="none">
                <a:solidFill>
                  <a:srgbClr val="888888"/>
                </a:solidFill>
                <a:latin typeface="Arial"/>
                <a:ea typeface="Arial"/>
                <a:cs typeface="Arial"/>
                <a:sym typeface="Arial"/>
              </a:defRPr>
            </a:lvl7pPr>
            <a:lvl8pPr marR="0" lvl="7" algn="ctr" rtl="0">
              <a:spcBef>
                <a:spcPts val="300"/>
              </a:spcBef>
              <a:spcAft>
                <a:spcPts val="0"/>
              </a:spcAft>
              <a:buClr>
                <a:srgbClr val="007FA3"/>
              </a:buClr>
              <a:buSzPts val="2800"/>
              <a:buFont typeface="Arial"/>
              <a:buNone/>
              <a:defRPr sz="2800" b="0" i="0" u="none" strike="noStrike" cap="none">
                <a:solidFill>
                  <a:srgbClr val="888888"/>
                </a:solidFill>
                <a:latin typeface="Arial"/>
                <a:ea typeface="Arial"/>
                <a:cs typeface="Arial"/>
                <a:sym typeface="Arial"/>
              </a:defRPr>
            </a:lvl8pPr>
            <a:lvl9pPr marR="0" lvl="8" algn="ctr" rtl="0">
              <a:spcBef>
                <a:spcPts val="300"/>
              </a:spcBef>
              <a:spcAft>
                <a:spcPts val="0"/>
              </a:spcAft>
              <a:buClr>
                <a:srgbClr val="007FA3"/>
              </a:buClr>
              <a:buSzPts val="2800"/>
              <a:buFont typeface="Arial"/>
              <a:buNone/>
              <a:defRPr sz="2800" b="0" i="0" u="none" strike="noStrike" cap="none">
                <a:solidFill>
                  <a:srgbClr val="888888"/>
                </a:solidFill>
                <a:latin typeface="Arial"/>
                <a:ea typeface="Arial"/>
                <a:cs typeface="Arial"/>
                <a:sym typeface="Arial"/>
              </a:defRPr>
            </a:lvl9pPr>
          </a:lstStyle>
          <a:p>
            <a:endParaRPr/>
          </a:p>
        </p:txBody>
      </p:sp>
      <p:sp>
        <p:nvSpPr>
          <p:cNvPr id="125" name="Google Shape;125;p13"/>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26" name="Google Shape;126;p13"/>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27" name="Google Shape;127;p13"/>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pic>
        <p:nvPicPr>
          <p:cNvPr id="128" name="Google Shape;128;p13" descr="Pearson Logo"/>
          <p:cNvPicPr preferRelativeResize="0"/>
          <p:nvPr/>
        </p:nvPicPr>
        <p:blipFill rotWithShape="1">
          <a:blip r:embed="rId2">
            <a:alphaModFix/>
          </a:blip>
          <a:srcRect/>
          <a:stretch/>
        </p:blipFill>
        <p:spPr>
          <a:xfrm>
            <a:off x="457200" y="6376789"/>
            <a:ext cx="918000" cy="279915"/>
          </a:xfrm>
          <a:prstGeom prst="rect">
            <a:avLst/>
          </a:prstGeom>
          <a:noFill/>
          <a:ln>
            <a:noFill/>
          </a:ln>
        </p:spPr>
      </p:pic>
      <p:sp>
        <p:nvSpPr>
          <p:cNvPr id="129" name="Google Shape;129;p13"/>
          <p:cNvSpPr txBox="1"/>
          <p:nvPr/>
        </p:nvSpPr>
        <p:spPr>
          <a:xfrm>
            <a:off x="7848600" y="6428601"/>
            <a:ext cx="740520" cy="2462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Arial"/>
                <a:ea typeface="Arial"/>
                <a:cs typeface="Arial"/>
                <a:sym typeface="Arial"/>
              </a:rPr>
              <a:t>Slide - </a:t>
            </a:r>
            <a:fld id="{00000000-1234-1234-1234-123412341234}" type="slidenum">
              <a:rPr lang="en-US" sz="1000">
                <a:solidFill>
                  <a:schemeClr val="dk1"/>
                </a:solidFill>
                <a:latin typeface="Arial"/>
                <a:ea typeface="Arial"/>
                <a:cs typeface="Arial"/>
                <a:sym typeface="Arial"/>
              </a:rPr>
              <a:t>‹#›</a:t>
            </a:fld>
            <a:endParaRPr sz="1000" dirty="0">
              <a:solidFill>
                <a:schemeClr val="dk1"/>
              </a:solidFill>
              <a:latin typeface="Arial"/>
              <a:ea typeface="Arial"/>
              <a:cs typeface="Arial"/>
              <a:sym typeface="Arial"/>
            </a:endParaRPr>
          </a:p>
        </p:txBody>
      </p:sp>
      <p:sp>
        <p:nvSpPr>
          <p:cNvPr id="11" name="Google Shape;16;p1"/>
          <p:cNvSpPr txBox="1"/>
          <p:nvPr userDrawn="1"/>
        </p:nvSpPr>
        <p:spPr>
          <a:xfrm>
            <a:off x="1676400" y="6403200"/>
            <a:ext cx="6019800" cy="2769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i="0" u="none" strike="noStrike" cap="none" dirty="0">
                <a:solidFill>
                  <a:schemeClr val="dk1"/>
                </a:solidFill>
                <a:latin typeface="Verdana"/>
                <a:ea typeface="Verdana"/>
                <a:cs typeface="Verdana"/>
                <a:sym typeface="Verdana"/>
              </a:rPr>
              <a:t>Copyright © 2020, 2016, 2013 Pearson Education, Inc. All Rights Reserved</a:t>
            </a:r>
            <a:endParaRPr sz="1200" b="0" i="0" u="none" strike="noStrike" cap="none" dirty="0">
              <a:solidFill>
                <a:schemeClr val="dk1"/>
              </a:solidFill>
              <a:latin typeface="Verdana"/>
              <a:ea typeface="Verdana"/>
              <a:cs typeface="Verdana"/>
              <a:sym typeface="Verdan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Learning Objectives and Content">
  <p:cSld name="Title + Learning Objectives and Content">
    <p:spTree>
      <p:nvGrpSpPr>
        <p:cNvPr id="1" name="Shape 131"/>
        <p:cNvGrpSpPr/>
        <p:nvPr/>
      </p:nvGrpSpPr>
      <p:grpSpPr>
        <a:xfrm>
          <a:off x="0" y="0"/>
          <a:ext cx="0" cy="0"/>
          <a:chOff x="0" y="0"/>
          <a:chExt cx="0" cy="0"/>
        </a:xfrm>
      </p:grpSpPr>
      <p:sp>
        <p:nvSpPr>
          <p:cNvPr id="132" name="Google Shape;132;p14"/>
          <p:cNvSpPr txBox="1">
            <a:spLocks noGrp="1"/>
          </p:cNvSpPr>
          <p:nvPr>
            <p:ph type="title"/>
          </p:nvPr>
        </p:nvSpPr>
        <p:spPr>
          <a:xfrm>
            <a:off x="457200" y="215372"/>
            <a:ext cx="8229600" cy="622828"/>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3" name="Google Shape;133;p14"/>
          <p:cNvSpPr txBox="1">
            <a:spLocks noGrp="1"/>
          </p:cNvSpPr>
          <p:nvPr>
            <p:ph type="body" idx="1"/>
          </p:nvPr>
        </p:nvSpPr>
        <p:spPr>
          <a:xfrm>
            <a:off x="457200" y="816430"/>
            <a:ext cx="8229600" cy="402770"/>
          </a:xfrm>
          <a:prstGeom prst="rect">
            <a:avLst/>
          </a:prstGeom>
          <a:noFill/>
          <a:ln>
            <a:noFill/>
          </a:ln>
        </p:spPr>
        <p:txBody>
          <a:bodyPr spcFirstLastPara="1" wrap="square" lIns="0" tIns="0" rIns="0" bIns="0" anchor="t" anchorCtr="0"/>
          <a:lstStyle>
            <a:lvl1pPr marL="457200" marR="0" lvl="0" indent="-228600" algn="l" rtl="0">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rtl="0">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rtl="0">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134" name="Google Shape;134;p14"/>
          <p:cNvSpPr txBox="1">
            <a:spLocks noGrp="1"/>
          </p:cNvSpPr>
          <p:nvPr>
            <p:ph type="body" idx="2"/>
          </p:nvPr>
        </p:nvSpPr>
        <p:spPr>
          <a:xfrm>
            <a:off x="457200" y="1600200"/>
            <a:ext cx="8229600" cy="4525963"/>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35" name="Google Shape;135;p14"/>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36" name="Google Shape;136;p14"/>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37" name="Google Shape;137;p14"/>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earning Objectives">
  <p:cSld name="Learning Objectives">
    <p:spTree>
      <p:nvGrpSpPr>
        <p:cNvPr id="1" name="Shape 138"/>
        <p:cNvGrpSpPr/>
        <p:nvPr/>
      </p:nvGrpSpPr>
      <p:grpSpPr>
        <a:xfrm>
          <a:off x="0" y="0"/>
          <a:ext cx="0" cy="0"/>
          <a:chOff x="0" y="0"/>
          <a:chExt cx="0" cy="0"/>
        </a:xfrm>
      </p:grpSpPr>
      <p:sp>
        <p:nvSpPr>
          <p:cNvPr id="139" name="Google Shape;139;p15"/>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0" name="Google Shape;140;p15"/>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lstStyle>
            <a:lvl1pPr marL="457200" marR="0" lvl="0" indent="-273050" algn="l" rtl="0">
              <a:spcBef>
                <a:spcPts val="1500"/>
              </a:spcBef>
              <a:spcAft>
                <a:spcPts val="0"/>
              </a:spcAft>
              <a:buClr>
                <a:srgbClr val="007FA3"/>
              </a:buClr>
              <a:buSzPts val="7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41" name="Google Shape;141;p15"/>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42" name="Google Shape;142;p15"/>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43" name="Google Shape;143;p15"/>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7_Title and Content">
  <p:cSld name="7_Title and Content">
    <p:spTree>
      <p:nvGrpSpPr>
        <p:cNvPr id="1" name="Shape 144"/>
        <p:cNvGrpSpPr/>
        <p:nvPr/>
      </p:nvGrpSpPr>
      <p:grpSpPr>
        <a:xfrm>
          <a:off x="0" y="0"/>
          <a:ext cx="0" cy="0"/>
          <a:chOff x="0" y="0"/>
          <a:chExt cx="0" cy="0"/>
        </a:xfrm>
      </p:grpSpPr>
      <p:sp>
        <p:nvSpPr>
          <p:cNvPr id="145" name="Google Shape;145;p16"/>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6" name="Google Shape;146;p16"/>
          <p:cNvSpPr txBox="1">
            <a:spLocks noGrp="1"/>
          </p:cNvSpPr>
          <p:nvPr>
            <p:ph type="body" idx="1"/>
          </p:nvPr>
        </p:nvSpPr>
        <p:spPr>
          <a:xfrm>
            <a:off x="457200" y="1600201"/>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47" name="Google Shape;147;p16"/>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48" name="Google Shape;148;p16"/>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49" name="Google Shape;149;p16"/>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50" name="Google Shape;150;p16"/>
          <p:cNvSpPr txBox="1">
            <a:spLocks noGrp="1"/>
          </p:cNvSpPr>
          <p:nvPr>
            <p:ph type="body" idx="2"/>
          </p:nvPr>
        </p:nvSpPr>
        <p:spPr>
          <a:xfrm>
            <a:off x="457200" y="1972351"/>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1" name="Google Shape;151;p16"/>
          <p:cNvSpPr txBox="1">
            <a:spLocks noGrp="1"/>
          </p:cNvSpPr>
          <p:nvPr>
            <p:ph type="body" idx="3"/>
          </p:nvPr>
        </p:nvSpPr>
        <p:spPr>
          <a:xfrm>
            <a:off x="443753" y="2286348"/>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2" name="Google Shape;152;p16"/>
          <p:cNvSpPr txBox="1">
            <a:spLocks noGrp="1"/>
          </p:cNvSpPr>
          <p:nvPr>
            <p:ph type="body" idx="4"/>
          </p:nvPr>
        </p:nvSpPr>
        <p:spPr>
          <a:xfrm>
            <a:off x="457200" y="2598450"/>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3" name="Google Shape;153;p16"/>
          <p:cNvSpPr txBox="1">
            <a:spLocks noGrp="1"/>
          </p:cNvSpPr>
          <p:nvPr>
            <p:ph type="body" idx="5"/>
          </p:nvPr>
        </p:nvSpPr>
        <p:spPr>
          <a:xfrm>
            <a:off x="443753" y="2955376"/>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4" name="Google Shape;154;p16"/>
          <p:cNvSpPr txBox="1">
            <a:spLocks noGrp="1"/>
          </p:cNvSpPr>
          <p:nvPr>
            <p:ph type="body" idx="6"/>
          </p:nvPr>
        </p:nvSpPr>
        <p:spPr>
          <a:xfrm>
            <a:off x="457200" y="3319125"/>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5" name="Google Shape;155;p16"/>
          <p:cNvSpPr txBox="1">
            <a:spLocks noGrp="1"/>
          </p:cNvSpPr>
          <p:nvPr>
            <p:ph type="body" idx="7"/>
          </p:nvPr>
        </p:nvSpPr>
        <p:spPr>
          <a:xfrm>
            <a:off x="457200" y="3615626"/>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6" name="Google Shape;156;p16"/>
          <p:cNvSpPr txBox="1">
            <a:spLocks noGrp="1"/>
          </p:cNvSpPr>
          <p:nvPr>
            <p:ph type="body" idx="8"/>
          </p:nvPr>
        </p:nvSpPr>
        <p:spPr>
          <a:xfrm>
            <a:off x="457200" y="3894066"/>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7" name="Google Shape;157;p16"/>
          <p:cNvSpPr txBox="1">
            <a:spLocks noGrp="1"/>
          </p:cNvSpPr>
          <p:nvPr>
            <p:ph type="body" idx="9"/>
          </p:nvPr>
        </p:nvSpPr>
        <p:spPr>
          <a:xfrm>
            <a:off x="457200" y="4182268"/>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8" name="Google Shape;158;p16"/>
          <p:cNvSpPr txBox="1">
            <a:spLocks noGrp="1"/>
          </p:cNvSpPr>
          <p:nvPr>
            <p:ph type="body" idx="13"/>
          </p:nvPr>
        </p:nvSpPr>
        <p:spPr>
          <a:xfrm>
            <a:off x="457200" y="4524473"/>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59" name="Google Shape;159;p16"/>
          <p:cNvSpPr txBox="1">
            <a:spLocks noGrp="1"/>
          </p:cNvSpPr>
          <p:nvPr>
            <p:ph type="body" idx="14"/>
          </p:nvPr>
        </p:nvSpPr>
        <p:spPr>
          <a:xfrm>
            <a:off x="443753" y="4866678"/>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60" name="Google Shape;160;p16"/>
          <p:cNvSpPr txBox="1">
            <a:spLocks noGrp="1"/>
          </p:cNvSpPr>
          <p:nvPr>
            <p:ph type="body" idx="15"/>
          </p:nvPr>
        </p:nvSpPr>
        <p:spPr>
          <a:xfrm>
            <a:off x="461682" y="5193628"/>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61" name="Google Shape;161;p16"/>
          <p:cNvSpPr txBox="1">
            <a:spLocks noGrp="1"/>
          </p:cNvSpPr>
          <p:nvPr>
            <p:ph type="body" idx="16"/>
          </p:nvPr>
        </p:nvSpPr>
        <p:spPr>
          <a:xfrm>
            <a:off x="457200" y="5534490"/>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62" name="Google Shape;162;p16"/>
          <p:cNvSpPr txBox="1">
            <a:spLocks noGrp="1"/>
          </p:cNvSpPr>
          <p:nvPr>
            <p:ph type="body" idx="17"/>
          </p:nvPr>
        </p:nvSpPr>
        <p:spPr>
          <a:xfrm>
            <a:off x="443753" y="5864927"/>
            <a:ext cx="8229600" cy="3048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Figure + Caption">
  <p:cSld name="Figure + Caption">
    <p:spTree>
      <p:nvGrpSpPr>
        <p:cNvPr id="1" name="Shape 163"/>
        <p:cNvGrpSpPr/>
        <p:nvPr/>
      </p:nvGrpSpPr>
      <p:grpSpPr>
        <a:xfrm>
          <a:off x="0" y="0"/>
          <a:ext cx="0" cy="0"/>
          <a:chOff x="0" y="0"/>
          <a:chExt cx="0" cy="0"/>
        </a:xfrm>
      </p:grpSpPr>
      <p:sp>
        <p:nvSpPr>
          <p:cNvPr id="164" name="Google Shape;164;p17"/>
          <p:cNvSpPr txBox="1">
            <a:spLocks noGrp="1"/>
          </p:cNvSpPr>
          <p:nvPr>
            <p:ph type="title"/>
          </p:nvPr>
        </p:nvSpPr>
        <p:spPr>
          <a:xfrm>
            <a:off x="457200" y="228600"/>
            <a:ext cx="8229600" cy="1066800"/>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rgbClr val="007FA3"/>
              </a:buClr>
              <a:buSzPts val="3400"/>
              <a:buFont typeface="Arial"/>
              <a:buNone/>
              <a:defRPr sz="34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5" name="Google Shape;165;p17"/>
          <p:cNvSpPr txBox="1">
            <a:spLocks noGrp="1"/>
          </p:cNvSpPr>
          <p:nvPr>
            <p:ph type="body" idx="1"/>
          </p:nvPr>
        </p:nvSpPr>
        <p:spPr>
          <a:xfrm>
            <a:off x="457200" y="5368160"/>
            <a:ext cx="8229600" cy="916856"/>
          </a:xfrm>
          <a:prstGeom prst="rect">
            <a:avLst/>
          </a:prstGeom>
          <a:noFill/>
          <a:ln>
            <a:noFill/>
          </a:ln>
        </p:spPr>
        <p:txBody>
          <a:bodyPr spcFirstLastPara="1" wrap="square" lIns="0" tIns="0" rIns="0" bIns="0" anchor="b" anchorCtr="0"/>
          <a:lstStyle>
            <a:lvl1pPr marL="457200" marR="0" lvl="0" indent="-228600" algn="l" rtl="0">
              <a:spcBef>
                <a:spcPts val="0"/>
              </a:spcBef>
              <a:spcAft>
                <a:spcPts val="0"/>
              </a:spcAft>
              <a:buClr>
                <a:srgbClr val="007FA3"/>
              </a:buClr>
              <a:buSzPts val="800"/>
              <a:buFont typeface="Arial"/>
              <a:buNone/>
              <a:defRPr sz="8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rgbClr val="007FA3"/>
              </a:buClr>
              <a:buSzPts val="1600"/>
              <a:buFont typeface="Noto Sans Symbols"/>
              <a:buNone/>
              <a:defRPr sz="16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66" name="Google Shape;166;p17"/>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67" name="Google Shape;167;p17"/>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68" name="Google Shape;168;p17"/>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dk1"/>
                </a:solidFill>
                <a:latin typeface="Arial"/>
                <a:ea typeface="Arial"/>
                <a:cs typeface="Arial"/>
                <a:sym typeface="Arial"/>
              </a:defRPr>
            </a:lvl1pPr>
            <a:lvl2pPr marL="0" marR="0" lvl="1" indent="0" algn="r" rtl="0">
              <a:spcBef>
                <a:spcPts val="0"/>
              </a:spcBef>
              <a:buNone/>
              <a:defRPr sz="900">
                <a:solidFill>
                  <a:schemeClr val="dk1"/>
                </a:solidFill>
                <a:latin typeface="Arial"/>
                <a:ea typeface="Arial"/>
                <a:cs typeface="Arial"/>
                <a:sym typeface="Arial"/>
              </a:defRPr>
            </a:lvl2pPr>
            <a:lvl3pPr marL="0" marR="0" lvl="2" indent="0" algn="r" rtl="0">
              <a:spcBef>
                <a:spcPts val="0"/>
              </a:spcBef>
              <a:buNone/>
              <a:defRPr sz="900">
                <a:solidFill>
                  <a:schemeClr val="dk1"/>
                </a:solidFill>
                <a:latin typeface="Arial"/>
                <a:ea typeface="Arial"/>
                <a:cs typeface="Arial"/>
                <a:sym typeface="Arial"/>
              </a:defRPr>
            </a:lvl3pPr>
            <a:lvl4pPr marL="0" marR="0" lvl="3" indent="0" algn="r" rtl="0">
              <a:spcBef>
                <a:spcPts val="0"/>
              </a:spcBef>
              <a:buNone/>
              <a:defRPr sz="900">
                <a:solidFill>
                  <a:schemeClr val="dk1"/>
                </a:solidFill>
                <a:latin typeface="Arial"/>
                <a:ea typeface="Arial"/>
                <a:cs typeface="Arial"/>
                <a:sym typeface="Arial"/>
              </a:defRPr>
            </a:lvl4pPr>
            <a:lvl5pPr marL="0" marR="0" lvl="4" indent="0" algn="r" rtl="0">
              <a:spcBef>
                <a:spcPts val="0"/>
              </a:spcBef>
              <a:buNone/>
              <a:defRPr sz="900">
                <a:solidFill>
                  <a:schemeClr val="dk1"/>
                </a:solidFill>
                <a:latin typeface="Arial"/>
                <a:ea typeface="Arial"/>
                <a:cs typeface="Arial"/>
                <a:sym typeface="Arial"/>
              </a:defRPr>
            </a:lvl5pPr>
            <a:lvl6pPr marL="0" marR="0" lvl="5" indent="0" algn="r" rtl="0">
              <a:spcBef>
                <a:spcPts val="0"/>
              </a:spcBef>
              <a:buNone/>
              <a:defRPr sz="900">
                <a:solidFill>
                  <a:schemeClr val="dk1"/>
                </a:solidFill>
                <a:latin typeface="Arial"/>
                <a:ea typeface="Arial"/>
                <a:cs typeface="Arial"/>
                <a:sym typeface="Arial"/>
              </a:defRPr>
            </a:lvl6pPr>
            <a:lvl7pPr marL="0" marR="0" lvl="6" indent="0" algn="r" rtl="0">
              <a:spcBef>
                <a:spcPts val="0"/>
              </a:spcBef>
              <a:buNone/>
              <a:defRPr sz="900">
                <a:solidFill>
                  <a:schemeClr val="dk1"/>
                </a:solidFill>
                <a:latin typeface="Arial"/>
                <a:ea typeface="Arial"/>
                <a:cs typeface="Arial"/>
                <a:sym typeface="Arial"/>
              </a:defRPr>
            </a:lvl7pPr>
            <a:lvl8pPr marL="0" marR="0" lvl="7" indent="0" algn="r" rtl="0">
              <a:spcBef>
                <a:spcPts val="0"/>
              </a:spcBef>
              <a:buNone/>
              <a:defRPr sz="900">
                <a:solidFill>
                  <a:schemeClr val="dk1"/>
                </a:solidFill>
                <a:latin typeface="Arial"/>
                <a:ea typeface="Arial"/>
                <a:cs typeface="Arial"/>
                <a:sym typeface="Arial"/>
              </a:defRPr>
            </a:lvl8pPr>
            <a:lvl9pPr marL="0" marR="0" lvl="8" indent="0" algn="r" rtl="0">
              <a:spcBef>
                <a:spcPts val="0"/>
              </a:spcBef>
              <a:buNone/>
              <a:defRPr sz="9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69" name="Google Shape;169;p17"/>
          <p:cNvSpPr txBox="1"/>
          <p:nvPr/>
        </p:nvSpPr>
        <p:spPr>
          <a:xfrm>
            <a:off x="7848600" y="6428601"/>
            <a:ext cx="740520" cy="2462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Arial"/>
                <a:ea typeface="Arial"/>
                <a:cs typeface="Arial"/>
                <a:sym typeface="Arial"/>
              </a:rPr>
              <a:t>Slide - </a:t>
            </a:r>
            <a:fld id="{00000000-1234-1234-1234-123412341234}" type="slidenum">
              <a:rPr lang="en-US" sz="1000">
                <a:solidFill>
                  <a:schemeClr val="dk1"/>
                </a:solidFill>
                <a:latin typeface="Arial"/>
                <a:ea typeface="Arial"/>
                <a:cs typeface="Arial"/>
                <a:sym typeface="Arial"/>
              </a:rPr>
              <a:t>‹#›</a:t>
            </a:fld>
            <a:endParaRPr sz="1000" dirty="0">
              <a:solidFill>
                <a:schemeClr val="dk1"/>
              </a:solidFill>
              <a:latin typeface="Arial"/>
              <a:ea typeface="Arial"/>
              <a:cs typeface="Arial"/>
              <a:sym typeface="Arial"/>
            </a:endParaRPr>
          </a:p>
        </p:txBody>
      </p:sp>
      <p:pic>
        <p:nvPicPr>
          <p:cNvPr id="170" name="Google Shape;170;p17" descr="Pearson Logo"/>
          <p:cNvPicPr preferRelativeResize="0"/>
          <p:nvPr/>
        </p:nvPicPr>
        <p:blipFill rotWithShape="1">
          <a:blip r:embed="rId2">
            <a:alphaModFix/>
          </a:blip>
          <a:srcRect/>
          <a:stretch/>
        </p:blipFill>
        <p:spPr>
          <a:xfrm>
            <a:off x="457200" y="6376789"/>
            <a:ext cx="918000" cy="279915"/>
          </a:xfrm>
          <a:prstGeom prst="rect">
            <a:avLst/>
          </a:prstGeom>
          <a:noFill/>
          <a:ln>
            <a:noFill/>
          </a:ln>
        </p:spPr>
      </p:pic>
      <p:sp>
        <p:nvSpPr>
          <p:cNvPr id="11" name="Google Shape;16;p1"/>
          <p:cNvSpPr txBox="1"/>
          <p:nvPr userDrawn="1"/>
        </p:nvSpPr>
        <p:spPr>
          <a:xfrm>
            <a:off x="1676400" y="6403200"/>
            <a:ext cx="6019800" cy="2769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i="0" u="none" strike="noStrike" cap="none" dirty="0">
                <a:solidFill>
                  <a:schemeClr val="dk1"/>
                </a:solidFill>
                <a:latin typeface="Verdana"/>
                <a:ea typeface="Verdana"/>
                <a:cs typeface="Verdana"/>
                <a:sym typeface="Verdana"/>
              </a:rPr>
              <a:t>Copyright © 2020, 2016, 2013 Pearson Education, Inc. All Rights Reserved</a:t>
            </a:r>
            <a:endParaRPr sz="1200" b="0" i="0" u="none" strike="noStrike" cap="none" dirty="0">
              <a:solidFill>
                <a:schemeClr val="dk1"/>
              </a:solidFill>
              <a:latin typeface="Verdana"/>
              <a:ea typeface="Verdana"/>
              <a:cs typeface="Verdana"/>
              <a:sym typeface="Verdan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2"/>
        <p:cNvGrpSpPr/>
        <p:nvPr/>
      </p:nvGrpSpPr>
      <p:grpSpPr>
        <a:xfrm>
          <a:off x="0" y="0"/>
          <a:ext cx="0" cy="0"/>
          <a:chOff x="0" y="0"/>
          <a:chExt cx="0" cy="0"/>
        </a:xfrm>
      </p:grpSpPr>
      <p:sp>
        <p:nvSpPr>
          <p:cNvPr id="173" name="Google Shape;173;p18"/>
          <p:cNvSpPr txBox="1">
            <a:spLocks noGrp="1"/>
          </p:cNvSpPr>
          <p:nvPr>
            <p:ph type="title"/>
          </p:nvPr>
        </p:nvSpPr>
        <p:spPr>
          <a:xfrm>
            <a:off x="685800" y="1447800"/>
            <a:ext cx="7772400" cy="2152651"/>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400"/>
              <a:buFont typeface="Arial"/>
              <a:buNone/>
              <a:defRPr sz="34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4" name="Google Shape;174;p18"/>
          <p:cNvSpPr txBox="1">
            <a:spLocks noGrp="1"/>
          </p:cNvSpPr>
          <p:nvPr>
            <p:ph type="body" idx="1"/>
          </p:nvPr>
        </p:nvSpPr>
        <p:spPr>
          <a:xfrm>
            <a:off x="674687" y="3962400"/>
            <a:ext cx="7794627" cy="1752600"/>
          </a:xfrm>
          <a:prstGeom prst="rect">
            <a:avLst/>
          </a:prstGeom>
          <a:noFill/>
          <a:ln>
            <a:noFill/>
          </a:ln>
        </p:spPr>
        <p:txBody>
          <a:bodyPr spcFirstLastPara="1" wrap="square" lIns="0" tIns="0" rIns="0" bIns="0" anchor="t" anchorCtr="0"/>
          <a:lstStyle>
            <a:lvl1pPr marL="457200" marR="0" lvl="0" indent="-228600" algn="l" rtl="0">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rtl="0">
              <a:spcBef>
                <a:spcPts val="600"/>
              </a:spcBef>
              <a:spcAft>
                <a:spcPts val="0"/>
              </a:spcAft>
              <a:buClr>
                <a:srgbClr val="007FA3"/>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rtl="0">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L="1828800" marR="0" lvl="3" indent="-228600" algn="l" rtl="0">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rtl="0">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rtl="0">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rtl="0">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rtl="0">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rtl="0">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sp>
        <p:nvSpPr>
          <p:cNvPr id="175" name="Google Shape;175;p18"/>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76" name="Google Shape;176;p18"/>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77" name="Google Shape;177;p18"/>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8"/>
        <p:cNvGrpSpPr/>
        <p:nvPr/>
      </p:nvGrpSpPr>
      <p:grpSpPr>
        <a:xfrm>
          <a:off x="0" y="0"/>
          <a:ext cx="0" cy="0"/>
          <a:chOff x="0" y="0"/>
          <a:chExt cx="0" cy="0"/>
        </a:xfrm>
      </p:grpSpPr>
      <p:sp>
        <p:nvSpPr>
          <p:cNvPr id="179" name="Google Shape;179;p19"/>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0" name="Google Shape;180;p19"/>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81" name="Google Shape;181;p19"/>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82" name="Google Shape;182;p19"/>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183"/>
        <p:cNvGrpSpPr/>
        <p:nvPr/>
      </p:nvGrpSpPr>
      <p:grpSpPr>
        <a:xfrm>
          <a:off x="0" y="0"/>
          <a:ext cx="0" cy="0"/>
          <a:chOff x="0" y="0"/>
          <a:chExt cx="0" cy="0"/>
        </a:xfrm>
      </p:grpSpPr>
      <p:sp>
        <p:nvSpPr>
          <p:cNvPr id="184" name="Google Shape;184;p20"/>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85" name="Google Shape;185;p20"/>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86" name="Google Shape;186;p20"/>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dk1"/>
                </a:solidFill>
                <a:latin typeface="Arial"/>
                <a:ea typeface="Arial"/>
                <a:cs typeface="Arial"/>
                <a:sym typeface="Arial"/>
              </a:defRPr>
            </a:lvl1pPr>
            <a:lvl2pPr marL="0" marR="0" lvl="1" indent="0" algn="r" rtl="0">
              <a:spcBef>
                <a:spcPts val="0"/>
              </a:spcBef>
              <a:buNone/>
              <a:defRPr sz="900">
                <a:solidFill>
                  <a:schemeClr val="dk1"/>
                </a:solidFill>
                <a:latin typeface="Arial"/>
                <a:ea typeface="Arial"/>
                <a:cs typeface="Arial"/>
                <a:sym typeface="Arial"/>
              </a:defRPr>
            </a:lvl2pPr>
            <a:lvl3pPr marL="0" marR="0" lvl="2" indent="0" algn="r" rtl="0">
              <a:spcBef>
                <a:spcPts val="0"/>
              </a:spcBef>
              <a:buNone/>
              <a:defRPr sz="900">
                <a:solidFill>
                  <a:schemeClr val="dk1"/>
                </a:solidFill>
                <a:latin typeface="Arial"/>
                <a:ea typeface="Arial"/>
                <a:cs typeface="Arial"/>
                <a:sym typeface="Arial"/>
              </a:defRPr>
            </a:lvl3pPr>
            <a:lvl4pPr marL="0" marR="0" lvl="3" indent="0" algn="r" rtl="0">
              <a:spcBef>
                <a:spcPts val="0"/>
              </a:spcBef>
              <a:buNone/>
              <a:defRPr sz="900">
                <a:solidFill>
                  <a:schemeClr val="dk1"/>
                </a:solidFill>
                <a:latin typeface="Arial"/>
                <a:ea typeface="Arial"/>
                <a:cs typeface="Arial"/>
                <a:sym typeface="Arial"/>
              </a:defRPr>
            </a:lvl4pPr>
            <a:lvl5pPr marL="0" marR="0" lvl="4" indent="0" algn="r" rtl="0">
              <a:spcBef>
                <a:spcPts val="0"/>
              </a:spcBef>
              <a:buNone/>
              <a:defRPr sz="900">
                <a:solidFill>
                  <a:schemeClr val="dk1"/>
                </a:solidFill>
                <a:latin typeface="Arial"/>
                <a:ea typeface="Arial"/>
                <a:cs typeface="Arial"/>
                <a:sym typeface="Arial"/>
              </a:defRPr>
            </a:lvl5pPr>
            <a:lvl6pPr marL="0" marR="0" lvl="5" indent="0" algn="r" rtl="0">
              <a:spcBef>
                <a:spcPts val="0"/>
              </a:spcBef>
              <a:buNone/>
              <a:defRPr sz="900">
                <a:solidFill>
                  <a:schemeClr val="dk1"/>
                </a:solidFill>
                <a:latin typeface="Arial"/>
                <a:ea typeface="Arial"/>
                <a:cs typeface="Arial"/>
                <a:sym typeface="Arial"/>
              </a:defRPr>
            </a:lvl6pPr>
            <a:lvl7pPr marL="0" marR="0" lvl="6" indent="0" algn="r" rtl="0">
              <a:spcBef>
                <a:spcPts val="0"/>
              </a:spcBef>
              <a:buNone/>
              <a:defRPr sz="900">
                <a:solidFill>
                  <a:schemeClr val="dk1"/>
                </a:solidFill>
                <a:latin typeface="Arial"/>
                <a:ea typeface="Arial"/>
                <a:cs typeface="Arial"/>
                <a:sym typeface="Arial"/>
              </a:defRPr>
            </a:lvl7pPr>
            <a:lvl8pPr marL="0" marR="0" lvl="7" indent="0" algn="r" rtl="0">
              <a:spcBef>
                <a:spcPts val="0"/>
              </a:spcBef>
              <a:buNone/>
              <a:defRPr sz="900">
                <a:solidFill>
                  <a:schemeClr val="dk1"/>
                </a:solidFill>
                <a:latin typeface="Arial"/>
                <a:ea typeface="Arial"/>
                <a:cs typeface="Arial"/>
                <a:sym typeface="Arial"/>
              </a:defRPr>
            </a:lvl8pPr>
            <a:lvl9pPr marL="0" marR="0" lvl="8" indent="0" algn="r" rtl="0">
              <a:spcBef>
                <a:spcPts val="0"/>
              </a:spcBef>
              <a:buNone/>
              <a:defRPr sz="9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87" name="Google Shape;187;p20"/>
          <p:cNvSpPr txBox="1"/>
          <p:nvPr/>
        </p:nvSpPr>
        <p:spPr>
          <a:xfrm>
            <a:off x="7848600" y="6428601"/>
            <a:ext cx="740520" cy="2462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dirty="0">
                <a:solidFill>
                  <a:schemeClr val="dk1"/>
                </a:solidFill>
                <a:latin typeface="Arial"/>
                <a:ea typeface="Arial"/>
                <a:cs typeface="Arial"/>
                <a:sym typeface="Arial"/>
              </a:rPr>
              <a:t>Slide - </a:t>
            </a:r>
            <a:fld id="{00000000-1234-1234-1234-123412341234}" type="slidenum">
              <a:rPr lang="en-US" sz="1000">
                <a:solidFill>
                  <a:schemeClr val="dk1"/>
                </a:solidFill>
                <a:latin typeface="Arial"/>
                <a:ea typeface="Arial"/>
                <a:cs typeface="Arial"/>
                <a:sym typeface="Arial"/>
              </a:rPr>
              <a:t>‹#›</a:t>
            </a:fld>
            <a:endParaRPr sz="1000" dirty="0">
              <a:solidFill>
                <a:schemeClr val="dk1"/>
              </a:solidFill>
              <a:latin typeface="Arial"/>
              <a:ea typeface="Arial"/>
              <a:cs typeface="Arial"/>
              <a:sym typeface="Arial"/>
            </a:endParaRPr>
          </a:p>
        </p:txBody>
      </p:sp>
      <p:pic>
        <p:nvPicPr>
          <p:cNvPr id="188" name="Google Shape;188;p20" descr="Pearson Logo"/>
          <p:cNvPicPr preferRelativeResize="0"/>
          <p:nvPr/>
        </p:nvPicPr>
        <p:blipFill rotWithShape="1">
          <a:blip r:embed="rId2">
            <a:alphaModFix/>
          </a:blip>
          <a:srcRect/>
          <a:stretch/>
        </p:blipFill>
        <p:spPr>
          <a:xfrm>
            <a:off x="457200" y="6376789"/>
            <a:ext cx="918000" cy="279915"/>
          </a:xfrm>
          <a:prstGeom prst="rect">
            <a:avLst/>
          </a:prstGeom>
          <a:noFill/>
          <a:ln>
            <a:noFill/>
          </a:ln>
        </p:spPr>
      </p:pic>
      <p:sp>
        <p:nvSpPr>
          <p:cNvPr id="9" name="Google Shape;16;p1"/>
          <p:cNvSpPr txBox="1"/>
          <p:nvPr userDrawn="1"/>
        </p:nvSpPr>
        <p:spPr>
          <a:xfrm>
            <a:off x="1676400" y="6403200"/>
            <a:ext cx="6019800" cy="2769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i="0" u="none" strike="noStrike" cap="none" dirty="0">
                <a:solidFill>
                  <a:schemeClr val="dk1"/>
                </a:solidFill>
                <a:latin typeface="Verdana"/>
                <a:ea typeface="Verdana"/>
                <a:cs typeface="Verdana"/>
                <a:sym typeface="Verdana"/>
              </a:rPr>
              <a:t>Copyright © 2020, 2016, 2013 Pearson Education, Inc. All Rights Reserved</a:t>
            </a:r>
            <a:endParaRPr sz="1200" b="0" i="0" u="none" strike="noStrike" cap="none" dirty="0">
              <a:solidFill>
                <a:schemeClr val="dk1"/>
              </a:solidFill>
              <a:latin typeface="Verdana"/>
              <a:ea typeface="Verdana"/>
              <a:cs typeface="Verdana"/>
              <a:sym typeface="Verdan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5 Content">
  <p:cSld name="Title and 5 Content">
    <p:spTree>
      <p:nvGrpSpPr>
        <p:cNvPr id="1" name="Shape 190"/>
        <p:cNvGrpSpPr/>
        <p:nvPr/>
      </p:nvGrpSpPr>
      <p:grpSpPr>
        <a:xfrm>
          <a:off x="0" y="0"/>
          <a:ext cx="0" cy="0"/>
          <a:chOff x="0" y="0"/>
          <a:chExt cx="0" cy="0"/>
        </a:xfrm>
      </p:grpSpPr>
      <p:sp>
        <p:nvSpPr>
          <p:cNvPr id="191" name="Google Shape;191;p2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2" name="Google Shape;192;p21"/>
          <p:cNvSpPr txBox="1">
            <a:spLocks noGrp="1"/>
          </p:cNvSpPr>
          <p:nvPr>
            <p:ph type="body" idx="1"/>
          </p:nvPr>
        </p:nvSpPr>
        <p:spPr>
          <a:xfrm>
            <a:off x="457200" y="1447801"/>
            <a:ext cx="8229600" cy="609600"/>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93" name="Google Shape;193;p21"/>
          <p:cNvSpPr txBox="1">
            <a:spLocks noGrp="1"/>
          </p:cNvSpPr>
          <p:nvPr>
            <p:ph type="body" idx="2"/>
          </p:nvPr>
        </p:nvSpPr>
        <p:spPr>
          <a:xfrm>
            <a:off x="457200" y="2286000"/>
            <a:ext cx="8229600" cy="563563"/>
          </a:xfrm>
          <a:prstGeom prst="rect">
            <a:avLst/>
          </a:prstGeom>
          <a:noFill/>
          <a:ln>
            <a:noFill/>
          </a:ln>
        </p:spPr>
        <p:txBody>
          <a:bodyPr spcFirstLastPara="1" wrap="square" lIns="0" tIns="0" rIns="0" bIns="0" anchor="t" anchorCtr="0"/>
          <a:lstStyle>
            <a:lvl1pPr marL="457200" marR="0" lvl="0" indent="-330200" algn="l" rtl="0">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spcBef>
                <a:spcPts val="300"/>
              </a:spcBef>
              <a:spcAft>
                <a:spcPts val="0"/>
              </a:spcAft>
              <a:buClr>
                <a:srgbClr val="007FA3"/>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94" name="Google Shape;194;p21"/>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95" name="Google Shape;195;p21"/>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96" name="Google Shape;196;p21"/>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lt1"/>
                </a:solidFill>
                <a:latin typeface="Arial"/>
                <a:ea typeface="Arial"/>
                <a:cs typeface="Arial"/>
                <a:sym typeface="Arial"/>
              </a:defRPr>
            </a:lvl1pPr>
            <a:lvl2pPr marL="0" marR="0" lvl="1" indent="0" algn="r" rtl="0">
              <a:spcBef>
                <a:spcPts val="0"/>
              </a:spcBef>
              <a:buNone/>
              <a:defRPr sz="900">
                <a:solidFill>
                  <a:schemeClr val="lt1"/>
                </a:solidFill>
                <a:latin typeface="Arial"/>
                <a:ea typeface="Arial"/>
                <a:cs typeface="Arial"/>
                <a:sym typeface="Arial"/>
              </a:defRPr>
            </a:lvl2pPr>
            <a:lvl3pPr marL="0" marR="0" lvl="2" indent="0" algn="r" rtl="0">
              <a:spcBef>
                <a:spcPts val="0"/>
              </a:spcBef>
              <a:buNone/>
              <a:defRPr sz="900">
                <a:solidFill>
                  <a:schemeClr val="lt1"/>
                </a:solidFill>
                <a:latin typeface="Arial"/>
                <a:ea typeface="Arial"/>
                <a:cs typeface="Arial"/>
                <a:sym typeface="Arial"/>
              </a:defRPr>
            </a:lvl3pPr>
            <a:lvl4pPr marL="0" marR="0" lvl="3" indent="0" algn="r" rtl="0">
              <a:spcBef>
                <a:spcPts val="0"/>
              </a:spcBef>
              <a:buNone/>
              <a:defRPr sz="900">
                <a:solidFill>
                  <a:schemeClr val="lt1"/>
                </a:solidFill>
                <a:latin typeface="Arial"/>
                <a:ea typeface="Arial"/>
                <a:cs typeface="Arial"/>
                <a:sym typeface="Arial"/>
              </a:defRPr>
            </a:lvl4pPr>
            <a:lvl5pPr marL="0" marR="0" lvl="4" indent="0" algn="r" rtl="0">
              <a:spcBef>
                <a:spcPts val="0"/>
              </a:spcBef>
              <a:buNone/>
              <a:defRPr sz="900">
                <a:solidFill>
                  <a:schemeClr val="lt1"/>
                </a:solidFill>
                <a:latin typeface="Arial"/>
                <a:ea typeface="Arial"/>
                <a:cs typeface="Arial"/>
                <a:sym typeface="Arial"/>
              </a:defRPr>
            </a:lvl5pPr>
            <a:lvl6pPr marL="0" marR="0" lvl="5" indent="0" algn="r" rtl="0">
              <a:spcBef>
                <a:spcPts val="0"/>
              </a:spcBef>
              <a:buNone/>
              <a:defRPr sz="900">
                <a:solidFill>
                  <a:schemeClr val="lt1"/>
                </a:solidFill>
                <a:latin typeface="Arial"/>
                <a:ea typeface="Arial"/>
                <a:cs typeface="Arial"/>
                <a:sym typeface="Arial"/>
              </a:defRPr>
            </a:lvl6pPr>
            <a:lvl7pPr marL="0" marR="0" lvl="6" indent="0" algn="r" rtl="0">
              <a:spcBef>
                <a:spcPts val="0"/>
              </a:spcBef>
              <a:buNone/>
              <a:defRPr sz="900">
                <a:solidFill>
                  <a:schemeClr val="lt1"/>
                </a:solidFill>
                <a:latin typeface="Arial"/>
                <a:ea typeface="Arial"/>
                <a:cs typeface="Arial"/>
                <a:sym typeface="Arial"/>
              </a:defRPr>
            </a:lvl7pPr>
            <a:lvl8pPr marL="0" marR="0" lvl="7" indent="0" algn="r" rtl="0">
              <a:spcBef>
                <a:spcPts val="0"/>
              </a:spcBef>
              <a:buNone/>
              <a:defRPr sz="900">
                <a:solidFill>
                  <a:schemeClr val="lt1"/>
                </a:solidFill>
                <a:latin typeface="Arial"/>
                <a:ea typeface="Arial"/>
                <a:cs typeface="Arial"/>
                <a:sym typeface="Arial"/>
              </a:defRPr>
            </a:lvl8pPr>
            <a:lvl9pPr marL="0" marR="0" lvl="8" indent="0" algn="r" rtl="0">
              <a:spcBef>
                <a:spcPts val="0"/>
              </a:spcBef>
              <a:buNone/>
              <a:defRPr sz="9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197" name="Google Shape;197;p21"/>
          <p:cNvSpPr txBox="1">
            <a:spLocks noGrp="1"/>
          </p:cNvSpPr>
          <p:nvPr>
            <p:ph type="body" idx="3"/>
          </p:nvPr>
        </p:nvSpPr>
        <p:spPr>
          <a:xfrm>
            <a:off x="457200" y="3048000"/>
            <a:ext cx="8229600" cy="570589"/>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98" name="Google Shape;198;p21"/>
          <p:cNvSpPr txBox="1">
            <a:spLocks noGrp="1"/>
          </p:cNvSpPr>
          <p:nvPr>
            <p:ph type="body" idx="4"/>
          </p:nvPr>
        </p:nvSpPr>
        <p:spPr>
          <a:xfrm>
            <a:off x="457200" y="3733800"/>
            <a:ext cx="3505200" cy="9144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99" name="Google Shape;199;p21"/>
          <p:cNvSpPr txBox="1">
            <a:spLocks noGrp="1"/>
          </p:cNvSpPr>
          <p:nvPr>
            <p:ph type="body" idx="5"/>
          </p:nvPr>
        </p:nvSpPr>
        <p:spPr>
          <a:xfrm>
            <a:off x="457200" y="4876800"/>
            <a:ext cx="3505200" cy="990600"/>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lstStyle>
            <a:lvl1pPr marR="0" lvl="0" algn="l" rtl="0">
              <a:lnSpc>
                <a:spcPct val="100000"/>
              </a:lnSpc>
              <a:spcBef>
                <a:spcPts val="0"/>
              </a:spcBef>
              <a:spcAft>
                <a:spcPts val="0"/>
              </a:spcAft>
              <a:buClr>
                <a:srgbClr val="007FA3"/>
              </a:buClr>
              <a:buSzPts val="3600"/>
              <a:buFont typeface="Arial"/>
              <a:buNone/>
              <a:defRPr sz="3600" b="1" i="0" u="none" strike="noStrike" cap="none">
                <a:solidFill>
                  <a:srgbClr val="007FA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lstStyle>
            <a:lvl1pPr marL="457200" marR="0" lvl="0" indent="-406400" algn="l" rtl="0">
              <a:spcBef>
                <a:spcPts val="15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406400" algn="l" rtl="0">
              <a:spcBef>
                <a:spcPts val="600"/>
              </a:spcBef>
              <a:spcAft>
                <a:spcPts val="0"/>
              </a:spcAft>
              <a:buClr>
                <a:srgbClr val="007FA3"/>
              </a:buClr>
              <a:buSzPts val="2800"/>
              <a:buFont typeface="Noto Sans Symbols"/>
              <a:buChar char="▪"/>
              <a:defRPr sz="2800" b="0" i="0" u="none" strike="noStrike" cap="none">
                <a:solidFill>
                  <a:schemeClr val="dk1"/>
                </a:solidFill>
                <a:latin typeface="Arial"/>
                <a:ea typeface="Arial"/>
                <a:cs typeface="Arial"/>
                <a:sym typeface="Arial"/>
              </a:defRPr>
            </a:lvl3pPr>
            <a:lvl4pPr marL="1828800" marR="0" lvl="3"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4pPr>
            <a:lvl5pPr marL="2286000" marR="0" lvl="4" indent="-406400" algn="l" rtl="0">
              <a:spcBef>
                <a:spcPts val="6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5pPr>
            <a:lvl6pPr marL="2743200" marR="0" lvl="5"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rtl="0">
              <a:spcBef>
                <a:spcPts val="300"/>
              </a:spcBef>
              <a:spcAft>
                <a:spcPts val="0"/>
              </a:spcAft>
              <a:buClr>
                <a:srgbClr val="007FA3"/>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93969" y="6172200"/>
            <a:ext cx="8595360" cy="235463"/>
          </a:xfrm>
          <a:prstGeom prst="rect">
            <a:avLst/>
          </a:prstGeom>
          <a:noFill/>
          <a:ln>
            <a:noFill/>
          </a:ln>
        </p:spPr>
        <p:txBody>
          <a:bodyPr spcFirstLastPara="1" wrap="square" lIns="0" tIns="0" rIns="0" bIns="0" anchor="b" anchorCtr="0"/>
          <a:lstStyle>
            <a:lvl1pPr marR="0" lvl="0" algn="l" rtl="0">
              <a:spcBef>
                <a:spcPts val="0"/>
              </a:spcBef>
              <a:spcAft>
                <a:spcPts val="0"/>
              </a:spcAft>
              <a:buSzPts val="1400"/>
              <a:buNone/>
              <a:defRPr sz="11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3" name="Google Shape;13;p1"/>
          <p:cNvSpPr txBox="1">
            <a:spLocks noGrp="1"/>
          </p:cNvSpPr>
          <p:nvPr>
            <p:ph type="dt" idx="10"/>
          </p:nvPr>
        </p:nvSpPr>
        <p:spPr>
          <a:xfrm>
            <a:off x="6335713" y="113072"/>
            <a:ext cx="2133600" cy="182880"/>
          </a:xfrm>
          <a:prstGeom prst="rect">
            <a:avLst/>
          </a:prstGeom>
          <a:noFill/>
          <a:ln>
            <a:noFill/>
          </a:ln>
        </p:spPr>
        <p:txBody>
          <a:bodyPr spcFirstLastPara="1" wrap="square" lIns="91425" tIns="45700" rIns="91425" bIns="45700" anchor="ctr" anchorCtr="0"/>
          <a:lstStyle>
            <a:lvl1pPr marR="0" lvl="0" algn="r" rtl="0">
              <a:spcBef>
                <a:spcPts val="0"/>
              </a:spcBef>
              <a:spcAft>
                <a:spcPts val="0"/>
              </a:spcAft>
              <a:buSzPts val="1400"/>
              <a:buNone/>
              <a:defRPr sz="9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14" name="Google Shape;14;p1"/>
          <p:cNvSpPr txBox="1">
            <a:spLocks noGrp="1"/>
          </p:cNvSpPr>
          <p:nvPr>
            <p:ph type="sldNum" idx="12"/>
          </p:nvPr>
        </p:nvSpPr>
        <p:spPr>
          <a:xfrm>
            <a:off x="8469312" y="113072"/>
            <a:ext cx="551783" cy="1828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0" marR="0" lvl="1" indent="0" algn="r" rtl="0">
              <a:spcBef>
                <a:spcPts val="0"/>
              </a:spcBef>
              <a:buNone/>
              <a:defRPr sz="900" b="0" i="0" u="none" strike="noStrike" cap="none">
                <a:solidFill>
                  <a:schemeClr val="lt1"/>
                </a:solidFill>
                <a:latin typeface="Arial"/>
                <a:ea typeface="Arial"/>
                <a:cs typeface="Arial"/>
                <a:sym typeface="Arial"/>
              </a:defRPr>
            </a:lvl2pPr>
            <a:lvl3pPr marL="0" marR="0" lvl="2" indent="0" algn="r" rtl="0">
              <a:spcBef>
                <a:spcPts val="0"/>
              </a:spcBef>
              <a:buNone/>
              <a:defRPr sz="900" b="0" i="0" u="none" strike="noStrike" cap="none">
                <a:solidFill>
                  <a:schemeClr val="lt1"/>
                </a:solidFill>
                <a:latin typeface="Arial"/>
                <a:ea typeface="Arial"/>
                <a:cs typeface="Arial"/>
                <a:sym typeface="Arial"/>
              </a:defRPr>
            </a:lvl3pPr>
            <a:lvl4pPr marL="0" marR="0" lvl="3" indent="0" algn="r" rtl="0">
              <a:spcBef>
                <a:spcPts val="0"/>
              </a:spcBef>
              <a:buNone/>
              <a:defRPr sz="900" b="0" i="0" u="none" strike="noStrike" cap="none">
                <a:solidFill>
                  <a:schemeClr val="lt1"/>
                </a:solidFill>
                <a:latin typeface="Arial"/>
                <a:ea typeface="Arial"/>
                <a:cs typeface="Arial"/>
                <a:sym typeface="Arial"/>
              </a:defRPr>
            </a:lvl4pPr>
            <a:lvl5pPr marL="0" marR="0" lvl="4" indent="0" algn="r" rtl="0">
              <a:spcBef>
                <a:spcPts val="0"/>
              </a:spcBef>
              <a:buNone/>
              <a:defRPr sz="900" b="0" i="0" u="none" strike="noStrike" cap="none">
                <a:solidFill>
                  <a:schemeClr val="lt1"/>
                </a:solidFill>
                <a:latin typeface="Arial"/>
                <a:ea typeface="Arial"/>
                <a:cs typeface="Arial"/>
                <a:sym typeface="Arial"/>
              </a:defRPr>
            </a:lvl5pPr>
            <a:lvl6pPr marL="0" marR="0" lvl="5" indent="0" algn="r" rtl="0">
              <a:spcBef>
                <a:spcPts val="0"/>
              </a:spcBef>
              <a:buNone/>
              <a:defRPr sz="900" b="0" i="0" u="none" strike="noStrike" cap="none">
                <a:solidFill>
                  <a:schemeClr val="lt1"/>
                </a:solidFill>
                <a:latin typeface="Arial"/>
                <a:ea typeface="Arial"/>
                <a:cs typeface="Arial"/>
                <a:sym typeface="Arial"/>
              </a:defRPr>
            </a:lvl6pPr>
            <a:lvl7pPr marL="0" marR="0" lvl="6" indent="0" algn="r" rtl="0">
              <a:spcBef>
                <a:spcPts val="0"/>
              </a:spcBef>
              <a:buNone/>
              <a:defRPr sz="900" b="0" i="0" u="none" strike="noStrike" cap="none">
                <a:solidFill>
                  <a:schemeClr val="lt1"/>
                </a:solidFill>
                <a:latin typeface="Arial"/>
                <a:ea typeface="Arial"/>
                <a:cs typeface="Arial"/>
                <a:sym typeface="Arial"/>
              </a:defRPr>
            </a:lvl7pPr>
            <a:lvl8pPr marL="0" marR="0" lvl="7" indent="0" algn="r" rtl="0">
              <a:spcBef>
                <a:spcPts val="0"/>
              </a:spcBef>
              <a:buNone/>
              <a:defRPr sz="900" b="0" i="0" u="none" strike="noStrike" cap="none">
                <a:solidFill>
                  <a:schemeClr val="lt1"/>
                </a:solidFill>
                <a:latin typeface="Arial"/>
                <a:ea typeface="Arial"/>
                <a:cs typeface="Arial"/>
                <a:sym typeface="Arial"/>
              </a:defRPr>
            </a:lvl8pPr>
            <a:lvl9pPr marL="0" marR="0" lvl="8" indent="0" algn="r" rtl="0">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pic>
        <p:nvPicPr>
          <p:cNvPr id="15" name="Google Shape;15;p1" descr="Pearson Logo"/>
          <p:cNvPicPr preferRelativeResize="0"/>
          <p:nvPr/>
        </p:nvPicPr>
        <p:blipFill rotWithShape="1">
          <a:blip r:embed="rId22">
            <a:alphaModFix/>
          </a:blip>
          <a:srcRect/>
          <a:stretch/>
        </p:blipFill>
        <p:spPr>
          <a:xfrm>
            <a:off x="457200" y="6376789"/>
            <a:ext cx="918000" cy="279915"/>
          </a:xfrm>
          <a:prstGeom prst="rect">
            <a:avLst/>
          </a:prstGeom>
          <a:noFill/>
          <a:ln>
            <a:noFill/>
          </a:ln>
        </p:spPr>
      </p:pic>
      <p:sp>
        <p:nvSpPr>
          <p:cNvPr id="16" name="Google Shape;16;p1"/>
          <p:cNvSpPr txBox="1"/>
          <p:nvPr/>
        </p:nvSpPr>
        <p:spPr>
          <a:xfrm>
            <a:off x="1676400" y="6403200"/>
            <a:ext cx="6019800" cy="2769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i="0" u="none" strike="noStrike" cap="none" dirty="0">
                <a:solidFill>
                  <a:schemeClr val="dk1"/>
                </a:solidFill>
                <a:latin typeface="Verdana"/>
                <a:ea typeface="Verdana"/>
                <a:cs typeface="Verdana"/>
                <a:sym typeface="Verdana"/>
              </a:rPr>
              <a:t>Copyright © 2020, 2016, 2013 Pearson Education, Inc. All Rights Reserved</a:t>
            </a:r>
            <a:endParaRPr sz="1200" b="0" i="0" u="none" strike="noStrike" cap="none" dirty="0">
              <a:solidFill>
                <a:schemeClr val="dk1"/>
              </a:solidFill>
              <a:latin typeface="Verdana"/>
              <a:ea typeface="Verdana"/>
              <a:cs typeface="Verdana"/>
              <a:sym typeface="Verdana"/>
            </a:endParaRPr>
          </a:p>
        </p:txBody>
      </p:sp>
      <p:sp>
        <p:nvSpPr>
          <p:cNvPr id="17" name="Google Shape;17;p1"/>
          <p:cNvSpPr txBox="1"/>
          <p:nvPr/>
        </p:nvSpPr>
        <p:spPr>
          <a:xfrm>
            <a:off x="7848600" y="6428601"/>
            <a:ext cx="740520" cy="2462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b="0" i="0" u="none" strike="noStrike" cap="none" dirty="0">
                <a:solidFill>
                  <a:schemeClr val="dk1"/>
                </a:solidFill>
                <a:latin typeface="Arial"/>
                <a:ea typeface="Arial"/>
                <a:cs typeface="Arial"/>
                <a:sym typeface="Arial"/>
              </a:rPr>
              <a:t>Slide - </a:t>
            </a:r>
            <a:fld id="{00000000-1234-1234-1234-123412341234}" type="slidenum">
              <a:rPr lang="en-US" sz="1000" b="0" i="0" u="none" strike="noStrike" cap="none">
                <a:solidFill>
                  <a:schemeClr val="dk1"/>
                </a:solidFill>
                <a:latin typeface="Arial"/>
                <a:ea typeface="Arial"/>
                <a:cs typeface="Arial"/>
                <a:sym typeface="Arial"/>
              </a:rPr>
              <a:t>‹#›</a:t>
            </a:fld>
            <a:endParaRPr sz="1000" dirty="0">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13.xml"/><Relationship Id="rId7" Type="http://schemas.openxmlformats.org/officeDocument/2006/relationships/image" Target="../media/image15.wmf"/><Relationship Id="rId2" Type="http://schemas.openxmlformats.org/officeDocument/2006/relationships/slideLayout" Target="../slideLayouts/slideLayout5.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6.wmf"/></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23.wmf"/><Relationship Id="rId3" Type="http://schemas.openxmlformats.org/officeDocument/2006/relationships/notesSlide" Target="../notesSlides/notesSlide15.xml"/><Relationship Id="rId7" Type="http://schemas.openxmlformats.org/officeDocument/2006/relationships/image" Target="../media/image20.wmf"/><Relationship Id="rId12" Type="http://schemas.openxmlformats.org/officeDocument/2006/relationships/oleObject" Target="../embeddings/oleObject12.bin"/><Relationship Id="rId17" Type="http://schemas.openxmlformats.org/officeDocument/2006/relationships/image" Target="../media/image25.wmf"/><Relationship Id="rId2" Type="http://schemas.openxmlformats.org/officeDocument/2006/relationships/slideLayout" Target="../slideLayouts/slideLayout8.xml"/><Relationship Id="rId16" Type="http://schemas.openxmlformats.org/officeDocument/2006/relationships/oleObject" Target="../embeddings/oleObject14.bin"/><Relationship Id="rId1" Type="http://schemas.openxmlformats.org/officeDocument/2006/relationships/vmlDrawing" Target="../drawings/vmlDrawing5.vml"/><Relationship Id="rId6" Type="http://schemas.openxmlformats.org/officeDocument/2006/relationships/oleObject" Target="../embeddings/oleObject9.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21.wmf"/><Relationship Id="rId1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6.xml"/><Relationship Id="rId1" Type="http://schemas.openxmlformats.org/officeDocument/2006/relationships/vmlDrawing" Target="../drawings/vmlDrawing6.vml"/><Relationship Id="rId6" Type="http://schemas.openxmlformats.org/officeDocument/2006/relationships/image" Target="../media/image26.wmf"/><Relationship Id="rId5" Type="http://schemas.openxmlformats.org/officeDocument/2006/relationships/oleObject" Target="../embeddings/oleObject15.bin"/><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notesSlide" Target="../notesSlides/notesSlide20.xml"/><Relationship Id="rId7" Type="http://schemas.openxmlformats.org/officeDocument/2006/relationships/image" Target="../media/image32.wmf"/><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17.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33.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notesSlide" Target="../notesSlides/notesSlide21.xml"/><Relationship Id="rId7" Type="http://schemas.openxmlformats.org/officeDocument/2006/relationships/image" Target="../media/image36.wmf"/><Relationship Id="rId2" Type="http://schemas.openxmlformats.org/officeDocument/2006/relationships/slideLayout" Target="../slideLayouts/slideLayout9.xml"/><Relationship Id="rId1" Type="http://schemas.openxmlformats.org/officeDocument/2006/relationships/vmlDrawing" Target="../drawings/vmlDrawing8.vml"/><Relationship Id="rId6" Type="http://schemas.openxmlformats.org/officeDocument/2006/relationships/oleObject" Target="../embeddings/oleObject21.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37.wmf"/></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vmlDrawing" Target="../drawings/vmlDrawing9.vml"/><Relationship Id="rId6" Type="http://schemas.openxmlformats.org/officeDocument/2006/relationships/image" Target="../media/image41.wmf"/><Relationship Id="rId5" Type="http://schemas.openxmlformats.org/officeDocument/2006/relationships/oleObject" Target="../embeddings/oleObject24.bin"/><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vmlDrawing" Target="../drawings/vmlDrawing10.vml"/><Relationship Id="rId6" Type="http://schemas.openxmlformats.org/officeDocument/2006/relationships/image" Target="../media/image44.wmf"/><Relationship Id="rId5" Type="http://schemas.openxmlformats.org/officeDocument/2006/relationships/oleObject" Target="../embeddings/oleObject25.bin"/><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Title 1"/>
          <p:cNvSpPr txBox="1">
            <a:spLocks noGrp="1"/>
          </p:cNvSpPr>
          <p:nvPr>
            <p:ph type="title"/>
          </p:nvPr>
        </p:nvSpPr>
        <p:spPr>
          <a:xfrm>
            <a:off x="457200" y="193965"/>
            <a:ext cx="8229600" cy="11079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Business Analytics: Methods, Models, and Decisions</a:t>
            </a:r>
            <a:endParaRPr sz="3600" b="1" i="0" u="none" strike="noStrike" cap="none" dirty="0">
              <a:solidFill>
                <a:srgbClr val="007FA3"/>
              </a:solidFill>
              <a:latin typeface="+mj-lt"/>
              <a:ea typeface="Arial"/>
              <a:cs typeface="Arial"/>
              <a:sym typeface="Arial"/>
            </a:endParaRPr>
          </a:p>
        </p:txBody>
      </p:sp>
      <p:sp>
        <p:nvSpPr>
          <p:cNvPr id="213" name="Text Placeholder 2"/>
          <p:cNvSpPr txBox="1">
            <a:spLocks noGrp="1"/>
          </p:cNvSpPr>
          <p:nvPr>
            <p:ph type="body" idx="1"/>
          </p:nvPr>
        </p:nvSpPr>
        <p:spPr>
          <a:xfrm>
            <a:off x="457200" y="1366920"/>
            <a:ext cx="1905000" cy="385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000"/>
              <a:buFont typeface="Arial"/>
              <a:buNone/>
            </a:pPr>
            <a:r>
              <a:rPr lang="en-US" sz="2000" b="0" i="0" u="none" strike="noStrike" cap="none" dirty="0">
                <a:solidFill>
                  <a:srgbClr val="007FA3"/>
                </a:solidFill>
                <a:latin typeface="+mn-lt"/>
                <a:ea typeface="Arial"/>
                <a:cs typeface="Arial"/>
                <a:sym typeface="Arial"/>
              </a:rPr>
              <a:t>Third Edition</a:t>
            </a:r>
            <a:endParaRPr sz="2000" b="0" i="0" u="none" strike="noStrike" cap="none" dirty="0">
              <a:solidFill>
                <a:srgbClr val="007FA3"/>
              </a:solidFill>
              <a:latin typeface="+mn-lt"/>
              <a:ea typeface="Arial"/>
              <a:cs typeface="Arial"/>
              <a:sym typeface="Arial"/>
            </a:endParaRPr>
          </a:p>
        </p:txBody>
      </p:sp>
      <p:sp>
        <p:nvSpPr>
          <p:cNvPr id="217" name="Text Placeholder 6"/>
          <p:cNvSpPr txBox="1">
            <a:spLocks noGrp="1"/>
          </p:cNvSpPr>
          <p:nvPr>
            <p:ph type="body" idx="2"/>
          </p:nvPr>
        </p:nvSpPr>
        <p:spPr>
          <a:xfrm>
            <a:off x="5172075" y="3533776"/>
            <a:ext cx="3617198" cy="1401848"/>
          </a:xfrm>
          <a:prstGeom prst="rect">
            <a:avLst/>
          </a:prstGeom>
          <a:noFill/>
          <a:ln>
            <a:noFill/>
          </a:ln>
        </p:spPr>
        <p:txBody>
          <a:bodyPr spcFirstLastPara="1" wrap="square" lIns="0" tIns="0" rIns="0" bIns="0" anchor="b" anchorCtr="0">
            <a:noAutofit/>
          </a:bodyPr>
          <a:lstStyle/>
          <a:p>
            <a:pPr marL="0" lvl="0" indent="0" algn="ctr">
              <a:buSzPts val="3600"/>
            </a:pPr>
            <a:r>
              <a:rPr lang="en-US" sz="3600" dirty="0">
                <a:latin typeface="+mn-lt"/>
              </a:rPr>
              <a:t>Forecasting Techniques</a:t>
            </a:r>
          </a:p>
        </p:txBody>
      </p:sp>
      <p:pic>
        <p:nvPicPr>
          <p:cNvPr id="8" name="Picture 5" descr="Front Cover: Business Analytics: Methods, Models, and Decisions Third Edition by Evans."/>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68325" y="1905000"/>
            <a:ext cx="3470275" cy="4114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Lst>
        </p:spPr>
      </p:pic>
      <p:sp>
        <p:nvSpPr>
          <p:cNvPr id="215" name="Text Placeholder 4"/>
          <p:cNvSpPr txBox="1">
            <a:spLocks noGrp="1"/>
          </p:cNvSpPr>
          <p:nvPr>
            <p:ph type="body" idx="3"/>
          </p:nvPr>
        </p:nvSpPr>
        <p:spPr>
          <a:xfrm>
            <a:off x="1691641" y="6448760"/>
            <a:ext cx="5990272" cy="260432"/>
          </a:xfrm>
          <a:prstGeom prst="rect">
            <a:avLst/>
          </a:prstGeom>
          <a:noFill/>
          <a:ln>
            <a:noFill/>
          </a:ln>
        </p:spPr>
        <p:txBody>
          <a:bodyPr spcFirstLastPara="1" wrap="square" lIns="0" tIns="0" rIns="0" bIns="0" anchor="t" anchorCtr="0">
            <a:noAutofit/>
          </a:bodyPr>
          <a:lstStyle/>
          <a:p>
            <a:pPr marL="0" lvl="0" indent="0" algn="ctr">
              <a:buClr>
                <a:srgbClr val="000000"/>
              </a:buClr>
              <a:buSzPts val="1200"/>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sym typeface="Verdana"/>
              </a:rPr>
              <a:t>Copyright © 2020, 2016, 2013 Pearson Education, Inc. All Rights Reserved</a:t>
            </a:r>
          </a:p>
        </p:txBody>
      </p:sp>
      <p:sp>
        <p:nvSpPr>
          <p:cNvPr id="2" name="TextBox 1"/>
          <p:cNvSpPr txBox="1"/>
          <p:nvPr/>
        </p:nvSpPr>
        <p:spPr>
          <a:xfrm>
            <a:off x="5468112" y="5269000"/>
            <a:ext cx="2779776" cy="954107"/>
          </a:xfrm>
          <a:prstGeom prst="rect">
            <a:avLst/>
          </a:prstGeom>
          <a:noFill/>
        </p:spPr>
        <p:txBody>
          <a:bodyPr wrap="square" rtlCol="0">
            <a:spAutoFit/>
          </a:bodyPr>
          <a:lstStyle/>
          <a:p>
            <a:r>
              <a:rPr lang="en-US" dirty="0">
                <a:solidFill>
                  <a:schemeClr val="bg1"/>
                </a:solidFill>
                <a:latin typeface="+mn-lt"/>
              </a:rPr>
              <a:t>Slides in this presentation contain hyperlinks. JAWS users should be able to get a list of links by using INSERT+F7</a:t>
            </a:r>
          </a:p>
        </p:txBody>
      </p:sp>
    </p:spTree>
    <p:extLst>
      <p:ext uri="{BB962C8B-B14F-4D97-AF65-F5344CB8AC3E}">
        <p14:creationId xmlns:p14="http://schemas.microsoft.com/office/powerpoint/2010/main" val="251539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Forecasting Techniques</a:t>
            </a:r>
            <a:endParaRPr sz="3600" b="1" i="0" u="none" strike="noStrike" cap="none" dirty="0">
              <a:solidFill>
                <a:srgbClr val="007FA3"/>
              </a:solidFill>
              <a:latin typeface="+mj-lt"/>
              <a:ea typeface="Arial"/>
              <a:cs typeface="Arial"/>
              <a:sym typeface="Arial"/>
            </a:endParaRPr>
          </a:p>
        </p:txBody>
      </p:sp>
      <p:sp>
        <p:nvSpPr>
          <p:cNvPr id="216" name="Content Placeholder 2"/>
          <p:cNvSpPr txBox="1">
            <a:spLocks noGrp="1"/>
          </p:cNvSpPr>
          <p:nvPr>
            <p:ph type="body" idx="1"/>
          </p:nvPr>
        </p:nvSpPr>
        <p:spPr>
          <a:xfrm>
            <a:off x="457200" y="1600200"/>
            <a:ext cx="8229600" cy="2247900"/>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2600" b="0" i="0" u="none" strike="noStrike" cap="none" dirty="0">
                <a:solidFill>
                  <a:srgbClr val="000000"/>
                </a:solidFill>
                <a:latin typeface="+mn-lt"/>
                <a:sym typeface="Arial"/>
              </a:rPr>
              <a:t>Managers require good forecasts of future events.</a:t>
            </a:r>
            <a:endParaRPr sz="2600" dirty="0">
              <a:latin typeface="+mn-lt"/>
            </a:endParaRPr>
          </a:p>
          <a:p>
            <a:pPr marL="256032" marR="0" lvl="0" indent="-256032" algn="l" rtl="0">
              <a:spcAft>
                <a:spcPts val="0"/>
              </a:spcAft>
              <a:buClr>
                <a:srgbClr val="007FA3"/>
              </a:buClr>
              <a:buSzPct val="100000"/>
              <a:buFont typeface="Arial"/>
              <a:buChar char="•"/>
            </a:pPr>
            <a:r>
              <a:rPr lang="en-US" sz="2600" b="0" i="0" u="none" strike="noStrike" cap="none" dirty="0">
                <a:solidFill>
                  <a:srgbClr val="000000"/>
                </a:solidFill>
                <a:latin typeface="+mn-lt"/>
                <a:sym typeface="Arial"/>
              </a:rPr>
              <a:t>Business Analysts may choose from a wide range of forecasting techniques to support decision making.</a:t>
            </a:r>
            <a:endParaRPr sz="2600" dirty="0">
              <a:latin typeface="+mn-lt"/>
            </a:endParaRPr>
          </a:p>
          <a:p>
            <a:pPr marL="256032" marR="0" lvl="0" indent="-256032" algn="l" rtl="0">
              <a:spcAft>
                <a:spcPts val="0"/>
              </a:spcAft>
              <a:buClr>
                <a:srgbClr val="007FA3"/>
              </a:buClr>
              <a:buSzPct val="100000"/>
              <a:buFont typeface="Arial"/>
              <a:buChar char="•"/>
            </a:pPr>
            <a:r>
              <a:rPr lang="en-US" sz="2600" b="0" i="0" u="none" strike="noStrike" cap="none" dirty="0">
                <a:solidFill>
                  <a:srgbClr val="000000"/>
                </a:solidFill>
                <a:latin typeface="+mn-lt"/>
                <a:sym typeface="Arial"/>
              </a:rPr>
              <a:t>Three major categories of forecasting approaches:</a:t>
            </a:r>
            <a:endParaRPr sz="2600" b="0" i="0" u="none" strike="noStrike" cap="none" dirty="0">
              <a:solidFill>
                <a:srgbClr val="000000"/>
              </a:solidFill>
              <a:latin typeface="+mn-lt"/>
              <a:sym typeface="Arial"/>
            </a:endParaRPr>
          </a:p>
        </p:txBody>
      </p:sp>
      <p:sp>
        <p:nvSpPr>
          <p:cNvPr id="217" name="Content Placeholder 3"/>
          <p:cNvSpPr txBox="1">
            <a:spLocks noGrp="1"/>
          </p:cNvSpPr>
          <p:nvPr>
            <p:ph type="body" idx="2"/>
          </p:nvPr>
        </p:nvSpPr>
        <p:spPr>
          <a:xfrm>
            <a:off x="457200" y="3932034"/>
            <a:ext cx="8229600" cy="1434152"/>
          </a:xfrm>
          <a:prstGeom prst="rect">
            <a:avLst/>
          </a:prstGeom>
          <a:noFill/>
          <a:ln>
            <a:noFill/>
          </a:ln>
        </p:spPr>
        <p:txBody>
          <a:bodyPr spcFirstLastPara="1" wrap="square" lIns="0" tIns="0" rIns="0" bIns="0" anchor="t" anchorCtr="0">
            <a:noAutofit/>
          </a:bodyPr>
          <a:lstStyle/>
          <a:p>
            <a:pPr marL="740664" marR="0" lvl="0" indent="-429768" algn="l" rtl="0">
              <a:spcBef>
                <a:spcPts val="600"/>
              </a:spcBef>
              <a:spcAft>
                <a:spcPts val="0"/>
              </a:spcAft>
              <a:buClr>
                <a:srgbClr val="007FA3"/>
              </a:buClr>
              <a:buSzPct val="100000"/>
              <a:buFont typeface="Arial"/>
              <a:buAutoNum type="arabicPeriod"/>
            </a:pPr>
            <a:r>
              <a:rPr lang="en-US" sz="2600" b="0" i="0" u="none" strike="noStrike" cap="none" dirty="0">
                <a:solidFill>
                  <a:srgbClr val="000000"/>
                </a:solidFill>
                <a:latin typeface="+mn-lt"/>
                <a:sym typeface="Arial"/>
              </a:rPr>
              <a:t>Qualitative and judgmental techniques</a:t>
            </a:r>
            <a:endParaRPr sz="2600" dirty="0">
              <a:latin typeface="+mn-lt"/>
            </a:endParaRPr>
          </a:p>
          <a:p>
            <a:pPr marL="740664" marR="0" lvl="0" indent="-429768" algn="l" rtl="0">
              <a:spcBef>
                <a:spcPts val="600"/>
              </a:spcBef>
              <a:spcAft>
                <a:spcPts val="0"/>
              </a:spcAft>
              <a:buClr>
                <a:srgbClr val="007FA3"/>
              </a:buClr>
              <a:buSzPct val="100000"/>
              <a:buFont typeface="Arial"/>
              <a:buAutoNum type="arabicPeriod"/>
            </a:pPr>
            <a:r>
              <a:rPr lang="en-US" sz="2600" b="0" i="0" u="none" strike="noStrike" cap="none" dirty="0">
                <a:solidFill>
                  <a:srgbClr val="000000"/>
                </a:solidFill>
                <a:latin typeface="+mn-lt"/>
                <a:sym typeface="Arial"/>
              </a:rPr>
              <a:t>Statistical time-series models</a:t>
            </a:r>
            <a:endParaRPr sz="2600" dirty="0">
              <a:latin typeface="+mn-lt"/>
            </a:endParaRPr>
          </a:p>
          <a:p>
            <a:pPr marL="740664" marR="0" lvl="0" indent="-429768" algn="l" rtl="0">
              <a:spcBef>
                <a:spcPts val="600"/>
              </a:spcBef>
              <a:spcAft>
                <a:spcPts val="0"/>
              </a:spcAft>
              <a:buClr>
                <a:srgbClr val="007FA3"/>
              </a:buClr>
              <a:buSzPct val="100000"/>
              <a:buFont typeface="Arial"/>
              <a:buAutoNum type="arabicPeriod"/>
            </a:pPr>
            <a:r>
              <a:rPr lang="en-US" sz="2600" b="0" i="0" u="none" strike="noStrike" cap="none" dirty="0">
                <a:solidFill>
                  <a:srgbClr val="000000"/>
                </a:solidFill>
                <a:latin typeface="+mn-lt"/>
                <a:sym typeface="Arial"/>
              </a:rPr>
              <a:t>Explanatory/causal models</a:t>
            </a:r>
            <a:endParaRPr sz="2600" b="0" i="0" u="none" strike="noStrike" cap="none" dirty="0">
              <a:solidFill>
                <a:srgbClr val="000000"/>
              </a:solidFill>
              <a:latin typeface="+mn-lt"/>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Qualitative and Judgmental Forecasting</a:t>
            </a:r>
            <a:endParaRPr sz="3600" b="1" i="0" u="none" strike="noStrike" cap="none" dirty="0">
              <a:solidFill>
                <a:srgbClr val="007FA3"/>
              </a:solidFill>
              <a:latin typeface="+mj-lt"/>
              <a:ea typeface="Arial"/>
              <a:cs typeface="Arial"/>
              <a:sym typeface="Arial"/>
            </a:endParaRPr>
          </a:p>
        </p:txBody>
      </p:sp>
      <p:sp>
        <p:nvSpPr>
          <p:cNvPr id="223" name="Content Placeholder 2"/>
          <p:cNvSpPr txBox="1">
            <a:spLocks noGrp="1"/>
          </p:cNvSpPr>
          <p:nvPr>
            <p:ph type="body" idx="1"/>
          </p:nvPr>
        </p:nvSpPr>
        <p:spPr>
          <a:xfrm>
            <a:off x="457200" y="1600200"/>
            <a:ext cx="8229600" cy="4724400"/>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2600" b="0" i="0" u="none" strike="noStrike" cap="none" dirty="0">
                <a:solidFill>
                  <a:srgbClr val="000000"/>
                </a:solidFill>
                <a:latin typeface="+mn-lt"/>
                <a:sym typeface="Arial"/>
              </a:rPr>
              <a:t>Qualitative and Judgmental techniques rely on experience and intuition.</a:t>
            </a:r>
            <a:endParaRPr sz="2600" dirty="0">
              <a:latin typeface="+mn-lt"/>
            </a:endParaRPr>
          </a:p>
          <a:p>
            <a:pPr marL="256032" marR="0" lvl="0" indent="-256032" algn="l" rtl="0">
              <a:spcAft>
                <a:spcPts val="0"/>
              </a:spcAft>
              <a:buClr>
                <a:srgbClr val="007FA3"/>
              </a:buClr>
              <a:buSzPct val="100000"/>
              <a:buFont typeface="Arial"/>
              <a:buChar char="•"/>
            </a:pPr>
            <a:r>
              <a:rPr lang="en-US" sz="2600" b="0" i="0" u="none" strike="noStrike" cap="none" dirty="0">
                <a:solidFill>
                  <a:srgbClr val="000000"/>
                </a:solidFill>
                <a:latin typeface="+mn-lt"/>
                <a:sym typeface="Arial"/>
              </a:rPr>
              <a:t>They are necessary when historical data is not available or when predictions are needed far into the future.</a:t>
            </a:r>
            <a:endParaRPr sz="2600" dirty="0">
              <a:latin typeface="+mn-lt"/>
            </a:endParaRPr>
          </a:p>
          <a:p>
            <a:pPr marL="256032" marR="0" lvl="0" indent="-256032" algn="l" rtl="0">
              <a:spcAft>
                <a:spcPts val="0"/>
              </a:spcAft>
              <a:buClr>
                <a:srgbClr val="007FA3"/>
              </a:buClr>
              <a:buSzPct val="100000"/>
              <a:buFont typeface="Arial"/>
              <a:buChar char="•"/>
            </a:pPr>
            <a:r>
              <a:rPr lang="en-US" sz="2600" b="0" i="0" u="none" strike="noStrike" cap="none" dirty="0">
                <a:solidFill>
                  <a:srgbClr val="000000"/>
                </a:solidFill>
                <a:latin typeface="+mn-lt"/>
                <a:sym typeface="Arial"/>
              </a:rPr>
              <a:t>The </a:t>
            </a:r>
            <a:r>
              <a:rPr lang="en-US" sz="2600" b="1" i="0" u="none" strike="noStrike" cap="none" dirty="0">
                <a:solidFill>
                  <a:srgbClr val="000000"/>
                </a:solidFill>
                <a:latin typeface="+mn-lt"/>
                <a:sym typeface="Arial"/>
              </a:rPr>
              <a:t>historical analogy </a:t>
            </a:r>
            <a:r>
              <a:rPr lang="en-US" sz="2600" b="0" i="0" u="none" strike="noStrike" cap="none" dirty="0">
                <a:solidFill>
                  <a:srgbClr val="000000"/>
                </a:solidFill>
                <a:latin typeface="+mn-lt"/>
                <a:sym typeface="Arial"/>
              </a:rPr>
              <a:t>approach obtains a forecast through comparative analysis with prior situations.</a:t>
            </a:r>
            <a:endParaRPr sz="2600" dirty="0">
              <a:latin typeface="+mn-lt"/>
            </a:endParaRPr>
          </a:p>
          <a:p>
            <a:pPr marL="256032" marR="0" lvl="0" indent="-256032" algn="l" rtl="0">
              <a:spcAft>
                <a:spcPts val="0"/>
              </a:spcAft>
              <a:buClr>
                <a:srgbClr val="007FA3"/>
              </a:buClr>
              <a:buSzPct val="100000"/>
              <a:buFont typeface="Arial"/>
              <a:buChar char="•"/>
            </a:pPr>
            <a:r>
              <a:rPr lang="en-US" sz="2600" b="0" i="0" u="none" strike="noStrike" cap="none" dirty="0">
                <a:solidFill>
                  <a:srgbClr val="000000"/>
                </a:solidFill>
                <a:latin typeface="+mn-lt"/>
                <a:sym typeface="Arial"/>
              </a:rPr>
              <a:t>The </a:t>
            </a:r>
            <a:r>
              <a:rPr lang="en-US" sz="2600" b="1" i="0" u="none" strike="noStrike" cap="none" dirty="0">
                <a:solidFill>
                  <a:srgbClr val="000000"/>
                </a:solidFill>
                <a:latin typeface="+mn-lt"/>
                <a:sym typeface="Arial"/>
              </a:rPr>
              <a:t>Delphi method </a:t>
            </a:r>
            <a:r>
              <a:rPr lang="en-US" sz="2600" b="0" i="0" u="none" strike="noStrike" cap="none" dirty="0">
                <a:solidFill>
                  <a:srgbClr val="000000"/>
                </a:solidFill>
                <a:latin typeface="+mn-lt"/>
                <a:sym typeface="Arial"/>
              </a:rPr>
              <a:t>questions an anonymous panel of experts 2-3 times in order to reach a convergence of opinion on the forecasted variable.</a:t>
            </a:r>
            <a:endParaRPr sz="2600" b="0" i="0" u="none" strike="noStrike" cap="none" dirty="0">
              <a:solidFill>
                <a:schemeClr val="dk1"/>
              </a:solidFill>
              <a:latin typeface="+mn-lt"/>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Example 9.1: Predicting the Price of Oil</a:t>
            </a:r>
            <a:endParaRPr sz="3600" b="1" i="0" u="none" strike="noStrike" cap="none" dirty="0">
              <a:solidFill>
                <a:srgbClr val="007FA3"/>
              </a:solidFill>
              <a:latin typeface="+mj-lt"/>
              <a:ea typeface="Arial"/>
              <a:cs typeface="Arial"/>
              <a:sym typeface="Arial"/>
            </a:endParaRPr>
          </a:p>
        </p:txBody>
      </p:sp>
      <p:sp>
        <p:nvSpPr>
          <p:cNvPr id="229" name="Content Placeholder 2"/>
          <p:cNvSpPr txBox="1">
            <a:spLocks noGrp="1"/>
          </p:cNvSpPr>
          <p:nvPr>
            <p:ph type="body" idx="1"/>
          </p:nvPr>
        </p:nvSpPr>
        <p:spPr>
          <a:xfrm>
            <a:off x="457200" y="1600200"/>
            <a:ext cx="8382000" cy="4295775"/>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2200" b="0" i="0" u="none" strike="noStrike" cap="none" dirty="0">
                <a:solidFill>
                  <a:srgbClr val="000000"/>
                </a:solidFill>
                <a:latin typeface="+mn-lt"/>
                <a:sym typeface="Arial"/>
              </a:rPr>
              <a:t>Early 1988 - oil price was about $22 a barrel</a:t>
            </a:r>
            <a:endParaRPr sz="2200" dirty="0">
              <a:latin typeface="+mn-lt"/>
            </a:endParaRPr>
          </a:p>
          <a:p>
            <a:pPr marL="256032" marR="0" lvl="0" indent="-256032" algn="l" rtl="0">
              <a:spcAft>
                <a:spcPts val="0"/>
              </a:spcAft>
              <a:buClr>
                <a:srgbClr val="007FA3"/>
              </a:buClr>
              <a:buSzPct val="100000"/>
              <a:buFont typeface="Arial"/>
              <a:buChar char="•"/>
            </a:pPr>
            <a:r>
              <a:rPr lang="en-US" sz="2200" b="0" i="0" u="none" strike="noStrike" cap="none" dirty="0">
                <a:solidFill>
                  <a:srgbClr val="000000"/>
                </a:solidFill>
                <a:latin typeface="+mn-lt"/>
                <a:sym typeface="Arial"/>
              </a:rPr>
              <a:t>Mid-1988 - oil price dropped to $11 a barrel because of oversupply, high production in non-O</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P</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E</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C regions, and lower than normal demand</a:t>
            </a:r>
            <a:endParaRPr sz="2200" dirty="0">
              <a:latin typeface="+mn-lt"/>
            </a:endParaRPr>
          </a:p>
          <a:p>
            <a:pPr marL="256032" marR="0" lvl="0" indent="-256032" algn="l" rtl="0">
              <a:spcAft>
                <a:spcPts val="0"/>
              </a:spcAft>
              <a:buClr>
                <a:srgbClr val="007FA3"/>
              </a:buClr>
              <a:buSzPct val="100000"/>
              <a:buFont typeface="Arial"/>
              <a:buChar char="•"/>
            </a:pPr>
            <a:r>
              <a:rPr lang="en-US" sz="2200" b="0" i="0" u="none" strike="noStrike" cap="none" dirty="0">
                <a:solidFill>
                  <a:srgbClr val="000000"/>
                </a:solidFill>
                <a:latin typeface="+mn-lt"/>
                <a:sym typeface="Arial"/>
              </a:rPr>
              <a:t>In the past, O</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P</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E</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C would raise the price of oil.</a:t>
            </a:r>
            <a:endParaRPr sz="2200" dirty="0">
              <a:latin typeface="+mn-lt"/>
            </a:endParaRPr>
          </a:p>
          <a:p>
            <a:pPr marL="256032" marR="0" lvl="0" indent="-256032" algn="l" rtl="0">
              <a:spcAft>
                <a:spcPts val="0"/>
              </a:spcAft>
              <a:buClr>
                <a:srgbClr val="007FA3"/>
              </a:buClr>
              <a:buSzPct val="100000"/>
              <a:buFont typeface="Arial"/>
              <a:buChar char="•"/>
            </a:pPr>
            <a:r>
              <a:rPr lang="en-US" sz="2200" b="0" i="0" u="none" strike="noStrike" cap="none" dirty="0">
                <a:solidFill>
                  <a:srgbClr val="000000"/>
                </a:solidFill>
                <a:latin typeface="+mn-lt"/>
                <a:sym typeface="Arial"/>
              </a:rPr>
              <a:t>Historical analogy would forecast a higher price.</a:t>
            </a:r>
            <a:endParaRPr sz="2200" dirty="0">
              <a:latin typeface="+mn-lt"/>
            </a:endParaRPr>
          </a:p>
          <a:p>
            <a:pPr marL="256032" marR="0" lvl="0" indent="-256032" algn="l" rtl="0">
              <a:spcAft>
                <a:spcPts val="0"/>
              </a:spcAft>
              <a:buClr>
                <a:srgbClr val="007FA3"/>
              </a:buClr>
              <a:buSzPct val="100000"/>
              <a:buFont typeface="Arial"/>
              <a:buChar char="•"/>
            </a:pPr>
            <a:r>
              <a:rPr lang="en-US" sz="2200" b="0" i="0" u="none" strike="noStrike" cap="none" dirty="0">
                <a:solidFill>
                  <a:srgbClr val="000000"/>
                </a:solidFill>
                <a:latin typeface="+mn-lt"/>
                <a:sym typeface="Arial"/>
              </a:rPr>
              <a:t>However, the price continued to drop even though O</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P</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P</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E</a:t>
            </a:r>
            <a:r>
              <a:rPr lang="en-US" sz="100" b="0" i="0"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C agreed to cut production.</a:t>
            </a:r>
            <a:endParaRPr sz="2200" dirty="0">
              <a:latin typeface="+mn-lt"/>
            </a:endParaRPr>
          </a:p>
          <a:p>
            <a:pPr marL="256032" lvl="1" indent="-256032">
              <a:spcBef>
                <a:spcPts val="1500"/>
              </a:spcBef>
              <a:buSzPct val="100000"/>
              <a:buFont typeface="Arial"/>
              <a:buChar char="•"/>
            </a:pPr>
            <a:r>
              <a:rPr lang="en-US" sz="2200" b="0" i="0" u="none" strike="noStrike" cap="none" dirty="0">
                <a:solidFill>
                  <a:srgbClr val="000000"/>
                </a:solidFill>
                <a:latin typeface="+mn-lt"/>
                <a:sym typeface="Arial"/>
              </a:rPr>
              <a:t>Historical analogies cannot always account for current realities!</a:t>
            </a:r>
            <a:endParaRPr sz="2200" b="0" i="0" u="none" strike="noStrike" cap="none" dirty="0">
              <a:solidFill>
                <a:srgbClr val="000000"/>
              </a:solidFill>
              <a:latin typeface="+mn-lt"/>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Title 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Statistical Forecasting Models</a:t>
            </a:r>
            <a:endParaRPr sz="3600" b="1" i="0" u="none" strike="noStrike" cap="none" dirty="0">
              <a:solidFill>
                <a:srgbClr val="007FA3"/>
              </a:solidFill>
              <a:latin typeface="+mj-lt"/>
              <a:ea typeface="Arial"/>
              <a:cs typeface="Arial"/>
              <a:sym typeface="Arial"/>
            </a:endParaRPr>
          </a:p>
        </p:txBody>
      </p:sp>
      <p:sp>
        <p:nvSpPr>
          <p:cNvPr id="257" name="Content Placeholder 2"/>
          <p:cNvSpPr txBox="1">
            <a:spLocks noGrp="1"/>
          </p:cNvSpPr>
          <p:nvPr>
            <p:ph type="body" idx="1"/>
          </p:nvPr>
        </p:nvSpPr>
        <p:spPr>
          <a:xfrm>
            <a:off x="457200" y="1600201"/>
            <a:ext cx="7562850" cy="514349"/>
          </a:xfrm>
          <a:prstGeom prst="rect">
            <a:avLst/>
          </a:prstGeom>
          <a:noFill/>
          <a:ln>
            <a:noFill/>
          </a:ln>
        </p:spPr>
        <p:txBody>
          <a:bodyPr spcFirstLastPara="1" wrap="square" lIns="0" tIns="0" rIns="0" bIns="0" anchor="t" anchorCtr="0">
            <a:noAutofit/>
          </a:bodyPr>
          <a:lstStyle/>
          <a:p>
            <a:pPr marL="256032" lvl="0" indent="-256032">
              <a:buSzPct val="100000"/>
            </a:pPr>
            <a:r>
              <a:rPr lang="en-US" sz="2000" b="1" dirty="0">
                <a:latin typeface="+mn-lt"/>
              </a:rPr>
              <a:t>Time Series </a:t>
            </a:r>
            <a:r>
              <a:rPr lang="en-US" sz="2000" dirty="0">
                <a:latin typeface="+mn-lt"/>
              </a:rPr>
              <a:t>- a stream of historical data, such as weekly sales</a:t>
            </a:r>
            <a:endParaRPr sz="2000" dirty="0">
              <a:latin typeface="+mn-lt"/>
            </a:endParaRPr>
          </a:p>
        </p:txBody>
      </p:sp>
      <p:sp>
        <p:nvSpPr>
          <p:cNvPr id="258" name="Content Placeholder 3"/>
          <p:cNvSpPr txBox="1">
            <a:spLocks noGrp="1"/>
          </p:cNvSpPr>
          <p:nvPr>
            <p:ph type="body" idx="2"/>
          </p:nvPr>
        </p:nvSpPr>
        <p:spPr>
          <a:xfrm>
            <a:off x="457200" y="2236050"/>
            <a:ext cx="3433482" cy="392849"/>
          </a:xfrm>
          <a:prstGeom prst="rect">
            <a:avLst/>
          </a:prstGeom>
          <a:noFill/>
          <a:ln>
            <a:noFill/>
          </a:ln>
        </p:spPr>
        <p:txBody>
          <a:bodyPr spcFirstLastPara="1" wrap="square" lIns="0" tIns="0" rIns="0" bIns="0" anchor="t" anchorCtr="0">
            <a:noAutofit/>
          </a:bodyPr>
          <a:lstStyle/>
          <a:p>
            <a:pPr marL="742950" marR="0" lvl="1" indent="-285750" algn="l" rtl="0">
              <a:spcAft>
                <a:spcPts val="0"/>
              </a:spcAft>
              <a:buClr>
                <a:srgbClr val="007FA3"/>
              </a:buClr>
              <a:buSzPct val="100000"/>
              <a:buFont typeface="Arial"/>
              <a:buChar char="–"/>
            </a:pPr>
            <a:r>
              <a:rPr lang="en-US" sz="2000" b="0" i="1" u="none" strike="noStrike" cap="none" dirty="0">
                <a:solidFill>
                  <a:srgbClr val="000000"/>
                </a:solidFill>
                <a:latin typeface="+mn-lt"/>
                <a:ea typeface="Arial"/>
                <a:cs typeface="Arial"/>
                <a:sym typeface="Arial"/>
              </a:rPr>
              <a:t>T</a:t>
            </a:r>
            <a:r>
              <a:rPr lang="en-US" sz="2000" b="0" i="0" u="none" strike="noStrike" cap="none" dirty="0">
                <a:solidFill>
                  <a:srgbClr val="000000"/>
                </a:solidFill>
                <a:latin typeface="+mn-lt"/>
                <a:ea typeface="Arial"/>
                <a:cs typeface="Arial"/>
                <a:sym typeface="Arial"/>
              </a:rPr>
              <a:t> = number of periods,</a:t>
            </a:r>
            <a:endParaRPr sz="2000" b="0" i="0" u="none" strike="noStrike" cap="none" dirty="0">
              <a:solidFill>
                <a:schemeClr val="dk1"/>
              </a:solidFill>
              <a:latin typeface="+mn-lt"/>
              <a:ea typeface="Arial"/>
              <a:cs typeface="Arial"/>
              <a:sym typeface="Arial"/>
            </a:endParaRPr>
          </a:p>
        </p:txBody>
      </p:sp>
      <p:graphicFrame>
        <p:nvGraphicFramePr>
          <p:cNvPr id="2" name="Object 1" descr="t = 1, 2, and so on T"/>
          <p:cNvGraphicFramePr>
            <a:graphicFrameLocks noChangeAspect="1"/>
          </p:cNvGraphicFramePr>
          <p:nvPr>
            <p:extLst>
              <p:ext uri="{D42A27DB-BD31-4B8C-83A1-F6EECF244321}">
                <p14:modId xmlns:p14="http://schemas.microsoft.com/office/powerpoint/2010/main" val="1248007875"/>
              </p:ext>
            </p:extLst>
          </p:nvPr>
        </p:nvGraphicFramePr>
        <p:xfrm>
          <a:off x="3977253" y="2298699"/>
          <a:ext cx="1511300" cy="330200"/>
        </p:xfrm>
        <a:graphic>
          <a:graphicData uri="http://schemas.openxmlformats.org/presentationml/2006/ole">
            <mc:AlternateContent xmlns:mc="http://schemas.openxmlformats.org/markup-compatibility/2006">
              <mc:Choice xmlns:v="urn:schemas-microsoft-com:vml" Requires="v">
                <p:oleObj spid="_x0000_s1030" name="Equation" r:id="rId4" imgW="1511280" imgH="330120" progId="Equation.DSMT4">
                  <p:embed/>
                </p:oleObj>
              </mc:Choice>
              <mc:Fallback>
                <p:oleObj name="Equation" r:id="rId4" imgW="1511280" imgH="330120" progId="Equation.DSMT4">
                  <p:embed/>
                  <p:pic>
                    <p:nvPicPr>
                      <p:cNvPr id="0" name=""/>
                      <p:cNvPicPr/>
                      <p:nvPr/>
                    </p:nvPicPr>
                    <p:blipFill>
                      <a:blip r:embed="rId5"/>
                      <a:stretch>
                        <a:fillRect/>
                      </a:stretch>
                    </p:blipFill>
                    <p:spPr>
                      <a:xfrm>
                        <a:off x="3977253" y="2298699"/>
                        <a:ext cx="1511300" cy="330200"/>
                      </a:xfrm>
                      <a:prstGeom prst="rect">
                        <a:avLst/>
                      </a:prstGeom>
                    </p:spPr>
                  </p:pic>
                </p:oleObj>
              </mc:Fallback>
            </mc:AlternateContent>
          </a:graphicData>
        </a:graphic>
      </p:graphicFrame>
      <p:sp>
        <p:nvSpPr>
          <p:cNvPr id="260" name="Content Placeholder 4"/>
          <p:cNvSpPr txBox="1">
            <a:spLocks noGrp="1"/>
          </p:cNvSpPr>
          <p:nvPr>
            <p:ph type="body" idx="3"/>
          </p:nvPr>
        </p:nvSpPr>
        <p:spPr>
          <a:xfrm>
            <a:off x="457200" y="2690923"/>
            <a:ext cx="8229600" cy="3477904"/>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2000" b="0" i="0" u="none" strike="noStrike" cap="none" dirty="0">
                <a:solidFill>
                  <a:schemeClr val="dk1"/>
                </a:solidFill>
                <a:latin typeface="+mn-lt"/>
                <a:sym typeface="Arial"/>
              </a:rPr>
              <a:t>Time series generally have components such as:</a:t>
            </a:r>
            <a:endParaRPr sz="2000" dirty="0">
              <a:latin typeface="+mn-lt"/>
            </a:endParaRPr>
          </a:p>
          <a:p>
            <a:pPr marL="740664" marR="0" lvl="1" indent="-283464" algn="l" rtl="0">
              <a:spcBef>
                <a:spcPts val="600"/>
              </a:spcBef>
              <a:spcAft>
                <a:spcPts val="0"/>
              </a:spcAft>
              <a:buClr>
                <a:srgbClr val="007FA3"/>
              </a:buClr>
              <a:buSzPts val="2500"/>
              <a:buFont typeface="Arial"/>
              <a:buChar char="–"/>
            </a:pPr>
            <a:r>
              <a:rPr lang="en-US" sz="2000" b="0" i="0" u="none" strike="noStrike" cap="none" dirty="0">
                <a:solidFill>
                  <a:schemeClr val="dk1"/>
                </a:solidFill>
                <a:latin typeface="+mn-lt"/>
                <a:sym typeface="Arial"/>
              </a:rPr>
              <a:t>random behavior</a:t>
            </a:r>
            <a:endParaRPr sz="2000" dirty="0">
              <a:latin typeface="+mn-lt"/>
            </a:endParaRPr>
          </a:p>
          <a:p>
            <a:pPr marL="740664" marR="0" lvl="1" indent="-283464" algn="l" rtl="0">
              <a:spcBef>
                <a:spcPts val="600"/>
              </a:spcBef>
              <a:spcAft>
                <a:spcPts val="0"/>
              </a:spcAft>
              <a:buClr>
                <a:srgbClr val="007FA3"/>
              </a:buClr>
              <a:buSzPts val="2500"/>
              <a:buFont typeface="Arial"/>
              <a:buChar char="–"/>
            </a:pPr>
            <a:r>
              <a:rPr lang="en-US" sz="2000" b="0" i="0" u="none" strike="noStrike" cap="none" dirty="0">
                <a:solidFill>
                  <a:schemeClr val="dk1"/>
                </a:solidFill>
                <a:latin typeface="+mn-lt"/>
                <a:sym typeface="Arial"/>
              </a:rPr>
              <a:t>trends (upward or downward)</a:t>
            </a:r>
            <a:endParaRPr sz="2000" dirty="0">
              <a:latin typeface="+mn-lt"/>
            </a:endParaRPr>
          </a:p>
          <a:p>
            <a:pPr marL="740664" marR="0" lvl="1" indent="-283464" algn="l" rtl="0">
              <a:spcBef>
                <a:spcPts val="600"/>
              </a:spcBef>
              <a:spcAft>
                <a:spcPts val="0"/>
              </a:spcAft>
              <a:buClr>
                <a:srgbClr val="007FA3"/>
              </a:buClr>
              <a:buSzPts val="2500"/>
              <a:buFont typeface="Arial"/>
              <a:buChar char="–"/>
            </a:pPr>
            <a:r>
              <a:rPr lang="en-US" sz="2000" b="0" i="0" u="none" strike="noStrike" cap="none" dirty="0">
                <a:solidFill>
                  <a:schemeClr val="dk1"/>
                </a:solidFill>
                <a:latin typeface="+mn-lt"/>
                <a:sym typeface="Arial"/>
              </a:rPr>
              <a:t>seasonal effects</a:t>
            </a:r>
            <a:endParaRPr sz="2000" b="0" i="0" u="none" strike="noStrike" cap="none" dirty="0">
              <a:solidFill>
                <a:schemeClr val="dk1"/>
              </a:solidFill>
              <a:latin typeface="+mn-lt"/>
              <a:sym typeface="Arial"/>
            </a:endParaRPr>
          </a:p>
          <a:p>
            <a:pPr marL="740664" marR="0" lvl="1" indent="-283464" algn="l" rtl="0">
              <a:spcBef>
                <a:spcPts val="600"/>
              </a:spcBef>
              <a:spcAft>
                <a:spcPts val="0"/>
              </a:spcAft>
              <a:buClr>
                <a:srgbClr val="007FA3"/>
              </a:buClr>
              <a:buSzPts val="2500"/>
              <a:buFont typeface="Arial"/>
              <a:buChar char="–"/>
            </a:pPr>
            <a:r>
              <a:rPr lang="en-US" sz="2000" b="0" i="0" u="none" strike="noStrike" cap="none" dirty="0">
                <a:solidFill>
                  <a:schemeClr val="dk1"/>
                </a:solidFill>
                <a:latin typeface="+mn-lt"/>
                <a:sym typeface="Arial"/>
              </a:rPr>
              <a:t>cyclical effects</a:t>
            </a:r>
            <a:endParaRPr sz="2000" dirty="0">
              <a:latin typeface="+mn-lt"/>
            </a:endParaRPr>
          </a:p>
          <a:p>
            <a:pPr marL="256032" indent="-256032">
              <a:buSzPct val="100000"/>
            </a:pPr>
            <a:r>
              <a:rPr lang="en-US" sz="2000" b="1" dirty="0">
                <a:latin typeface="+mn-lt"/>
              </a:rPr>
              <a:t>Stationary time series </a:t>
            </a:r>
            <a:r>
              <a:rPr lang="en-US" sz="2000" dirty="0">
                <a:latin typeface="+mn-lt"/>
              </a:rPr>
              <a:t>have only random behavior.</a:t>
            </a:r>
            <a:endParaRPr sz="2000" dirty="0">
              <a:latin typeface="+mn-lt"/>
            </a:endParaRPr>
          </a:p>
          <a:p>
            <a:pPr marL="256032" indent="-256032">
              <a:buSzPct val="100000"/>
            </a:pPr>
            <a:r>
              <a:rPr lang="en-US" sz="2000" dirty="0">
                <a:latin typeface="+mn-lt"/>
              </a:rPr>
              <a:t>A </a:t>
            </a:r>
            <a:r>
              <a:rPr lang="en-US" sz="2000" b="1" dirty="0">
                <a:latin typeface="+mn-lt"/>
              </a:rPr>
              <a:t>trend</a:t>
            </a:r>
            <a:r>
              <a:rPr lang="en-US" sz="2000" dirty="0">
                <a:latin typeface="+mn-lt"/>
              </a:rPr>
              <a:t> is a gradual upward or downward movement of a time series.</a:t>
            </a:r>
            <a:endParaRPr sz="2000" dirty="0">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Example 9.4: Identifying Trends in a Time Series</a:t>
            </a:r>
            <a:endParaRPr sz="3600" b="1" i="0" u="none" strike="noStrike" cap="none" dirty="0">
              <a:solidFill>
                <a:srgbClr val="007FA3"/>
              </a:solidFill>
              <a:latin typeface="+mj-lt"/>
              <a:ea typeface="Arial"/>
              <a:cs typeface="Arial"/>
              <a:sym typeface="Arial"/>
            </a:endParaRPr>
          </a:p>
        </p:txBody>
      </p:sp>
      <p:sp>
        <p:nvSpPr>
          <p:cNvPr id="266" name="Content Placeholder 2"/>
          <p:cNvSpPr txBox="1">
            <a:spLocks noGrp="1"/>
          </p:cNvSpPr>
          <p:nvPr>
            <p:ph type="body" idx="1"/>
          </p:nvPr>
        </p:nvSpPr>
        <p:spPr>
          <a:xfrm>
            <a:off x="457200" y="1600201"/>
            <a:ext cx="8229600" cy="1295399"/>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2200" b="0" i="0" u="none" strike="noStrike" cap="none" dirty="0">
                <a:solidFill>
                  <a:srgbClr val="000000"/>
                </a:solidFill>
                <a:latin typeface="+mn-lt"/>
                <a:sym typeface="Arial"/>
              </a:rPr>
              <a:t>Total</a:t>
            </a:r>
            <a:r>
              <a:rPr lang="en-US" sz="2200" b="0" i="1" u="none" strike="noStrike" cap="none" dirty="0">
                <a:solidFill>
                  <a:srgbClr val="000000"/>
                </a:solidFill>
                <a:latin typeface="+mn-lt"/>
                <a:sym typeface="Arial"/>
              </a:rPr>
              <a:t> </a:t>
            </a:r>
            <a:r>
              <a:rPr lang="en-US" sz="2200" b="0" i="0" u="none" strike="noStrike" cap="none" dirty="0">
                <a:solidFill>
                  <a:srgbClr val="000000"/>
                </a:solidFill>
                <a:latin typeface="+mn-lt"/>
                <a:sym typeface="Arial"/>
              </a:rPr>
              <a:t>Energy Production &amp; Consumption</a:t>
            </a:r>
            <a:endParaRPr sz="2200" dirty="0">
              <a:latin typeface="+mn-lt"/>
            </a:endParaRPr>
          </a:p>
          <a:p>
            <a:pPr marL="741553" marR="0" lvl="1" indent="-284353" algn="l" rtl="0">
              <a:spcBef>
                <a:spcPts val="600"/>
              </a:spcBef>
              <a:spcAft>
                <a:spcPts val="0"/>
              </a:spcAft>
              <a:buClr>
                <a:srgbClr val="007FA3"/>
              </a:buClr>
              <a:buSzPct val="100000"/>
              <a:buFont typeface="Arial"/>
              <a:buChar char="–"/>
            </a:pPr>
            <a:r>
              <a:rPr lang="en-US" sz="2200" b="0" i="0" u="none" strike="noStrike" cap="none" dirty="0">
                <a:solidFill>
                  <a:srgbClr val="000000"/>
                </a:solidFill>
                <a:latin typeface="+mn-lt"/>
                <a:sym typeface="Arial"/>
              </a:rPr>
              <a:t>General upward trend with some short downward trends; the time series is composed of several different short trends.</a:t>
            </a:r>
            <a:endParaRPr sz="2200" b="0" i="0" u="none" strike="noStrike" cap="none" dirty="0">
              <a:solidFill>
                <a:srgbClr val="000000"/>
              </a:solidFill>
              <a:latin typeface="+mn-lt"/>
              <a:sym typeface="Arial"/>
            </a:endParaRPr>
          </a:p>
        </p:txBody>
      </p:sp>
      <p:pic>
        <p:nvPicPr>
          <p:cNvPr id="267" name="Content Placeholder 2" descr="A graph titled, total energy consumption, plots quadrillion B T U versus years. The horizontal axis ranges from 19 49 to 20 12 in increments of 3. The vertical axis ranges from 0 to 20 in increments of 20. The graph is a curve that passes through the following points. (19 49, 30), (19 51, 38), (19 55, 41), (19 57, 42), (19 59, 44), (19 73, 74), (19 75, 71), (19 77, 80), (19 79, 82), (19 81, 72), (19 85, 76), (19 87, 79), (19 89, 84), (2000, 100), (2001, 96), (2003, 100), (2007, 100), (2009, 76), (20 11, 77), (20 13, 78), and (20 15, 77). The curve is encircled between three intervals of ordered pairs as follows. (19 49, 30) and (19 77, 80). (19 79, 82) and (2007, 100). (2006, 98) and (20 15, 77). All values estimated."/>
          <p:cNvPicPr preferRelativeResize="0"/>
          <p:nvPr/>
        </p:nvPicPr>
        <p:blipFill rotWithShape="1">
          <a:blip r:embed="rId3">
            <a:alphaModFix/>
          </a:blip>
          <a:srcRect/>
          <a:stretch/>
        </p:blipFill>
        <p:spPr>
          <a:xfrm>
            <a:off x="1909247" y="3150659"/>
            <a:ext cx="5325507" cy="32339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Seasonal Effects</a:t>
            </a:r>
            <a:endParaRPr sz="3600" b="1" i="0" u="none" strike="noStrike" cap="none" dirty="0">
              <a:solidFill>
                <a:srgbClr val="007FA3"/>
              </a:solidFill>
              <a:latin typeface="+mj-lt"/>
              <a:ea typeface="Arial"/>
              <a:cs typeface="Arial"/>
              <a:sym typeface="Arial"/>
            </a:endParaRPr>
          </a:p>
        </p:txBody>
      </p:sp>
      <p:sp>
        <p:nvSpPr>
          <p:cNvPr id="273" name="Content Placeholder 2"/>
          <p:cNvSpPr txBox="1">
            <a:spLocks noGrp="1"/>
          </p:cNvSpPr>
          <p:nvPr>
            <p:ph type="body" idx="1"/>
          </p:nvPr>
        </p:nvSpPr>
        <p:spPr>
          <a:xfrm>
            <a:off x="457200" y="1600201"/>
            <a:ext cx="8229600" cy="1066799"/>
          </a:xfrm>
          <a:prstGeom prst="rect">
            <a:avLst/>
          </a:prstGeom>
          <a:noFill/>
          <a:ln>
            <a:noFill/>
          </a:ln>
        </p:spPr>
        <p:txBody>
          <a:bodyPr spcFirstLastPara="1" wrap="square" lIns="0" tIns="0" rIns="0" bIns="0" anchor="t" anchorCtr="0">
            <a:noAutofit/>
          </a:bodyPr>
          <a:lstStyle/>
          <a:p>
            <a:pPr marL="256032" indent="-256032">
              <a:buSzPct val="100000"/>
            </a:pPr>
            <a:r>
              <a:rPr lang="en-US" sz="2400" dirty="0">
                <a:solidFill>
                  <a:srgbClr val="000000"/>
                </a:solidFill>
                <a:latin typeface="+mn-lt"/>
              </a:rPr>
              <a:t>A </a:t>
            </a:r>
            <a:r>
              <a:rPr lang="en-US" sz="2400" b="1" dirty="0">
                <a:solidFill>
                  <a:srgbClr val="000000"/>
                </a:solidFill>
                <a:latin typeface="+mn-lt"/>
              </a:rPr>
              <a:t>seasonal effect </a:t>
            </a:r>
            <a:r>
              <a:rPr lang="en-US" sz="2400" dirty="0">
                <a:solidFill>
                  <a:srgbClr val="000000"/>
                </a:solidFill>
                <a:latin typeface="+mn-lt"/>
              </a:rPr>
              <a:t>is one that repeats at fixed intervals of time, typically a year, month, week, or day.</a:t>
            </a:r>
            <a:endParaRPr sz="2400" dirty="0">
              <a:solidFill>
                <a:srgbClr val="000000"/>
              </a:solidFill>
              <a:latin typeface="+mn-lt"/>
            </a:endParaRPr>
          </a:p>
        </p:txBody>
      </p:sp>
      <p:pic>
        <p:nvPicPr>
          <p:cNvPr id="2" name="Picture 1" descr="A graph titled, gas use, plots natural gas usage versus months. The horizontal axis ranges from January to November. The vertical axis ranges from 0 to 300 in increments of 100. The graph is a curve that passes through the following points. (January, 250), (March, 150), (May, 40), (July, 35), (September, 38), (November, 75), (January, 230), (March, 260), (May, 40), (July, 36), (September, 38), and (November, 75). All values estimated."/>
          <p:cNvPicPr>
            <a:picLocks noChangeAspect="1"/>
          </p:cNvPicPr>
          <p:nvPr/>
        </p:nvPicPr>
        <p:blipFill>
          <a:blip r:embed="rId3"/>
          <a:stretch>
            <a:fillRect/>
          </a:stretch>
        </p:blipFill>
        <p:spPr>
          <a:xfrm>
            <a:off x="1380467" y="2831461"/>
            <a:ext cx="6383065" cy="30238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Cyclical Effects</a:t>
            </a:r>
            <a:endParaRPr sz="3600" b="1" i="0" u="none" strike="noStrike" cap="none" dirty="0">
              <a:solidFill>
                <a:srgbClr val="007FA3"/>
              </a:solidFill>
              <a:latin typeface="+mj-lt"/>
              <a:ea typeface="Arial"/>
              <a:cs typeface="Arial"/>
              <a:sym typeface="Arial"/>
            </a:endParaRPr>
          </a:p>
        </p:txBody>
      </p:sp>
      <p:sp>
        <p:nvSpPr>
          <p:cNvPr id="280" name="Content Placeholder 2"/>
          <p:cNvSpPr txBox="1">
            <a:spLocks noGrp="1"/>
          </p:cNvSpPr>
          <p:nvPr>
            <p:ph type="body" idx="1"/>
          </p:nvPr>
        </p:nvSpPr>
        <p:spPr>
          <a:xfrm>
            <a:off x="457200" y="1600200"/>
            <a:ext cx="8229600" cy="990599"/>
          </a:xfrm>
          <a:prstGeom prst="rect">
            <a:avLst/>
          </a:prstGeom>
          <a:noFill/>
          <a:ln>
            <a:noFill/>
          </a:ln>
        </p:spPr>
        <p:txBody>
          <a:bodyPr spcFirstLastPara="1" wrap="square" lIns="0" tIns="0" rIns="0" bIns="0" anchor="t" anchorCtr="0">
            <a:noAutofit/>
          </a:bodyPr>
          <a:lstStyle/>
          <a:p>
            <a:pPr marL="256032" lvl="0" indent="-256032">
              <a:buSzPct val="100000"/>
            </a:pPr>
            <a:r>
              <a:rPr lang="en-US" sz="2400" b="1" dirty="0">
                <a:solidFill>
                  <a:srgbClr val="000000"/>
                </a:solidFill>
                <a:latin typeface="+mn-lt"/>
              </a:rPr>
              <a:t>Cyclical effects</a:t>
            </a:r>
            <a:r>
              <a:rPr lang="en-US" sz="2400" dirty="0">
                <a:solidFill>
                  <a:srgbClr val="000000"/>
                </a:solidFill>
                <a:latin typeface="+mn-lt"/>
              </a:rPr>
              <a:t> describe ups and downs over a much longer time frame, such as several years.</a:t>
            </a:r>
            <a:endParaRPr sz="2400" dirty="0">
              <a:solidFill>
                <a:srgbClr val="000000"/>
              </a:solidFill>
              <a:latin typeface="+mn-lt"/>
            </a:endParaRPr>
          </a:p>
        </p:txBody>
      </p:sp>
      <p:pic>
        <p:nvPicPr>
          <p:cNvPr id="2" name="Picture 1" descr="A graph titled, federal funds rate, plots federal funds rate, in percent, versus months between 19 60 and 20 12. The horizontal axis ranges from January 19 60 to July 20 12 in increments of 10 months. The vertical axis ranges from 0.00% to 25.00% in increments of 5%. The graph is a curve that fluctuates through the following points. (January 19 60, 4.00), (October 19 61, 1.2), (January 19 67, 6.00), (April 19 67, 3.75), (January 19 70, 9.00), (July 19 70, 3.50), (January 19 72, 5.75), (April 19 72, 3.00), (January 19 74, 12.50), (October 19 75, 5.10), (January 19 81, 19.00), (October 19 82, 8.75), (July 19 84, 12.00), (January 19 88, 6.00), (October 19 89, 10.00), (April 19 93, 3.50), (April 2000, 6.25), (October 2003, 1.00), (July 2005, 5.00), (April 2007, 5.00), (January 2009, 0.00), and (July 20 12, 0.00). All values estimated. "/>
          <p:cNvPicPr>
            <a:picLocks noChangeAspect="1"/>
          </p:cNvPicPr>
          <p:nvPr/>
        </p:nvPicPr>
        <p:blipFill>
          <a:blip r:embed="rId3"/>
          <a:stretch>
            <a:fillRect/>
          </a:stretch>
        </p:blipFill>
        <p:spPr>
          <a:xfrm>
            <a:off x="1490482" y="2894159"/>
            <a:ext cx="6163036" cy="3364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Forecasting Models for Stationary Time Series</a:t>
            </a:r>
            <a:endParaRPr sz="3600" b="1" i="0" u="none" strike="noStrike" cap="none" dirty="0">
              <a:solidFill>
                <a:srgbClr val="007FA3"/>
              </a:solidFill>
              <a:latin typeface="+mj-lt"/>
              <a:ea typeface="Arial"/>
              <a:cs typeface="Arial"/>
              <a:sym typeface="Arial"/>
            </a:endParaRPr>
          </a:p>
        </p:txBody>
      </p:sp>
      <p:sp>
        <p:nvSpPr>
          <p:cNvPr id="287" name="Content Placeholder 2"/>
          <p:cNvSpPr txBox="1">
            <a:spLocks noGrp="1"/>
          </p:cNvSpPr>
          <p:nvPr>
            <p:ph type="body" idx="1"/>
          </p:nvPr>
        </p:nvSpPr>
        <p:spPr>
          <a:xfrm>
            <a:off x="457200" y="1600201"/>
            <a:ext cx="8229600" cy="1990724"/>
          </a:xfrm>
          <a:prstGeom prst="rect">
            <a:avLst/>
          </a:prstGeom>
          <a:noFill/>
          <a:ln>
            <a:noFill/>
          </a:ln>
        </p:spPr>
        <p:txBody>
          <a:bodyPr spcFirstLastPara="1" wrap="square" lIns="0" tIns="0" rIns="0" bIns="0" anchor="t" anchorCtr="0">
            <a:noAutofit/>
          </a:bodyPr>
          <a:lstStyle/>
          <a:p>
            <a:pPr marL="256032" indent="-256032">
              <a:buSzPct val="100000"/>
            </a:pPr>
            <a:r>
              <a:rPr lang="en-US" sz="2400" dirty="0">
                <a:solidFill>
                  <a:srgbClr val="000000"/>
                </a:solidFill>
                <a:latin typeface="+mn-lt"/>
              </a:rPr>
              <a:t>Moving average model</a:t>
            </a:r>
            <a:endParaRPr sz="2400" dirty="0">
              <a:solidFill>
                <a:srgbClr val="000000"/>
              </a:solidFill>
              <a:latin typeface="+mn-lt"/>
            </a:endParaRPr>
          </a:p>
          <a:p>
            <a:pPr marL="256032" indent="-256032">
              <a:buSzPct val="100000"/>
            </a:pPr>
            <a:r>
              <a:rPr lang="en-US" sz="2400" dirty="0">
                <a:solidFill>
                  <a:srgbClr val="000000"/>
                </a:solidFill>
                <a:latin typeface="+mn-lt"/>
              </a:rPr>
              <a:t>Exponential smoothing model</a:t>
            </a:r>
            <a:endParaRPr sz="2400" dirty="0">
              <a:solidFill>
                <a:srgbClr val="000000"/>
              </a:solidFill>
              <a:latin typeface="+mn-lt"/>
            </a:endParaRPr>
          </a:p>
          <a:p>
            <a:pPr marL="740664" lvl="2" indent="-283464">
              <a:buSzPct val="100000"/>
              <a:buFont typeface="Arial" panose="020B0604020202020204" pitchFamily="34" charset="0"/>
              <a:buChar char="–"/>
            </a:pPr>
            <a:r>
              <a:rPr lang="en-US" sz="2400" dirty="0">
                <a:solidFill>
                  <a:srgbClr val="000000"/>
                </a:solidFill>
                <a:latin typeface="+mn-lt"/>
              </a:rPr>
              <a:t>These are useful over short time periods when trend, seasonal, or cyclical effects are not significant.</a:t>
            </a:r>
            <a:endParaRPr sz="2400" dirty="0">
              <a:solidFill>
                <a:srgbClr val="000000"/>
              </a:solidFill>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latin typeface="+mj-lt"/>
              </a:rPr>
              <a:t>Moving Average Models</a:t>
            </a:r>
          </a:p>
        </p:txBody>
      </p:sp>
      <p:sp>
        <p:nvSpPr>
          <p:cNvPr id="5" name="Content Placeholder 2"/>
          <p:cNvSpPr>
            <a:spLocks noGrp="1"/>
          </p:cNvSpPr>
          <p:nvPr>
            <p:ph type="body" idx="1"/>
          </p:nvPr>
        </p:nvSpPr>
        <p:spPr>
          <a:xfrm>
            <a:off x="457200" y="1600200"/>
            <a:ext cx="8229600" cy="2466975"/>
          </a:xfrm>
        </p:spPr>
        <p:txBody>
          <a:bodyPr/>
          <a:lstStyle/>
          <a:p>
            <a:pPr marL="256032" lvl="0" indent="-256032">
              <a:buSzPct val="100000"/>
            </a:pPr>
            <a:r>
              <a:rPr lang="en-US" sz="2200" dirty="0">
                <a:solidFill>
                  <a:srgbClr val="000000"/>
                </a:solidFill>
                <a:latin typeface="+mn-lt"/>
              </a:rPr>
              <a:t>The </a:t>
            </a:r>
            <a:r>
              <a:rPr lang="en-US" sz="2200" b="1" dirty="0">
                <a:solidFill>
                  <a:srgbClr val="000000"/>
                </a:solidFill>
                <a:latin typeface="+mn-lt"/>
              </a:rPr>
              <a:t>simple moving average </a:t>
            </a:r>
            <a:r>
              <a:rPr lang="en-US" sz="2200" dirty="0">
                <a:solidFill>
                  <a:srgbClr val="000000"/>
                </a:solidFill>
                <a:latin typeface="+mn-lt"/>
              </a:rPr>
              <a:t>method is a smoothing method based on the idea of averaging random fluctuations in the time series to identify the underlying direction in which the time series is changing.</a:t>
            </a:r>
          </a:p>
          <a:p>
            <a:pPr marL="256032" lvl="0" indent="-256032">
              <a:buSzPct val="100000"/>
            </a:pPr>
            <a:r>
              <a:rPr lang="en-US" sz="2200" dirty="0">
                <a:solidFill>
                  <a:srgbClr val="000000"/>
                </a:solidFill>
                <a:latin typeface="+mn-lt"/>
              </a:rPr>
              <a:t>The simple moving average forecast for the next period is computed as the average of the most recent </a:t>
            </a:r>
            <a:r>
              <a:rPr lang="en-US" sz="2200" i="1" dirty="0">
                <a:solidFill>
                  <a:srgbClr val="000000"/>
                </a:solidFill>
                <a:latin typeface="+mn-lt"/>
              </a:rPr>
              <a:t>k</a:t>
            </a:r>
            <a:r>
              <a:rPr lang="en-US" sz="2200" dirty="0">
                <a:solidFill>
                  <a:srgbClr val="000000"/>
                </a:solidFill>
                <a:latin typeface="+mn-lt"/>
              </a:rPr>
              <a:t> observations.</a:t>
            </a:r>
            <a:endParaRPr lang="en-US" sz="2200" dirty="0">
              <a:latin typeface="+mn-lt"/>
            </a:endParaRPr>
          </a:p>
        </p:txBody>
      </p:sp>
      <p:graphicFrame>
        <p:nvGraphicFramePr>
          <p:cNvPr id="7" name="Object 6" descr="F sub t + 1 = start fraction start expression A sub t + A sub start expression t minus 1 end expression + ellipsis + A sub start expression t minus k + 1 end expression end expression over k end fraction. This equation is labeled, 9.1."/>
          <p:cNvGraphicFramePr>
            <a:graphicFrameLocks noChangeAspect="1"/>
          </p:cNvGraphicFramePr>
          <p:nvPr>
            <p:extLst>
              <p:ext uri="{D42A27DB-BD31-4B8C-83A1-F6EECF244321}">
                <p14:modId xmlns:p14="http://schemas.microsoft.com/office/powerpoint/2010/main" val="2295396912"/>
              </p:ext>
            </p:extLst>
          </p:nvPr>
        </p:nvGraphicFramePr>
        <p:xfrm>
          <a:off x="2289175" y="4262437"/>
          <a:ext cx="4610100" cy="723900"/>
        </p:xfrm>
        <a:graphic>
          <a:graphicData uri="http://schemas.openxmlformats.org/presentationml/2006/ole">
            <mc:AlternateContent xmlns:mc="http://schemas.openxmlformats.org/markup-compatibility/2006">
              <mc:Choice xmlns:v="urn:schemas-microsoft-com:vml" Requires="v">
                <p:oleObj spid="_x0000_s2054" name="Equation" r:id="rId3" imgW="4609800" imgH="723600" progId="Equation.DSMT4">
                  <p:embed/>
                </p:oleObj>
              </mc:Choice>
              <mc:Fallback>
                <p:oleObj name="Equation" r:id="rId3" imgW="4609800" imgH="723600" progId="Equation.DSMT4">
                  <p:embed/>
                  <p:pic>
                    <p:nvPicPr>
                      <p:cNvPr id="3" name="Object 2"/>
                      <p:cNvPicPr/>
                      <p:nvPr/>
                    </p:nvPicPr>
                    <p:blipFill>
                      <a:blip r:embed="rId4"/>
                      <a:stretch>
                        <a:fillRect/>
                      </a:stretch>
                    </p:blipFill>
                    <p:spPr>
                      <a:xfrm>
                        <a:off x="2289175" y="4262437"/>
                        <a:ext cx="4610100" cy="723900"/>
                      </a:xfrm>
                      <a:prstGeom prst="rect">
                        <a:avLst/>
                      </a:prstGeom>
                    </p:spPr>
                  </p:pic>
                </p:oleObj>
              </mc:Fallback>
            </mc:AlternateContent>
          </a:graphicData>
        </a:graphic>
      </p:graphicFrame>
      <p:sp>
        <p:nvSpPr>
          <p:cNvPr id="6" name="Content Placeholder 3"/>
          <p:cNvSpPr>
            <a:spLocks noGrp="1"/>
          </p:cNvSpPr>
          <p:nvPr>
            <p:ph type="body" idx="2"/>
          </p:nvPr>
        </p:nvSpPr>
        <p:spPr>
          <a:xfrm>
            <a:off x="457200" y="5334000"/>
            <a:ext cx="8229600" cy="792163"/>
          </a:xfrm>
        </p:spPr>
        <p:txBody>
          <a:bodyPr/>
          <a:lstStyle/>
          <a:p>
            <a:pPr marL="741553" lvl="1" indent="-284353">
              <a:buSzPct val="100000"/>
            </a:pPr>
            <a:r>
              <a:rPr lang="en-US" sz="2200" dirty="0">
                <a:solidFill>
                  <a:srgbClr val="000000"/>
                </a:solidFill>
                <a:latin typeface="+mn-lt"/>
              </a:rPr>
              <a:t>Larger values of </a:t>
            </a:r>
            <a:r>
              <a:rPr lang="en-US" sz="2200" i="1" dirty="0">
                <a:solidFill>
                  <a:srgbClr val="000000"/>
                </a:solidFill>
                <a:latin typeface="+mn-lt"/>
              </a:rPr>
              <a:t>k</a:t>
            </a:r>
            <a:r>
              <a:rPr lang="en-US" sz="2200" dirty="0">
                <a:solidFill>
                  <a:srgbClr val="000000"/>
                </a:solidFill>
                <a:latin typeface="+mn-lt"/>
              </a:rPr>
              <a:t> result in smoother forecast models since extreme values have less impact.</a:t>
            </a:r>
            <a:endParaRPr lang="en-US" sz="2200" dirty="0">
              <a:latin typeface="+mn-lt"/>
            </a:endParaRPr>
          </a:p>
        </p:txBody>
      </p:sp>
    </p:spTree>
    <p:extLst>
      <p:ext uri="{BB962C8B-B14F-4D97-AF65-F5344CB8AC3E}">
        <p14:creationId xmlns:p14="http://schemas.microsoft.com/office/powerpoint/2010/main" val="3156535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Example 9.5: Moving Average Forecasting</a:t>
            </a:r>
            <a:endParaRPr sz="3600" b="1" i="0" u="none" strike="noStrike" cap="none" dirty="0">
              <a:solidFill>
                <a:srgbClr val="007FA3"/>
              </a:solidFill>
              <a:latin typeface="+mj-lt"/>
              <a:ea typeface="Arial"/>
              <a:cs typeface="Arial"/>
              <a:sym typeface="Arial"/>
            </a:endParaRPr>
          </a:p>
        </p:txBody>
      </p:sp>
      <p:sp>
        <p:nvSpPr>
          <p:cNvPr id="299" name="Content Placeholder 2"/>
          <p:cNvSpPr txBox="1">
            <a:spLocks noGrp="1"/>
          </p:cNvSpPr>
          <p:nvPr>
            <p:ph type="body" idx="1"/>
          </p:nvPr>
        </p:nvSpPr>
        <p:spPr>
          <a:xfrm>
            <a:off x="457200" y="1600201"/>
            <a:ext cx="8001000" cy="866774"/>
          </a:xfrm>
          <a:prstGeom prst="rect">
            <a:avLst/>
          </a:prstGeom>
          <a:noFill/>
          <a:ln>
            <a:noFill/>
          </a:ln>
        </p:spPr>
        <p:txBody>
          <a:bodyPr spcFirstLastPara="1" wrap="square" lIns="0" tIns="0" rIns="0" bIns="0" anchor="t" anchorCtr="0">
            <a:noAutofit/>
          </a:bodyPr>
          <a:lstStyle/>
          <a:p>
            <a:pPr marL="256032" indent="-256032">
              <a:buSzPct val="100000"/>
            </a:pPr>
            <a:r>
              <a:rPr lang="en-US" sz="2200" dirty="0">
                <a:solidFill>
                  <a:srgbClr val="000000"/>
                </a:solidFill>
                <a:latin typeface="+mn-lt"/>
              </a:rPr>
              <a:t>The Tablet Computer Sales file contains the number of units sold over the past 17 weeks.</a:t>
            </a:r>
            <a:endParaRPr sz="2200" dirty="0">
              <a:solidFill>
                <a:srgbClr val="000000"/>
              </a:solidFill>
              <a:latin typeface="+mn-lt"/>
            </a:endParaRPr>
          </a:p>
        </p:txBody>
      </p:sp>
      <p:pic>
        <p:nvPicPr>
          <p:cNvPr id="3" name="Picture 2" descr="A graph titled, tablet computer sales, plots units sold versus week. The horizontal axis ranges from 0 to 17 in increments of 1. The vertical axis ranges from 0 to 100 in increments of 10. The graph is a line that passes through the following points. (1, 88), (2, 44), (3, 60), (4, 56), (5, 70), (6, 91), (7, 54), (8, 60), (9, 48), (10, 35), (11, 49), (12, 44), (13, 61), (14, 68), (15, 82), (16, 71), and (17, 50). All values estimated. "/>
          <p:cNvPicPr>
            <a:picLocks noChangeAspect="1"/>
          </p:cNvPicPr>
          <p:nvPr/>
        </p:nvPicPr>
        <p:blipFill>
          <a:blip r:embed="rId4"/>
          <a:stretch>
            <a:fillRect/>
          </a:stretch>
        </p:blipFill>
        <p:spPr>
          <a:xfrm>
            <a:off x="2358986" y="2603984"/>
            <a:ext cx="3816427" cy="2316681"/>
          </a:xfrm>
          <a:prstGeom prst="rect">
            <a:avLst/>
          </a:prstGeom>
        </p:spPr>
      </p:pic>
      <p:sp>
        <p:nvSpPr>
          <p:cNvPr id="301" name="Content Placeholder 3"/>
          <p:cNvSpPr txBox="1">
            <a:spLocks noGrp="1"/>
          </p:cNvSpPr>
          <p:nvPr>
            <p:ph type="body" idx="2"/>
          </p:nvPr>
        </p:nvSpPr>
        <p:spPr>
          <a:xfrm>
            <a:off x="457200" y="5010150"/>
            <a:ext cx="7239000" cy="552450"/>
          </a:xfrm>
          <a:prstGeom prst="rect">
            <a:avLst/>
          </a:prstGeom>
          <a:noFill/>
          <a:ln>
            <a:noFill/>
          </a:ln>
        </p:spPr>
        <p:txBody>
          <a:bodyPr spcFirstLastPara="1" wrap="square" lIns="0" tIns="0" rIns="0" bIns="0" anchor="t" anchorCtr="0">
            <a:noAutofit/>
          </a:bodyPr>
          <a:lstStyle/>
          <a:p>
            <a:pPr marL="256032" lvl="0" indent="-256032">
              <a:buSzPct val="100000"/>
            </a:pPr>
            <a:r>
              <a:rPr lang="en-US" sz="2200" dirty="0">
                <a:solidFill>
                  <a:srgbClr val="000000"/>
                </a:solidFill>
                <a:latin typeface="+mn-lt"/>
              </a:rPr>
              <a:t>Three-period moving average forecast for week 18:</a:t>
            </a:r>
            <a:endParaRPr sz="2200" dirty="0">
              <a:solidFill>
                <a:srgbClr val="000000"/>
              </a:solidFill>
              <a:latin typeface="+mn-lt"/>
            </a:endParaRPr>
          </a:p>
        </p:txBody>
      </p:sp>
      <p:graphicFrame>
        <p:nvGraphicFramePr>
          <p:cNvPr id="4" name="Object 3" descr="F sub 18 = start fraction left parenthesis A sub 17 + A sub 16 + A sub 15 right parenthesis over 3 end fraction = start fraction start expression 82 + 71 + 50 end expression over 3 end fraction = 67.67 "/>
          <p:cNvGraphicFramePr>
            <a:graphicFrameLocks noChangeAspect="1"/>
          </p:cNvGraphicFramePr>
          <p:nvPr>
            <p:extLst>
              <p:ext uri="{D42A27DB-BD31-4B8C-83A1-F6EECF244321}">
                <p14:modId xmlns:p14="http://schemas.microsoft.com/office/powerpoint/2010/main" val="2055122676"/>
              </p:ext>
            </p:extLst>
          </p:nvPr>
        </p:nvGraphicFramePr>
        <p:xfrm>
          <a:off x="1808017" y="5647358"/>
          <a:ext cx="4918364" cy="681182"/>
        </p:xfrm>
        <a:graphic>
          <a:graphicData uri="http://schemas.openxmlformats.org/presentationml/2006/ole">
            <mc:AlternateContent xmlns:mc="http://schemas.openxmlformats.org/markup-compatibility/2006">
              <mc:Choice xmlns:v="urn:schemas-microsoft-com:vml" Requires="v">
                <p:oleObj spid="_x0000_s3078" name="Equation" r:id="rId5" imgW="5410080" imgH="749160" progId="Equation.DSMT4">
                  <p:embed/>
                </p:oleObj>
              </mc:Choice>
              <mc:Fallback>
                <p:oleObj name="Equation" r:id="rId5" imgW="5410080" imgH="749160" progId="Equation.DSMT4">
                  <p:embed/>
                  <p:pic>
                    <p:nvPicPr>
                      <p:cNvPr id="0" name=""/>
                      <p:cNvPicPr/>
                      <p:nvPr/>
                    </p:nvPicPr>
                    <p:blipFill>
                      <a:blip r:embed="rId6"/>
                      <a:stretch>
                        <a:fillRect/>
                      </a:stretch>
                    </p:blipFill>
                    <p:spPr>
                      <a:xfrm>
                        <a:off x="1808017" y="5647358"/>
                        <a:ext cx="4918364" cy="681182"/>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Title 1"/>
          <p:cNvSpPr txBox="1">
            <a:spLocks noGrp="1"/>
          </p:cNvSpPr>
          <p:nvPr>
            <p:ph type="title"/>
          </p:nvPr>
        </p:nvSpPr>
        <p:spPr>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Spreadsheet Implementation of Moving Average Forecasting</a:t>
            </a:r>
            <a:endParaRPr sz="3600" b="1" i="0" u="none" strike="noStrike" cap="none" dirty="0">
              <a:solidFill>
                <a:srgbClr val="007FA3"/>
              </a:solidFill>
              <a:latin typeface="+mj-lt"/>
              <a:ea typeface="Arial"/>
              <a:cs typeface="Arial"/>
              <a:sym typeface="Arial"/>
            </a:endParaRPr>
          </a:p>
        </p:txBody>
      </p:sp>
      <p:pic>
        <p:nvPicPr>
          <p:cNvPr id="2" name="Picture 1" descr="A spreadsheet displays a table titled, Tablet computer sales. The table has the following column headings from left to right. Week, Units sold, Moving average forecast. The row entries are as follows. Row 1. Week, 1. Units sold, 88. Moving average forecast, blank. Row 2. Week, 2. Units sold, 44. Moving average forecast, blank. Row 3. Week, 3. Units sold, 60. Moving average forecast, blank. Row 4. Week, 4. Units sold, 56. Moving average forecast, 64.00. 64.00 is labeled, forecast for week 4 = AVERAGE left parenthesis B 4 colon B 6 right parenthesis. Row 5. Week, 5. Units sold, 70. Moving average forecast, 53.33. Row 6.Week, 6. Units sold, 91. Moving average forecast, 62.00. Row 7. 7, 54, 72.33. Row 8. 8, 60, 71.67. Row 9. 9, 48, 68.33. Row 10. 10, 35, 54. Row 11. 11, 49, 47.67. Row 12. 12, 44, 44. Row 13. 13, 61, 42.67. Row 14. 14, 68, 51.33. Row 15. 15, 82, 57.67. Row 16. 16, 71, 70.33. Row 17. 17, 50, 73.67. Row 18. 18, blank, 67.67. 67.67 is labeled, forecast for week 18 = AVERAGE left parenthesis B 18 colon B 20 right parenthesis. "/>
          <p:cNvPicPr>
            <a:picLocks noChangeAspect="1"/>
          </p:cNvPicPr>
          <p:nvPr/>
        </p:nvPicPr>
        <p:blipFill>
          <a:blip r:embed="rId3"/>
          <a:stretch>
            <a:fillRect/>
          </a:stretch>
        </p:blipFill>
        <p:spPr>
          <a:xfrm>
            <a:off x="643144" y="1844432"/>
            <a:ext cx="3718883" cy="2959587"/>
          </a:xfrm>
          <a:prstGeom prst="rect">
            <a:avLst/>
          </a:prstGeom>
        </p:spPr>
      </p:pic>
      <p:pic>
        <p:nvPicPr>
          <p:cNvPr id="3" name="Picture 2" descr="A graph titled, tablet computer sales. The graph plots units sold versus week. The horizontal axis ranges from 0 to 18 in increments of 1. The vertical axis ranges from 0 to 100 in increments of 20. The graph for units sold is a line that passes through the following points. (1, 88), (2, 44), (3, 60), (4, 56), (5, 70), (6, 91), (7, 54), (8, 60), (9, 48), (10, 35), (11, 49), (12, 44), (13, 61), (14, 68), (15, 82), (16, 71), and (17, 50). The graph for forecast is a line that passes through the following points. (4, 64), (5, 53.33), (6, 62), (7, 72.33), (8, 71.67), (9, 68.33), (10, 54.00), (11, 47.67), (12, 44.00), (13, 42.67), (14, 51.33), (15, 57.67), (16, 70.33), (17, 73.67), and (18, 67.67). All values estimated."/>
          <p:cNvPicPr>
            <a:picLocks noChangeAspect="1"/>
          </p:cNvPicPr>
          <p:nvPr/>
        </p:nvPicPr>
        <p:blipFill>
          <a:blip r:embed="rId4"/>
          <a:stretch>
            <a:fillRect/>
          </a:stretch>
        </p:blipFill>
        <p:spPr>
          <a:xfrm>
            <a:off x="4759329" y="1810624"/>
            <a:ext cx="3746594" cy="22834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u="none" strike="noStrike" cap="none" dirty="0">
                <a:solidFill>
                  <a:srgbClr val="007FA3"/>
                </a:solidFill>
                <a:latin typeface="+mj-lt"/>
                <a:ea typeface="Arial"/>
                <a:cs typeface="Arial"/>
                <a:sym typeface="Arial"/>
              </a:rPr>
              <a:t>Example 9.6: Using Excel’s Moving Average Tool</a:t>
            </a:r>
            <a:endParaRPr sz="3600" b="1" u="none" strike="noStrike" cap="none" dirty="0">
              <a:solidFill>
                <a:srgbClr val="007FA3"/>
              </a:solidFill>
              <a:latin typeface="+mj-lt"/>
              <a:ea typeface="Arial"/>
              <a:cs typeface="Arial"/>
              <a:sym typeface="Arial"/>
            </a:endParaRPr>
          </a:p>
        </p:txBody>
      </p:sp>
      <p:sp>
        <p:nvSpPr>
          <p:cNvPr id="315" name="Content Placeholder 2"/>
          <p:cNvSpPr txBox="1">
            <a:spLocks noGrp="1"/>
          </p:cNvSpPr>
          <p:nvPr>
            <p:ph type="body" idx="1"/>
          </p:nvPr>
        </p:nvSpPr>
        <p:spPr>
          <a:xfrm>
            <a:off x="457200" y="1600199"/>
            <a:ext cx="3581400" cy="657225"/>
          </a:xfrm>
          <a:prstGeom prst="rect">
            <a:avLst/>
          </a:prstGeom>
          <a:noFill/>
          <a:ln>
            <a:noFill/>
          </a:ln>
        </p:spPr>
        <p:txBody>
          <a:bodyPr spcFirstLastPara="1" wrap="square" lIns="0" tIns="0" rIns="0" bIns="0" anchor="t" anchorCtr="0">
            <a:noAutofit/>
          </a:bodyPr>
          <a:lstStyle/>
          <a:p>
            <a:pPr marL="256032" lvl="0" indent="-256032">
              <a:buSzPct val="100000"/>
            </a:pPr>
            <a:r>
              <a:rPr lang="en-US" sz="2000" dirty="0">
                <a:solidFill>
                  <a:srgbClr val="000000"/>
                </a:solidFill>
                <a:latin typeface="+mn-lt"/>
              </a:rPr>
              <a:t>Data Analysis options</a:t>
            </a:r>
            <a:endParaRPr sz="2000" dirty="0">
              <a:solidFill>
                <a:srgbClr val="000000"/>
              </a:solidFill>
              <a:latin typeface="+mn-lt"/>
            </a:endParaRPr>
          </a:p>
        </p:txBody>
      </p:sp>
      <p:pic>
        <p:nvPicPr>
          <p:cNvPr id="2" name="Picture 1" descr="A dialog box is titled, moving average. The parameters are as follows. Input range, $ B $ 3 colon $ B $ 20. The check box corresponding to labels in the first row is selected. Output range, $ C $ 5. Chart output is selected. "/>
          <p:cNvPicPr>
            <a:picLocks noChangeAspect="1"/>
          </p:cNvPicPr>
          <p:nvPr/>
        </p:nvPicPr>
        <p:blipFill>
          <a:blip r:embed="rId3"/>
          <a:stretch>
            <a:fillRect/>
          </a:stretch>
        </p:blipFill>
        <p:spPr>
          <a:xfrm>
            <a:off x="4687790" y="1552462"/>
            <a:ext cx="2889754" cy="1987468"/>
          </a:xfrm>
          <a:prstGeom prst="rect">
            <a:avLst/>
          </a:prstGeom>
        </p:spPr>
      </p:pic>
      <p:pic>
        <p:nvPicPr>
          <p:cNvPr id="3" name="Picture 2" descr="An Excel sheet has a table and a graph. The table titled, Tablet computer sales, has 18 rows and 3 columns. The columns have the following headings from left to right. Week, Units sold, Moving average forecast. The row entries are as follows. Row 1. 1, 88, blank. Row 2. 2, 44, not applicable. Row 3. 3, 60, not applicable. Row 4. 4, 56, 64. Row 5. 5, 70, 53.33. Row 6. 6, 91, 62. Row 7. 7, 54, 72.33. Row 8. 8, 60, 71.67. Row 9. 9, 48, 68.33. Row 10. 10, 35, 54. Row 11. 11, 49, 47.67. Row 12. 12, 44, 44. Row 13. 13, 61, 42.67. Row 14. 14, 68, 51.33. Row 15. 15, 82, 57.67. Row 16. 16, 71, 70.33. Row 17. 17, 50, 73.67. Row 18. 18, blank, 67.67. The graph titled, Moving average, plots value versus data point. The graph for Actual average is a line that passes through the following points. (1, 88), (2, 44), (3, 60), (4, 56), (5, 70), (6, 91), (7, 54), (8, 60), (9, 48), (10, 35), (11, 49), (12, 44), (13, 61), (14, 68), (15, 82), (16, 71), and (17, 50). Likewise, the graph for Forecast is a line that passes through the following points. (3, 64), (4, 53.33), (5, 62), (6, 72.33), (7, 71.67), (8, 68.33), (9, 54.00), (10, 47.67), (11, 44.00), (12, 42.67), (13, 51.33), (14, 57.67), (15, 70.33), (16, 73.67), and (17, 67.67). All values estimated."/>
          <p:cNvPicPr>
            <a:picLocks noChangeAspect="1"/>
          </p:cNvPicPr>
          <p:nvPr/>
        </p:nvPicPr>
        <p:blipFill>
          <a:blip r:embed="rId4"/>
          <a:stretch>
            <a:fillRect/>
          </a:stretch>
        </p:blipFill>
        <p:spPr>
          <a:xfrm>
            <a:off x="457200" y="3660432"/>
            <a:ext cx="4993611" cy="2566085"/>
          </a:xfrm>
          <a:prstGeom prst="rect">
            <a:avLst/>
          </a:prstGeom>
        </p:spPr>
      </p:pic>
      <p:sp>
        <p:nvSpPr>
          <p:cNvPr id="318" name="Content Placeholder 3"/>
          <p:cNvSpPr txBox="1">
            <a:spLocks noGrp="1"/>
          </p:cNvSpPr>
          <p:nvPr>
            <p:ph type="body" idx="2"/>
          </p:nvPr>
        </p:nvSpPr>
        <p:spPr>
          <a:xfrm>
            <a:off x="5761810" y="3779740"/>
            <a:ext cx="2924990" cy="2191292"/>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7FA3"/>
              </a:buClr>
              <a:buSzPts val="2400"/>
              <a:buFont typeface="Arial"/>
              <a:buNone/>
            </a:pPr>
            <a:r>
              <a:rPr lang="en-US" sz="2000" b="0" i="0" u="none" strike="noStrike" cap="none" dirty="0">
                <a:solidFill>
                  <a:srgbClr val="000000"/>
                </a:solidFill>
                <a:latin typeface="+mn-lt"/>
                <a:sym typeface="Arial"/>
              </a:rPr>
              <a:t>We do not recommend using the chart or error options because the forecasts generated by this tool are not properly aligned with the data.</a:t>
            </a:r>
            <a:endParaRPr sz="2000" dirty="0">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Error Metrics and Forecast Accuarcy</a:t>
            </a:r>
            <a:endParaRPr sz="3600" b="1" i="0" u="none" strike="noStrike" cap="none" dirty="0">
              <a:solidFill>
                <a:srgbClr val="007FA3"/>
              </a:solidFill>
              <a:latin typeface="+mj-lt"/>
              <a:ea typeface="Arial"/>
              <a:cs typeface="Arial"/>
              <a:sym typeface="Arial"/>
            </a:endParaRPr>
          </a:p>
        </p:txBody>
      </p:sp>
      <p:sp>
        <p:nvSpPr>
          <p:cNvPr id="338" name="Content Placeholder 2"/>
          <p:cNvSpPr txBox="1">
            <a:spLocks noGrp="1"/>
          </p:cNvSpPr>
          <p:nvPr>
            <p:ph type="body" idx="1"/>
          </p:nvPr>
        </p:nvSpPr>
        <p:spPr>
          <a:xfrm>
            <a:off x="457200" y="1600200"/>
            <a:ext cx="2976282" cy="819149"/>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1800" b="0" i="0" u="none" strike="noStrike" cap="none" dirty="0">
                <a:solidFill>
                  <a:srgbClr val="000000"/>
                </a:solidFill>
                <a:latin typeface="+mn-lt"/>
                <a:ea typeface="Arial"/>
                <a:cs typeface="Arial"/>
                <a:sym typeface="Arial"/>
              </a:rPr>
              <a:t>Mean absolute deviation (M</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A</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D)</a:t>
            </a:r>
            <a:endParaRPr sz="1800" b="0" i="0" u="none" strike="noStrike" cap="none" dirty="0">
              <a:solidFill>
                <a:srgbClr val="000000"/>
              </a:solidFill>
              <a:latin typeface="+mn-lt"/>
              <a:ea typeface="Arial"/>
              <a:cs typeface="Arial"/>
              <a:sym typeface="Arial"/>
            </a:endParaRPr>
          </a:p>
        </p:txBody>
      </p:sp>
      <p:graphicFrame>
        <p:nvGraphicFramePr>
          <p:cNvPr id="3" name="Object 2" descr="M A D = start fraction summation of absolute value of start expression A sub t minus F sub t end expression, from t = 1 to n over n end fraction. This equation is labeled, 9.2."/>
          <p:cNvGraphicFramePr>
            <a:graphicFrameLocks noChangeAspect="1"/>
          </p:cNvGraphicFramePr>
          <p:nvPr>
            <p:extLst>
              <p:ext uri="{D42A27DB-BD31-4B8C-83A1-F6EECF244321}">
                <p14:modId xmlns:p14="http://schemas.microsoft.com/office/powerpoint/2010/main" val="882560802"/>
              </p:ext>
            </p:extLst>
          </p:nvPr>
        </p:nvGraphicFramePr>
        <p:xfrm>
          <a:off x="3795713" y="1539875"/>
          <a:ext cx="3797300" cy="977900"/>
        </p:xfrm>
        <a:graphic>
          <a:graphicData uri="http://schemas.openxmlformats.org/presentationml/2006/ole">
            <mc:AlternateContent xmlns:mc="http://schemas.openxmlformats.org/markup-compatibility/2006">
              <mc:Choice xmlns:v="urn:schemas-microsoft-com:vml" Requires="v">
                <p:oleObj spid="_x0000_s4114" name="Equation" r:id="rId4" imgW="3797280" imgH="977760" progId="Equation.DSMT4">
                  <p:embed/>
                </p:oleObj>
              </mc:Choice>
              <mc:Fallback>
                <p:oleObj name="Equation" r:id="rId4" imgW="3797280" imgH="977760" progId="Equation.DSMT4">
                  <p:embed/>
                  <p:pic>
                    <p:nvPicPr>
                      <p:cNvPr id="0" name=""/>
                      <p:cNvPicPr/>
                      <p:nvPr/>
                    </p:nvPicPr>
                    <p:blipFill>
                      <a:blip r:embed="rId5"/>
                      <a:stretch>
                        <a:fillRect/>
                      </a:stretch>
                    </p:blipFill>
                    <p:spPr>
                      <a:xfrm>
                        <a:off x="3795713" y="1539875"/>
                        <a:ext cx="3797300" cy="977900"/>
                      </a:xfrm>
                      <a:prstGeom prst="rect">
                        <a:avLst/>
                      </a:prstGeom>
                    </p:spPr>
                  </p:pic>
                </p:oleObj>
              </mc:Fallback>
            </mc:AlternateContent>
          </a:graphicData>
        </a:graphic>
      </p:graphicFrame>
      <p:sp>
        <p:nvSpPr>
          <p:cNvPr id="340" name="Content Placeholder 2"/>
          <p:cNvSpPr txBox="1">
            <a:spLocks noGrp="1"/>
          </p:cNvSpPr>
          <p:nvPr>
            <p:ph type="body" idx="2"/>
          </p:nvPr>
        </p:nvSpPr>
        <p:spPr>
          <a:xfrm>
            <a:off x="452718" y="2770935"/>
            <a:ext cx="2976282" cy="554083"/>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1800" b="0" i="0" u="none" strike="noStrike" cap="none" dirty="0">
                <a:solidFill>
                  <a:srgbClr val="000000"/>
                </a:solidFill>
                <a:latin typeface="+mn-lt"/>
                <a:ea typeface="Arial"/>
                <a:cs typeface="Arial"/>
                <a:sym typeface="Arial"/>
              </a:rPr>
              <a:t>Mean square error (M</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S</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E)</a:t>
            </a:r>
            <a:endParaRPr sz="1800" b="0" i="0" u="none" strike="noStrike" cap="none" dirty="0">
              <a:solidFill>
                <a:srgbClr val="000000"/>
              </a:solidFill>
              <a:latin typeface="+mn-lt"/>
              <a:ea typeface="Arial"/>
              <a:cs typeface="Arial"/>
              <a:sym typeface="Arial"/>
            </a:endParaRPr>
          </a:p>
        </p:txBody>
      </p:sp>
      <p:graphicFrame>
        <p:nvGraphicFramePr>
          <p:cNvPr id="13" name="Object 12" descr="M S E = start fraction summation of absolute value of start expression A sub t minus F sub t end expression squared, from t = 1 to n over n end fraction. This equation is labeled, 9.3."/>
          <p:cNvGraphicFramePr>
            <a:graphicFrameLocks noChangeAspect="1"/>
          </p:cNvGraphicFramePr>
          <p:nvPr>
            <p:extLst>
              <p:ext uri="{D42A27DB-BD31-4B8C-83A1-F6EECF244321}">
                <p14:modId xmlns:p14="http://schemas.microsoft.com/office/powerpoint/2010/main" val="3443193444"/>
              </p:ext>
            </p:extLst>
          </p:nvPr>
        </p:nvGraphicFramePr>
        <p:xfrm>
          <a:off x="3894138" y="2668588"/>
          <a:ext cx="4000500" cy="977900"/>
        </p:xfrm>
        <a:graphic>
          <a:graphicData uri="http://schemas.openxmlformats.org/presentationml/2006/ole">
            <mc:AlternateContent xmlns:mc="http://schemas.openxmlformats.org/markup-compatibility/2006">
              <mc:Choice xmlns:v="urn:schemas-microsoft-com:vml" Requires="v">
                <p:oleObj spid="_x0000_s4115" name="Equation" r:id="rId6" imgW="4000320" imgH="977760" progId="Equation.DSMT4">
                  <p:embed/>
                </p:oleObj>
              </mc:Choice>
              <mc:Fallback>
                <p:oleObj name="Equation" r:id="rId6" imgW="4000320" imgH="977760" progId="Equation.DSMT4">
                  <p:embed/>
                  <p:pic>
                    <p:nvPicPr>
                      <p:cNvPr id="3" name="Object 2"/>
                      <p:cNvPicPr/>
                      <p:nvPr/>
                    </p:nvPicPr>
                    <p:blipFill>
                      <a:blip r:embed="rId7"/>
                      <a:stretch>
                        <a:fillRect/>
                      </a:stretch>
                    </p:blipFill>
                    <p:spPr>
                      <a:xfrm>
                        <a:off x="3894138" y="2668588"/>
                        <a:ext cx="4000500" cy="977900"/>
                      </a:xfrm>
                      <a:prstGeom prst="rect">
                        <a:avLst/>
                      </a:prstGeom>
                    </p:spPr>
                  </p:pic>
                </p:oleObj>
              </mc:Fallback>
            </mc:AlternateContent>
          </a:graphicData>
        </a:graphic>
      </p:graphicFrame>
      <p:sp>
        <p:nvSpPr>
          <p:cNvPr id="342" name="Content Placeholder 3"/>
          <p:cNvSpPr txBox="1">
            <a:spLocks noGrp="1"/>
          </p:cNvSpPr>
          <p:nvPr>
            <p:ph type="body" idx="3"/>
          </p:nvPr>
        </p:nvSpPr>
        <p:spPr>
          <a:xfrm>
            <a:off x="457200" y="3907259"/>
            <a:ext cx="2976282" cy="837596"/>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1800" b="0" i="0" u="none" strike="noStrike" cap="none" dirty="0">
                <a:solidFill>
                  <a:srgbClr val="000000"/>
                </a:solidFill>
                <a:latin typeface="+mn-lt"/>
                <a:ea typeface="Arial"/>
                <a:cs typeface="Arial"/>
                <a:sym typeface="Arial"/>
              </a:rPr>
              <a:t>Root mean square error (R</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M</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S</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E)</a:t>
            </a:r>
            <a:endParaRPr sz="1800" b="0" i="0" u="none" strike="noStrike" cap="none" dirty="0">
              <a:solidFill>
                <a:srgbClr val="000000"/>
              </a:solidFill>
              <a:latin typeface="+mn-lt"/>
              <a:ea typeface="Arial"/>
              <a:cs typeface="Arial"/>
              <a:sym typeface="Arial"/>
            </a:endParaRPr>
          </a:p>
        </p:txBody>
      </p:sp>
      <p:graphicFrame>
        <p:nvGraphicFramePr>
          <p:cNvPr id="14" name="Object 13" descr="R M S E = the square root of start fraction summation of absolute value of start expression A sub t minus F sub t end expression squared, from t = 1 to n over n end fraction. This equation is labeled, 9.4."/>
          <p:cNvGraphicFramePr>
            <a:graphicFrameLocks noChangeAspect="1"/>
          </p:cNvGraphicFramePr>
          <p:nvPr>
            <p:extLst>
              <p:ext uri="{D42A27DB-BD31-4B8C-83A1-F6EECF244321}">
                <p14:modId xmlns:p14="http://schemas.microsoft.com/office/powerpoint/2010/main" val="3023562429"/>
              </p:ext>
            </p:extLst>
          </p:nvPr>
        </p:nvGraphicFramePr>
        <p:xfrm>
          <a:off x="3762375" y="3873500"/>
          <a:ext cx="4406900" cy="1066800"/>
        </p:xfrm>
        <a:graphic>
          <a:graphicData uri="http://schemas.openxmlformats.org/presentationml/2006/ole">
            <mc:AlternateContent xmlns:mc="http://schemas.openxmlformats.org/markup-compatibility/2006">
              <mc:Choice xmlns:v="urn:schemas-microsoft-com:vml" Requires="v">
                <p:oleObj spid="_x0000_s4116" name="Equation" r:id="rId8" imgW="4406760" imgH="1066680" progId="Equation.DSMT4">
                  <p:embed/>
                </p:oleObj>
              </mc:Choice>
              <mc:Fallback>
                <p:oleObj name="Equation" r:id="rId8" imgW="4406760" imgH="1066680" progId="Equation.DSMT4">
                  <p:embed/>
                  <p:pic>
                    <p:nvPicPr>
                      <p:cNvPr id="13" name="Object 12"/>
                      <p:cNvPicPr/>
                      <p:nvPr/>
                    </p:nvPicPr>
                    <p:blipFill>
                      <a:blip r:embed="rId9"/>
                      <a:stretch>
                        <a:fillRect/>
                      </a:stretch>
                    </p:blipFill>
                    <p:spPr>
                      <a:xfrm>
                        <a:off x="3762375" y="3873500"/>
                        <a:ext cx="4406900" cy="1066800"/>
                      </a:xfrm>
                      <a:prstGeom prst="rect">
                        <a:avLst/>
                      </a:prstGeom>
                    </p:spPr>
                  </p:pic>
                </p:oleObj>
              </mc:Fallback>
            </mc:AlternateContent>
          </a:graphicData>
        </a:graphic>
      </p:graphicFrame>
      <p:sp>
        <p:nvSpPr>
          <p:cNvPr id="344" name="Content Placeholder 4"/>
          <p:cNvSpPr txBox="1">
            <a:spLocks noGrp="1"/>
          </p:cNvSpPr>
          <p:nvPr>
            <p:ph type="body" idx="4"/>
          </p:nvPr>
        </p:nvSpPr>
        <p:spPr>
          <a:xfrm>
            <a:off x="452718" y="5327096"/>
            <a:ext cx="2976282" cy="786109"/>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ts val="1800"/>
              <a:buFont typeface="Arial"/>
              <a:buChar char="•"/>
            </a:pPr>
            <a:r>
              <a:rPr lang="en-US" sz="1800" b="0" i="0" u="none" strike="noStrike" cap="none" dirty="0">
                <a:solidFill>
                  <a:srgbClr val="000000"/>
                </a:solidFill>
                <a:latin typeface="+mn-lt"/>
                <a:ea typeface="Arial"/>
                <a:cs typeface="Arial"/>
                <a:sym typeface="Arial"/>
              </a:rPr>
              <a:t>Mean absolute percentage error (M</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A</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P</a:t>
            </a:r>
            <a:r>
              <a:rPr lang="en-US" sz="100" b="0" i="0" u="none" strike="noStrike" cap="none" dirty="0">
                <a:solidFill>
                  <a:srgbClr val="000000"/>
                </a:solidFill>
                <a:latin typeface="+mn-lt"/>
                <a:ea typeface="Arial"/>
                <a:cs typeface="Arial"/>
                <a:sym typeface="Arial"/>
              </a:rPr>
              <a:t> </a:t>
            </a:r>
            <a:r>
              <a:rPr lang="en-US" sz="1800" b="0" i="0" u="none" strike="noStrike" cap="none" dirty="0">
                <a:solidFill>
                  <a:srgbClr val="000000"/>
                </a:solidFill>
                <a:latin typeface="+mn-lt"/>
                <a:ea typeface="Arial"/>
                <a:cs typeface="Arial"/>
                <a:sym typeface="Arial"/>
              </a:rPr>
              <a:t>E)</a:t>
            </a:r>
            <a:endParaRPr sz="1800" b="0" i="0" u="none" strike="noStrike" cap="none" dirty="0">
              <a:solidFill>
                <a:srgbClr val="000000"/>
              </a:solidFill>
              <a:latin typeface="+mn-lt"/>
              <a:ea typeface="Arial"/>
              <a:cs typeface="Arial"/>
              <a:sym typeface="Arial"/>
            </a:endParaRPr>
          </a:p>
        </p:txBody>
      </p:sp>
      <p:graphicFrame>
        <p:nvGraphicFramePr>
          <p:cNvPr id="15" name="Object 14" descr="M A P E = summation of absolute value of start fraction start expression A sub t minus F sub t end expression over A sub t end fraction, from t = 1 to n over n end fraction times 100. This equation is labeled, 9.5."/>
          <p:cNvGraphicFramePr>
            <a:graphicFrameLocks noChangeAspect="1"/>
          </p:cNvGraphicFramePr>
          <p:nvPr>
            <p:extLst>
              <p:ext uri="{D42A27DB-BD31-4B8C-83A1-F6EECF244321}">
                <p14:modId xmlns:p14="http://schemas.microsoft.com/office/powerpoint/2010/main" val="2260857799"/>
              </p:ext>
            </p:extLst>
          </p:nvPr>
        </p:nvGraphicFramePr>
        <p:xfrm>
          <a:off x="3768725" y="5168900"/>
          <a:ext cx="4597400" cy="1206500"/>
        </p:xfrm>
        <a:graphic>
          <a:graphicData uri="http://schemas.openxmlformats.org/presentationml/2006/ole">
            <mc:AlternateContent xmlns:mc="http://schemas.openxmlformats.org/markup-compatibility/2006">
              <mc:Choice xmlns:v="urn:schemas-microsoft-com:vml" Requires="v">
                <p:oleObj spid="_x0000_s4117" name="Equation" r:id="rId10" imgW="4597200" imgH="1206360" progId="Equation.DSMT4">
                  <p:embed/>
                </p:oleObj>
              </mc:Choice>
              <mc:Fallback>
                <p:oleObj name="Equation" r:id="rId10" imgW="4597200" imgH="1206360" progId="Equation.DSMT4">
                  <p:embed/>
                  <p:pic>
                    <p:nvPicPr>
                      <p:cNvPr id="14" name="Object 13"/>
                      <p:cNvPicPr/>
                      <p:nvPr/>
                    </p:nvPicPr>
                    <p:blipFill>
                      <a:blip r:embed="rId11"/>
                      <a:stretch>
                        <a:fillRect/>
                      </a:stretch>
                    </p:blipFill>
                    <p:spPr>
                      <a:xfrm>
                        <a:off x="3768725" y="5168900"/>
                        <a:ext cx="4597400" cy="1206500"/>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Example 9.7: Using Error Metrics to Compare Moving Average Forecasts</a:t>
            </a:r>
            <a:endParaRPr sz="3600" b="1" i="0" u="none" strike="noStrike" cap="none" dirty="0">
              <a:solidFill>
                <a:srgbClr val="007FA3"/>
              </a:solidFill>
              <a:latin typeface="+mj-lt"/>
              <a:ea typeface="Arial"/>
              <a:cs typeface="Arial"/>
              <a:sym typeface="Arial"/>
            </a:endParaRPr>
          </a:p>
        </p:txBody>
      </p:sp>
      <p:sp>
        <p:nvSpPr>
          <p:cNvPr id="351" name="Content Placeholder 2"/>
          <p:cNvSpPr txBox="1">
            <a:spLocks noGrp="1"/>
          </p:cNvSpPr>
          <p:nvPr>
            <p:ph type="body" idx="1"/>
          </p:nvPr>
        </p:nvSpPr>
        <p:spPr>
          <a:xfrm>
            <a:off x="457200" y="1600200"/>
            <a:ext cx="8229600" cy="1581149"/>
          </a:xfrm>
          <a:prstGeom prst="rect">
            <a:avLst/>
          </a:prstGeom>
          <a:noFill/>
          <a:ln>
            <a:noFill/>
          </a:ln>
        </p:spPr>
        <p:txBody>
          <a:bodyPr spcFirstLastPara="1" wrap="square" lIns="0" tIns="0" rIns="0" bIns="0" anchor="t" anchorCtr="0">
            <a:noAutofit/>
          </a:bodyPr>
          <a:lstStyle/>
          <a:p>
            <a:pPr marL="256032" indent="-256032">
              <a:buSzPct val="100000"/>
            </a:pPr>
            <a:r>
              <a:rPr lang="en-US" sz="2200" dirty="0">
                <a:solidFill>
                  <a:srgbClr val="000000"/>
                </a:solidFill>
                <a:latin typeface="+mn-lt"/>
              </a:rPr>
              <a:t>Tablet Computer Sales data</a:t>
            </a:r>
            <a:endParaRPr sz="2200" dirty="0">
              <a:solidFill>
                <a:srgbClr val="000000"/>
              </a:solidFill>
              <a:latin typeface="+mn-lt"/>
            </a:endParaRPr>
          </a:p>
          <a:p>
            <a:pPr marL="256032" indent="-256032">
              <a:buSzPct val="100000"/>
            </a:pPr>
            <a:r>
              <a:rPr lang="en-US" sz="2200" dirty="0">
                <a:solidFill>
                  <a:srgbClr val="000000"/>
                </a:solidFill>
                <a:latin typeface="+mn-lt"/>
              </a:rPr>
              <a:t>2-, 3-, and 4-period moving average models</a:t>
            </a:r>
            <a:endParaRPr sz="2200" dirty="0">
              <a:solidFill>
                <a:srgbClr val="000000"/>
              </a:solidFill>
              <a:latin typeface="+mn-lt"/>
            </a:endParaRPr>
          </a:p>
          <a:p>
            <a:pPr marL="256032" indent="-256032">
              <a:buSzPct val="100000"/>
            </a:pPr>
            <a:r>
              <a:rPr lang="en-US" sz="2200" dirty="0">
                <a:solidFill>
                  <a:srgbClr val="000000"/>
                </a:solidFill>
                <a:latin typeface="+mn-lt"/>
              </a:rPr>
              <a:t>2-period model has lowest error metric values.</a:t>
            </a:r>
            <a:endParaRPr sz="2200" dirty="0">
              <a:solidFill>
                <a:srgbClr val="000000"/>
              </a:solidFill>
              <a:latin typeface="+mn-lt"/>
            </a:endParaRPr>
          </a:p>
        </p:txBody>
      </p:sp>
      <p:pic>
        <p:nvPicPr>
          <p:cNvPr id="2" name="Picture 1" descr="A table titled, tablet computer sales, has 19 rows and 17 columns. The columns have the following headings from left to right. Week, units sold, forecast for k = 2, error for k = 2, absolute deviation for k = 2, squared error for k = 2, absolute % error for k = 2, forecast for k = 3, error for k = 3, absolute deviation for k = 3, squared error for k = 3, absolute % error for k = 3, forecast for k = 4, error for k = 4, absolute deviation for k = 4, squared error for k = 4, and absolute % error for k = 4. The row entries are as follows. Row 1. 1, 88, blank, blank, blank, blank, blank, blank, blank, blank, blank, blank, blank, blank, blank, blank, blank. Row 2. 2, 44, blank, blank, blank, blank, blank, blank, blank, blank, blank, blank, blank, blank, blank, blank, blank. Row 3. 3, 60, 66, negative 6.00, 6, 36, 10, blank, blank, blank, blank, blank, blank, blank, blank, blank, blank. Row 4. 4, 56, 52, 4, 4, 16, 7.14, 64, negative 8.00, 8, 64, 14.29, blank, blank, blank, blank, blank. Row 5. 5, 70, 58, 12, 12, 144, 17.14, 53.33, 16.67, 16.67, 277.78, 23.81, 62, 8, 8, 64.00, 11.43. Row 6. 6, 91, 63, 28, 28, 784, 30.77, 62, 29, 29, 841, 31.87, 57.5, 33.5, 33.5, 1122.25, 36.81. Row 7. 7, 54, 80.5, negative 26.50, 26.5, 702.25, 49.07, 72.33, negative 18.33, 18.33, 336.11, 33.95, 69.25, negative 15.25, 15.25, 232.56, 28.24. Row 8. 8, 60, 72.5, negative 12.50, 12.5, 156.25, 20.83, 71.67, negative 11.67, 11.67, 136.11, 19.44, 67.75, negative 7.75, 7.75, 60.06, 12.92. Row 9. 9, 48, 57, negative 9.00, 9, 81, 18.75, 68.33, negative 20.33, 20.33, 413.44, 42.36, 68.75, negative 20.75, 20.75, 430.56, 43.23. Row 10. 10, 35, 54, negative 19.00, 19, 361, 54.29, 54, negative 19.00, 19, 361, 54.29, 63.25, negative 28.75, 28.75, 798.06, 80.71. Row 11. 11, 49, 41.5, 7.5, 7.5, 56.25, 15.31, 47.67, 1.33, 1.33, 1.78, 2.72, 49.25, negative 0.25, 0.25, 0.06, 0.51. Row 12. 12, 44, 42, 2, 2, 4, 4.55, 44, 0, 0, 0, 0, 48, negative 4.00, 4, 16.00, 9.09. Row 13. 13, 61, 46.5, 14.5, 14.5, 210.25, 23.77, 42.67, 18.33, 18.33, 336.11, 30.05, 44, 17, 17, 289.00, 27.87. Row 14. 14, 68, 52.5, 15.5, 15.5, 240.25, 22.79, 51.33, 16.67, 16.67, 277.78, 24.51, 47.25, 20.75, 20.75, 430.56, 30.51. Row 15. 15, 82, 64.5, 17.5, 17.5, 306.25, 21.34, 57.67, 24.33, 24.33, 592.11, 29.67, 55.5, 26.5, 26.5, 702.25, 32.32. Row 16. 16, 71, 75, negative 4.00, 4, 16, 5.63, 70.33, 0.67, 0.67, 0.44, 0.94, 63.75, 7.25, 7.25, 52.56, 10.21. Row 17. 17, 50, 76.5, negative 26.50, 26.5, 702.25, 53, 73.67, negative 23.67, 23.67, 560.11, 47.33, 70.5, negative 20.50, 20.5, 420.25, 41.00. Row 18. 18, blank, 60.5, blank, 13.63, 254.38, 23.63, 67.67, blank, 14.86, 299.84, 25.37, 67.75, blank, 16.13, 355.25, 28.07. Row 19. Blank, blank, blank, blank, M A D, M S E, M A P E, blank, blank, M A D, M S E, M A P E, blank, blank, M A D, M S E, M A P E."/>
          <p:cNvPicPr>
            <a:picLocks noChangeAspect="1"/>
          </p:cNvPicPr>
          <p:nvPr/>
        </p:nvPicPr>
        <p:blipFill>
          <a:blip r:embed="rId3"/>
          <a:stretch>
            <a:fillRect/>
          </a:stretch>
        </p:blipFill>
        <p:spPr>
          <a:xfrm>
            <a:off x="457200" y="3385058"/>
            <a:ext cx="8071804" cy="292633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Title 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Exponential Smoothing Models</a:t>
            </a:r>
            <a:endParaRPr sz="3600" b="1" i="0" u="none" strike="noStrike" cap="none" dirty="0">
              <a:solidFill>
                <a:srgbClr val="007FA3"/>
              </a:solidFill>
              <a:latin typeface="+mj-lt"/>
              <a:ea typeface="Arial"/>
              <a:cs typeface="Arial"/>
              <a:sym typeface="Arial"/>
            </a:endParaRPr>
          </a:p>
        </p:txBody>
      </p:sp>
      <p:sp>
        <p:nvSpPr>
          <p:cNvPr id="358" name="Content Placeholder 2"/>
          <p:cNvSpPr txBox="1">
            <a:spLocks noGrp="1"/>
          </p:cNvSpPr>
          <p:nvPr>
            <p:ph type="body" idx="1"/>
          </p:nvPr>
        </p:nvSpPr>
        <p:spPr>
          <a:xfrm>
            <a:off x="457200" y="1600201"/>
            <a:ext cx="6400800" cy="592164"/>
          </a:xfrm>
          <a:prstGeom prst="rect">
            <a:avLst/>
          </a:prstGeom>
          <a:noFill/>
          <a:ln>
            <a:noFill/>
          </a:ln>
        </p:spPr>
        <p:txBody>
          <a:bodyPr spcFirstLastPara="1" wrap="square" lIns="0" tIns="0" rIns="0" bIns="0" anchor="t" anchorCtr="0">
            <a:noAutofit/>
          </a:bodyPr>
          <a:lstStyle/>
          <a:p>
            <a:pPr marL="256032" indent="-256032">
              <a:buSzPct val="100000"/>
            </a:pPr>
            <a:r>
              <a:rPr lang="en-US" sz="2400" b="1" dirty="0">
                <a:solidFill>
                  <a:srgbClr val="000000"/>
                </a:solidFill>
                <a:latin typeface="+mn-lt"/>
              </a:rPr>
              <a:t>Simple exponential smoothing </a:t>
            </a:r>
            <a:r>
              <a:rPr lang="en-US" sz="2400" dirty="0">
                <a:solidFill>
                  <a:srgbClr val="000000"/>
                </a:solidFill>
                <a:latin typeface="+mn-lt"/>
              </a:rPr>
              <a:t>model:</a:t>
            </a:r>
            <a:endParaRPr sz="2400" dirty="0">
              <a:solidFill>
                <a:srgbClr val="000000"/>
              </a:solidFill>
              <a:latin typeface="+mn-lt"/>
            </a:endParaRPr>
          </a:p>
        </p:txBody>
      </p:sp>
      <p:graphicFrame>
        <p:nvGraphicFramePr>
          <p:cNvPr id="2" name="Object 1" descr="F sub start expression t + 1 end expression = left parenthesis 1 minus alpha right parenthesis F sub t + alpha A sub t."/>
          <p:cNvGraphicFramePr>
            <a:graphicFrameLocks noChangeAspect="1"/>
          </p:cNvGraphicFramePr>
          <p:nvPr>
            <p:extLst>
              <p:ext uri="{D42A27DB-BD31-4B8C-83A1-F6EECF244321}">
                <p14:modId xmlns:p14="http://schemas.microsoft.com/office/powerpoint/2010/main" val="247327623"/>
              </p:ext>
            </p:extLst>
          </p:nvPr>
        </p:nvGraphicFramePr>
        <p:xfrm>
          <a:off x="1819806" y="2296060"/>
          <a:ext cx="2616200" cy="406400"/>
        </p:xfrm>
        <a:graphic>
          <a:graphicData uri="http://schemas.openxmlformats.org/presentationml/2006/ole">
            <mc:AlternateContent xmlns:mc="http://schemas.openxmlformats.org/markup-compatibility/2006">
              <mc:Choice xmlns:v="urn:schemas-microsoft-com:vml" Requires="v">
                <p:oleObj spid="_x0000_s5150" name="Equation" r:id="rId4" imgW="2616120" imgH="406080" progId="Equation.DSMT4">
                  <p:embed/>
                </p:oleObj>
              </mc:Choice>
              <mc:Fallback>
                <p:oleObj name="Equation" r:id="rId4" imgW="2616120" imgH="406080" progId="Equation.DSMT4">
                  <p:embed/>
                  <p:pic>
                    <p:nvPicPr>
                      <p:cNvPr id="0" name=""/>
                      <p:cNvPicPr/>
                      <p:nvPr/>
                    </p:nvPicPr>
                    <p:blipFill>
                      <a:blip r:embed="rId5"/>
                      <a:stretch>
                        <a:fillRect/>
                      </a:stretch>
                    </p:blipFill>
                    <p:spPr>
                      <a:xfrm>
                        <a:off x="1819806" y="2296060"/>
                        <a:ext cx="2616200" cy="406400"/>
                      </a:xfrm>
                      <a:prstGeom prst="rect">
                        <a:avLst/>
                      </a:prstGeom>
                    </p:spPr>
                  </p:pic>
                </p:oleObj>
              </mc:Fallback>
            </mc:AlternateContent>
          </a:graphicData>
        </a:graphic>
      </p:graphicFrame>
      <p:graphicFrame>
        <p:nvGraphicFramePr>
          <p:cNvPr id="21" name="Object 20" descr="= F sub t + alpha left parenthesis A sub t minus F sub t right parenthesis. This equation is labeled, 9.6. "/>
          <p:cNvGraphicFramePr>
            <a:graphicFrameLocks noChangeAspect="1"/>
          </p:cNvGraphicFramePr>
          <p:nvPr>
            <p:extLst>
              <p:ext uri="{D42A27DB-BD31-4B8C-83A1-F6EECF244321}">
                <p14:modId xmlns:p14="http://schemas.microsoft.com/office/powerpoint/2010/main" val="292011041"/>
              </p:ext>
            </p:extLst>
          </p:nvPr>
        </p:nvGraphicFramePr>
        <p:xfrm>
          <a:off x="2374166" y="2854992"/>
          <a:ext cx="3810000" cy="406400"/>
        </p:xfrm>
        <a:graphic>
          <a:graphicData uri="http://schemas.openxmlformats.org/presentationml/2006/ole">
            <mc:AlternateContent xmlns:mc="http://schemas.openxmlformats.org/markup-compatibility/2006">
              <mc:Choice xmlns:v="urn:schemas-microsoft-com:vml" Requires="v">
                <p:oleObj spid="_x0000_s5151" name="Equation" r:id="rId6" imgW="3809880" imgH="406080" progId="Equation.DSMT4">
                  <p:embed/>
                </p:oleObj>
              </mc:Choice>
              <mc:Fallback>
                <p:oleObj name="Equation" r:id="rId6" imgW="3809880" imgH="406080" progId="Equation.DSMT4">
                  <p:embed/>
                  <p:pic>
                    <p:nvPicPr>
                      <p:cNvPr id="2" name="Object 1"/>
                      <p:cNvPicPr/>
                      <p:nvPr/>
                    </p:nvPicPr>
                    <p:blipFill>
                      <a:blip r:embed="rId7"/>
                      <a:stretch>
                        <a:fillRect/>
                      </a:stretch>
                    </p:blipFill>
                    <p:spPr>
                      <a:xfrm>
                        <a:off x="2374166" y="2854992"/>
                        <a:ext cx="3810000" cy="406400"/>
                      </a:xfrm>
                      <a:prstGeom prst="rect">
                        <a:avLst/>
                      </a:prstGeom>
                    </p:spPr>
                  </p:pic>
                </p:oleObj>
              </mc:Fallback>
            </mc:AlternateContent>
          </a:graphicData>
        </a:graphic>
      </p:graphicFrame>
      <p:sp>
        <p:nvSpPr>
          <p:cNvPr id="360" name="Content Placeholder 3"/>
          <p:cNvSpPr txBox="1">
            <a:spLocks noGrp="1"/>
          </p:cNvSpPr>
          <p:nvPr>
            <p:ph type="body" idx="2"/>
          </p:nvPr>
        </p:nvSpPr>
        <p:spPr>
          <a:xfrm>
            <a:off x="726744" y="3521355"/>
            <a:ext cx="838200" cy="364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where</a:t>
            </a:r>
            <a:endParaRPr sz="2400" b="0" i="0" u="none" strike="noStrike" cap="none" dirty="0">
              <a:solidFill>
                <a:schemeClr val="dk1"/>
              </a:solidFill>
              <a:latin typeface="+mn-lt"/>
              <a:ea typeface="Arial"/>
              <a:cs typeface="Arial"/>
              <a:sym typeface="Arial"/>
            </a:endParaRPr>
          </a:p>
        </p:txBody>
      </p:sp>
      <p:graphicFrame>
        <p:nvGraphicFramePr>
          <p:cNvPr id="22" name="Object 21" descr="F sub start expression t + 1 end expression"/>
          <p:cNvGraphicFramePr>
            <a:graphicFrameLocks noChangeAspect="1"/>
          </p:cNvGraphicFramePr>
          <p:nvPr>
            <p:extLst>
              <p:ext uri="{D42A27DB-BD31-4B8C-83A1-F6EECF244321}">
                <p14:modId xmlns:p14="http://schemas.microsoft.com/office/powerpoint/2010/main" val="3787456344"/>
              </p:ext>
            </p:extLst>
          </p:nvPr>
        </p:nvGraphicFramePr>
        <p:xfrm>
          <a:off x="1630482" y="3543096"/>
          <a:ext cx="457200" cy="381000"/>
        </p:xfrm>
        <a:graphic>
          <a:graphicData uri="http://schemas.openxmlformats.org/presentationml/2006/ole">
            <mc:AlternateContent xmlns:mc="http://schemas.openxmlformats.org/markup-compatibility/2006">
              <mc:Choice xmlns:v="urn:schemas-microsoft-com:vml" Requires="v">
                <p:oleObj spid="_x0000_s5152" name="Equation" r:id="rId8" imgW="457200" imgH="380880" progId="Equation.DSMT4">
                  <p:embed/>
                </p:oleObj>
              </mc:Choice>
              <mc:Fallback>
                <p:oleObj name="Equation" r:id="rId8" imgW="457200" imgH="380880" progId="Equation.DSMT4">
                  <p:embed/>
                  <p:pic>
                    <p:nvPicPr>
                      <p:cNvPr id="2" name="Object 1"/>
                      <p:cNvPicPr/>
                      <p:nvPr/>
                    </p:nvPicPr>
                    <p:blipFill>
                      <a:blip r:embed="rId9"/>
                      <a:stretch>
                        <a:fillRect/>
                      </a:stretch>
                    </p:blipFill>
                    <p:spPr>
                      <a:xfrm>
                        <a:off x="1630482" y="3543096"/>
                        <a:ext cx="457200" cy="381000"/>
                      </a:xfrm>
                      <a:prstGeom prst="rect">
                        <a:avLst/>
                      </a:prstGeom>
                    </p:spPr>
                  </p:pic>
                </p:oleObj>
              </mc:Fallback>
            </mc:AlternateContent>
          </a:graphicData>
        </a:graphic>
      </p:graphicFrame>
      <p:sp>
        <p:nvSpPr>
          <p:cNvPr id="362" name="Content Placeholder 4"/>
          <p:cNvSpPr txBox="1">
            <a:spLocks noGrp="1"/>
          </p:cNvSpPr>
          <p:nvPr>
            <p:ph type="body" idx="3"/>
          </p:nvPr>
        </p:nvSpPr>
        <p:spPr>
          <a:xfrm>
            <a:off x="2153220" y="3551511"/>
            <a:ext cx="3969224" cy="37021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is the forecast for time period</a:t>
            </a:r>
            <a:endParaRPr sz="2400" b="0" i="0" u="none" strike="noStrike" cap="none" dirty="0">
              <a:solidFill>
                <a:schemeClr val="dk1"/>
              </a:solidFill>
              <a:latin typeface="+mn-lt"/>
              <a:ea typeface="Arial"/>
              <a:cs typeface="Arial"/>
              <a:sym typeface="Arial"/>
            </a:endParaRPr>
          </a:p>
        </p:txBody>
      </p:sp>
      <p:graphicFrame>
        <p:nvGraphicFramePr>
          <p:cNvPr id="23" name="Object 22" descr=" t + 1, F sub t"/>
          <p:cNvGraphicFramePr>
            <a:graphicFrameLocks noChangeAspect="1"/>
          </p:cNvGraphicFramePr>
          <p:nvPr>
            <p:extLst>
              <p:ext uri="{D42A27DB-BD31-4B8C-83A1-F6EECF244321}">
                <p14:modId xmlns:p14="http://schemas.microsoft.com/office/powerpoint/2010/main" val="3947818980"/>
              </p:ext>
            </p:extLst>
          </p:nvPr>
        </p:nvGraphicFramePr>
        <p:xfrm>
          <a:off x="6184166" y="3577990"/>
          <a:ext cx="838200" cy="381000"/>
        </p:xfrm>
        <a:graphic>
          <a:graphicData uri="http://schemas.openxmlformats.org/presentationml/2006/ole">
            <mc:AlternateContent xmlns:mc="http://schemas.openxmlformats.org/markup-compatibility/2006">
              <mc:Choice xmlns:v="urn:schemas-microsoft-com:vml" Requires="v">
                <p:oleObj spid="_x0000_s5153" name="Equation" r:id="rId10" imgW="838080" imgH="380880" progId="Equation.DSMT4">
                  <p:embed/>
                </p:oleObj>
              </mc:Choice>
              <mc:Fallback>
                <p:oleObj name="Equation" r:id="rId10" imgW="838080" imgH="380880" progId="Equation.DSMT4">
                  <p:embed/>
                  <p:pic>
                    <p:nvPicPr>
                      <p:cNvPr id="22" name="Object 21"/>
                      <p:cNvPicPr/>
                      <p:nvPr/>
                    </p:nvPicPr>
                    <p:blipFill>
                      <a:blip r:embed="rId11"/>
                      <a:stretch>
                        <a:fillRect/>
                      </a:stretch>
                    </p:blipFill>
                    <p:spPr>
                      <a:xfrm>
                        <a:off x="6184166" y="3577990"/>
                        <a:ext cx="838200" cy="381000"/>
                      </a:xfrm>
                      <a:prstGeom prst="rect">
                        <a:avLst/>
                      </a:prstGeom>
                    </p:spPr>
                  </p:pic>
                </p:oleObj>
              </mc:Fallback>
            </mc:AlternateContent>
          </a:graphicData>
        </a:graphic>
      </p:graphicFrame>
      <p:sp>
        <p:nvSpPr>
          <p:cNvPr id="364" name="Content Placeholder 5"/>
          <p:cNvSpPr txBox="1">
            <a:spLocks noGrp="1"/>
          </p:cNvSpPr>
          <p:nvPr>
            <p:ph type="body" idx="4"/>
          </p:nvPr>
        </p:nvSpPr>
        <p:spPr>
          <a:xfrm>
            <a:off x="7133867" y="3551511"/>
            <a:ext cx="762000" cy="35692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is the</a:t>
            </a:r>
            <a:endParaRPr sz="2400" b="0" i="0" u="none" strike="noStrike" cap="none" dirty="0">
              <a:solidFill>
                <a:schemeClr val="dk1"/>
              </a:solidFill>
              <a:latin typeface="+mn-lt"/>
              <a:ea typeface="Arial"/>
              <a:cs typeface="Arial"/>
              <a:sym typeface="Arial"/>
            </a:endParaRPr>
          </a:p>
        </p:txBody>
      </p:sp>
      <p:sp>
        <p:nvSpPr>
          <p:cNvPr id="365" name="Content Placeholder 6"/>
          <p:cNvSpPr txBox="1">
            <a:spLocks noGrp="1"/>
          </p:cNvSpPr>
          <p:nvPr>
            <p:ph type="body" idx="5"/>
          </p:nvPr>
        </p:nvSpPr>
        <p:spPr>
          <a:xfrm>
            <a:off x="726744" y="4020355"/>
            <a:ext cx="2812764" cy="36735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forecast for period </a:t>
            </a:r>
            <a:r>
              <a:rPr lang="en-US" sz="2400" b="0" i="1" u="none" strike="noStrike" cap="none" dirty="0">
                <a:solidFill>
                  <a:srgbClr val="000000"/>
                </a:solidFill>
                <a:latin typeface="+mn-lt"/>
                <a:ea typeface="Arial"/>
                <a:cs typeface="Arial"/>
                <a:sym typeface="Arial"/>
              </a:rPr>
              <a:t>t</a:t>
            </a:r>
            <a:r>
              <a:rPr lang="en-US" sz="2400" b="0" i="0" u="none" strike="noStrike" cap="none" dirty="0">
                <a:solidFill>
                  <a:srgbClr val="000000"/>
                </a:solidFill>
                <a:latin typeface="+mn-lt"/>
                <a:ea typeface="Arial"/>
                <a:cs typeface="Arial"/>
                <a:sym typeface="Arial"/>
              </a:rPr>
              <a:t>,</a:t>
            </a:r>
            <a:endParaRPr sz="2400" b="0" i="0" u="none" strike="noStrike" cap="none" dirty="0">
              <a:solidFill>
                <a:schemeClr val="dk1"/>
              </a:solidFill>
              <a:latin typeface="+mn-lt"/>
              <a:ea typeface="Arial"/>
              <a:cs typeface="Arial"/>
              <a:sym typeface="Arial"/>
            </a:endParaRPr>
          </a:p>
        </p:txBody>
      </p:sp>
      <p:graphicFrame>
        <p:nvGraphicFramePr>
          <p:cNvPr id="24" name="Object 23" descr="A sub t"/>
          <p:cNvGraphicFramePr>
            <a:graphicFrameLocks noChangeAspect="1"/>
          </p:cNvGraphicFramePr>
          <p:nvPr>
            <p:extLst>
              <p:ext uri="{D42A27DB-BD31-4B8C-83A1-F6EECF244321}">
                <p14:modId xmlns:p14="http://schemas.microsoft.com/office/powerpoint/2010/main" val="2875788195"/>
              </p:ext>
            </p:extLst>
          </p:nvPr>
        </p:nvGraphicFramePr>
        <p:xfrm>
          <a:off x="3558558" y="4013531"/>
          <a:ext cx="292100" cy="381000"/>
        </p:xfrm>
        <a:graphic>
          <a:graphicData uri="http://schemas.openxmlformats.org/presentationml/2006/ole">
            <mc:AlternateContent xmlns:mc="http://schemas.openxmlformats.org/markup-compatibility/2006">
              <mc:Choice xmlns:v="urn:schemas-microsoft-com:vml" Requires="v">
                <p:oleObj spid="_x0000_s5154" name="Equation" r:id="rId12" imgW="291960" imgH="380880" progId="Equation.DSMT4">
                  <p:embed/>
                </p:oleObj>
              </mc:Choice>
              <mc:Fallback>
                <p:oleObj name="Equation" r:id="rId12" imgW="291960" imgH="380880" progId="Equation.DSMT4">
                  <p:embed/>
                  <p:pic>
                    <p:nvPicPr>
                      <p:cNvPr id="23" name="Object 22"/>
                      <p:cNvPicPr/>
                      <p:nvPr/>
                    </p:nvPicPr>
                    <p:blipFill>
                      <a:blip r:embed="rId13"/>
                      <a:stretch>
                        <a:fillRect/>
                      </a:stretch>
                    </p:blipFill>
                    <p:spPr>
                      <a:xfrm>
                        <a:off x="3558558" y="4013531"/>
                        <a:ext cx="292100" cy="381000"/>
                      </a:xfrm>
                      <a:prstGeom prst="rect">
                        <a:avLst/>
                      </a:prstGeom>
                    </p:spPr>
                  </p:pic>
                </p:oleObj>
              </mc:Fallback>
            </mc:AlternateContent>
          </a:graphicData>
        </a:graphic>
      </p:graphicFrame>
      <p:sp>
        <p:nvSpPr>
          <p:cNvPr id="367" name="Content Placeholder 7"/>
          <p:cNvSpPr txBox="1">
            <a:spLocks noGrp="1"/>
          </p:cNvSpPr>
          <p:nvPr>
            <p:ph type="body" idx="6"/>
          </p:nvPr>
        </p:nvSpPr>
        <p:spPr>
          <a:xfrm>
            <a:off x="3931148" y="4004892"/>
            <a:ext cx="4506036" cy="398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is the observed value in period </a:t>
            </a:r>
            <a:r>
              <a:rPr lang="en-US" sz="2400" b="0" i="1" u="none" strike="noStrike" cap="none" dirty="0">
                <a:solidFill>
                  <a:srgbClr val="000000"/>
                </a:solidFill>
                <a:latin typeface="+mn-lt"/>
                <a:ea typeface="Arial"/>
                <a:cs typeface="Arial"/>
                <a:sym typeface="Arial"/>
              </a:rPr>
              <a:t>t</a:t>
            </a:r>
            <a:r>
              <a:rPr lang="en-US" sz="2400" b="0" i="0" u="none" strike="noStrike" cap="none" dirty="0">
                <a:solidFill>
                  <a:srgbClr val="000000"/>
                </a:solidFill>
                <a:latin typeface="+mn-lt"/>
                <a:ea typeface="Arial"/>
                <a:cs typeface="Arial"/>
                <a:sym typeface="Arial"/>
              </a:rPr>
              <a:t>,</a:t>
            </a:r>
            <a:endParaRPr sz="2400" b="0" i="0" u="none" strike="noStrike" cap="none" dirty="0">
              <a:solidFill>
                <a:schemeClr val="dk1"/>
              </a:solidFill>
              <a:latin typeface="+mn-lt"/>
              <a:ea typeface="Arial"/>
              <a:cs typeface="Arial"/>
              <a:sym typeface="Arial"/>
            </a:endParaRPr>
          </a:p>
        </p:txBody>
      </p:sp>
      <p:sp>
        <p:nvSpPr>
          <p:cNvPr id="368" name="Content Placeholder 8"/>
          <p:cNvSpPr txBox="1">
            <a:spLocks noGrp="1"/>
          </p:cNvSpPr>
          <p:nvPr>
            <p:ph type="body" idx="7"/>
          </p:nvPr>
        </p:nvSpPr>
        <p:spPr>
          <a:xfrm>
            <a:off x="726744" y="4447132"/>
            <a:ext cx="7960056" cy="71142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and </a:t>
            </a:r>
            <a:r>
              <a:rPr lang="en-US" sz="2400" b="0" i="1" u="none" strike="noStrike" cap="none" dirty="0">
                <a:solidFill>
                  <a:srgbClr val="000000"/>
                </a:solidFill>
                <a:latin typeface="+mn-lt"/>
                <a:ea typeface="Arial"/>
                <a:cs typeface="Arial"/>
                <a:sym typeface="Arial"/>
              </a:rPr>
              <a:t>α</a:t>
            </a:r>
            <a:r>
              <a:rPr lang="en-US" sz="2400" b="0" i="0" u="none" strike="noStrike" cap="none" dirty="0">
                <a:solidFill>
                  <a:srgbClr val="000000"/>
                </a:solidFill>
                <a:latin typeface="+mn-lt"/>
                <a:ea typeface="Arial"/>
                <a:cs typeface="Arial"/>
                <a:sym typeface="Arial"/>
              </a:rPr>
              <a:t> is a constant between 0 and 1 called the </a:t>
            </a:r>
            <a:r>
              <a:rPr lang="en-US" sz="2400" b="1" i="0" u="none" strike="noStrike" cap="none" dirty="0">
                <a:solidFill>
                  <a:srgbClr val="000000"/>
                </a:solidFill>
                <a:latin typeface="+mn-lt"/>
                <a:ea typeface="Arial"/>
                <a:cs typeface="Arial"/>
                <a:sym typeface="Arial"/>
              </a:rPr>
              <a:t>smoothing constant</a:t>
            </a:r>
            <a:r>
              <a:rPr lang="en-US" sz="2400" b="0" i="0" u="none" strike="noStrike" cap="none" dirty="0">
                <a:solidFill>
                  <a:srgbClr val="000000"/>
                </a:solidFill>
                <a:latin typeface="+mn-lt"/>
                <a:ea typeface="Arial"/>
                <a:cs typeface="Arial"/>
                <a:sym typeface="Arial"/>
              </a:rPr>
              <a:t>.</a:t>
            </a:r>
            <a:endParaRPr sz="2400" b="0" i="0" u="none" strike="noStrike" cap="none" dirty="0">
              <a:solidFill>
                <a:srgbClr val="000000"/>
              </a:solidFill>
              <a:latin typeface="+mn-lt"/>
              <a:ea typeface="Arial"/>
              <a:cs typeface="Arial"/>
              <a:sym typeface="Arial"/>
            </a:endParaRPr>
          </a:p>
        </p:txBody>
      </p:sp>
      <p:sp>
        <p:nvSpPr>
          <p:cNvPr id="369" name="Content Placeholder 9"/>
          <p:cNvSpPr txBox="1">
            <a:spLocks noGrp="1"/>
          </p:cNvSpPr>
          <p:nvPr>
            <p:ph type="body" idx="8"/>
          </p:nvPr>
        </p:nvSpPr>
        <p:spPr>
          <a:xfrm>
            <a:off x="457200" y="5257182"/>
            <a:ext cx="2164080" cy="567575"/>
          </a:xfrm>
          <a:prstGeom prst="rect">
            <a:avLst/>
          </a:prstGeom>
          <a:noFill/>
          <a:ln>
            <a:noFill/>
          </a:ln>
        </p:spPr>
        <p:txBody>
          <a:bodyPr spcFirstLastPara="1" wrap="square" lIns="0" tIns="0" rIns="0" bIns="0" anchor="t" anchorCtr="0">
            <a:noAutofit/>
          </a:bodyPr>
          <a:lstStyle/>
          <a:p>
            <a:pPr marL="256032" lvl="0" indent="-256032">
              <a:buSzPct val="100000"/>
            </a:pPr>
            <a:r>
              <a:rPr lang="en-US" sz="2400" dirty="0">
                <a:solidFill>
                  <a:srgbClr val="000000"/>
                </a:solidFill>
                <a:latin typeface="+mn-lt"/>
              </a:rPr>
              <a:t>To begin, set</a:t>
            </a:r>
            <a:endParaRPr sz="2400" dirty="0">
              <a:solidFill>
                <a:srgbClr val="000000"/>
              </a:solidFill>
              <a:latin typeface="+mn-lt"/>
            </a:endParaRPr>
          </a:p>
        </p:txBody>
      </p:sp>
      <p:graphicFrame>
        <p:nvGraphicFramePr>
          <p:cNvPr id="25" name="Object 24" descr="F sub 1 and F sub 2"/>
          <p:cNvGraphicFramePr>
            <a:graphicFrameLocks noChangeAspect="1"/>
          </p:cNvGraphicFramePr>
          <p:nvPr>
            <p:extLst>
              <p:ext uri="{D42A27DB-BD31-4B8C-83A1-F6EECF244321}">
                <p14:modId xmlns:p14="http://schemas.microsoft.com/office/powerpoint/2010/main" val="2239140973"/>
              </p:ext>
            </p:extLst>
          </p:nvPr>
        </p:nvGraphicFramePr>
        <p:xfrm>
          <a:off x="2672451" y="5496916"/>
          <a:ext cx="1257300" cy="381000"/>
        </p:xfrm>
        <a:graphic>
          <a:graphicData uri="http://schemas.openxmlformats.org/presentationml/2006/ole">
            <mc:AlternateContent xmlns:mc="http://schemas.openxmlformats.org/markup-compatibility/2006">
              <mc:Choice xmlns:v="urn:schemas-microsoft-com:vml" Requires="v">
                <p:oleObj spid="_x0000_s5155" name="Equation" r:id="rId14" imgW="1257120" imgH="380880" progId="Equation.DSMT4">
                  <p:embed/>
                </p:oleObj>
              </mc:Choice>
              <mc:Fallback>
                <p:oleObj name="Equation" r:id="rId14" imgW="1257120" imgH="380880" progId="Equation.DSMT4">
                  <p:embed/>
                  <p:pic>
                    <p:nvPicPr>
                      <p:cNvPr id="23" name="Object 22"/>
                      <p:cNvPicPr/>
                      <p:nvPr/>
                    </p:nvPicPr>
                    <p:blipFill>
                      <a:blip r:embed="rId15"/>
                      <a:stretch>
                        <a:fillRect/>
                      </a:stretch>
                    </p:blipFill>
                    <p:spPr>
                      <a:xfrm>
                        <a:off x="2672451" y="5496916"/>
                        <a:ext cx="1257300" cy="381000"/>
                      </a:xfrm>
                      <a:prstGeom prst="rect">
                        <a:avLst/>
                      </a:prstGeom>
                    </p:spPr>
                  </p:pic>
                </p:oleObj>
              </mc:Fallback>
            </mc:AlternateContent>
          </a:graphicData>
        </a:graphic>
      </p:graphicFrame>
      <p:sp>
        <p:nvSpPr>
          <p:cNvPr id="371" name="Content Placeholder 10"/>
          <p:cNvSpPr txBox="1">
            <a:spLocks noGrp="1"/>
          </p:cNvSpPr>
          <p:nvPr>
            <p:ph type="body" idx="9"/>
          </p:nvPr>
        </p:nvSpPr>
        <p:spPr>
          <a:xfrm>
            <a:off x="3980922" y="5492635"/>
            <a:ext cx="4495800" cy="3591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equal to the actual observation in</a:t>
            </a:r>
            <a:endParaRPr sz="2400" b="0" i="0" u="none" strike="noStrike" cap="none" dirty="0">
              <a:solidFill>
                <a:schemeClr val="dk1"/>
              </a:solidFill>
              <a:latin typeface="+mn-lt"/>
              <a:ea typeface="Arial"/>
              <a:cs typeface="Arial"/>
              <a:sym typeface="Arial"/>
            </a:endParaRPr>
          </a:p>
        </p:txBody>
      </p:sp>
      <p:sp>
        <p:nvSpPr>
          <p:cNvPr id="372" name="Content Placeholder 11"/>
          <p:cNvSpPr txBox="1">
            <a:spLocks noGrp="1"/>
          </p:cNvSpPr>
          <p:nvPr>
            <p:ph type="body" idx="13"/>
          </p:nvPr>
        </p:nvSpPr>
        <p:spPr>
          <a:xfrm>
            <a:off x="726744" y="5880188"/>
            <a:ext cx="1219200"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b="0" i="0" u="none" strike="noStrike" cap="none" dirty="0">
                <a:solidFill>
                  <a:srgbClr val="000000"/>
                </a:solidFill>
                <a:latin typeface="+mn-lt"/>
                <a:ea typeface="Arial"/>
                <a:cs typeface="Arial"/>
                <a:sym typeface="Arial"/>
              </a:rPr>
              <a:t>period 1,</a:t>
            </a:r>
            <a:endParaRPr sz="2400" b="0" i="0" u="none" strike="noStrike" cap="none" dirty="0">
              <a:solidFill>
                <a:schemeClr val="dk1"/>
              </a:solidFill>
              <a:latin typeface="+mn-lt"/>
              <a:ea typeface="Arial"/>
              <a:cs typeface="Arial"/>
              <a:sym typeface="Arial"/>
            </a:endParaRPr>
          </a:p>
        </p:txBody>
      </p:sp>
      <p:graphicFrame>
        <p:nvGraphicFramePr>
          <p:cNvPr id="26" name="Object 25" descr="A sub 1"/>
          <p:cNvGraphicFramePr>
            <a:graphicFrameLocks noChangeAspect="1"/>
          </p:cNvGraphicFramePr>
          <p:nvPr>
            <p:extLst>
              <p:ext uri="{D42A27DB-BD31-4B8C-83A1-F6EECF244321}">
                <p14:modId xmlns:p14="http://schemas.microsoft.com/office/powerpoint/2010/main" val="677250700"/>
              </p:ext>
            </p:extLst>
          </p:nvPr>
        </p:nvGraphicFramePr>
        <p:xfrm>
          <a:off x="2048587" y="5853729"/>
          <a:ext cx="368300" cy="381000"/>
        </p:xfrm>
        <a:graphic>
          <a:graphicData uri="http://schemas.openxmlformats.org/presentationml/2006/ole">
            <mc:AlternateContent xmlns:mc="http://schemas.openxmlformats.org/markup-compatibility/2006">
              <mc:Choice xmlns:v="urn:schemas-microsoft-com:vml" Requires="v">
                <p:oleObj spid="_x0000_s5156" name="Equation" r:id="rId16" imgW="368280" imgH="380880" progId="Equation.DSMT4">
                  <p:embed/>
                </p:oleObj>
              </mc:Choice>
              <mc:Fallback>
                <p:oleObj name="Equation" r:id="rId16" imgW="368280" imgH="380880" progId="Equation.DSMT4">
                  <p:embed/>
                  <p:pic>
                    <p:nvPicPr>
                      <p:cNvPr id="24" name="Object 23"/>
                      <p:cNvPicPr/>
                      <p:nvPr/>
                    </p:nvPicPr>
                    <p:blipFill>
                      <a:blip r:embed="rId17"/>
                      <a:stretch>
                        <a:fillRect/>
                      </a:stretch>
                    </p:blipFill>
                    <p:spPr>
                      <a:xfrm>
                        <a:off x="2048587" y="5853729"/>
                        <a:ext cx="368300" cy="381000"/>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Title 1"/>
          <p:cNvSpPr txBox="1">
            <a:spLocks noGrp="1"/>
          </p:cNvSpPr>
          <p:nvPr>
            <p:ph type="title"/>
          </p:nvPr>
        </p:nvSpPr>
        <p:spPr>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000"/>
              <a:buFont typeface="Arial"/>
              <a:buNone/>
            </a:pPr>
            <a:r>
              <a:rPr lang="en-US" sz="3000" b="1" i="0" u="none" strike="noStrike" cap="none" dirty="0">
                <a:solidFill>
                  <a:srgbClr val="007FA3"/>
                </a:solidFill>
                <a:latin typeface="+mj-lt"/>
                <a:ea typeface="Arial"/>
                <a:cs typeface="Arial"/>
                <a:sym typeface="Arial"/>
              </a:rPr>
              <a:t>Example 9.8: Using Exponential Smoothing to Forecast Tablet Computer Sales</a:t>
            </a:r>
            <a:endParaRPr sz="3000" b="1" i="0" u="none" strike="noStrike" cap="none" dirty="0">
              <a:solidFill>
                <a:srgbClr val="007FA3"/>
              </a:solidFill>
              <a:latin typeface="+mj-lt"/>
              <a:ea typeface="Arial"/>
              <a:cs typeface="Arial"/>
              <a:sym typeface="Arial"/>
            </a:endParaRPr>
          </a:p>
        </p:txBody>
      </p:sp>
      <p:pic>
        <p:nvPicPr>
          <p:cNvPr id="2" name="Picture 1" descr="An Excel sheet has a table titled, Tablet computer sales, that evaluates smoothing constant. A table has 21 rows and 11 columns. The columns have the following headings from left to right. Weeks, Units sold, 0.1, 0.2, 0.3, 0.4, 0.5, 0.6, 0.7, 0.8, 0.9. The row entries are as follows. Row 1. 1, 88, 88, 88, 88, 88, 88, 88, 88, 88, 88. Row 2. 2, 44, 88, 88, 88, 88, 88, 88, 88, 88, 88. Row 3. 3, 60, 83.6, 79.2, 74.8, 70.4, 66, 61.6, 57.2, 52.8, 48.4. Row 4. 4, 56, 81.24, 75.36, 70.36, 66.24, 63, 60.64, 59.16, 58.56, 58.84. Row 5. 5, 70, 78.72, 71.49, 66.05, 62.14, 59.5, 57.86, 56.95, 56.51, 56.28. Row 6. 6, 91, 77.84, 71.19, 67.24, 65.29, 64.75, 65.14, 66.08, 67.3, 68.63. Row 7. 7, 54, 79.16, 75.15, 74.37, 75.57, 77.88, 80.66, 83.53, 86.26, 88.76. Row 8. 8, 60, 76.64, 70.92, 68.26, 66.94, 65.94, 64.66, 62.86, 60.45, 57.48. Row 9. 9, 48, 74.98, 68.74, 65.78, 64.17, 62.97, 61.87, 60.86, 60.09, 59.75. Row 10. 10, 35, 72.28, 64.59, 60.45, 57.7, 55.48, 53.55, 51.86, 50.42, 49.17. Row 11. 11, 49, 68.55, 58.67, 52.81, 48.62, 45.24, 42.42, 40.06, 38.08, 36.42. Row 12. 12, 44, 66.6, 56.74, 51.67, 48.77, 47.12, 46.37, 46.32, 46.82, 47.74. Row 13. 13, 61, 64.34, 54.19, 49.37, 46.86, 45.56, 44.95, 44.7, 44.56, 44.37. Row 14. 14, 68, 64, 55.55, 52.86, 52.52, 53.28, 54.58, 56.11, 57.71, 59.34. Row 15. 15, 82, 64.4, 58.04, 57.4, 58.71, 60.64, 62.63, 64.43, 65.94, 67.13. Row 16. 16, 71, 66.16, 62.83, 64.78, 68.03, 71.32, 74.25, 76.73, 78.79, 80.51. Row 17. 17, 50, 66.65, 64.47, 66.65, 69.22, 71.16, 72.3, 72.72, 72.56, 71.95. Row 18. 18, blank, 64.98, 61.57, 61.65, 61.53, 60.58, 58.92, 56.82, 54.51, 52.2. Row 19. Blank, M A D, 19.33, 17.16, 16.15, 15.36, 14.93, 14.71, 14.72, 14.88, 15.36. Row 20. Blank, M S E, 496.07, 390.84, 359.18, 346.56, 340.77, 338.41, 339.03, 343.32, 352.38. Row 21. Blank, M A P E, 0.3828, 0.3271, 0.3012, 0.2836, 0.2754, 0.2709, 0.2709, 0.2738, 0.2823. "/>
          <p:cNvPicPr>
            <a:picLocks noChangeAspect="1"/>
          </p:cNvPicPr>
          <p:nvPr/>
        </p:nvPicPr>
        <p:blipFill>
          <a:blip r:embed="rId4"/>
          <a:stretch>
            <a:fillRect/>
          </a:stretch>
        </p:blipFill>
        <p:spPr>
          <a:xfrm>
            <a:off x="1081737" y="1602419"/>
            <a:ext cx="6980525" cy="4029805"/>
          </a:xfrm>
          <a:prstGeom prst="rect">
            <a:avLst/>
          </a:prstGeom>
        </p:spPr>
      </p:pic>
      <p:sp>
        <p:nvSpPr>
          <p:cNvPr id="380" name="Content Placeholder 2"/>
          <p:cNvSpPr txBox="1">
            <a:spLocks noGrp="1"/>
          </p:cNvSpPr>
          <p:nvPr>
            <p:ph type="body" idx="1"/>
          </p:nvPr>
        </p:nvSpPr>
        <p:spPr>
          <a:xfrm>
            <a:off x="457200" y="5853518"/>
            <a:ext cx="2705100" cy="3457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1800"/>
              <a:buFont typeface="Arial"/>
              <a:buNone/>
            </a:pPr>
            <a:r>
              <a:rPr lang="en-US" sz="1800" b="0" i="0" u="none" strike="noStrike" cap="none" dirty="0">
                <a:solidFill>
                  <a:srgbClr val="000000"/>
                </a:solidFill>
                <a:latin typeface="+mn-lt"/>
                <a:ea typeface="Arial"/>
                <a:cs typeface="Arial"/>
                <a:sym typeface="Arial"/>
              </a:rPr>
              <a:t>Forecast for week 3 when</a:t>
            </a:r>
            <a:endParaRPr sz="1800" b="0" i="0" u="none" strike="noStrike" cap="none" dirty="0">
              <a:solidFill>
                <a:srgbClr val="000000"/>
              </a:solidFill>
              <a:latin typeface="+mn-lt"/>
              <a:ea typeface="Arial"/>
              <a:cs typeface="Arial"/>
              <a:sym typeface="Arial"/>
            </a:endParaRPr>
          </a:p>
        </p:txBody>
      </p:sp>
      <p:graphicFrame>
        <p:nvGraphicFramePr>
          <p:cNvPr id="3" name="Object 2" descr="Alpha = 0.7 colon start expression 1 minus 0.7 end expression times 88 + 0.7 times 44 = 57.2"/>
          <p:cNvGraphicFramePr>
            <a:graphicFrameLocks noChangeAspect="1"/>
          </p:cNvGraphicFramePr>
          <p:nvPr>
            <p:extLst>
              <p:ext uri="{D42A27DB-BD31-4B8C-83A1-F6EECF244321}">
                <p14:modId xmlns:p14="http://schemas.microsoft.com/office/powerpoint/2010/main" val="2758054064"/>
              </p:ext>
            </p:extLst>
          </p:nvPr>
        </p:nvGraphicFramePr>
        <p:xfrm>
          <a:off x="3328170" y="5853518"/>
          <a:ext cx="4061901" cy="335868"/>
        </p:xfrm>
        <a:graphic>
          <a:graphicData uri="http://schemas.openxmlformats.org/presentationml/2006/ole">
            <mc:AlternateContent xmlns:mc="http://schemas.openxmlformats.org/markup-compatibility/2006">
              <mc:Choice xmlns:v="urn:schemas-microsoft-com:vml" Requires="v">
                <p:oleObj spid="_x0000_s6150" name="Equation" r:id="rId5" imgW="4914720" imgH="406080" progId="Equation.DSMT4">
                  <p:embed/>
                </p:oleObj>
              </mc:Choice>
              <mc:Fallback>
                <p:oleObj name="Equation" r:id="rId5" imgW="4914720" imgH="406080" progId="Equation.DSMT4">
                  <p:embed/>
                  <p:pic>
                    <p:nvPicPr>
                      <p:cNvPr id="0" name=""/>
                      <p:cNvPicPr/>
                      <p:nvPr/>
                    </p:nvPicPr>
                    <p:blipFill>
                      <a:blip r:embed="rId6"/>
                      <a:stretch>
                        <a:fillRect/>
                      </a:stretch>
                    </p:blipFill>
                    <p:spPr>
                      <a:xfrm>
                        <a:off x="3328170" y="5853518"/>
                        <a:ext cx="4061901" cy="335868"/>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Title 1"/>
          <p:cNvSpPr txBox="1">
            <a:spLocks noGrp="1"/>
          </p:cNvSpPr>
          <p:nvPr>
            <p:ph type="title"/>
          </p:nvPr>
        </p:nvSpPr>
        <p:spPr>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000"/>
              <a:buFont typeface="Arial"/>
              <a:buNone/>
            </a:pPr>
            <a:r>
              <a:rPr lang="en-US" sz="3000" b="1" i="0" u="none" strike="noStrike" cap="none" dirty="0">
                <a:solidFill>
                  <a:srgbClr val="007FA3"/>
                </a:solidFill>
                <a:latin typeface="+mj-lt"/>
                <a:ea typeface="Arial"/>
                <a:cs typeface="Arial"/>
                <a:sym typeface="Arial"/>
              </a:rPr>
              <a:t>Example 9.9: Finding the Best Exponential Smoothing Model for Tablet Computer Sales</a:t>
            </a:r>
            <a:endParaRPr sz="3000" b="1" i="0" u="none" strike="noStrike" cap="none" dirty="0">
              <a:solidFill>
                <a:srgbClr val="007FA3"/>
              </a:solidFill>
              <a:latin typeface="+mj-lt"/>
              <a:ea typeface="Arial"/>
              <a:cs typeface="Arial"/>
              <a:sym typeface="Arial"/>
            </a:endParaRPr>
          </a:p>
        </p:txBody>
      </p:sp>
      <p:pic>
        <p:nvPicPr>
          <p:cNvPr id="2" name="Picture 1" descr="An Excel sheet has a table titled, Tablet computer sales. The table has 21 rows and 11 columns. The columns have the following headings from left to right. Weeks, Units sold, Smoothing constant 0.1, Smoothing constant 0.2, Smoothing constant 0.3, Smoothing constant 0.4, Smoothing constant 0.5, Smoothing constant 0.6, Smoothing constant 0.7, Smoothing constant 0.8, Smoothing constant 0.9. The row entries are as follows. Row 1. 1, 88, 88, 88, 88, 88, 88, 88, 88, 88, 88. Row 2. 2, 44, 88, 88, 88, 88, 88, 88, 88, 88, 88. Row 3. 3, 60, 83.6, 79.2, 74.8, 70.4, 66, 61.6, 57.2, 52.8, 48.4. Row 4. 4, 56, 81.24, 75.36, 70.36, 66.24, 63, 60.64, 59.16, 58.56, 58.84. Row 5. 5, 70, 78.72, 71.49, 66.05, 62.14, 59.5, 57.86, 56.95, 56.51, 56.28. Row 6. 6, 91, 77.84, 71.19, 67.24, 65.29, 64.75, 65.14, 66.08, 67.3, 68.63. Row 7. 7, 54, 79.16, 75.15, 74.37, 75.57, 77.88, 80.66, 83.53, 86.26, 88.76. Row 8. 8, 60, 76.64, 70.92, 68.26, 66.94, 65.94, 64.66, 62.86, 60.45, 57.48. Row 9. 9, 48, 74.98, 68.74, 65.78, 64.17, 62.97, 61.87, 60.86, 60.09, 59.75. Row 10. 10, 35, 72.28, 64.59, 60.45, 57.7, 55.48, 53.55, 51.86, 50.42, 49.17. Row 11. 11, 49, 68.55, 58.67, 52.81, 48.62, 45.24, 42.42, 40.06, 38.08, 36.42. Row 12. 12, 44, 66.6, 56.74, 51.67, 48.77, 47.12, 46.37, 46.32, 46.82, 47.74. Row 13. 13, 61, 64.34, 54.19, 49.37, 46.86, 45.56, 44.95, 44.7, 44.56, 44.37. Row 14. 14, 68, 64, 55.55, 52.86, 52.52, 53.28, 54.58, 56.11, 57.71, 59.34. Row 15. 15, 82, 64.4, 58.04, 57.4, 58.71, 60.64, 62.63, 64.43, 65.94, 67.13. Row 16. 16, 71, 66.16, 62.83, 64.78, 68.03, 71.32, 74.25, 76.73, 78.79, 80.51. Row 17. 17, 50, 66.65, 64.47, 66.65, 69.22, 71.16, 72.3, 72.72, 72.56, 71.95. Row 18. 18, blank, 64.98, 61.57, 61.65, 61.53, 60.58, 58.92, 56.82, 54.51, 52.2. Row 19. Blank, M A D, 19.33, 17.16, 16.15, 15.36, 14.93, 14.71, 14.72, 14.88, 15.36. Row 20. Blank, M S E, 496.07, 390.84, 359.18, 346.56, 340.77, 338.41, 339.03, 343.32, 352.38. Row 21. Blank, M A P E, 0.3828, 0.3271, 0.3012, 0.2836, 0.2754, 0.2709, 0.2709, 0.2738, 0.2823. "/>
          <p:cNvPicPr>
            <a:picLocks noChangeAspect="1"/>
          </p:cNvPicPr>
          <p:nvPr/>
        </p:nvPicPr>
        <p:blipFill>
          <a:blip r:embed="rId3"/>
          <a:stretch>
            <a:fillRect/>
          </a:stretch>
        </p:blipFill>
        <p:spPr>
          <a:xfrm>
            <a:off x="930357" y="1666875"/>
            <a:ext cx="7108552" cy="4102964"/>
          </a:xfrm>
          <a:prstGeom prst="rect">
            <a:avLst/>
          </a:prstGeom>
        </p:spPr>
      </p:pic>
      <p:sp>
        <p:nvSpPr>
          <p:cNvPr id="388" name="Content Placeholder 2"/>
          <p:cNvSpPr txBox="1">
            <a:spLocks noGrp="1"/>
          </p:cNvSpPr>
          <p:nvPr>
            <p:ph type="body" idx="1"/>
          </p:nvPr>
        </p:nvSpPr>
        <p:spPr>
          <a:xfrm>
            <a:off x="457200" y="5931764"/>
            <a:ext cx="6210300" cy="353252"/>
          </a:xfrm>
          <a:prstGeom prst="rect">
            <a:avLst/>
          </a:prstGeom>
          <a:noFill/>
          <a:ln>
            <a:noFill/>
          </a:ln>
        </p:spPr>
        <p:txBody>
          <a:bodyPr spcFirstLastPara="1" wrap="square" lIns="91425" tIns="91425" rIns="91425" bIns="91425" anchor="t" anchorCtr="0">
            <a:noAutofit/>
          </a:bodyPr>
          <a:lstStyle/>
          <a:p>
            <a:pPr marL="0" indent="0">
              <a:spcBef>
                <a:spcPts val="0"/>
              </a:spcBef>
              <a:buSzPts val="2400"/>
              <a:buNone/>
            </a:pPr>
            <a:r>
              <a:rPr lang="en-US" sz="1800" b="0" i="0" u="none" strike="noStrike" cap="none" dirty="0">
                <a:solidFill>
                  <a:srgbClr val="000000"/>
                </a:solidFill>
                <a:latin typeface="+mn-lt"/>
                <a:sym typeface="Arial"/>
              </a:rPr>
              <a:t>The forecast using </a:t>
            </a:r>
            <a:r>
              <a:rPr lang="en-US" sz="1800" i="1" dirty="0">
                <a:solidFill>
                  <a:srgbClr val="000000"/>
                </a:solidFill>
                <a:latin typeface="+mn-lt"/>
                <a:cs typeface="Arial" panose="020B0604020202020204" pitchFamily="34" charset="0"/>
              </a:rPr>
              <a:t>α</a:t>
            </a:r>
            <a:r>
              <a:rPr lang="en-US" sz="1800" dirty="0">
                <a:solidFill>
                  <a:srgbClr val="000000"/>
                </a:solidFill>
                <a:latin typeface="+mn-lt"/>
                <a:cs typeface="Arial" panose="020B0604020202020204" pitchFamily="34" charset="0"/>
              </a:rPr>
              <a:t> =0.6 </a:t>
            </a:r>
            <a:r>
              <a:rPr lang="en-US" sz="1800" dirty="0">
                <a:solidFill>
                  <a:srgbClr val="000000"/>
                </a:solidFill>
                <a:latin typeface="+mn-lt"/>
              </a:rPr>
              <a:t>provides the lowest error metrics.</a:t>
            </a:r>
            <a:endParaRPr sz="1800" b="0" i="0" u="none" strike="noStrike" cap="none" dirty="0">
              <a:solidFill>
                <a:srgbClr val="000000"/>
              </a:solidFill>
              <a:latin typeface="+mn-lt"/>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Example 9.10: Using Excel’s Exponential Smoothing Tool </a:t>
            </a:r>
            <a:r>
              <a:rPr lang="en-US" sz="2000" b="0" i="0" u="none" strike="noStrike" cap="none" dirty="0">
                <a:solidFill>
                  <a:srgbClr val="007FA3"/>
                </a:solidFill>
                <a:latin typeface="+mj-lt"/>
                <a:ea typeface="Arial"/>
                <a:cs typeface="Arial"/>
                <a:sym typeface="Arial"/>
              </a:rPr>
              <a:t>(1 of 2)</a:t>
            </a:r>
            <a:endParaRPr sz="2000" b="0" i="0" u="none" strike="noStrike" cap="none" dirty="0">
              <a:solidFill>
                <a:srgbClr val="007FA3"/>
              </a:solidFill>
              <a:latin typeface="+mj-lt"/>
              <a:ea typeface="Arial"/>
              <a:cs typeface="Arial"/>
              <a:sym typeface="Arial"/>
            </a:endParaRPr>
          </a:p>
        </p:txBody>
      </p:sp>
      <p:sp>
        <p:nvSpPr>
          <p:cNvPr id="396" name="Content Placeholder 2"/>
          <p:cNvSpPr txBox="1">
            <a:spLocks noGrp="1"/>
          </p:cNvSpPr>
          <p:nvPr>
            <p:ph type="body" idx="1"/>
          </p:nvPr>
        </p:nvSpPr>
        <p:spPr>
          <a:xfrm>
            <a:off x="457200" y="1600200"/>
            <a:ext cx="8229600" cy="2163763"/>
          </a:xfrm>
          <a:prstGeom prst="rect">
            <a:avLst/>
          </a:prstGeom>
          <a:noFill/>
          <a:ln>
            <a:noFill/>
          </a:ln>
        </p:spPr>
        <p:txBody>
          <a:bodyPr spcFirstLastPara="1" wrap="square" lIns="0" tIns="0" rIns="0" bIns="0" anchor="t" anchorCtr="0">
            <a:noAutofit/>
          </a:bodyPr>
          <a:lstStyle/>
          <a:p>
            <a:pPr marL="256032" indent="-256032">
              <a:buSzPct val="100000"/>
            </a:pPr>
            <a:r>
              <a:rPr lang="en-US" sz="2000" dirty="0">
                <a:solidFill>
                  <a:srgbClr val="000000"/>
                </a:solidFill>
                <a:latin typeface="+mn-lt"/>
              </a:rPr>
              <a:t>Select Data Analysis from the Analysis group and then choose Exponential Smoothing.</a:t>
            </a:r>
            <a:endParaRPr sz="2000" dirty="0">
              <a:solidFill>
                <a:srgbClr val="000000"/>
              </a:solidFill>
              <a:latin typeface="+mn-lt"/>
            </a:endParaRPr>
          </a:p>
          <a:p>
            <a:pPr marL="256032" indent="-256032">
              <a:buSzPct val="100000"/>
            </a:pPr>
            <a:r>
              <a:rPr lang="en-US" sz="2000" dirty="0">
                <a:solidFill>
                  <a:srgbClr val="000000"/>
                </a:solidFill>
                <a:latin typeface="+mn-lt"/>
              </a:rPr>
              <a:t>Note that Damping factor = 1−</a:t>
            </a:r>
            <a:r>
              <a:rPr lang="en-US" sz="2000" i="1" dirty="0">
                <a:solidFill>
                  <a:srgbClr val="000000"/>
                </a:solidFill>
                <a:latin typeface="+mn-lt"/>
              </a:rPr>
              <a:t>α</a:t>
            </a:r>
            <a:endParaRPr sz="2000" i="1" dirty="0">
              <a:solidFill>
                <a:srgbClr val="000000"/>
              </a:solidFill>
              <a:latin typeface="+mn-lt"/>
            </a:endParaRPr>
          </a:p>
          <a:p>
            <a:pPr marL="256032" indent="-256032">
              <a:buSzPct val="100000"/>
            </a:pPr>
            <a:r>
              <a:rPr lang="en-US" sz="2000" dirty="0">
                <a:solidFill>
                  <a:srgbClr val="000000"/>
                </a:solidFill>
                <a:latin typeface="+mn-lt"/>
              </a:rPr>
              <a:t>The first cell of the Output Range should be adjacent to the first data point.</a:t>
            </a:r>
            <a:endParaRPr sz="2000" dirty="0">
              <a:solidFill>
                <a:srgbClr val="000000"/>
              </a:solidFill>
              <a:latin typeface="+mn-lt"/>
            </a:endParaRPr>
          </a:p>
        </p:txBody>
      </p:sp>
      <p:pic>
        <p:nvPicPr>
          <p:cNvPr id="2" name="Picture 1" descr="A dialog box titled, exponential smoothing. The input parameters are as follows. Input range, $ B $ 3 colon $ B $ 20. Damping factor, 0.4. The check box corresponding to labels is selected. The output parameters are as followed. Output range, $ C $ 4. The checkbox corresponding to chart output is selected. "/>
          <p:cNvPicPr>
            <a:picLocks noChangeAspect="1"/>
          </p:cNvPicPr>
          <p:nvPr/>
        </p:nvPicPr>
        <p:blipFill>
          <a:blip r:embed="rId3"/>
          <a:stretch>
            <a:fillRect/>
          </a:stretch>
        </p:blipFill>
        <p:spPr>
          <a:xfrm>
            <a:off x="2694269" y="3878263"/>
            <a:ext cx="3755461" cy="246299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lvl="0"/>
            <a:r>
              <a:rPr lang="en-US" dirty="0">
                <a:latin typeface="+mj-lt"/>
              </a:rPr>
              <a:t>Example 9.10: Using Excel’s Exponential Smoothing Tool </a:t>
            </a:r>
            <a:r>
              <a:rPr lang="en-US" sz="2000" b="0" dirty="0">
                <a:latin typeface="+mj-lt"/>
              </a:rPr>
              <a:t>(2 of 2)</a:t>
            </a:r>
            <a:endParaRPr sz="3600" b="1" i="0" u="none" strike="noStrike" cap="none" dirty="0">
              <a:solidFill>
                <a:srgbClr val="007FA3"/>
              </a:solidFill>
              <a:latin typeface="+mj-lt"/>
              <a:sym typeface="Arial"/>
            </a:endParaRPr>
          </a:p>
        </p:txBody>
      </p:sp>
      <p:sp>
        <p:nvSpPr>
          <p:cNvPr id="403" name="Content Placeholder 2"/>
          <p:cNvSpPr txBox="1">
            <a:spLocks noGrp="1"/>
          </p:cNvSpPr>
          <p:nvPr>
            <p:ph type="body" idx="1"/>
          </p:nvPr>
        </p:nvSpPr>
        <p:spPr>
          <a:xfrm>
            <a:off x="457200" y="1600201"/>
            <a:ext cx="5562600" cy="638174"/>
          </a:xfrm>
          <a:prstGeom prst="rect">
            <a:avLst/>
          </a:prstGeom>
          <a:noFill/>
          <a:ln>
            <a:noFill/>
          </a:ln>
        </p:spPr>
        <p:txBody>
          <a:bodyPr spcFirstLastPara="1" wrap="square" lIns="0" tIns="0" rIns="0" bIns="0" anchor="t" anchorCtr="0">
            <a:noAutofit/>
          </a:bodyPr>
          <a:lstStyle/>
          <a:p>
            <a:pPr marL="256032" lvl="0" indent="-256032">
              <a:buSzPct val="100000"/>
            </a:pPr>
            <a:r>
              <a:rPr lang="en-US" sz="2600" dirty="0">
                <a:solidFill>
                  <a:srgbClr val="000000"/>
                </a:solidFill>
                <a:latin typeface="+mn-lt"/>
              </a:rPr>
              <a:t>Exponential Smoothing tool results</a:t>
            </a:r>
            <a:endParaRPr sz="2600" dirty="0">
              <a:solidFill>
                <a:srgbClr val="000000"/>
              </a:solidFill>
              <a:latin typeface="+mn-lt"/>
            </a:endParaRPr>
          </a:p>
        </p:txBody>
      </p:sp>
      <p:pic>
        <p:nvPicPr>
          <p:cNvPr id="2" name="Picture 1" descr="An Excel sheet has a table and a graph. The table titled, Tablet computer sales, has 17 rows and 3 columns. The columns have the following headings from left to right. Week, Units sold, Exponential smoothing forecast. The row entries are as follows. Row 1. 1, 88, not applicable. Row 2. 2, 44, 88. Row 3. 3, 60, 61.6. Row 4. 4, 56, 60.64. Row 5. 5, 70, 57.86. Row 6. 6, 91, 65.14. Row 7. 7, 54, 80.66. Row 8. 8, 60, 64.66. Row 9. 9, 48, 61.87. Row 10. 10, 35, 53.55. Row 11. 11, 49, 42.42. Row 12. 12, 44, 46.37. Row 13. 13, 61, 44.95. Row 14. 14, 68, 54.58. Row 15. 15, 82, 62.63. Row 16. 16, 71, 74.25. Row 17. 17, 50, 72.3. The graph for Exponential smoothing is plotted for value versus data point. The line corresponding to actual units sold passes through the following points. (1, 88), (2, 44), (3, 60), (4, 56), (5, 70), (6, 91), (7, 54), (8, 60), (9, 48), (10, 35), (11, 49), (12, 44), (13, 61), (14, 68), (15, 82), (16, 71), and (17, 50). Likewise, the line corresponding to forecast passes through the following points. (2, 88.00), (3, 61.60), (4, 60.64), (5, 57.86), (6, 65.14), (7, 80.66), (8, 64.66), (9, 61.87), (10, 53.55), (11, 42.42), (12, 46.37), (13, 44.95), (14, 54.58), (15, 62.63), (16, 74.25), and (17, 72.30). All values estimated."/>
          <p:cNvPicPr>
            <a:picLocks noChangeAspect="1"/>
          </p:cNvPicPr>
          <p:nvPr/>
        </p:nvPicPr>
        <p:blipFill>
          <a:blip r:embed="rId3"/>
          <a:stretch>
            <a:fillRect/>
          </a:stretch>
        </p:blipFill>
        <p:spPr>
          <a:xfrm>
            <a:off x="533823" y="2686665"/>
            <a:ext cx="7809653" cy="33896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Title 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Forecasting Models for Time Series with a Linear Trend</a:t>
            </a:r>
            <a:endParaRPr sz="3600" b="1" i="0" u="none" strike="noStrike" cap="none" dirty="0">
              <a:solidFill>
                <a:srgbClr val="007FA3"/>
              </a:solidFill>
              <a:latin typeface="+mj-lt"/>
              <a:ea typeface="Arial"/>
              <a:cs typeface="Arial"/>
              <a:sym typeface="Arial"/>
            </a:endParaRPr>
          </a:p>
        </p:txBody>
      </p:sp>
      <p:sp>
        <p:nvSpPr>
          <p:cNvPr id="423" name="Content Placeholder 2"/>
          <p:cNvSpPr txBox="1">
            <a:spLocks noGrp="1"/>
          </p:cNvSpPr>
          <p:nvPr>
            <p:ph type="body" idx="1"/>
          </p:nvPr>
        </p:nvSpPr>
        <p:spPr>
          <a:xfrm>
            <a:off x="457200" y="1600201"/>
            <a:ext cx="8229600" cy="1471134"/>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ts val="2400"/>
              <a:buFont typeface="Arial"/>
              <a:buChar char="•"/>
            </a:pPr>
            <a:r>
              <a:rPr lang="en-US" sz="2400" b="1" i="0" u="none" strike="noStrike" cap="none" dirty="0">
                <a:solidFill>
                  <a:srgbClr val="000000"/>
                </a:solidFill>
                <a:latin typeface="+mn-lt"/>
                <a:sym typeface="Arial"/>
              </a:rPr>
              <a:t>Double moving average </a:t>
            </a:r>
            <a:r>
              <a:rPr lang="en-US" sz="2400" b="0" i="0" u="none" strike="noStrike" cap="none" dirty="0">
                <a:solidFill>
                  <a:srgbClr val="000000"/>
                </a:solidFill>
                <a:latin typeface="+mn-lt"/>
                <a:sym typeface="Arial"/>
              </a:rPr>
              <a:t>and </a:t>
            </a:r>
            <a:r>
              <a:rPr lang="en-US" sz="2400" b="1" i="0" u="none" strike="noStrike" cap="none" dirty="0">
                <a:solidFill>
                  <a:srgbClr val="000000"/>
                </a:solidFill>
                <a:latin typeface="+mn-lt"/>
                <a:sym typeface="Arial"/>
              </a:rPr>
              <a:t>double exponential smoothing</a:t>
            </a:r>
            <a:endParaRPr sz="2400" dirty="0">
              <a:latin typeface="+mn-lt"/>
            </a:endParaRPr>
          </a:p>
          <a:p>
            <a:pPr marL="256032" marR="0" lvl="0" indent="-256032" algn="l" rtl="0">
              <a:spcAft>
                <a:spcPts val="0"/>
              </a:spcAft>
              <a:buClr>
                <a:srgbClr val="007FA3"/>
              </a:buClr>
              <a:buSzPts val="2400"/>
              <a:buFont typeface="Arial"/>
              <a:buChar char="•"/>
            </a:pPr>
            <a:r>
              <a:rPr lang="en-US" sz="2400" b="0" i="0" u="none" strike="noStrike" cap="none" dirty="0">
                <a:solidFill>
                  <a:srgbClr val="000000"/>
                </a:solidFill>
                <a:latin typeface="+mn-lt"/>
                <a:sym typeface="Arial"/>
              </a:rPr>
              <a:t>Based on the linear trend equation</a:t>
            </a:r>
            <a:endParaRPr sz="2400" b="0" i="0" u="none" strike="noStrike" cap="none" dirty="0">
              <a:solidFill>
                <a:srgbClr val="000000"/>
              </a:solidFill>
              <a:latin typeface="+mn-lt"/>
              <a:sym typeface="Arial"/>
            </a:endParaRPr>
          </a:p>
        </p:txBody>
      </p:sp>
      <p:graphicFrame>
        <p:nvGraphicFramePr>
          <p:cNvPr id="4" name="Object 3" descr="F sub start expression t + k end expression = a sub t + b sub t, k. This equation is labeled, 9.7."/>
          <p:cNvGraphicFramePr>
            <a:graphicFrameLocks noChangeAspect="1"/>
          </p:cNvGraphicFramePr>
          <p:nvPr>
            <p:extLst>
              <p:ext uri="{D42A27DB-BD31-4B8C-83A1-F6EECF244321}">
                <p14:modId xmlns:p14="http://schemas.microsoft.com/office/powerpoint/2010/main" val="1981434730"/>
              </p:ext>
            </p:extLst>
          </p:nvPr>
        </p:nvGraphicFramePr>
        <p:xfrm>
          <a:off x="2226741" y="3191693"/>
          <a:ext cx="3924300" cy="406400"/>
        </p:xfrm>
        <a:graphic>
          <a:graphicData uri="http://schemas.openxmlformats.org/presentationml/2006/ole">
            <mc:AlternateContent xmlns:mc="http://schemas.openxmlformats.org/markup-compatibility/2006">
              <mc:Choice xmlns:v="urn:schemas-microsoft-com:vml" Requires="v">
                <p:oleObj spid="_x0000_s7186" name="Equation" r:id="rId4" imgW="3924000" imgH="406080" progId="Equation.DSMT4">
                  <p:embed/>
                </p:oleObj>
              </mc:Choice>
              <mc:Fallback>
                <p:oleObj name="Equation" r:id="rId4" imgW="3924000" imgH="406080" progId="Equation.DSMT4">
                  <p:embed/>
                  <p:pic>
                    <p:nvPicPr>
                      <p:cNvPr id="4" name="Object 3"/>
                      <p:cNvPicPr/>
                      <p:nvPr/>
                    </p:nvPicPr>
                    <p:blipFill>
                      <a:blip r:embed="rId5"/>
                      <a:stretch>
                        <a:fillRect/>
                      </a:stretch>
                    </p:blipFill>
                    <p:spPr>
                      <a:xfrm>
                        <a:off x="2226741" y="3191693"/>
                        <a:ext cx="3924300" cy="406400"/>
                      </a:xfrm>
                      <a:prstGeom prst="rect">
                        <a:avLst/>
                      </a:prstGeom>
                    </p:spPr>
                  </p:pic>
                </p:oleObj>
              </mc:Fallback>
            </mc:AlternateContent>
          </a:graphicData>
        </a:graphic>
      </p:graphicFrame>
      <p:sp>
        <p:nvSpPr>
          <p:cNvPr id="426" name="Content Placeholder 3"/>
          <p:cNvSpPr txBox="1">
            <a:spLocks noGrp="1"/>
          </p:cNvSpPr>
          <p:nvPr>
            <p:ph type="body" idx="2"/>
          </p:nvPr>
        </p:nvSpPr>
        <p:spPr>
          <a:xfrm>
            <a:off x="457200" y="3687663"/>
            <a:ext cx="8229600" cy="591212"/>
          </a:xfrm>
          <a:prstGeom prst="rect">
            <a:avLst/>
          </a:prstGeom>
          <a:noFill/>
          <a:ln>
            <a:noFill/>
          </a:ln>
        </p:spPr>
        <p:txBody>
          <a:bodyPr spcFirstLastPara="1" wrap="square" lIns="0" tIns="0" rIns="0" bIns="0" anchor="t" anchorCtr="0">
            <a:noAutofit/>
          </a:bodyPr>
          <a:lstStyle/>
          <a:p>
            <a:pPr marL="256032" lvl="0" indent="-256032">
              <a:buSzPts val="2400"/>
            </a:pPr>
            <a:r>
              <a:rPr lang="en-US" sz="2400" dirty="0">
                <a:solidFill>
                  <a:srgbClr val="000000"/>
                </a:solidFill>
                <a:latin typeface="+mn-lt"/>
              </a:rPr>
              <a:t>The forecast for </a:t>
            </a:r>
            <a:r>
              <a:rPr lang="en-US" sz="2400" i="1" dirty="0">
                <a:solidFill>
                  <a:srgbClr val="000000"/>
                </a:solidFill>
                <a:latin typeface="+mn-lt"/>
              </a:rPr>
              <a:t>k</a:t>
            </a:r>
            <a:r>
              <a:rPr lang="en-US" sz="2400" dirty="0">
                <a:solidFill>
                  <a:srgbClr val="000000"/>
                </a:solidFill>
                <a:latin typeface="+mn-lt"/>
              </a:rPr>
              <a:t> periods into the future is a function of</a:t>
            </a:r>
          </a:p>
        </p:txBody>
      </p:sp>
      <p:sp>
        <p:nvSpPr>
          <p:cNvPr id="428" name="Content Placeholder 4"/>
          <p:cNvSpPr txBox="1">
            <a:spLocks noGrp="1"/>
          </p:cNvSpPr>
          <p:nvPr>
            <p:ph type="body" idx="2"/>
          </p:nvPr>
        </p:nvSpPr>
        <p:spPr>
          <a:xfrm>
            <a:off x="660400" y="4379558"/>
            <a:ext cx="1308100" cy="32586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400"/>
              <a:buFont typeface="Arial"/>
              <a:buNone/>
            </a:pPr>
            <a:r>
              <a:rPr lang="en-US" sz="2400" dirty="0">
                <a:latin typeface="+mn-lt"/>
              </a:rPr>
              <a:t>t</a:t>
            </a:r>
            <a:r>
              <a:rPr lang="en-US" sz="2400" b="0" i="0" u="none" strike="noStrike" cap="none" dirty="0">
                <a:solidFill>
                  <a:schemeClr val="dk1"/>
                </a:solidFill>
                <a:latin typeface="+mn-lt"/>
                <a:sym typeface="Arial"/>
              </a:rPr>
              <a:t>he level</a:t>
            </a:r>
            <a:endParaRPr sz="2400" b="0" i="0" u="none" strike="noStrike" cap="none" dirty="0">
              <a:solidFill>
                <a:schemeClr val="dk1"/>
              </a:solidFill>
              <a:latin typeface="+mn-lt"/>
              <a:sym typeface="Arial"/>
            </a:endParaRPr>
          </a:p>
        </p:txBody>
      </p:sp>
      <p:graphicFrame>
        <p:nvGraphicFramePr>
          <p:cNvPr id="16" name="Object 15" descr=" a sub t"/>
          <p:cNvGraphicFramePr>
            <a:graphicFrameLocks noChangeAspect="1"/>
          </p:cNvGraphicFramePr>
          <p:nvPr>
            <p:extLst>
              <p:ext uri="{D42A27DB-BD31-4B8C-83A1-F6EECF244321}">
                <p14:modId xmlns:p14="http://schemas.microsoft.com/office/powerpoint/2010/main" val="3213300825"/>
              </p:ext>
            </p:extLst>
          </p:nvPr>
        </p:nvGraphicFramePr>
        <p:xfrm>
          <a:off x="2045494" y="4351991"/>
          <a:ext cx="254000" cy="381000"/>
        </p:xfrm>
        <a:graphic>
          <a:graphicData uri="http://schemas.openxmlformats.org/presentationml/2006/ole">
            <mc:AlternateContent xmlns:mc="http://schemas.openxmlformats.org/markup-compatibility/2006">
              <mc:Choice xmlns:v="urn:schemas-microsoft-com:vml" Requires="v">
                <p:oleObj spid="_x0000_s7187" name="Equation" r:id="rId6" imgW="253800" imgH="380880" progId="Equation.DSMT4">
                  <p:embed/>
                </p:oleObj>
              </mc:Choice>
              <mc:Fallback>
                <p:oleObj name="Equation" r:id="rId6" imgW="253800" imgH="380880" progId="Equation.DSMT4">
                  <p:embed/>
                  <p:pic>
                    <p:nvPicPr>
                      <p:cNvPr id="16" name="Object 15"/>
                      <p:cNvPicPr/>
                      <p:nvPr/>
                    </p:nvPicPr>
                    <p:blipFill>
                      <a:blip r:embed="rId7"/>
                      <a:stretch>
                        <a:fillRect/>
                      </a:stretch>
                    </p:blipFill>
                    <p:spPr>
                      <a:xfrm>
                        <a:off x="2045494" y="4351991"/>
                        <a:ext cx="254000" cy="381000"/>
                      </a:xfrm>
                      <a:prstGeom prst="rect">
                        <a:avLst/>
                      </a:prstGeom>
                    </p:spPr>
                  </p:pic>
                </p:oleObj>
              </mc:Fallback>
            </mc:AlternateContent>
          </a:graphicData>
        </a:graphic>
      </p:graphicFrame>
      <p:sp>
        <p:nvSpPr>
          <p:cNvPr id="425" name="Content Placeholder 5"/>
          <p:cNvSpPr txBox="1">
            <a:spLocks noGrp="1"/>
          </p:cNvSpPr>
          <p:nvPr>
            <p:ph type="body" idx="3"/>
          </p:nvPr>
        </p:nvSpPr>
        <p:spPr>
          <a:xfrm>
            <a:off x="2464323" y="4379558"/>
            <a:ext cx="1981200" cy="396408"/>
          </a:xfrm>
          <a:prstGeom prst="rect">
            <a:avLst/>
          </a:prstGeom>
          <a:noFill/>
          <a:ln>
            <a:noFill/>
          </a:ln>
        </p:spPr>
        <p:txBody>
          <a:bodyPr spcFirstLastPara="1" wrap="square" lIns="0" tIns="0" rIns="0" bIns="0" anchor="t" anchorCtr="0">
            <a:noAutofit/>
          </a:bodyPr>
          <a:lstStyle/>
          <a:p>
            <a:pPr marL="0" lvl="0" indent="0">
              <a:spcBef>
                <a:spcPts val="0"/>
              </a:spcBef>
              <a:buSzPts val="2400"/>
              <a:buNone/>
            </a:pPr>
            <a:r>
              <a:rPr lang="en-US" sz="2400" dirty="0">
                <a:solidFill>
                  <a:srgbClr val="000000"/>
                </a:solidFill>
                <a:latin typeface="+mn-lt"/>
              </a:rPr>
              <a:t>and the trend</a:t>
            </a:r>
          </a:p>
        </p:txBody>
      </p:sp>
      <p:graphicFrame>
        <p:nvGraphicFramePr>
          <p:cNvPr id="17" name="Object 16" descr="b sub t"/>
          <p:cNvGraphicFramePr>
            <a:graphicFrameLocks noChangeAspect="1"/>
          </p:cNvGraphicFramePr>
          <p:nvPr>
            <p:extLst>
              <p:ext uri="{D42A27DB-BD31-4B8C-83A1-F6EECF244321}">
                <p14:modId xmlns:p14="http://schemas.microsoft.com/office/powerpoint/2010/main" val="3224685525"/>
              </p:ext>
            </p:extLst>
          </p:nvPr>
        </p:nvGraphicFramePr>
        <p:xfrm>
          <a:off x="4533900" y="4345053"/>
          <a:ext cx="304800" cy="381000"/>
        </p:xfrm>
        <a:graphic>
          <a:graphicData uri="http://schemas.openxmlformats.org/presentationml/2006/ole">
            <mc:AlternateContent xmlns:mc="http://schemas.openxmlformats.org/markup-compatibility/2006">
              <mc:Choice xmlns:v="urn:schemas-microsoft-com:vml" Requires="v">
                <p:oleObj spid="_x0000_s7188" name="Equation" r:id="rId8" imgW="304560" imgH="380880" progId="Equation.DSMT4">
                  <p:embed/>
                </p:oleObj>
              </mc:Choice>
              <mc:Fallback>
                <p:oleObj name="Equation" r:id="rId8" imgW="304560" imgH="380880" progId="Equation.DSMT4">
                  <p:embed/>
                  <p:pic>
                    <p:nvPicPr>
                      <p:cNvPr id="17" name="Object 16"/>
                      <p:cNvPicPr/>
                      <p:nvPr/>
                    </p:nvPicPr>
                    <p:blipFill>
                      <a:blip r:embed="rId9"/>
                      <a:stretch>
                        <a:fillRect/>
                      </a:stretch>
                    </p:blipFill>
                    <p:spPr>
                      <a:xfrm>
                        <a:off x="4533900" y="4345053"/>
                        <a:ext cx="304800" cy="381000"/>
                      </a:xfrm>
                      <a:prstGeom prst="rect">
                        <a:avLst/>
                      </a:prstGeom>
                    </p:spPr>
                  </p:pic>
                </p:oleObj>
              </mc:Fallback>
            </mc:AlternateContent>
          </a:graphicData>
        </a:graphic>
      </p:graphicFrame>
      <p:sp>
        <p:nvSpPr>
          <p:cNvPr id="430" name="Content Placeholder 6"/>
          <p:cNvSpPr txBox="1">
            <a:spLocks noGrp="1"/>
          </p:cNvSpPr>
          <p:nvPr>
            <p:ph type="body" idx="4"/>
          </p:nvPr>
        </p:nvSpPr>
        <p:spPr>
          <a:xfrm>
            <a:off x="457200" y="4877545"/>
            <a:ext cx="6029052" cy="545353"/>
          </a:xfrm>
          <a:prstGeom prst="rect">
            <a:avLst/>
          </a:prstGeom>
          <a:noFill/>
          <a:ln>
            <a:noFill/>
          </a:ln>
        </p:spPr>
        <p:txBody>
          <a:bodyPr spcFirstLastPara="1" wrap="square" lIns="0" tIns="0" rIns="0" bIns="0" anchor="t" anchorCtr="0">
            <a:noAutofit/>
          </a:bodyPr>
          <a:lstStyle/>
          <a:p>
            <a:pPr marL="256032" lvl="0" indent="-256032">
              <a:buSzPts val="2400"/>
            </a:pPr>
            <a:r>
              <a:rPr lang="en-US" sz="2400" dirty="0">
                <a:solidFill>
                  <a:srgbClr val="000000"/>
                </a:solidFill>
                <a:latin typeface="+mn-lt"/>
              </a:rPr>
              <a:t>The models differ in their computations of</a:t>
            </a:r>
          </a:p>
        </p:txBody>
      </p:sp>
      <p:graphicFrame>
        <p:nvGraphicFramePr>
          <p:cNvPr id="18" name="Object 17" descr=" a sub t and b sub t"/>
          <p:cNvGraphicFramePr>
            <a:graphicFrameLocks noChangeAspect="1"/>
          </p:cNvGraphicFramePr>
          <p:nvPr>
            <p:extLst>
              <p:ext uri="{D42A27DB-BD31-4B8C-83A1-F6EECF244321}">
                <p14:modId xmlns:p14="http://schemas.microsoft.com/office/powerpoint/2010/main" val="3835359798"/>
              </p:ext>
            </p:extLst>
          </p:nvPr>
        </p:nvGraphicFramePr>
        <p:xfrm>
          <a:off x="6613252" y="5041898"/>
          <a:ext cx="1257300" cy="381000"/>
        </p:xfrm>
        <a:graphic>
          <a:graphicData uri="http://schemas.openxmlformats.org/presentationml/2006/ole">
            <mc:AlternateContent xmlns:mc="http://schemas.openxmlformats.org/markup-compatibility/2006">
              <mc:Choice xmlns:v="urn:schemas-microsoft-com:vml" Requires="v">
                <p:oleObj spid="_x0000_s7189" name="Equation" r:id="rId10" imgW="1257120" imgH="380880" progId="Equation.DSMT4">
                  <p:embed/>
                </p:oleObj>
              </mc:Choice>
              <mc:Fallback>
                <p:oleObj name="Equation" r:id="rId10" imgW="1257120" imgH="380880" progId="Equation.DSMT4">
                  <p:embed/>
                  <p:pic>
                    <p:nvPicPr>
                      <p:cNvPr id="18" name="Object 17"/>
                      <p:cNvPicPr/>
                      <p:nvPr/>
                    </p:nvPicPr>
                    <p:blipFill>
                      <a:blip r:embed="rId11"/>
                      <a:stretch>
                        <a:fillRect/>
                      </a:stretch>
                    </p:blipFill>
                    <p:spPr>
                      <a:xfrm>
                        <a:off x="6613252" y="5041898"/>
                        <a:ext cx="1257300" cy="381000"/>
                      </a:xfrm>
                      <a:prstGeom prst="rect">
                        <a:avLst/>
                      </a:prstGeom>
                    </p:spPr>
                  </p:pic>
                </p:oleObj>
              </mc:Fallback>
            </mc:AlternateContent>
          </a:graphicData>
        </a:graphic>
      </p:graphicFrame>
    </p:spTree>
    <p:extLst>
      <p:ext uri="{BB962C8B-B14F-4D97-AF65-F5344CB8AC3E}">
        <p14:creationId xmlns:p14="http://schemas.microsoft.com/office/powerpoint/2010/main" val="3760670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Title 1"/>
          <p:cNvSpPr txBox="1">
            <a:spLocks noGrp="1"/>
          </p:cNvSpPr>
          <p:nvPr>
            <p:ph type="title"/>
          </p:nvPr>
        </p:nvSpPr>
        <p:spPr>
          <a:xfrm>
            <a:off x="457200" y="215372"/>
            <a:ext cx="8229600" cy="109728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Double Exponential Smoothing</a:t>
            </a:r>
            <a:endParaRPr sz="3600" b="1" i="0" u="none" strike="noStrike" cap="none" dirty="0">
              <a:solidFill>
                <a:srgbClr val="007FA3"/>
              </a:solidFill>
              <a:latin typeface="+mj-lt"/>
              <a:ea typeface="Arial"/>
              <a:cs typeface="Arial"/>
              <a:sym typeface="Arial"/>
            </a:endParaRPr>
          </a:p>
        </p:txBody>
      </p:sp>
      <p:sp>
        <p:nvSpPr>
          <p:cNvPr id="438" name="Content Placeholder 2"/>
          <p:cNvSpPr txBox="1">
            <a:spLocks noGrp="1"/>
          </p:cNvSpPr>
          <p:nvPr>
            <p:ph type="body" idx="1"/>
          </p:nvPr>
        </p:nvSpPr>
        <p:spPr>
          <a:xfrm>
            <a:off x="457200" y="1617617"/>
            <a:ext cx="8229600" cy="914399"/>
          </a:xfrm>
          <a:prstGeom prst="rect">
            <a:avLst/>
          </a:prstGeom>
          <a:noFill/>
          <a:ln>
            <a:noFill/>
          </a:ln>
        </p:spPr>
        <p:txBody>
          <a:bodyPr spcFirstLastPara="1" wrap="square" lIns="0" tIns="0" rIns="0" bIns="0" anchor="t" anchorCtr="0">
            <a:noAutofit/>
          </a:bodyPr>
          <a:lstStyle/>
          <a:p>
            <a:pPr marL="256032" indent="-256032">
              <a:buSzPts val="2400"/>
            </a:pPr>
            <a:r>
              <a:rPr lang="en-US" sz="2400" dirty="0">
                <a:solidFill>
                  <a:srgbClr val="000000"/>
                </a:solidFill>
                <a:latin typeface="+mn-lt"/>
              </a:rPr>
              <a:t>Estimates of the parameters are obtained from the following equations:</a:t>
            </a:r>
            <a:endParaRPr sz="2400" dirty="0">
              <a:solidFill>
                <a:srgbClr val="000000"/>
              </a:solidFill>
              <a:latin typeface="+mn-lt"/>
            </a:endParaRPr>
          </a:p>
        </p:txBody>
      </p:sp>
      <p:graphicFrame>
        <p:nvGraphicFramePr>
          <p:cNvPr id="6" name="Object 5" descr="a sub t = alpha F sub t + left parenthesis 1 minus alpha right parenthesis left parenthesis a sub start expression t minus 1 end expression + b sub start expression t minus 1 end expression right parenthesis. b sub t = beta left parenthesis a sub t minus a sub start expression t minus 1 end expression + left parenthesis 1 minus beta right parenthesis b sub start expression t minus 1 right parenthesis. This equation is labeled, 9.8."/>
          <p:cNvGraphicFramePr>
            <a:graphicFrameLocks noChangeAspect="1"/>
          </p:cNvGraphicFramePr>
          <p:nvPr>
            <p:extLst>
              <p:ext uri="{D42A27DB-BD31-4B8C-83A1-F6EECF244321}">
                <p14:modId xmlns:p14="http://schemas.microsoft.com/office/powerpoint/2010/main" val="2222126005"/>
              </p:ext>
            </p:extLst>
          </p:nvPr>
        </p:nvGraphicFramePr>
        <p:xfrm>
          <a:off x="1139714" y="2574488"/>
          <a:ext cx="5334000" cy="889000"/>
        </p:xfrm>
        <a:graphic>
          <a:graphicData uri="http://schemas.openxmlformats.org/presentationml/2006/ole">
            <mc:AlternateContent xmlns:mc="http://schemas.openxmlformats.org/markup-compatibility/2006">
              <mc:Choice xmlns:v="urn:schemas-microsoft-com:vml" Requires="v">
                <p:oleObj spid="_x0000_s8210" name="Equation" r:id="rId4" imgW="5333760" imgH="888840" progId="Equation.DSMT4">
                  <p:embed/>
                </p:oleObj>
              </mc:Choice>
              <mc:Fallback>
                <p:oleObj name="Equation" r:id="rId4" imgW="5333760" imgH="888840" progId="Equation.DSMT4">
                  <p:embed/>
                  <p:pic>
                    <p:nvPicPr>
                      <p:cNvPr id="0" name=""/>
                      <p:cNvPicPr/>
                      <p:nvPr/>
                    </p:nvPicPr>
                    <p:blipFill>
                      <a:blip r:embed="rId5"/>
                      <a:stretch>
                        <a:fillRect/>
                      </a:stretch>
                    </p:blipFill>
                    <p:spPr>
                      <a:xfrm>
                        <a:off x="1139714" y="2574488"/>
                        <a:ext cx="5334000" cy="889000"/>
                      </a:xfrm>
                      <a:prstGeom prst="rect">
                        <a:avLst/>
                      </a:prstGeom>
                    </p:spPr>
                  </p:pic>
                </p:oleObj>
              </mc:Fallback>
            </mc:AlternateContent>
          </a:graphicData>
        </a:graphic>
      </p:graphicFrame>
      <p:sp>
        <p:nvSpPr>
          <p:cNvPr id="440" name="Content Placeholder 3"/>
          <p:cNvSpPr txBox="1">
            <a:spLocks noGrp="1"/>
          </p:cNvSpPr>
          <p:nvPr>
            <p:ph type="body" idx="2"/>
          </p:nvPr>
        </p:nvSpPr>
        <p:spPr>
          <a:xfrm>
            <a:off x="457200" y="3518886"/>
            <a:ext cx="4114800" cy="525954"/>
          </a:xfrm>
          <a:prstGeom prst="rect">
            <a:avLst/>
          </a:prstGeom>
          <a:noFill/>
          <a:ln>
            <a:noFill/>
          </a:ln>
        </p:spPr>
        <p:txBody>
          <a:bodyPr spcFirstLastPara="1" wrap="square" lIns="0" tIns="0" rIns="0" bIns="0" anchor="t" anchorCtr="0">
            <a:noAutofit/>
          </a:bodyPr>
          <a:lstStyle/>
          <a:p>
            <a:pPr marL="256032" lvl="0" indent="-256032">
              <a:buSzPts val="2400"/>
            </a:pPr>
            <a:r>
              <a:rPr lang="en-US" sz="2400" dirty="0">
                <a:solidFill>
                  <a:srgbClr val="000000"/>
                </a:solidFill>
                <a:latin typeface="+mn-lt"/>
              </a:rPr>
              <a:t>Initial values are chosen for</a:t>
            </a:r>
            <a:endParaRPr sz="2400" dirty="0">
              <a:solidFill>
                <a:srgbClr val="000000"/>
              </a:solidFill>
              <a:latin typeface="+mn-lt"/>
            </a:endParaRPr>
          </a:p>
        </p:txBody>
      </p:sp>
      <p:graphicFrame>
        <p:nvGraphicFramePr>
          <p:cNvPr id="5" name="Object 4" descr="a sub 1, as, a sub 1, and, b sub 1, as, a sub 2 minus a sub 1"/>
          <p:cNvGraphicFramePr>
            <a:graphicFrameLocks noChangeAspect="1"/>
          </p:cNvGraphicFramePr>
          <p:nvPr>
            <p:extLst>
              <p:ext uri="{D42A27DB-BD31-4B8C-83A1-F6EECF244321}">
                <p14:modId xmlns:p14="http://schemas.microsoft.com/office/powerpoint/2010/main" val="3797730998"/>
              </p:ext>
            </p:extLst>
          </p:nvPr>
        </p:nvGraphicFramePr>
        <p:xfrm>
          <a:off x="4657621" y="3663840"/>
          <a:ext cx="3314700" cy="381000"/>
        </p:xfrm>
        <a:graphic>
          <a:graphicData uri="http://schemas.openxmlformats.org/presentationml/2006/ole">
            <mc:AlternateContent xmlns:mc="http://schemas.openxmlformats.org/markup-compatibility/2006">
              <mc:Choice xmlns:v="urn:schemas-microsoft-com:vml" Requires="v">
                <p:oleObj spid="_x0000_s8211" name="Equation" r:id="rId6" imgW="3314520" imgH="380880" progId="Equation.DSMT4">
                  <p:embed/>
                </p:oleObj>
              </mc:Choice>
              <mc:Fallback>
                <p:oleObj name="Equation" r:id="rId6" imgW="3314520" imgH="380880" progId="Equation.DSMT4">
                  <p:embed/>
                  <p:pic>
                    <p:nvPicPr>
                      <p:cNvPr id="0" name=""/>
                      <p:cNvPicPr/>
                      <p:nvPr/>
                    </p:nvPicPr>
                    <p:blipFill>
                      <a:blip r:embed="rId7"/>
                      <a:stretch>
                        <a:fillRect/>
                      </a:stretch>
                    </p:blipFill>
                    <p:spPr>
                      <a:xfrm>
                        <a:off x="4657621" y="3663840"/>
                        <a:ext cx="3314700" cy="381000"/>
                      </a:xfrm>
                      <a:prstGeom prst="rect">
                        <a:avLst/>
                      </a:prstGeom>
                    </p:spPr>
                  </p:pic>
                </p:oleObj>
              </mc:Fallback>
            </mc:AlternateContent>
          </a:graphicData>
        </a:graphic>
      </p:graphicFrame>
      <p:sp>
        <p:nvSpPr>
          <p:cNvPr id="444" name="Content Placeholder 4"/>
          <p:cNvSpPr txBox="1">
            <a:spLocks noGrp="1"/>
          </p:cNvSpPr>
          <p:nvPr>
            <p:ph type="body" idx="3"/>
          </p:nvPr>
        </p:nvSpPr>
        <p:spPr>
          <a:xfrm>
            <a:off x="671394" y="4142349"/>
            <a:ext cx="6270640" cy="4246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2700"/>
              <a:buFont typeface="Arial"/>
              <a:buNone/>
            </a:pPr>
            <a:r>
              <a:rPr lang="en-US" sz="2400" b="0" i="0" u="none" strike="noStrike" cap="none" dirty="0">
                <a:solidFill>
                  <a:srgbClr val="000000"/>
                </a:solidFill>
                <a:latin typeface="+mn-lt"/>
                <a:ea typeface="Arial"/>
                <a:cs typeface="Arial"/>
                <a:sym typeface="Arial"/>
              </a:rPr>
              <a:t>Equation (9.8) must then be used to compute</a:t>
            </a:r>
            <a:endParaRPr sz="2400" b="0" i="0" u="none" strike="noStrike" cap="none" dirty="0">
              <a:solidFill>
                <a:schemeClr val="dk1"/>
              </a:solidFill>
              <a:latin typeface="+mn-lt"/>
              <a:ea typeface="Arial"/>
              <a:cs typeface="Arial"/>
              <a:sym typeface="Arial"/>
            </a:endParaRPr>
          </a:p>
        </p:txBody>
      </p:sp>
      <p:graphicFrame>
        <p:nvGraphicFramePr>
          <p:cNvPr id="15" name="Object 14" descr="a sub t and b sub t"/>
          <p:cNvGraphicFramePr>
            <a:graphicFrameLocks noChangeAspect="1"/>
          </p:cNvGraphicFramePr>
          <p:nvPr>
            <p:extLst>
              <p:ext uri="{D42A27DB-BD31-4B8C-83A1-F6EECF244321}">
                <p14:modId xmlns:p14="http://schemas.microsoft.com/office/powerpoint/2010/main" val="2723348926"/>
              </p:ext>
            </p:extLst>
          </p:nvPr>
        </p:nvGraphicFramePr>
        <p:xfrm>
          <a:off x="7011884" y="4107517"/>
          <a:ext cx="1130300" cy="381000"/>
        </p:xfrm>
        <a:graphic>
          <a:graphicData uri="http://schemas.openxmlformats.org/presentationml/2006/ole">
            <mc:AlternateContent xmlns:mc="http://schemas.openxmlformats.org/markup-compatibility/2006">
              <mc:Choice xmlns:v="urn:schemas-microsoft-com:vml" Requires="v">
                <p:oleObj spid="_x0000_s8212" name="Equation" r:id="rId8" imgW="1130040" imgH="380880" progId="Equation.DSMT4">
                  <p:embed/>
                </p:oleObj>
              </mc:Choice>
              <mc:Fallback>
                <p:oleObj name="Equation" r:id="rId8" imgW="1130040" imgH="380880" progId="Equation.DSMT4">
                  <p:embed/>
                  <p:pic>
                    <p:nvPicPr>
                      <p:cNvPr id="5" name="Object 4"/>
                      <p:cNvPicPr/>
                      <p:nvPr/>
                    </p:nvPicPr>
                    <p:blipFill>
                      <a:blip r:embed="rId9"/>
                      <a:stretch>
                        <a:fillRect/>
                      </a:stretch>
                    </p:blipFill>
                    <p:spPr>
                      <a:xfrm>
                        <a:off x="7011884" y="4107517"/>
                        <a:ext cx="1130300" cy="381000"/>
                      </a:xfrm>
                      <a:prstGeom prst="rect">
                        <a:avLst/>
                      </a:prstGeom>
                    </p:spPr>
                  </p:pic>
                </p:oleObj>
              </mc:Fallback>
            </mc:AlternateContent>
          </a:graphicData>
        </a:graphic>
      </p:graphicFrame>
      <p:sp>
        <p:nvSpPr>
          <p:cNvPr id="446" name="Content Placeholder 5"/>
          <p:cNvSpPr txBox="1">
            <a:spLocks noGrp="1"/>
          </p:cNvSpPr>
          <p:nvPr>
            <p:ph type="body" idx="5"/>
          </p:nvPr>
        </p:nvSpPr>
        <p:spPr>
          <a:xfrm>
            <a:off x="628443" y="4716918"/>
            <a:ext cx="8058357" cy="1155870"/>
          </a:xfrm>
          <a:prstGeom prst="rect">
            <a:avLst/>
          </a:prstGeom>
          <a:noFill/>
          <a:ln>
            <a:noFill/>
          </a:ln>
        </p:spPr>
        <p:txBody>
          <a:bodyPr spcFirstLastPara="1" wrap="square" lIns="0" tIns="0" rIns="0" bIns="0" anchor="t" anchorCtr="0">
            <a:noAutofit/>
          </a:bodyPr>
          <a:lstStyle/>
          <a:p>
            <a:pPr marL="0" indent="0">
              <a:spcBef>
                <a:spcPts val="0"/>
              </a:spcBef>
              <a:buNone/>
            </a:pPr>
            <a:r>
              <a:rPr lang="en-US" sz="2400" b="0" i="0" u="none" strike="noStrike" cap="none" dirty="0">
                <a:solidFill>
                  <a:srgbClr val="000000"/>
                </a:solidFill>
                <a:latin typeface="+mn-lt"/>
                <a:sym typeface="Arial"/>
              </a:rPr>
              <a:t>for the entire time series to be able to generate forecasts into the future. </a:t>
            </a:r>
            <a:r>
              <a:rPr lang="en-US" sz="2400" dirty="0">
                <a:latin typeface="+mn-lt"/>
              </a:rPr>
              <a:t> The forecast for </a:t>
            </a:r>
            <a:r>
              <a:rPr lang="en-US" sz="2400" i="1" dirty="0">
                <a:latin typeface="+mn-lt"/>
              </a:rPr>
              <a:t>k</a:t>
            </a:r>
            <a:r>
              <a:rPr lang="en-US" sz="2400" dirty="0">
                <a:latin typeface="+mn-lt"/>
              </a:rPr>
              <a:t> periods beyond the last period (period </a:t>
            </a:r>
            <a:r>
              <a:rPr lang="en-US" sz="2400" i="1" dirty="0">
                <a:latin typeface="+mn-lt"/>
              </a:rPr>
              <a:t>T</a:t>
            </a:r>
            <a:r>
              <a:rPr lang="en-US" sz="2400" dirty="0">
                <a:latin typeface="+mn-lt"/>
              </a:rPr>
              <a:t>) is</a:t>
            </a:r>
            <a:endParaRPr sz="2400" b="0" i="0" u="none" strike="noStrike" cap="none" dirty="0">
              <a:solidFill>
                <a:srgbClr val="000000"/>
              </a:solidFill>
              <a:latin typeface="+mn-lt"/>
              <a:sym typeface="Arial"/>
            </a:endParaRPr>
          </a:p>
        </p:txBody>
      </p:sp>
      <p:graphicFrame>
        <p:nvGraphicFramePr>
          <p:cNvPr id="7" name="Object 6" descr="F sub start expression T + k end expression = a sub T + b sub t left parenthesis k right parenthesis. This equation is labeled, 9.9."/>
          <p:cNvGraphicFramePr>
            <a:graphicFrameLocks noChangeAspect="1"/>
          </p:cNvGraphicFramePr>
          <p:nvPr>
            <p:extLst>
              <p:ext uri="{D42A27DB-BD31-4B8C-83A1-F6EECF244321}">
                <p14:modId xmlns:p14="http://schemas.microsoft.com/office/powerpoint/2010/main" val="4102523330"/>
              </p:ext>
            </p:extLst>
          </p:nvPr>
        </p:nvGraphicFramePr>
        <p:xfrm>
          <a:off x="1438164" y="5901363"/>
          <a:ext cx="4737100" cy="381000"/>
        </p:xfrm>
        <a:graphic>
          <a:graphicData uri="http://schemas.openxmlformats.org/presentationml/2006/ole">
            <mc:AlternateContent xmlns:mc="http://schemas.openxmlformats.org/markup-compatibility/2006">
              <mc:Choice xmlns:v="urn:schemas-microsoft-com:vml" Requires="v">
                <p:oleObj spid="_x0000_s8213" name="Equation" r:id="rId10" imgW="4736880" imgH="380880" progId="Equation.DSMT4">
                  <p:embed/>
                </p:oleObj>
              </mc:Choice>
              <mc:Fallback>
                <p:oleObj name="Equation" r:id="rId10" imgW="4736880" imgH="380880" progId="Equation.DSMT4">
                  <p:embed/>
                  <p:pic>
                    <p:nvPicPr>
                      <p:cNvPr id="0" name=""/>
                      <p:cNvPicPr/>
                      <p:nvPr/>
                    </p:nvPicPr>
                    <p:blipFill>
                      <a:blip r:embed="rId11"/>
                      <a:stretch>
                        <a:fillRect/>
                      </a:stretch>
                    </p:blipFill>
                    <p:spPr>
                      <a:xfrm>
                        <a:off x="1438164" y="5901363"/>
                        <a:ext cx="4737100" cy="381000"/>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p:txBody>
          <a:bodyPr/>
          <a:lstStyle/>
          <a:p>
            <a:r>
              <a:rPr lang="en-US" dirty="0">
                <a:latin typeface="+mj-lt"/>
              </a:rPr>
              <a:t>Example 9.11: Double Exponential Smoothing</a:t>
            </a:r>
          </a:p>
        </p:txBody>
      </p:sp>
      <p:sp>
        <p:nvSpPr>
          <p:cNvPr id="11" name="Content Placeholder 2"/>
          <p:cNvSpPr>
            <a:spLocks noGrp="1"/>
          </p:cNvSpPr>
          <p:nvPr>
            <p:ph type="body" idx="1"/>
          </p:nvPr>
        </p:nvSpPr>
        <p:spPr>
          <a:xfrm>
            <a:off x="457200" y="1426028"/>
            <a:ext cx="8229600" cy="1593397"/>
          </a:xfrm>
        </p:spPr>
        <p:txBody>
          <a:bodyPr/>
          <a:lstStyle/>
          <a:p>
            <a:pPr marL="256032" indent="-256032">
              <a:buSzPct val="100000"/>
            </a:pPr>
            <a:r>
              <a:rPr lang="en-US" sz="2400" dirty="0">
                <a:latin typeface="+mn-lt"/>
              </a:rPr>
              <a:t>First ten years of data in the Excel file Coal Production</a:t>
            </a:r>
          </a:p>
          <a:p>
            <a:pPr marL="256032" indent="-256032">
              <a:buSzPct val="100000"/>
            </a:pPr>
            <a:r>
              <a:rPr lang="en-US" sz="2400" dirty="0">
                <a:latin typeface="+mn-lt"/>
              </a:rPr>
              <a:t>Choose </a:t>
            </a:r>
            <a:r>
              <a:rPr lang="el-GR" sz="2400" i="1" dirty="0">
                <a:latin typeface="+mn-lt"/>
                <a:ea typeface="Symbol" charset="2"/>
                <a:cs typeface="Arial" panose="020B0604020202020204" pitchFamily="34" charset="0"/>
              </a:rPr>
              <a:t>α</a:t>
            </a:r>
            <a:r>
              <a:rPr lang="en-US" sz="2400" dirty="0">
                <a:latin typeface="+mn-lt"/>
              </a:rPr>
              <a:t> = 0.6 and </a:t>
            </a:r>
            <a:r>
              <a:rPr lang="el-GR" sz="2400" i="1" dirty="0">
                <a:latin typeface="+mn-lt"/>
                <a:ea typeface="Symbol" charset="2"/>
                <a:cs typeface="Arial" panose="020B0604020202020204" pitchFamily="34" charset="0"/>
              </a:rPr>
              <a:t>β</a:t>
            </a:r>
            <a:r>
              <a:rPr lang="en-US" sz="2400" dirty="0">
                <a:latin typeface="+mn-lt"/>
              </a:rPr>
              <a:t> = 0.4</a:t>
            </a:r>
          </a:p>
          <a:p>
            <a:pPr marL="740664" lvl="1" indent="-283464">
              <a:buSzPct val="100000"/>
            </a:pPr>
            <a:r>
              <a:rPr lang="en-US" sz="2400" dirty="0">
                <a:latin typeface="+mn-lt"/>
              </a:rPr>
              <a:t>See text for computational details.</a:t>
            </a:r>
          </a:p>
        </p:txBody>
      </p:sp>
      <p:pic>
        <p:nvPicPr>
          <p:cNvPr id="2" name="Picture 1" descr="An Excel sheet has a table and a graph that illustrate the double exponential smoothing. The table titled, Double exponential smoothing, has 11 rows and 6 columns. The columns have the following headings from left to right. Year, Total tons, Level a, Trend b, Forecast, Absolute error. The row entries are as follows. Row 1. 1, 434329000, 434329000, negative 13,906,000, blank, blank. Row 2. 2, 420423000, 420423000, negative 13,906,000, blank, not applicable. Row 3. 3, 439043000, 426032600, negative 6099760, 406517000, 32526000. Row 4. 4, 477195000, 454290136, 7643158, 419932840, 57262160. Row 5. 5, 504182000, 487282518, 17782848, 461933294, 42248706. Row 6. 6, 526954000, 518198546, 23036120, 505065366, 21888634. Row 7. 7, 546822000, 544587066, 24377080, 541234666, 5587334. Row 8. 8, 564882000, 566514859, 23397365, 568964147, 4082147. Row 9. 9, 556706000, 569988489, 15427871, 589912224, 33206224. Row 10. 10, 570978000, 576753344, 11962665, 585416361, 14438361. Row 11. 11, blank, blank, blank, 588716009, blank. The graph titled, Double exponential smoothing, is plotted for total tons versus year. The graph for total tons and forecast is represented as a line that passes through the values of total tons and the forecast values with respect to the years."/>
          <p:cNvPicPr>
            <a:picLocks noChangeAspect="1"/>
          </p:cNvPicPr>
          <p:nvPr/>
        </p:nvPicPr>
        <p:blipFill>
          <a:blip r:embed="rId2"/>
          <a:stretch>
            <a:fillRect/>
          </a:stretch>
        </p:blipFill>
        <p:spPr>
          <a:xfrm>
            <a:off x="741099" y="3216269"/>
            <a:ext cx="7547502" cy="3054361"/>
          </a:xfrm>
          <a:prstGeom prst="rect">
            <a:avLst/>
          </a:prstGeom>
        </p:spPr>
      </p:pic>
    </p:spTree>
    <p:extLst>
      <p:ext uri="{BB962C8B-B14F-4D97-AF65-F5344CB8AC3E}">
        <p14:creationId xmlns:p14="http://schemas.microsoft.com/office/powerpoint/2010/main" val="937166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Regression-Based Forecasting for Time Series with a Linear Trend</a:t>
            </a:r>
            <a:endParaRPr sz="3600" b="1" i="0" u="none" strike="noStrike" cap="none" dirty="0">
              <a:solidFill>
                <a:srgbClr val="007FA3"/>
              </a:solidFill>
              <a:latin typeface="+mj-lt"/>
              <a:ea typeface="Arial"/>
              <a:cs typeface="Arial"/>
              <a:sym typeface="Arial"/>
            </a:endParaRPr>
          </a:p>
        </p:txBody>
      </p:sp>
      <p:sp>
        <p:nvSpPr>
          <p:cNvPr id="466" name="Content Placeholder 2"/>
          <p:cNvSpPr txBox="1">
            <a:spLocks noGrp="1"/>
          </p:cNvSpPr>
          <p:nvPr>
            <p:ph type="body" idx="1"/>
          </p:nvPr>
        </p:nvSpPr>
        <p:spPr>
          <a:xfrm>
            <a:off x="457200" y="1600201"/>
            <a:ext cx="8229600" cy="1057274"/>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2600" dirty="0">
                <a:latin typeface="+mn-lt"/>
              </a:rPr>
              <a:t>Simple linear regression can be applied to forecasting using time as the independent variable.</a:t>
            </a:r>
            <a:endParaRPr sz="2600" dirty="0">
              <a:latin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Example 9.12: Forecasting Using Trendlines</a:t>
            </a:r>
            <a:endParaRPr sz="3600" b="1" i="0" u="none" strike="noStrike" cap="none" dirty="0">
              <a:solidFill>
                <a:srgbClr val="007FA3"/>
              </a:solidFill>
              <a:latin typeface="+mj-lt"/>
              <a:ea typeface="Arial"/>
              <a:cs typeface="Arial"/>
              <a:sym typeface="Arial"/>
            </a:endParaRPr>
          </a:p>
        </p:txBody>
      </p:sp>
      <p:sp>
        <p:nvSpPr>
          <p:cNvPr id="472" name="Content Placeholder 2"/>
          <p:cNvSpPr txBox="1">
            <a:spLocks noGrp="1"/>
          </p:cNvSpPr>
          <p:nvPr>
            <p:ph type="body" idx="1"/>
          </p:nvPr>
        </p:nvSpPr>
        <p:spPr>
          <a:xfrm>
            <a:off x="457200" y="1600199"/>
            <a:ext cx="6934200" cy="619125"/>
          </a:xfrm>
          <a:prstGeom prst="rect">
            <a:avLst/>
          </a:prstGeom>
          <a:noFill/>
          <a:ln>
            <a:noFill/>
          </a:ln>
        </p:spPr>
        <p:txBody>
          <a:bodyPr spcFirstLastPara="1" wrap="square" lIns="0" tIns="0" rIns="0" bIns="0" anchor="t" anchorCtr="0">
            <a:noAutofit/>
          </a:bodyPr>
          <a:lstStyle/>
          <a:p>
            <a:pPr marL="256032" indent="-256032">
              <a:buSzPct val="100000"/>
            </a:pPr>
            <a:r>
              <a:rPr lang="en-US" sz="2400" dirty="0">
                <a:latin typeface="+mn-lt"/>
              </a:rPr>
              <a:t>Coal Production data with a linear trendline</a:t>
            </a:r>
            <a:endParaRPr sz="2400" dirty="0">
              <a:latin typeface="+mn-lt"/>
            </a:endParaRPr>
          </a:p>
        </p:txBody>
      </p:sp>
      <p:pic>
        <p:nvPicPr>
          <p:cNvPr id="2" name="Picture 1" descr="A graph titled, coal production.  The graph plots total tons versus years. The horizontal axis ranges from 19 60 to 20 11 in increments of three years. The vertical axis ranges from 0 to 1,400,000,000 in increments of 200,000,000. The graph of the equation, y = 15,413,536.97 x + 438,819,885.29, where R squared = 0.95, is a line that rise from (19 60, 420,000,000) to (20 11, 1,220,000,000). The residual curve fluctuates about this line through (19 84, 780,000,000), (19 90, 1,010,000,000), and (19 99, 1,100,000,000). All values estimated."/>
          <p:cNvPicPr>
            <a:picLocks noChangeAspect="1"/>
          </p:cNvPicPr>
          <p:nvPr/>
        </p:nvPicPr>
        <p:blipFill>
          <a:blip r:embed="rId3"/>
          <a:stretch>
            <a:fillRect/>
          </a:stretch>
        </p:blipFill>
        <p:spPr>
          <a:xfrm>
            <a:off x="457200" y="2506871"/>
            <a:ext cx="5694158" cy="3438442"/>
          </a:xfrm>
          <a:prstGeom prst="rect">
            <a:avLst/>
          </a:prstGeom>
        </p:spPr>
      </p:pic>
      <p:sp>
        <p:nvSpPr>
          <p:cNvPr id="474" name="Content Placeholder 3"/>
          <p:cNvSpPr txBox="1">
            <a:spLocks noGrp="1"/>
          </p:cNvSpPr>
          <p:nvPr>
            <p:ph type="body" idx="2"/>
          </p:nvPr>
        </p:nvSpPr>
        <p:spPr>
          <a:xfrm>
            <a:off x="6345936" y="2819400"/>
            <a:ext cx="2340864" cy="29321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7FA3"/>
              </a:buClr>
              <a:buSzPts val="1800"/>
              <a:buFont typeface="Arial"/>
              <a:buNone/>
            </a:pPr>
            <a:r>
              <a:rPr lang="en-US" sz="2400" b="0" i="0" u="none" strike="noStrike" cap="none" dirty="0">
                <a:solidFill>
                  <a:srgbClr val="000000"/>
                </a:solidFill>
                <a:latin typeface="+mn-lt"/>
                <a:ea typeface="Arial"/>
                <a:cs typeface="Arial"/>
                <a:sym typeface="Arial"/>
              </a:rPr>
              <a:t>Note that the linear model does not adequately predict the recent drop in production after 2008.</a:t>
            </a:r>
            <a:endParaRPr sz="2400" b="0" i="0" u="none" strike="noStrike" cap="none" dirty="0">
              <a:solidFill>
                <a:srgbClr val="000000"/>
              </a:solidFill>
              <a:latin typeface="+mn-lt"/>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Title 1"/>
          <p:cNvSpPr txBox="1">
            <a:spLocks noGrp="1"/>
          </p:cNvSpPr>
          <p:nvPr>
            <p:ph type="title"/>
          </p:nvPr>
        </p:nvSpPr>
        <p:spPr>
          <a:xfrm>
            <a:off x="457200" y="215372"/>
            <a:ext cx="8229600" cy="1097280"/>
          </a:xfrm>
          <a:prstGeom prst="rect">
            <a:avLst/>
          </a:prstGeom>
          <a:noFill/>
          <a:ln>
            <a:noFill/>
          </a:ln>
        </p:spPr>
        <p:txBody>
          <a:bodyPr spcFirstLastPara="1" wrap="square" lIns="0" tIns="91425" rIns="0" bIns="0" anchor="b" anchorCtr="0">
            <a:noAutofit/>
          </a:bodyPr>
          <a:lstStyle/>
          <a:p>
            <a:pPr marL="0" marR="0" lvl="0" indent="0" algn="l" rtl="0">
              <a:lnSpc>
                <a:spcPct val="100000"/>
              </a:lnSpc>
              <a:spcBef>
                <a:spcPts val="0"/>
              </a:spcBef>
              <a:spcAft>
                <a:spcPts val="0"/>
              </a:spcAft>
              <a:buClr>
                <a:srgbClr val="007FA3"/>
              </a:buClr>
              <a:buSzPts val="3600"/>
              <a:buFont typeface="Arial"/>
              <a:buNone/>
            </a:pPr>
            <a:r>
              <a:rPr lang="en-US" sz="3600" b="1" i="0" u="none" strike="noStrike" cap="none" dirty="0">
                <a:solidFill>
                  <a:srgbClr val="007FA3"/>
                </a:solidFill>
                <a:latin typeface="+mj-lt"/>
                <a:ea typeface="Arial"/>
                <a:cs typeface="Arial"/>
                <a:sym typeface="Arial"/>
              </a:rPr>
              <a:t>Forecasting Time Series with Seasonality</a:t>
            </a:r>
            <a:endParaRPr sz="3600" b="1" i="0" u="none" strike="noStrike" cap="none" dirty="0">
              <a:solidFill>
                <a:srgbClr val="007FA3"/>
              </a:solidFill>
              <a:latin typeface="+mj-lt"/>
              <a:ea typeface="Arial"/>
              <a:cs typeface="Arial"/>
              <a:sym typeface="Arial"/>
            </a:endParaRPr>
          </a:p>
        </p:txBody>
      </p:sp>
      <p:sp>
        <p:nvSpPr>
          <p:cNvPr id="487" name="Content Placeholder 2"/>
          <p:cNvSpPr txBox="1">
            <a:spLocks noGrp="1"/>
          </p:cNvSpPr>
          <p:nvPr>
            <p:ph type="body" idx="1"/>
          </p:nvPr>
        </p:nvSpPr>
        <p:spPr>
          <a:xfrm>
            <a:off x="457199" y="1600201"/>
            <a:ext cx="8162925" cy="4000500"/>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ts val="2400"/>
              <a:buFont typeface="Arial"/>
              <a:buChar char="•"/>
            </a:pPr>
            <a:r>
              <a:rPr lang="en-US" sz="2400" b="0" i="0" u="none" strike="noStrike" cap="none" dirty="0">
                <a:solidFill>
                  <a:srgbClr val="000000"/>
                </a:solidFill>
                <a:latin typeface="+mn-lt"/>
                <a:sym typeface="Arial"/>
              </a:rPr>
              <a:t>When time series exhibit seasonality, different techniques provide better forecasts than the ones we have described:</a:t>
            </a:r>
            <a:endParaRPr sz="2400" dirty="0">
              <a:latin typeface="+mn-lt"/>
            </a:endParaRPr>
          </a:p>
          <a:p>
            <a:pPr marL="741553" marR="0" lvl="1" indent="-284353" algn="l" rtl="0">
              <a:spcBef>
                <a:spcPts val="600"/>
              </a:spcBef>
              <a:spcAft>
                <a:spcPts val="0"/>
              </a:spcAft>
              <a:buClr>
                <a:srgbClr val="007FA3"/>
              </a:buClr>
              <a:buSzPts val="2400"/>
              <a:buFont typeface="Arial"/>
              <a:buChar char="–"/>
            </a:pPr>
            <a:r>
              <a:rPr lang="en-US" sz="2400" b="0" i="0" u="none" strike="noStrike" cap="none" dirty="0">
                <a:solidFill>
                  <a:srgbClr val="000000"/>
                </a:solidFill>
                <a:latin typeface="+mn-lt"/>
                <a:sym typeface="Arial"/>
              </a:rPr>
              <a:t>Multiple regression models with categorical variables for the seasonal components</a:t>
            </a:r>
            <a:endParaRPr sz="2400" dirty="0">
              <a:latin typeface="+mn-lt"/>
            </a:endParaRPr>
          </a:p>
          <a:p>
            <a:pPr marL="741553" marR="0" lvl="1" indent="-284353" algn="l" rtl="0">
              <a:spcBef>
                <a:spcPts val="600"/>
              </a:spcBef>
              <a:spcAft>
                <a:spcPts val="0"/>
              </a:spcAft>
              <a:buClr>
                <a:srgbClr val="007FA3"/>
              </a:buClr>
              <a:buSzPts val="2400"/>
              <a:buFont typeface="Arial"/>
              <a:buChar char="–"/>
            </a:pPr>
            <a:r>
              <a:rPr lang="en-US" sz="2400" b="0" i="0" u="none" strike="noStrike" cap="none" dirty="0">
                <a:solidFill>
                  <a:srgbClr val="000000"/>
                </a:solidFill>
                <a:latin typeface="+mn-lt"/>
                <a:sym typeface="Arial"/>
              </a:rPr>
              <a:t>Holt-Winters models, similar to exponential smoothing models in that smoothing constants are used to smooth out variations in the level and seasonal patterns over time. </a:t>
            </a:r>
            <a:endParaRPr sz="2400" b="0" i="0" u="none" strike="noStrike" cap="none" dirty="0">
              <a:solidFill>
                <a:srgbClr val="000000"/>
              </a:solidFill>
              <a:latin typeface="+mn-lt"/>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Title 1"/>
          <p:cNvSpPr txBox="1">
            <a:spLocks noGrp="1"/>
          </p:cNvSpPr>
          <p:nvPr>
            <p:ph type="title"/>
          </p:nvPr>
        </p:nvSpPr>
        <p:spPr>
          <a:xfrm>
            <a:off x="457199" y="215372"/>
            <a:ext cx="8334375" cy="1097280"/>
          </a:xfrm>
          <a:prstGeom prst="rect">
            <a:avLst/>
          </a:prstGeom>
          <a:noFill/>
          <a:ln>
            <a:noFill/>
          </a:ln>
        </p:spPr>
        <p:txBody>
          <a:bodyPr spcFirstLastPara="1" wrap="square" lIns="0" tIns="91425" rIns="0" bIns="0" anchor="b" anchorCtr="0">
            <a:noAutofit/>
          </a:bodyPr>
          <a:lstStyle/>
          <a:p>
            <a:pPr lvl="0"/>
            <a:r>
              <a:rPr lang="en-US" sz="3400" b="1" i="0" u="none" strike="noStrike" cap="none" dirty="0">
                <a:solidFill>
                  <a:srgbClr val="007FA3"/>
                </a:solidFill>
                <a:latin typeface="+mj-lt"/>
                <a:sym typeface="Arial"/>
              </a:rPr>
              <a:t>Example 9.13: Regression-Based Forecasting for Natural Gas Usage </a:t>
            </a:r>
            <a:r>
              <a:rPr lang="en-US" sz="2000" b="0" dirty="0">
                <a:latin typeface="+mj-lt"/>
              </a:rPr>
              <a:t>(1 of 3)</a:t>
            </a:r>
            <a:endParaRPr sz="2000" b="0" i="0" u="none" strike="noStrike" cap="none" dirty="0">
              <a:solidFill>
                <a:srgbClr val="007FA3"/>
              </a:solidFill>
              <a:latin typeface="+mj-lt"/>
              <a:sym typeface="Arial"/>
            </a:endParaRPr>
          </a:p>
        </p:txBody>
      </p:sp>
      <p:sp>
        <p:nvSpPr>
          <p:cNvPr id="493" name="Content Placeholder 2"/>
          <p:cNvSpPr txBox="1">
            <a:spLocks noGrp="1"/>
          </p:cNvSpPr>
          <p:nvPr>
            <p:ph type="body" idx="1"/>
          </p:nvPr>
        </p:nvSpPr>
        <p:spPr>
          <a:xfrm>
            <a:off x="457200" y="1600200"/>
            <a:ext cx="3962400" cy="2933700"/>
          </a:xfrm>
          <a:prstGeom prst="rect">
            <a:avLst/>
          </a:prstGeom>
          <a:noFill/>
          <a:ln>
            <a:noFill/>
          </a:ln>
        </p:spPr>
        <p:txBody>
          <a:bodyPr spcFirstLastPara="1" wrap="square" lIns="0" tIns="0" rIns="0" bIns="0" anchor="t" anchorCtr="0">
            <a:noAutofit/>
          </a:bodyPr>
          <a:lstStyle/>
          <a:p>
            <a:pPr marL="256032" marR="0" lvl="0" indent="-256032" algn="l" rtl="0">
              <a:spcAft>
                <a:spcPts val="0"/>
              </a:spcAft>
              <a:buClr>
                <a:srgbClr val="007FA3"/>
              </a:buClr>
              <a:buSzPct val="100000"/>
              <a:buFont typeface="Arial"/>
              <a:buChar char="•"/>
            </a:pPr>
            <a:r>
              <a:rPr lang="en-US" sz="2200" b="0" u="none" strike="noStrike" cap="none" dirty="0">
                <a:solidFill>
                  <a:srgbClr val="000000"/>
                </a:solidFill>
                <a:latin typeface="+mn-lt"/>
                <a:sym typeface="Arial"/>
              </a:rPr>
              <a:t>Gas &amp; Electric Excel file</a:t>
            </a:r>
            <a:endParaRPr sz="2200" dirty="0">
              <a:latin typeface="+mn-lt"/>
            </a:endParaRPr>
          </a:p>
          <a:p>
            <a:pPr marL="256032" marR="0" lvl="0" indent="-256032" algn="l" rtl="0">
              <a:spcAft>
                <a:spcPts val="0"/>
              </a:spcAft>
              <a:buClr>
                <a:srgbClr val="007FA3"/>
              </a:buClr>
              <a:buSzPct val="100000"/>
              <a:buFont typeface="Arial"/>
              <a:buChar char="•"/>
            </a:pPr>
            <a:r>
              <a:rPr lang="en-US" sz="2200" b="0" u="none" strike="noStrike" cap="none" dirty="0">
                <a:solidFill>
                  <a:srgbClr val="000000"/>
                </a:solidFill>
                <a:latin typeface="+mn-lt"/>
                <a:sym typeface="Arial"/>
              </a:rPr>
              <a:t>Use a seasonal categorical variable with </a:t>
            </a:r>
            <a:r>
              <a:rPr lang="en-US" sz="2200" b="0" i="1" u="none" strike="noStrike" cap="none" dirty="0">
                <a:solidFill>
                  <a:srgbClr val="000000"/>
                </a:solidFill>
                <a:latin typeface="+mn-lt"/>
                <a:sym typeface="Arial"/>
              </a:rPr>
              <a:t>k</a:t>
            </a:r>
            <a:r>
              <a:rPr lang="en-US" sz="2200" b="0" u="none" strike="noStrike" cap="none" dirty="0">
                <a:solidFill>
                  <a:srgbClr val="000000"/>
                </a:solidFill>
                <a:latin typeface="+mn-lt"/>
                <a:sym typeface="Arial"/>
              </a:rPr>
              <a:t> = 12 levels.</a:t>
            </a:r>
            <a:endParaRPr sz="2200" dirty="0">
              <a:latin typeface="+mn-lt"/>
            </a:endParaRPr>
          </a:p>
          <a:p>
            <a:pPr marL="256032" marR="0" lvl="0" indent="-256032" algn="l" rtl="0">
              <a:spcAft>
                <a:spcPts val="0"/>
              </a:spcAft>
              <a:buClr>
                <a:srgbClr val="007FA3"/>
              </a:buClr>
              <a:buSzPct val="100000"/>
              <a:buFont typeface="Arial"/>
              <a:buChar char="•"/>
            </a:pPr>
            <a:r>
              <a:rPr lang="en-US" sz="2200" b="0" u="none" strike="noStrike" cap="none" dirty="0">
                <a:solidFill>
                  <a:srgbClr val="000000"/>
                </a:solidFill>
                <a:latin typeface="+mn-lt"/>
                <a:sym typeface="Arial"/>
              </a:rPr>
              <a:t>Construct the regression model using </a:t>
            </a:r>
            <a:r>
              <a:rPr lang="en-US" sz="2200" b="0" i="1" u="none" strike="noStrike" cap="none" dirty="0">
                <a:solidFill>
                  <a:srgbClr val="000000"/>
                </a:solidFill>
                <a:latin typeface="+mn-lt"/>
                <a:sym typeface="Arial"/>
              </a:rPr>
              <a:t>k</a:t>
            </a:r>
            <a:r>
              <a:rPr lang="en-US" sz="2200" b="0" u="none" strike="noStrike" cap="none" dirty="0">
                <a:solidFill>
                  <a:srgbClr val="000000"/>
                </a:solidFill>
                <a:latin typeface="+mn-lt"/>
                <a:sym typeface="Arial"/>
              </a:rPr>
              <a:t> − 1 dummy variables, with January being the reference month.</a:t>
            </a:r>
            <a:endParaRPr sz="2200" b="0" u="none" strike="noStrike" cap="none" dirty="0">
              <a:solidFill>
                <a:srgbClr val="000000"/>
              </a:solidFill>
              <a:latin typeface="+mn-lt"/>
              <a:sym typeface="Arial"/>
            </a:endParaRPr>
          </a:p>
        </p:txBody>
      </p:sp>
      <p:pic>
        <p:nvPicPr>
          <p:cNvPr id="2" name="Picture 1" descr="A graph titled, gas use, is plotted for natural gas usage versus the months of two years. The horizontal axis ranges between the months of January and November in increments of three months. The vertical axis ranges between 0 and 300 in increments of 100. The graph is a curve that passes through the following points. (January, 250), (March, 150), (May, 40), (July, 35), (September, 38), (November, 75), (January, 230), (March, 260), (May, 40), (July, 36), (September, 38), and (November, 75). All values estimated."/>
          <p:cNvPicPr>
            <a:picLocks noChangeAspect="1"/>
          </p:cNvPicPr>
          <p:nvPr/>
        </p:nvPicPr>
        <p:blipFill>
          <a:blip r:embed="rId4"/>
          <a:stretch>
            <a:fillRect/>
          </a:stretch>
        </p:blipFill>
        <p:spPr>
          <a:xfrm>
            <a:off x="4729393" y="1600200"/>
            <a:ext cx="3938357" cy="1871634"/>
          </a:xfrm>
          <a:prstGeom prst="rect">
            <a:avLst/>
          </a:prstGeom>
        </p:spPr>
      </p:pic>
      <p:graphicFrame>
        <p:nvGraphicFramePr>
          <p:cNvPr id="3" name="Object 2" descr="Gas usage = beta sub 0 + beta sub 1 time + beta sub 2 February + beta sub 3 March + beta sub 4 April + beta sub 5 May + beta sub 6 June + beta sub 7 July + beta sub 8 August + beta sub 9 September + beta sub 10 October + beta sub 11 November + beta sub 12 December"/>
          <p:cNvGraphicFramePr>
            <a:graphicFrameLocks noChangeAspect="1"/>
          </p:cNvGraphicFramePr>
          <p:nvPr>
            <p:extLst>
              <p:ext uri="{D42A27DB-BD31-4B8C-83A1-F6EECF244321}">
                <p14:modId xmlns:p14="http://schemas.microsoft.com/office/powerpoint/2010/main" val="3020268371"/>
              </p:ext>
            </p:extLst>
          </p:nvPr>
        </p:nvGraphicFramePr>
        <p:xfrm>
          <a:off x="1324001" y="4645628"/>
          <a:ext cx="5972149" cy="1469422"/>
        </p:xfrm>
        <a:graphic>
          <a:graphicData uri="http://schemas.openxmlformats.org/presentationml/2006/ole">
            <mc:AlternateContent xmlns:mc="http://schemas.openxmlformats.org/markup-compatibility/2006">
              <mc:Choice xmlns:v="urn:schemas-microsoft-com:vml" Requires="v">
                <p:oleObj spid="_x0000_s9222" name="Equation" r:id="rId5" imgW="7226280" imgH="1777680" progId="Equation.DSMT4">
                  <p:embed/>
                </p:oleObj>
              </mc:Choice>
              <mc:Fallback>
                <p:oleObj name="Equation" r:id="rId5" imgW="7226280" imgH="1777680" progId="Equation.DSMT4">
                  <p:embed/>
                  <p:pic>
                    <p:nvPicPr>
                      <p:cNvPr id="0" name=""/>
                      <p:cNvPicPr/>
                      <p:nvPr/>
                    </p:nvPicPr>
                    <p:blipFill>
                      <a:blip r:embed="rId6"/>
                      <a:stretch>
                        <a:fillRect/>
                      </a:stretch>
                    </p:blipFill>
                    <p:spPr>
                      <a:xfrm>
                        <a:off x="1324001" y="4645628"/>
                        <a:ext cx="5972149" cy="1469422"/>
                      </a:xfrm>
                      <a:prstGeom prst="rect">
                        <a:avLst/>
                      </a:prstGeom>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Title 1"/>
          <p:cNvSpPr txBox="1">
            <a:spLocks noGrp="1"/>
          </p:cNvSpPr>
          <p:nvPr>
            <p:ph type="title"/>
          </p:nvPr>
        </p:nvSpPr>
        <p:spPr>
          <a:xfrm>
            <a:off x="457200" y="215372"/>
            <a:ext cx="8458200" cy="1097280"/>
          </a:xfrm>
          <a:prstGeom prst="rect">
            <a:avLst/>
          </a:prstGeom>
          <a:noFill/>
          <a:ln>
            <a:noFill/>
          </a:ln>
        </p:spPr>
        <p:txBody>
          <a:bodyPr spcFirstLastPara="1" wrap="square" lIns="0" tIns="91425" rIns="0" bIns="0" anchor="b" anchorCtr="0">
            <a:noAutofit/>
          </a:bodyPr>
          <a:lstStyle/>
          <a:p>
            <a:pPr lvl="0"/>
            <a:r>
              <a:rPr lang="en-US" sz="3400" dirty="0">
                <a:latin typeface="+mj-lt"/>
              </a:rPr>
              <a:t>Example 9.13: Regression-Based Forecasting for Natural Gas Usage </a:t>
            </a:r>
            <a:r>
              <a:rPr lang="en-US" sz="2000" b="0" dirty="0">
                <a:latin typeface="+mj-lt"/>
              </a:rPr>
              <a:t>(2 of 3)</a:t>
            </a:r>
            <a:endParaRPr sz="2000" dirty="0">
              <a:latin typeface="+mj-lt"/>
            </a:endParaRPr>
          </a:p>
        </p:txBody>
      </p:sp>
      <p:sp>
        <p:nvSpPr>
          <p:cNvPr id="501" name="Content Placeholder 2"/>
          <p:cNvSpPr txBox="1">
            <a:spLocks noGrp="1"/>
          </p:cNvSpPr>
          <p:nvPr>
            <p:ph type="body" idx="1"/>
          </p:nvPr>
        </p:nvSpPr>
        <p:spPr>
          <a:xfrm>
            <a:off x="457200" y="1600200"/>
            <a:ext cx="2133600" cy="609599"/>
          </a:xfrm>
          <a:prstGeom prst="rect">
            <a:avLst/>
          </a:prstGeom>
          <a:noFill/>
          <a:ln>
            <a:noFill/>
          </a:ln>
        </p:spPr>
        <p:txBody>
          <a:bodyPr spcFirstLastPara="1" wrap="square" lIns="0" tIns="0" rIns="0" bIns="0" anchor="t" anchorCtr="0">
            <a:noAutofit/>
          </a:bodyPr>
          <a:lstStyle/>
          <a:p>
            <a:pPr marL="256032" indent="-256032">
              <a:buSzPct val="100000"/>
            </a:pPr>
            <a:r>
              <a:rPr lang="en-US" sz="2600" dirty="0">
                <a:solidFill>
                  <a:srgbClr val="000000"/>
                </a:solidFill>
                <a:latin typeface="+mn-lt"/>
              </a:rPr>
              <a:t>Data matrix</a:t>
            </a:r>
            <a:endParaRPr sz="2600" dirty="0">
              <a:solidFill>
                <a:srgbClr val="000000"/>
              </a:solidFill>
              <a:latin typeface="+mn-lt"/>
            </a:endParaRPr>
          </a:p>
        </p:txBody>
      </p:sp>
      <p:pic>
        <p:nvPicPr>
          <p:cNvPr id="2" name="Picture 1" descr="A table titled, gas and electric usage, has 24 rows and 14 columns. The columns have the following headings from left to right. Month, gas use, time, February, March, April, May, June, July, August, September, October, November, December. The row entries are as follows. Row 1. January, 244, 1, 0, 0, 0, 0, 0, 0, 0, 0, 0, 0, 0. Row 2. February, 228, 2, 1, 0, 0, 0, 0, 0, 0, 0, 0, 0, 0. Row 3. March, 153, 3, 0, 1, 0, 0, 0, 0, 0, 0, 0, 0, 0. Row 4. April, 140, 4, 0, 0, 1, 0, 0, 0, 0, 0, 0, 0, 0. Row 5. May, 55, 5, 0, 0, 0, 1, 0, 0, 0, 0, 0, 0, 0. Row 6. June, 34, 6, 0, 0, 0, 0, 1, 0, 0, 0, 0, 0, 0. Row 7. July, 30, 7, 0, 0, 0, 0, 0, 1, 0, 0, 0, 0, 0. Row 8. August, 28, 8, 0, 0, 0, 0, 0, 0, 1, 0, 0, 0, 0. Row 9. September, 29, 9, 0, 0, 0, 0, 0, 0, 0, 1, 0, 0, 0. Row 10. October, 41, 10, 0, 0, 0, 0, 0, 0, 0, 0, 1, 0, 0. Row 11. November, 88, 11, 0, 0, 0, 0, 0, 0, 0, 0, 0, 1, 0. Row 12. December, 199, 12, 0, 0, 0, 0, 0, 0, 0, 0, 0, 0, 1. Row 13. January, 230, 13, 0, 0, 0, 0, 0, 0, 0, 0, 0, 0, 0. Row 14. February, 245, 14, 1, 0, 0, 0, 0, 0, 0, 0, 0, 0, 0. Row 15. March, 247, 15, 0, 1, 0, 0, 0, 0, 0, 0, 0, 0, 0. Row 16. April, 135, 16, 0, 0, 1, 0, 0, 0, 0, 0, 0, 0, 0. Row 17. May, 34, 17, 0, 0, 0, 1, 0, 0, 0, 0, 0, 0, 0. Row 18. June, 33, 18, 0, 0, 0, 0, 1, 0, 0, 0, 0, 0, 0. Row 19. July, 27, 19, 0, 0, 0, 0, 0, 1, 0, 0, 0, 0, 0. Row 20. August, 26, 20, 0, 0, 0, 0, 0, 0, 1, 0, 0, 0, 0. Row 21. September, 28, 21, 0, 0, 0, 0, 0, 0, 0, 1, 0, 0, 0. Row 22. October, 39, 22, 0, 0, 0, 0, 0, 0, 0, 0, 1, 0, 0. Row 23. November, 86, 23, 0, 0, 0, 0, 0, 0, 0, 0, 0, 1, 0. Row 24. December, 188, 24, 0, 0, 0, 0, 0, 0, 0, 0, 0, 0, 1. "/>
          <p:cNvPicPr>
            <a:picLocks noChangeAspect="1"/>
          </p:cNvPicPr>
          <p:nvPr/>
        </p:nvPicPr>
        <p:blipFill>
          <a:blip r:embed="rId3"/>
          <a:stretch>
            <a:fillRect/>
          </a:stretch>
        </p:blipFill>
        <p:spPr>
          <a:xfrm>
            <a:off x="3509564" y="1600200"/>
            <a:ext cx="4791871" cy="457849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Title 1"/>
          <p:cNvSpPr txBox="1">
            <a:spLocks noGrp="1"/>
          </p:cNvSpPr>
          <p:nvPr>
            <p:ph type="title"/>
          </p:nvPr>
        </p:nvSpPr>
        <p:spPr>
          <a:xfrm>
            <a:off x="457200" y="215372"/>
            <a:ext cx="8498560" cy="1097280"/>
          </a:xfrm>
          <a:prstGeom prst="rect">
            <a:avLst/>
          </a:prstGeom>
          <a:noFill/>
          <a:ln>
            <a:noFill/>
          </a:ln>
        </p:spPr>
        <p:txBody>
          <a:bodyPr spcFirstLastPara="1" wrap="square" lIns="0" tIns="91425" rIns="0" bIns="0" anchor="b" anchorCtr="0">
            <a:noAutofit/>
          </a:bodyPr>
          <a:lstStyle/>
          <a:p>
            <a:pPr lvl="0"/>
            <a:r>
              <a:rPr lang="en-US" sz="3400" dirty="0">
                <a:latin typeface="+mj-lt"/>
              </a:rPr>
              <a:t>Example 9.13: Regression-Based Forecasting for Natural Gas Usage </a:t>
            </a:r>
            <a:r>
              <a:rPr lang="en-US" sz="2000" b="0" dirty="0">
                <a:latin typeface="+mj-lt"/>
              </a:rPr>
              <a:t>(3 of 3)</a:t>
            </a:r>
            <a:endParaRPr dirty="0">
              <a:latin typeface="+mj-lt"/>
            </a:endParaRPr>
          </a:p>
        </p:txBody>
      </p:sp>
      <p:sp>
        <p:nvSpPr>
          <p:cNvPr id="508" name="Content Placeholder 2"/>
          <p:cNvSpPr txBox="1">
            <a:spLocks noGrp="1"/>
          </p:cNvSpPr>
          <p:nvPr>
            <p:ph type="body" idx="1"/>
          </p:nvPr>
        </p:nvSpPr>
        <p:spPr>
          <a:xfrm>
            <a:off x="457200" y="1562100"/>
            <a:ext cx="2373086" cy="1465217"/>
          </a:xfrm>
          <a:prstGeom prst="rect">
            <a:avLst/>
          </a:prstGeom>
          <a:noFill/>
          <a:ln>
            <a:noFill/>
          </a:ln>
        </p:spPr>
        <p:txBody>
          <a:bodyPr spcFirstLastPara="1" wrap="square" lIns="0" tIns="0" rIns="0" bIns="0" anchor="t" anchorCtr="0">
            <a:noAutofit/>
          </a:bodyPr>
          <a:lstStyle/>
          <a:p>
            <a:pPr marL="256032" lvl="0" indent="-256032">
              <a:buSzPct val="100000"/>
            </a:pPr>
            <a:r>
              <a:rPr lang="en-US" sz="2000" dirty="0">
                <a:solidFill>
                  <a:srgbClr val="000000"/>
                </a:solidFill>
                <a:latin typeface="+mn-lt"/>
              </a:rPr>
              <a:t>Final regression results (time and February were insignificant)</a:t>
            </a:r>
            <a:endParaRPr sz="2000" dirty="0">
              <a:solidFill>
                <a:srgbClr val="000000"/>
              </a:solidFill>
              <a:latin typeface="+mn-lt"/>
            </a:endParaRPr>
          </a:p>
        </p:txBody>
      </p:sp>
      <p:pic>
        <p:nvPicPr>
          <p:cNvPr id="2" name="Picture 1" descr="An Excel sheet titled, Summary output, has three tables. The first table titled, Regression statistics, has 1 row and 5 columns. The columns have the following headings from left to right. Multiple R, R squared, Adjusted R squared, Standard error, Observations. The row entries are as follows. Row 1. 0.985481, 0.971173, 0.948998, 19.54433, 24. The second table titled, ANOVA, has 3 rows and 6 columns. The columns have the following headings from left to right. Model, d f, S S, M S, F, Significance F. The row entries are as follows. Row 1. Regression, 10, 167292.2083, 16729.22083, 43.79597661, 2.33344 E to the negative eighth power. Row 2. Residual, 13, 4965.75, 381.9807692, blank, blank. Row 3. Total, 23, 172257.9583, blank, blank, blank. The third table has 11 rows and 9 columns. The columns have the following headings from left to right. Value, Coefficients, Standard error, t Stat, P value, Lower 95%, Upper 95%, Lower 95.0%, Upper 95.0%. The row entries are as follows. Row 1. Intercept, 236.75, 9.772164157, 24.22697738, 3.33921 E negative12, 215.6385228, 257.8614772, 215.6385228, 257.8614772. Row 2. March, negative 36.75, 16.92588482, negative 2.171230656, 0.049016211, negative 73.31615105, negative 0.183848953, negative 73.31615105, negative 0.183848953. Row 3. April, negative 99.25, 16.92588482, negative 5.863799799, 5.56 E to the negative 05 power, negative 135.816151, negative 62.68384895, negative 135.816151, negative 62.68384895. Row 4. May, negative 192.25, 16.92588482, negative 11.35834268, 4.03 E to the negative 08 power, negative 228.816151, negative 155.683849, negative 228.816151, negative 155.683849. Row 5. June, negative 203.25, 16.92588482, negative 12.00823485, 2.07 E to the negative 08 power, negative 239.816151, negative 166.683849, negative 239.816151, negative 166.683849. Row 6. July, negative 208.25, 16.92588482, negative 12.30364038, 1.55 E to the negative 08 power, negative 244.816151, negative 171.683849, negative 244.816151, negative 171.683849. Row 7. August, negative 209.75, 16.92588482, negative 12.39226204, 1.42 E to the negative 08 power, negative 246.316151, negative 173.183849, negative 246.316151, negative 173.183849. Row 8. September, negative 208.25, 16.92588482, negative 12.30364038, 1.55 E to the negative 08 power, negative 244.816151, negative 171.683849, negative 244.816151, negative 171.683849. Row 9. October, negative 196.75, 16.92588482, negative 11.62420766, 3.06 E to the negative 08 power, negative 233.316151, negative 160.183849, negative 233.316151, negative 160.183849. Row 10. November, negative 149.75, 16.92588482, negative 8.847395666, 7.30 E to the negative 07 power, negative 186.316151, negative 113.183849, negative 186.316151, negative 113.183849. Row 11. December, negative 43.25, 16.92588482, negative 2.555257847, 0.023953114, negative 79.81615105, negative 6.683848953, negative 79.81615105, negative 6.683848953.  "/>
          <p:cNvPicPr>
            <a:picLocks noChangeAspect="1"/>
          </p:cNvPicPr>
          <p:nvPr/>
        </p:nvPicPr>
        <p:blipFill>
          <a:blip r:embed="rId4"/>
          <a:stretch>
            <a:fillRect/>
          </a:stretch>
        </p:blipFill>
        <p:spPr>
          <a:xfrm>
            <a:off x="3107954" y="1562100"/>
            <a:ext cx="5633192" cy="3048264"/>
          </a:xfrm>
          <a:prstGeom prst="rect">
            <a:avLst/>
          </a:prstGeom>
        </p:spPr>
      </p:pic>
      <p:graphicFrame>
        <p:nvGraphicFramePr>
          <p:cNvPr id="7" name="Object 6" descr="gas usage = 236.75 minus 36.75 March minus 99.25 april, negative 192.25 may minus 203.25 june minus 208.25 july, negative 209.75 august minus 208.25 september, negative 196.75 october minus 149.75 November, negative 43.25 december"/>
          <p:cNvGraphicFramePr>
            <a:graphicFrameLocks noChangeAspect="1"/>
          </p:cNvGraphicFramePr>
          <p:nvPr>
            <p:extLst>
              <p:ext uri="{D42A27DB-BD31-4B8C-83A1-F6EECF244321}">
                <p14:modId xmlns:p14="http://schemas.microsoft.com/office/powerpoint/2010/main" val="3242582974"/>
              </p:ext>
            </p:extLst>
          </p:nvPr>
        </p:nvGraphicFramePr>
        <p:xfrm>
          <a:off x="2125663" y="4689475"/>
          <a:ext cx="5162550" cy="1593850"/>
        </p:xfrm>
        <a:graphic>
          <a:graphicData uri="http://schemas.openxmlformats.org/presentationml/2006/ole">
            <mc:AlternateContent xmlns:mc="http://schemas.openxmlformats.org/markup-compatibility/2006">
              <mc:Choice xmlns:v="urn:schemas-microsoft-com:vml" Requires="v">
                <p:oleObj spid="_x0000_s10246" name="Equation" r:id="rId5" imgW="6870600" imgH="2120760" progId="Equation.DSMT4">
                  <p:embed/>
                </p:oleObj>
              </mc:Choice>
              <mc:Fallback>
                <p:oleObj name="Equation" r:id="rId5" imgW="6870600" imgH="2120760" progId="Equation.DSMT4">
                  <p:embed/>
                  <p:pic>
                    <p:nvPicPr>
                      <p:cNvPr id="3" name="Object 2"/>
                      <p:cNvPicPr/>
                      <p:nvPr/>
                    </p:nvPicPr>
                    <p:blipFill>
                      <a:blip r:embed="rId6"/>
                      <a:stretch>
                        <a:fillRect/>
                      </a:stretch>
                    </p:blipFill>
                    <p:spPr>
                      <a:xfrm>
                        <a:off x="2125663" y="4689475"/>
                        <a:ext cx="5162550" cy="1593850"/>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Pearson 508">
      <a:dk1>
        <a:srgbClr val="000000"/>
      </a:dk1>
      <a:lt1>
        <a:srgbClr val="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911</TotalTime>
  <Words>1191</Words>
  <Application>Microsoft Office PowerPoint</Application>
  <PresentationFormat>On-screen Show (4:3)</PresentationFormat>
  <Paragraphs>124</Paragraphs>
  <Slides>29</Slides>
  <Notes>27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5" baseType="lpstr">
      <vt:lpstr>Arial</vt:lpstr>
      <vt:lpstr>Noto Sans Symbols</vt:lpstr>
      <vt:lpstr>Symbol</vt:lpstr>
      <vt:lpstr>Verdana</vt:lpstr>
      <vt:lpstr>508 Lecture</vt:lpstr>
      <vt:lpstr>Equation</vt:lpstr>
      <vt:lpstr>Business Analytics: Methods, Models, and Decisions</vt:lpstr>
      <vt:lpstr>Forecasting Techniques</vt:lpstr>
      <vt:lpstr>Qualitative and Judgmental Forecasting</vt:lpstr>
      <vt:lpstr>Example 9.1: Predicting the Price of Oil</vt:lpstr>
      <vt:lpstr>Statistical Forecasting Models</vt:lpstr>
      <vt:lpstr>Example 9.4: Identifying Trends in a Time Series</vt:lpstr>
      <vt:lpstr>Seasonal Effects</vt:lpstr>
      <vt:lpstr>Cyclical Effects</vt:lpstr>
      <vt:lpstr>Forecasting Models for Stationary Time Series</vt:lpstr>
      <vt:lpstr>Moving Average Models</vt:lpstr>
      <vt:lpstr>Example 9.5: Moving Average Forecasting</vt:lpstr>
      <vt:lpstr>Spreadsheet Implementation of Moving Average Forecasting</vt:lpstr>
      <vt:lpstr>Example 9.6: Using Excel’s Moving Average Tool</vt:lpstr>
      <vt:lpstr>Error Metrics and Forecast Accuarcy</vt:lpstr>
      <vt:lpstr>Example 9.7: Using Error Metrics to Compare Moving Average Forecasts</vt:lpstr>
      <vt:lpstr>Exponential Smoothing Models</vt:lpstr>
      <vt:lpstr>Example 9.8: Using Exponential Smoothing to Forecast Tablet Computer Sales</vt:lpstr>
      <vt:lpstr>Example 9.9: Finding the Best Exponential Smoothing Model for Tablet Computer Sales</vt:lpstr>
      <vt:lpstr>Example 9.10: Using Excel’s Exponential Smoothing Tool (1 of 2)</vt:lpstr>
      <vt:lpstr>Example 9.10: Using Excel’s Exponential Smoothing Tool (2 of 2)</vt:lpstr>
      <vt:lpstr>Forecasting Models for Time Series with a Linear Trend</vt:lpstr>
      <vt:lpstr>Double Exponential Smoothing</vt:lpstr>
      <vt:lpstr>Example 9.11: Double Exponential Smoothing</vt:lpstr>
      <vt:lpstr>Regression-Based Forecasting for Time Series with a Linear Trend</vt:lpstr>
      <vt:lpstr>Example 9.12: Forecasting Using Trendlines</vt:lpstr>
      <vt:lpstr>Forecasting Time Series with Seasonality</vt:lpstr>
      <vt:lpstr>Example 9.13: Regression-Based Forecasting for Natural Gas Usage (1 of 3)</vt:lpstr>
      <vt:lpstr>Example 9.13: Regression-Based Forecasting for Natural Gas Usage (2 of 3)</vt:lpstr>
      <vt:lpstr>Example 9.13: Regression-Based Forecasting for Natural Gas Usage (3 of 3)</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Analytics: Methods, Models, and Decisions, 3e</dc:title>
  <dc:subject>Math</dc:subject>
  <dc:creator>Evans</dc:creator>
  <cp:keywords>Math</cp:keywords>
  <cp:lastModifiedBy>Director</cp:lastModifiedBy>
  <cp:revision>158</cp:revision>
  <dcterms:modified xsi:type="dcterms:W3CDTF">2025-06-30T11:53:56Z</dcterms:modified>
</cp:coreProperties>
</file>