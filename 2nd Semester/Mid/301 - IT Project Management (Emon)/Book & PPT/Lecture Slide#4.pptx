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Lst>
  <p:notesMasterIdLst>
    <p:notesMasterId r:id="rId27"/>
  </p:notesMasterIdLst>
  <p:handoutMasterIdLst>
    <p:handoutMasterId r:id="rId28"/>
  </p:handoutMasterIdLst>
  <p:sldIdLst>
    <p:sldId id="384" r:id="rId3"/>
    <p:sldId id="336" r:id="rId4"/>
    <p:sldId id="337" r:id="rId5"/>
    <p:sldId id="364" r:id="rId6"/>
    <p:sldId id="375" r:id="rId7"/>
    <p:sldId id="376" r:id="rId8"/>
    <p:sldId id="377" r:id="rId9"/>
    <p:sldId id="368" r:id="rId10"/>
    <p:sldId id="369" r:id="rId11"/>
    <p:sldId id="371" r:id="rId12"/>
    <p:sldId id="341" r:id="rId13"/>
    <p:sldId id="379" r:id="rId14"/>
    <p:sldId id="342" r:id="rId15"/>
    <p:sldId id="344" r:id="rId16"/>
    <p:sldId id="385" r:id="rId17"/>
    <p:sldId id="386" r:id="rId18"/>
    <p:sldId id="346" r:id="rId19"/>
    <p:sldId id="351" r:id="rId20"/>
    <p:sldId id="352" r:id="rId21"/>
    <p:sldId id="354" r:id="rId22"/>
    <p:sldId id="380" r:id="rId23"/>
    <p:sldId id="357" r:id="rId24"/>
    <p:sldId id="358" r:id="rId25"/>
    <p:sldId id="363" r:id="rId26"/>
  </p:sldIdLst>
  <p:sldSz cx="12192000" cy="6858000"/>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E0FA"/>
    <a:srgbClr val="C6E9FC"/>
    <a:srgbClr val="00B9EA"/>
    <a:srgbClr val="A4D6EA"/>
    <a:srgbClr val="C1E3F2"/>
    <a:srgbClr val="0093C3"/>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37" autoAdjust="0"/>
    <p:restoredTop sz="96461" autoAdjust="0"/>
  </p:normalViewPr>
  <p:slideViewPr>
    <p:cSldViewPr>
      <p:cViewPr varScale="1">
        <p:scale>
          <a:sx n="107" d="100"/>
          <a:sy n="107" d="100"/>
        </p:scale>
        <p:origin x="1278"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2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C65B926E-4E70-4E7C-A492-D0CDF3C7E1CF}" type="slidenum">
              <a:rPr lang="en-US"/>
              <a:pPr>
                <a:defRPr/>
              </a:pPr>
              <a:t>‹#›</a:t>
            </a:fld>
            <a:endParaRPr lang="en-US" dirty="0"/>
          </a:p>
        </p:txBody>
      </p:sp>
    </p:spTree>
    <p:extLst>
      <p:ext uri="{BB962C8B-B14F-4D97-AF65-F5344CB8AC3E}">
        <p14:creationId xmlns:p14="http://schemas.microsoft.com/office/powerpoint/2010/main" val="33218046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4403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FB628D5B-A7C7-42E0-BFEE-8A6E6DE4D620}" type="slidenum">
              <a:rPr lang="en-US"/>
              <a:pPr>
                <a:defRPr/>
              </a:pPr>
              <a:t>‹#›</a:t>
            </a:fld>
            <a:endParaRPr lang="en-US" dirty="0"/>
          </a:p>
        </p:txBody>
      </p:sp>
    </p:spTree>
    <p:extLst>
      <p:ext uri="{BB962C8B-B14F-4D97-AF65-F5344CB8AC3E}">
        <p14:creationId xmlns:p14="http://schemas.microsoft.com/office/powerpoint/2010/main" val="2182300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381000" y="685800"/>
            <a:ext cx="6096000" cy="3429000"/>
          </a:xfrm>
          <a:ln/>
        </p:spPr>
      </p:sp>
      <p:sp>
        <p:nvSpPr>
          <p:cNvPr id="59395" name="Notes Placeholder 2"/>
          <p:cNvSpPr>
            <a:spLocks noGrp="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1" kern="1200" dirty="0" smtClean="0">
              <a:solidFill>
                <a:schemeClr val="tx2"/>
              </a:solidFill>
              <a:effectLst>
                <a:outerShdw blurRad="38100" dist="38100" dir="2700000" algn="tl">
                  <a:srgbClr val="FFFFFF"/>
                </a:outerShdw>
              </a:effectLst>
              <a:latin typeface="Arial Rounded MT Bold" pitchFamily="34" charset="0"/>
              <a:ea typeface="+mn-ea"/>
              <a:cs typeface="+mn-cs"/>
            </a:endParaRPr>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solidFill>
                  <a:srgbClr val="000000"/>
                </a:solidFill>
              </a:rPr>
              <a:pPr/>
              <a:t>1</a:t>
            </a:fld>
            <a:endParaRPr lang="en-US" dirty="0" smtClean="0">
              <a:solidFill>
                <a:srgbClr val="000000"/>
              </a:solidFill>
            </a:endParaRPr>
          </a:p>
        </p:txBody>
      </p:sp>
    </p:spTree>
    <p:extLst>
      <p:ext uri="{BB962C8B-B14F-4D97-AF65-F5344CB8AC3E}">
        <p14:creationId xmlns:p14="http://schemas.microsoft.com/office/powerpoint/2010/main" val="277632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BEED858-41DD-4669-ACD0-0FE909D2C42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D0B4DA7-581C-40A3-BCB4-1307A955BB7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8358C7-1EB0-4EEF-A9D9-DA49F859DED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E9A965-858B-487F-8735-1765BCABB592}"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5704951A-0E7C-4F14-91E3-D33D5B465BB5}"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0F80014F-D774-4519-B844-A2F39E4FCBD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D394E5C8-07BC-403D-807B-67B7EC92173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CCE72DE-727C-44FD-8C4B-6A992740AE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56261B2-E792-4CCC-9B27-651612F41BC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D8AF82-58A6-4B0A-99BE-3E241868A7E5}"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03D3F4-A0D0-405E-A767-F9A123F72383}"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grpSp>
        <p:nvGrpSpPr>
          <p:cNvPr id="2" name="Group 15"/>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smtClean="0"/>
              <a:t>Information Technology Project Management, Eighth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5381041-9C54-49A7-A924-29D217AD23DC}"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4" name="Footer Placeholder 21"/>
          <p:cNvSpPr txBox="1">
            <a:spLocks/>
          </p:cNvSpPr>
          <p:nvPr/>
        </p:nvSpPr>
        <p:spPr>
          <a:xfrm>
            <a:off x="7315200" y="6492876"/>
            <a:ext cx="21336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2016</a:t>
            </a:r>
          </a:p>
        </p:txBody>
      </p:sp>
      <p:sp>
        <p:nvSpPr>
          <p:cNvPr id="3" name="Content Placeholder 2"/>
          <p:cNvSpPr>
            <a:spLocks noGrp="1"/>
          </p:cNvSpPr>
          <p:nvPr>
            <p:ph idx="1"/>
          </p:nvPr>
        </p:nvSpPr>
        <p:spPr>
          <a:xfrm>
            <a:off x="609600" y="1481138"/>
            <a:ext cx="10972800" cy="15668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p>
            <a:r>
              <a:rPr lang="en-US" smtClean="0"/>
              <a:t>Click to edit Master title style</a:t>
            </a:r>
            <a:endParaRPr lang="en-US" dirty="0"/>
          </a:p>
        </p:txBody>
      </p:sp>
      <p:sp>
        <p:nvSpPr>
          <p:cNvPr id="5" name="Footer Placeholder 21"/>
          <p:cNvSpPr>
            <a:spLocks noGrp="1"/>
          </p:cNvSpPr>
          <p:nvPr>
            <p:ph type="ftr" sz="quarter" idx="10"/>
          </p:nvPr>
        </p:nvSpPr>
        <p:spPr>
          <a:xfrm>
            <a:off x="0" y="6324601"/>
            <a:ext cx="3454400" cy="533400"/>
          </a:xfrm>
        </p:spPr>
        <p:txBody>
          <a:bodyPr/>
          <a:lstStyle>
            <a:lvl1pPr algn="l">
              <a:buFontTx/>
              <a:buNone/>
              <a:defRPr sz="1200">
                <a:latin typeface="+mn-lt"/>
              </a:defRPr>
            </a:lvl1pPr>
          </a:lstStyle>
          <a:p>
            <a:pPr>
              <a:defRPr/>
            </a:pPr>
            <a:r>
              <a:rPr lang="en-US" dirty="0" smtClean="0"/>
              <a:t>Information Technology Project Management, Eighth Edition</a:t>
            </a:r>
            <a:endParaRPr lang="en-US" dirty="0"/>
          </a:p>
        </p:txBody>
      </p:sp>
      <p:sp>
        <p:nvSpPr>
          <p:cNvPr id="6" name="Slide Number Placeholder 17"/>
          <p:cNvSpPr>
            <a:spLocks noGrp="1"/>
          </p:cNvSpPr>
          <p:nvPr>
            <p:ph type="sldNum" sz="quarter" idx="11"/>
          </p:nvPr>
        </p:nvSpPr>
        <p:spPr>
          <a:xfrm>
            <a:off x="11451168" y="6492876"/>
            <a:ext cx="740833" cy="365125"/>
          </a:xfrm>
        </p:spPr>
        <p:txBody>
          <a:bodyPr/>
          <a:lstStyle>
            <a:lvl1pPr>
              <a:buFontTx/>
              <a:buNone/>
              <a:defRPr sz="1200">
                <a:latin typeface="+mn-lt"/>
              </a:defRPr>
            </a:lvl1pPr>
          </a:lstStyle>
          <a:p>
            <a:pPr>
              <a:defRPr/>
            </a:pPr>
            <a:fld id="{676C0B31-47C3-49FD-8211-A1EA24F16913}" type="slidenum">
              <a:rPr lang="en-US" smtClean="0"/>
              <a:pPr>
                <a:defRPr/>
              </a:pPr>
              <a:t>‹#›</a:t>
            </a:fld>
            <a:endParaRPr lang="en-US" dirty="0"/>
          </a:p>
        </p:txBody>
      </p:sp>
      <p:sp>
        <p:nvSpPr>
          <p:cNvPr id="8" name="Content Placeholder 7"/>
          <p:cNvSpPr>
            <a:spLocks noGrp="1"/>
          </p:cNvSpPr>
          <p:nvPr>
            <p:ph sz="quarter" idx="12"/>
          </p:nvPr>
        </p:nvSpPr>
        <p:spPr>
          <a:xfrm>
            <a:off x="4876800" y="4343400"/>
            <a:ext cx="5791200" cy="76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smtClean="0"/>
              <a:t>Information Technology Project Management, Eighth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056DBD78-0C1C-4E39-B25C-2D86EF84190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smtClean="0"/>
              <a:t>Information Technology Project Management, Eighth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F4B7A325-B10B-44F9-8D64-D11C845FEE90}"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smtClean="0"/>
              <a:t>Information Technology Project Management, Eighth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428A81CF-9A71-4B4A-A02C-DA98461234B2}"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07E326B0-0E99-4EB4-8F79-0134171EA74C}"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15E64789-22BD-4B66-9BFC-904BA6707DB0}"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smtClean="0"/>
              <a:t>Information Technology Project Management, Eighth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420D16DA-79A3-43C0-A698-4D27A49B6CE6}"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6" name="Freeform 5"/>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7" name="Right Triangle 6"/>
          <p:cNvSpPr>
            <a:spLocks/>
          </p:cNvSpPr>
          <p:nvPr/>
        </p:nvSpPr>
        <p:spPr bwMode="auto">
          <a:xfrm>
            <a:off x="-8056" y="5791253"/>
            <a:ext cx="4536419"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2200" dirty="0"/>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smtClean="0"/>
              <a:t>Information Technology Project Management, Eighth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C14E0A1E-657D-490E-9262-79448EA4878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C5FA4337-D482-4795-909A-B265FCB8FB7E}"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smtClean="0"/>
              <a:t>Information Technology Project Management, Eighth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DC3E4BF0-CDDD-45AA-8761-673D8D9691C1}"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smtClean="0"/>
              <a:t>Information Technology Project Management, Eighth Edition</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D3329071-3EF5-4489-AD01-960B23CCFC6D}"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12" name="Freeform 11"/>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2200" dirty="0"/>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200" dirty="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1033" name="Text Placeholder 29"/>
          <p:cNvSpPr>
            <a:spLocks noGrp="1"/>
          </p:cNvSpPr>
          <p:nvPr>
            <p:ph type="body" idx="1"/>
          </p:nvPr>
        </p:nvSpPr>
        <p:spPr bwMode="auto">
          <a:xfrm>
            <a:off x="609600" y="1481138"/>
            <a:ext cx="10972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smtClean="0"/>
              <a:t>Information Technology Project Management, Eighth Edition</a:t>
            </a:r>
            <a:endParaRPr lang="en-US" dirty="0"/>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3329071-3EF5-4489-AD01-960B23CCFC6D}"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667000" y="1676400"/>
            <a:ext cx="9144000" cy="1524000"/>
          </a:xfrm>
        </p:spPr>
        <p:txBody>
          <a:bodyPr>
            <a:noAutofit/>
          </a:bodyPr>
          <a:lstStyle/>
          <a:p>
            <a:pPr fontAlgn="auto">
              <a:spcAft>
                <a:spcPts val="0"/>
              </a:spcAft>
              <a:defRPr/>
            </a:pPr>
            <a:r>
              <a:rPr lang="en-US" sz="4400" dirty="0" smtClean="0">
                <a:solidFill>
                  <a:srgbClr val="C00000"/>
                </a:solidFill>
                <a:effectLst>
                  <a:outerShdw blurRad="38100" dist="38100" dir="2700000" algn="tl">
                    <a:srgbClr val="FFFFFF"/>
                  </a:outerShdw>
                </a:effectLst>
                <a:latin typeface="Arial Rounded MT Bold" pitchFamily="34" charset="0"/>
              </a:rPr>
              <a:t>Project </a:t>
            </a:r>
            <a:r>
              <a:rPr lang="en-US" sz="4400" dirty="0">
                <a:solidFill>
                  <a:srgbClr val="C00000"/>
                </a:solidFill>
                <a:effectLst>
                  <a:outerShdw blurRad="38100" dist="38100" dir="2700000" algn="tl">
                    <a:srgbClr val="FFFFFF"/>
                  </a:outerShdw>
                </a:effectLst>
                <a:latin typeface="Arial Rounded MT Bold" pitchFamily="34" charset="0"/>
              </a:rPr>
              <a:t>Scope Management</a:t>
            </a:r>
            <a:endParaRPr dirty="0">
              <a:solidFill>
                <a:srgbClr val="C00000"/>
              </a:solidFill>
              <a:effectLst>
                <a:outerShdw blurRad="38100" dist="38100" dir="2700000" algn="tl">
                  <a:srgbClr val="FFFFFF"/>
                </a:outerShdw>
              </a:effectLst>
              <a:latin typeface="Arial Rounded MT Bold" pitchFamily="34" charset="0"/>
            </a:endParaRPr>
          </a:p>
        </p:txBody>
      </p:sp>
    </p:spTree>
    <p:extLst>
      <p:ext uri="{BB962C8B-B14F-4D97-AF65-F5344CB8AC3E}">
        <p14:creationId xmlns:p14="http://schemas.microsoft.com/office/powerpoint/2010/main" val="11164076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90601" y="60324"/>
            <a:ext cx="9601200" cy="1463676"/>
          </a:xfrm>
        </p:spPr>
        <p:txBody>
          <a:bodyPr>
            <a:noAutofit/>
          </a:bodyPr>
          <a:lstStyle/>
          <a:p>
            <a:r>
              <a:rPr lang="en-US" sz="3900" dirty="0"/>
              <a:t>What is Project Scope Management?</a:t>
            </a:r>
          </a:p>
        </p:txBody>
      </p:sp>
      <p:sp>
        <p:nvSpPr>
          <p:cNvPr id="11267" name="Rectangle 3"/>
          <p:cNvSpPr>
            <a:spLocks noGrp="1" noChangeArrowheads="1"/>
          </p:cNvSpPr>
          <p:nvPr>
            <p:ph idx="1"/>
          </p:nvPr>
        </p:nvSpPr>
        <p:spPr>
          <a:xfrm>
            <a:off x="783168" y="1752600"/>
            <a:ext cx="10668000" cy="4038600"/>
          </a:xfrm>
        </p:spPr>
        <p:txBody>
          <a:bodyPr/>
          <a:lstStyle/>
          <a:p>
            <a:r>
              <a:rPr lang="en-US" b="1" dirty="0"/>
              <a:t>Scope</a:t>
            </a:r>
            <a:r>
              <a:rPr lang="en-US" dirty="0"/>
              <a:t> refers to everything that needs to be done in a </a:t>
            </a:r>
            <a:r>
              <a:rPr lang="en-US" dirty="0" smtClean="0"/>
              <a:t>project- the </a:t>
            </a:r>
            <a:r>
              <a:rPr lang="en-US" dirty="0"/>
              <a:t>work, activities, and final results. It clearly defines </a:t>
            </a:r>
            <a:r>
              <a:rPr lang="en-US" b="1" dirty="0"/>
              <a:t>what is included</a:t>
            </a:r>
            <a:r>
              <a:rPr lang="en-US" dirty="0"/>
              <a:t> in the project and </a:t>
            </a:r>
            <a:r>
              <a:rPr lang="en-US" b="1" dirty="0"/>
              <a:t>what is not included</a:t>
            </a:r>
            <a:r>
              <a:rPr lang="en-US" dirty="0" smtClean="0"/>
              <a:t>.</a:t>
            </a:r>
          </a:p>
          <a:p>
            <a:endParaRPr lang="en-US" dirty="0" smtClean="0"/>
          </a:p>
          <a:p>
            <a:r>
              <a:rPr lang="en-US" dirty="0" smtClean="0"/>
              <a:t> A </a:t>
            </a:r>
            <a:r>
              <a:rPr lang="en-US" b="1" dirty="0" smtClean="0"/>
              <a:t>deliverable</a:t>
            </a:r>
            <a:r>
              <a:rPr lang="en-US" dirty="0" smtClean="0"/>
              <a:t> is a product produced as part of a project, such as hardware or software, planning documents, or meeting minutes</a:t>
            </a:r>
          </a:p>
          <a:p>
            <a:endParaRPr lang="en-US" dirty="0" smtClean="0"/>
          </a:p>
          <a:p>
            <a:r>
              <a:rPr lang="en-US" dirty="0" smtClean="0"/>
              <a:t>Project scope management includes the processes involved in defining and controlling what is or is not included in a project</a:t>
            </a:r>
          </a:p>
        </p:txBody>
      </p:sp>
      <p:sp>
        <p:nvSpPr>
          <p:cNvPr id="11268"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B025C1AB-8807-4B29-B4CC-E824C132B47E}"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8575"/>
            <a:ext cx="10210800" cy="717550"/>
          </a:xfrm>
        </p:spPr>
        <p:txBody>
          <a:bodyPr>
            <a:noAutofit/>
          </a:bodyPr>
          <a:lstStyle/>
          <a:p>
            <a:r>
              <a:rPr lang="en-US" sz="3600" dirty="0"/>
              <a:t>Project Scope Management Processes</a:t>
            </a:r>
            <a:endParaRPr lang="en-US" sz="4400" dirty="0"/>
          </a:p>
        </p:txBody>
      </p:sp>
      <p:sp>
        <p:nvSpPr>
          <p:cNvPr id="12291" name="Rectangle 3"/>
          <p:cNvSpPr>
            <a:spLocks noGrp="1" noChangeArrowheads="1"/>
          </p:cNvSpPr>
          <p:nvPr>
            <p:ph idx="1"/>
          </p:nvPr>
        </p:nvSpPr>
        <p:spPr>
          <a:xfrm>
            <a:off x="430306" y="1219200"/>
            <a:ext cx="11430000" cy="4953000"/>
          </a:xfrm>
        </p:spPr>
        <p:txBody>
          <a:bodyPr/>
          <a:lstStyle/>
          <a:p>
            <a:r>
              <a:rPr lang="en-US" sz="2200" b="1" dirty="0">
                <a:solidFill>
                  <a:srgbClr val="FF0000"/>
                </a:solidFill>
              </a:rPr>
              <a:t>Planning </a:t>
            </a:r>
            <a:r>
              <a:rPr lang="en-US" sz="2200" b="1" dirty="0" smtClean="0">
                <a:solidFill>
                  <a:srgbClr val="FF0000"/>
                </a:solidFill>
              </a:rPr>
              <a:t>scope management</a:t>
            </a:r>
            <a:r>
              <a:rPr lang="en-US" sz="2200" b="1" dirty="0" smtClean="0"/>
              <a:t>: </a:t>
            </a:r>
            <a:r>
              <a:rPr lang="en-US" sz="2200" dirty="0"/>
              <a:t>Create a scope management plan that explains how </a:t>
            </a:r>
            <a:r>
              <a:rPr lang="en-US" sz="2200" dirty="0" smtClean="0"/>
              <a:t>the scope </a:t>
            </a:r>
            <a:r>
              <a:rPr lang="en-US" sz="2200" dirty="0"/>
              <a:t>will be defined, validated, and controlled</a:t>
            </a:r>
            <a:r>
              <a:rPr lang="en-US" sz="2200" dirty="0" smtClean="0"/>
              <a:t>.</a:t>
            </a:r>
          </a:p>
          <a:p>
            <a:r>
              <a:rPr lang="en-US" sz="2200" b="1" dirty="0" smtClean="0">
                <a:solidFill>
                  <a:srgbClr val="FF0000"/>
                </a:solidFill>
              </a:rPr>
              <a:t>Collecting </a:t>
            </a:r>
            <a:r>
              <a:rPr lang="en-US" sz="2200" b="1" dirty="0">
                <a:solidFill>
                  <a:srgbClr val="FF0000"/>
                </a:solidFill>
              </a:rPr>
              <a:t>requirements</a:t>
            </a:r>
            <a:r>
              <a:rPr lang="en-US" sz="2200" b="1" dirty="0"/>
              <a:t>: </a:t>
            </a:r>
            <a:r>
              <a:rPr lang="en-US" sz="2200" dirty="0"/>
              <a:t>defining and documenting the features and functions of the products produced during the </a:t>
            </a:r>
            <a:r>
              <a:rPr lang="en-US" sz="2200" dirty="0" smtClean="0"/>
              <a:t>project, </a:t>
            </a:r>
            <a:r>
              <a:rPr lang="en-US" sz="2200" dirty="0"/>
              <a:t>as well as the processes used for creating them</a:t>
            </a:r>
          </a:p>
          <a:p>
            <a:r>
              <a:rPr lang="en-US" sz="2200" b="1" dirty="0">
                <a:solidFill>
                  <a:srgbClr val="FF0000"/>
                </a:solidFill>
              </a:rPr>
              <a:t>Defining scope</a:t>
            </a:r>
            <a:r>
              <a:rPr lang="en-US" sz="2200" b="1" dirty="0"/>
              <a:t>:</a:t>
            </a:r>
            <a:r>
              <a:rPr lang="en-US" sz="2200" dirty="0"/>
              <a:t> reviewing the project charter, requirements documents, and organizational process assets to create a scope statement</a:t>
            </a:r>
          </a:p>
          <a:p>
            <a:r>
              <a:rPr lang="en-US" sz="2200" b="1" dirty="0">
                <a:solidFill>
                  <a:srgbClr val="FF0000"/>
                </a:solidFill>
              </a:rPr>
              <a:t>Creating the WBS</a:t>
            </a:r>
            <a:r>
              <a:rPr lang="en-US" sz="2200" b="1" dirty="0"/>
              <a:t>:</a:t>
            </a:r>
            <a:r>
              <a:rPr lang="en-US" sz="2200" dirty="0"/>
              <a:t> subdividing the major project deliverables into smaller, more manageable components</a:t>
            </a:r>
          </a:p>
          <a:p>
            <a:r>
              <a:rPr lang="en-US" sz="2200" b="1" dirty="0">
                <a:solidFill>
                  <a:srgbClr val="FF0000"/>
                </a:solidFill>
              </a:rPr>
              <a:t>Validating scope</a:t>
            </a:r>
            <a:r>
              <a:rPr lang="en-US" sz="2200" dirty="0"/>
              <a:t>: formalizing acceptance of the project deliverables</a:t>
            </a:r>
          </a:p>
          <a:p>
            <a:r>
              <a:rPr lang="en-US" sz="2200" b="1" dirty="0">
                <a:solidFill>
                  <a:srgbClr val="FF0000"/>
                </a:solidFill>
              </a:rPr>
              <a:t>Controlling scope</a:t>
            </a:r>
            <a:r>
              <a:rPr lang="en-US" sz="2200" b="1" dirty="0"/>
              <a:t>: </a:t>
            </a:r>
            <a:r>
              <a:rPr lang="en-US" sz="2200" dirty="0"/>
              <a:t>controlling changes to project scope throughout the life of the project</a:t>
            </a:r>
          </a:p>
        </p:txBody>
      </p:sp>
      <p:sp>
        <p:nvSpPr>
          <p:cNvPr id="12292" name="Footer Placeholder 6"/>
          <p:cNvSpPr>
            <a:spLocks noGrp="1"/>
          </p:cNvSpPr>
          <p:nvPr>
            <p:ph type="ftr" sz="quarter" idx="10"/>
          </p:nvPr>
        </p:nvSpPr>
        <p:spPr bwMode="auto">
          <a:xfrm>
            <a:off x="1524000" y="6492875"/>
            <a:ext cx="2590800" cy="365126"/>
          </a:xfrm>
          <a:noFill/>
          <a:ln>
            <a:miter lim="800000"/>
            <a:headEnd/>
            <a:tailEnd/>
          </a:ln>
        </p:spPr>
        <p:txBody>
          <a:bodyPr/>
          <a:lstStyle/>
          <a:p>
            <a:r>
              <a:rPr lang="en-US" dirty="0" smtClean="0"/>
              <a:t>Information Technology Project Management, Eighth Edition</a:t>
            </a:r>
          </a:p>
        </p:txBody>
      </p:sp>
      <p:sp>
        <p:nvSpPr>
          <p:cNvPr id="8" name="Slide Number Placeholder 7"/>
          <p:cNvSpPr>
            <a:spLocks noGrp="1"/>
          </p:cNvSpPr>
          <p:nvPr>
            <p:ph type="sldNum" sz="quarter" idx="11"/>
          </p:nvPr>
        </p:nvSpPr>
        <p:spPr/>
        <p:txBody>
          <a:bodyPr/>
          <a:lstStyle/>
          <a:p>
            <a:pPr>
              <a:defRPr/>
            </a:pPr>
            <a:fld id="{1180FD82-E557-4AEA-BC1F-775718A59924}"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09600" y="124394"/>
            <a:ext cx="9601200" cy="1344044"/>
          </a:xfrm>
        </p:spPr>
        <p:txBody>
          <a:bodyPr>
            <a:noAutofit/>
          </a:bodyPr>
          <a:lstStyle/>
          <a:p>
            <a:r>
              <a:rPr lang="en-US" sz="3600" dirty="0" smtClean="0"/>
              <a:t>Project </a:t>
            </a:r>
            <a:r>
              <a:rPr lang="en-US" sz="3600" dirty="0"/>
              <a:t>Scope Management Summary</a:t>
            </a:r>
          </a:p>
        </p:txBody>
      </p:sp>
      <p:pic>
        <p:nvPicPr>
          <p:cNvPr id="2" name="Picture 1" descr="Timeline of project start to finish. At the bottom of the paragraph is an arrow with project start on the left side of the arrow and project finish on the right side of arrow. Planning has an arrow that goes from project start to before project finish. Monitoring and Controlling has an arrow that goes from after project start to project finish. For planning the processes are plan scope management, collect requirements, define scope, and create W B S-all of which are in bold text. The outputs for planning scope management are scope management plan and requirements management plan. The outputs for collect requirements are requirements documentation and requirements traceability matrix. The outputs for define scope are project scope statement and project documents updates. The outputs for create W B S are scope baseline and project documents updates. For monitoring and controlling (bold) the processes are validate scope and control scope-both in bold text. The outputs for validate scope are accepted deliverables, change requests, work performance information, and project documents updates. The outputs for control scope work performance information, change requests, project management plan updates, project documents updates, and organizational process assets updat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295401"/>
            <a:ext cx="9753600" cy="5410200"/>
          </a:xfrm>
          <a:prstGeom prst="rect">
            <a:avLst/>
          </a:prstGeom>
        </p:spPr>
      </p:pic>
      <p:sp>
        <p:nvSpPr>
          <p:cNvPr id="13315" name="Footer Placeholder 3"/>
          <p:cNvSpPr>
            <a:spLocks noGrp="1"/>
          </p:cNvSpPr>
          <p:nvPr>
            <p:ph type="ftr" sz="quarter" idx="10"/>
          </p:nvPr>
        </p:nvSpPr>
        <p:spPr bwMode="auto">
          <a:xfrm>
            <a:off x="1524000" y="6400800"/>
            <a:ext cx="2590800" cy="457201"/>
          </a:xfrm>
          <a:noFill/>
          <a:ln>
            <a:miter lim="800000"/>
            <a:headEnd/>
            <a:tailEnd/>
          </a:ln>
        </p:spPr>
        <p:txBody>
          <a:bodyPr/>
          <a:lstStyle/>
          <a:p>
            <a:r>
              <a:rPr lang="en-US" dirty="0" smtClean="0"/>
              <a:t>Information Technology Project Management, Eighth Edition</a:t>
            </a:r>
          </a:p>
        </p:txBody>
      </p:sp>
      <p:sp>
        <p:nvSpPr>
          <p:cNvPr id="5" name="Slide Number Placeholder 4"/>
          <p:cNvSpPr>
            <a:spLocks noGrp="1"/>
          </p:cNvSpPr>
          <p:nvPr>
            <p:ph type="sldNum" sz="quarter" idx="11"/>
          </p:nvPr>
        </p:nvSpPr>
        <p:spPr/>
        <p:txBody>
          <a:bodyPr/>
          <a:lstStyle/>
          <a:p>
            <a:pPr>
              <a:defRPr/>
            </a:pPr>
            <a:fld id="{240AD864-FDC7-4ED6-B06B-A92A86C98EC5}"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Planning Scope Management</a:t>
            </a:r>
            <a:endParaRPr lang="en-US" dirty="0">
              <a:solidFill>
                <a:srgbClr val="FF0000"/>
              </a:solidFill>
            </a:endParaRPr>
          </a:p>
        </p:txBody>
      </p:sp>
      <p:sp>
        <p:nvSpPr>
          <p:cNvPr id="2" name="Content Placeholder 1"/>
          <p:cNvSpPr>
            <a:spLocks noGrp="1"/>
          </p:cNvSpPr>
          <p:nvPr>
            <p:ph idx="1"/>
          </p:nvPr>
        </p:nvSpPr>
        <p:spPr>
          <a:xfrm>
            <a:off x="914400" y="1828800"/>
            <a:ext cx="9144000" cy="3429000"/>
          </a:xfrm>
        </p:spPr>
        <p:txBody>
          <a:bodyPr/>
          <a:lstStyle/>
          <a:p>
            <a:r>
              <a:rPr lang="en-US" dirty="0" smtClean="0"/>
              <a:t>The project team </a:t>
            </a:r>
            <a:r>
              <a:rPr lang="en-US" dirty="0"/>
              <a:t>uses expert judgment and meetings to develop two important outputs: the </a:t>
            </a:r>
            <a:r>
              <a:rPr lang="en-US" dirty="0" smtClean="0"/>
              <a:t>scope management </a:t>
            </a:r>
            <a:r>
              <a:rPr lang="en-US" dirty="0"/>
              <a:t>plan and the requirements management </a:t>
            </a:r>
            <a:r>
              <a:rPr lang="en-US" dirty="0" smtClean="0"/>
              <a:t>plan</a:t>
            </a:r>
            <a:endParaRPr lang="en-US" dirty="0"/>
          </a:p>
          <a:p>
            <a:r>
              <a:rPr lang="en-US" dirty="0"/>
              <a:t>The scope management plan is a subsidiary part of the project management plan</a:t>
            </a:r>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5</a:t>
            </a:fld>
            <a:endParaRPr lang="en-US" dirty="0"/>
          </a:p>
        </p:txBody>
      </p:sp>
    </p:spTree>
    <p:extLst>
      <p:ext uri="{BB962C8B-B14F-4D97-AF65-F5344CB8AC3E}">
        <p14:creationId xmlns:p14="http://schemas.microsoft.com/office/powerpoint/2010/main" val="19234456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Scope Management Plan Contents</a:t>
            </a:r>
            <a:endParaRPr lang="en-US" dirty="0"/>
          </a:p>
        </p:txBody>
      </p:sp>
      <p:sp>
        <p:nvSpPr>
          <p:cNvPr id="2" name="Content Placeholder 1"/>
          <p:cNvSpPr>
            <a:spLocks noGrp="1"/>
          </p:cNvSpPr>
          <p:nvPr>
            <p:ph idx="1"/>
          </p:nvPr>
        </p:nvSpPr>
        <p:spPr>
          <a:xfrm>
            <a:off x="914400" y="1481138"/>
            <a:ext cx="9296400" cy="4005262"/>
          </a:xfrm>
        </p:spPr>
        <p:txBody>
          <a:bodyPr/>
          <a:lstStyle/>
          <a:p>
            <a:r>
              <a:rPr lang="en-US" dirty="0"/>
              <a:t>How to prepare a detailed project scope </a:t>
            </a:r>
            <a:r>
              <a:rPr lang="en-US" dirty="0" smtClean="0"/>
              <a:t>statement</a:t>
            </a:r>
          </a:p>
          <a:p>
            <a:r>
              <a:rPr lang="en-US" dirty="0"/>
              <a:t>How to create a </a:t>
            </a:r>
            <a:r>
              <a:rPr lang="en-US" dirty="0" smtClean="0"/>
              <a:t>WBS</a:t>
            </a:r>
          </a:p>
          <a:p>
            <a:r>
              <a:rPr lang="en-US" dirty="0"/>
              <a:t>How to maintain and approve the </a:t>
            </a:r>
            <a:r>
              <a:rPr lang="en-US" dirty="0" smtClean="0"/>
              <a:t>WBS</a:t>
            </a:r>
          </a:p>
          <a:p>
            <a:r>
              <a:rPr lang="en-US" dirty="0"/>
              <a:t>How to obtain formal acceptance of the completed project </a:t>
            </a:r>
            <a:r>
              <a:rPr lang="en-US" dirty="0" smtClean="0"/>
              <a:t>deliverables</a:t>
            </a:r>
          </a:p>
          <a:p>
            <a:r>
              <a:rPr lang="en-US" dirty="0"/>
              <a:t>How to control requests for changes to the project scope</a:t>
            </a:r>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6</a:t>
            </a:fld>
            <a:endParaRPr lang="en-US" dirty="0"/>
          </a:p>
        </p:txBody>
      </p:sp>
    </p:spTree>
    <p:extLst>
      <p:ext uri="{BB962C8B-B14F-4D97-AF65-F5344CB8AC3E}">
        <p14:creationId xmlns:p14="http://schemas.microsoft.com/office/powerpoint/2010/main" val="2946303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Requirements Management Plan</a:t>
            </a:r>
            <a:endParaRPr lang="en-US" dirty="0"/>
          </a:p>
        </p:txBody>
      </p:sp>
      <p:sp>
        <p:nvSpPr>
          <p:cNvPr id="2" name="Content Placeholder 1"/>
          <p:cNvSpPr>
            <a:spLocks noGrp="1"/>
          </p:cNvSpPr>
          <p:nvPr>
            <p:ph idx="1"/>
          </p:nvPr>
        </p:nvSpPr>
        <p:spPr>
          <a:xfrm>
            <a:off x="762000" y="1600200"/>
            <a:ext cx="9753600" cy="3776662"/>
          </a:xfrm>
        </p:spPr>
        <p:txBody>
          <a:bodyPr/>
          <a:lstStyle/>
          <a:p>
            <a:r>
              <a:rPr lang="en-US" dirty="0"/>
              <a:t>The PMBOK® Guide, Fifth Edition, describes requirements as “conditions or </a:t>
            </a:r>
            <a:r>
              <a:rPr lang="en-US" dirty="0" smtClean="0"/>
              <a:t>capabilities that </a:t>
            </a:r>
            <a:r>
              <a:rPr lang="en-US" dirty="0"/>
              <a:t>must be met by the project or present in the product, service, or result to </a:t>
            </a:r>
            <a:r>
              <a:rPr lang="en-US" dirty="0" smtClean="0"/>
              <a:t>satisfy an </a:t>
            </a:r>
            <a:r>
              <a:rPr lang="en-US" dirty="0"/>
              <a:t>agreement or other formally imposed </a:t>
            </a:r>
            <a:r>
              <a:rPr lang="en-US" dirty="0" smtClean="0"/>
              <a:t>specification”</a:t>
            </a:r>
          </a:p>
          <a:p>
            <a:endParaRPr lang="en-US" dirty="0" smtClean="0"/>
          </a:p>
          <a:p>
            <a:r>
              <a:rPr lang="en-US" dirty="0" smtClean="0"/>
              <a:t>The </a:t>
            </a:r>
            <a:r>
              <a:rPr lang="en-US" b="1" dirty="0" smtClean="0"/>
              <a:t>requirements management plan </a:t>
            </a:r>
            <a:r>
              <a:rPr lang="en-US" dirty="0"/>
              <a:t>documents how project requirements will </a:t>
            </a:r>
            <a:r>
              <a:rPr lang="en-US" dirty="0" smtClean="0"/>
              <a:t>be analyzed</a:t>
            </a:r>
            <a:r>
              <a:rPr lang="en-US" dirty="0"/>
              <a:t>, documented, and </a:t>
            </a:r>
            <a:r>
              <a:rPr lang="en-US" dirty="0" smtClean="0"/>
              <a:t>managed</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7</a:t>
            </a:fld>
            <a:endParaRPr lang="en-US" dirty="0"/>
          </a:p>
        </p:txBody>
      </p:sp>
    </p:spTree>
    <p:extLst>
      <p:ext uri="{BB962C8B-B14F-4D97-AF65-F5344CB8AC3E}">
        <p14:creationId xmlns:p14="http://schemas.microsoft.com/office/powerpoint/2010/main" val="38158779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Collecting Requirements</a:t>
            </a:r>
            <a:endParaRPr lang="en-US" dirty="0">
              <a:solidFill>
                <a:srgbClr val="FF0000"/>
              </a:solidFill>
            </a:endParaRPr>
          </a:p>
        </p:txBody>
      </p:sp>
      <p:sp>
        <p:nvSpPr>
          <p:cNvPr id="2" name="Content Placeholder 1"/>
          <p:cNvSpPr>
            <a:spLocks noGrp="1"/>
          </p:cNvSpPr>
          <p:nvPr>
            <p:ph idx="1"/>
          </p:nvPr>
        </p:nvSpPr>
        <p:spPr>
          <a:xfrm>
            <a:off x="762000" y="1417638"/>
            <a:ext cx="10134600" cy="5211762"/>
          </a:xfrm>
        </p:spPr>
        <p:txBody>
          <a:bodyPr/>
          <a:lstStyle/>
          <a:p>
            <a:pPr>
              <a:buFont typeface="Wingdings" panose="05000000000000000000" pitchFamily="2" charset="2"/>
              <a:buChar char="Ø"/>
            </a:pPr>
            <a:r>
              <a:rPr lang="en-US" dirty="0" smtClean="0"/>
              <a:t>For some IT projects, it is helpful to divide requirements development into categories called: </a:t>
            </a:r>
          </a:p>
          <a:p>
            <a:pPr lvl="1">
              <a:buFont typeface="Courier New" panose="02070309020205020404" pitchFamily="49" charset="0"/>
              <a:buChar char="o"/>
            </a:pPr>
            <a:r>
              <a:rPr lang="en-US" dirty="0"/>
              <a:t>E</a:t>
            </a:r>
            <a:r>
              <a:rPr lang="en-US" dirty="0" smtClean="0"/>
              <a:t>licitation (ask </a:t>
            </a:r>
            <a:r>
              <a:rPr lang="en-US" dirty="0"/>
              <a:t>and collect information</a:t>
            </a:r>
            <a:r>
              <a:rPr lang="en-US" dirty="0" smtClean="0"/>
              <a:t>), </a:t>
            </a:r>
          </a:p>
          <a:p>
            <a:pPr lvl="1">
              <a:buFont typeface="Courier New" panose="02070309020205020404" pitchFamily="49" charset="0"/>
              <a:buChar char="o"/>
            </a:pPr>
            <a:r>
              <a:rPr lang="en-US" dirty="0"/>
              <a:t>A</a:t>
            </a:r>
            <a:r>
              <a:rPr lang="en-US" dirty="0" smtClean="0"/>
              <a:t>nalysis (</a:t>
            </a:r>
            <a:r>
              <a:rPr lang="en-US" dirty="0"/>
              <a:t>u</a:t>
            </a:r>
            <a:r>
              <a:rPr lang="en-US" dirty="0" smtClean="0"/>
              <a:t>nderstand </a:t>
            </a:r>
            <a:r>
              <a:rPr lang="en-US" dirty="0"/>
              <a:t>and organize what was </a:t>
            </a:r>
            <a:r>
              <a:rPr lang="en-US" dirty="0" smtClean="0"/>
              <a:t>collected),</a:t>
            </a:r>
          </a:p>
          <a:p>
            <a:pPr lvl="1">
              <a:buFont typeface="Courier New" panose="02070309020205020404" pitchFamily="49" charset="0"/>
              <a:buChar char="o"/>
            </a:pPr>
            <a:r>
              <a:rPr lang="en-US" dirty="0" smtClean="0"/>
              <a:t>Specification (documenting </a:t>
            </a:r>
            <a:r>
              <a:rPr lang="en-US" dirty="0"/>
              <a:t>the </a:t>
            </a:r>
            <a:r>
              <a:rPr lang="en-US" dirty="0" smtClean="0"/>
              <a:t>requirements properly), and</a:t>
            </a:r>
          </a:p>
          <a:p>
            <a:pPr lvl="1">
              <a:buFont typeface="Courier New" panose="02070309020205020404" pitchFamily="49" charset="0"/>
              <a:buChar char="o"/>
            </a:pPr>
            <a:r>
              <a:rPr lang="en-US" dirty="0"/>
              <a:t>V</a:t>
            </a:r>
            <a:r>
              <a:rPr lang="en-US" dirty="0" smtClean="0"/>
              <a:t>alidation (</a:t>
            </a:r>
            <a:r>
              <a:rPr lang="en-US" dirty="0"/>
              <a:t>Check and confirm with stakeholders</a:t>
            </a:r>
            <a:r>
              <a:rPr lang="en-US" dirty="0" smtClean="0"/>
              <a:t>.) </a:t>
            </a:r>
          </a:p>
          <a:p>
            <a:r>
              <a:rPr lang="en-US" dirty="0" smtClean="0"/>
              <a:t>It is important to use an iterative approach to defining requirements since they are often unclear early in a project</a:t>
            </a:r>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10058400" cy="914400"/>
          </a:xfrm>
        </p:spPr>
        <p:txBody>
          <a:bodyPr>
            <a:noAutofit/>
          </a:bodyPr>
          <a:lstStyle/>
          <a:p>
            <a:r>
              <a:rPr lang="en-US" sz="3600" dirty="0"/>
              <a:t>Methods for Collecting Requirements</a:t>
            </a:r>
          </a:p>
        </p:txBody>
      </p:sp>
      <p:sp>
        <p:nvSpPr>
          <p:cNvPr id="2" name="Content Placeholder 1"/>
          <p:cNvSpPr>
            <a:spLocks noGrp="1"/>
          </p:cNvSpPr>
          <p:nvPr>
            <p:ph idx="1"/>
          </p:nvPr>
        </p:nvSpPr>
        <p:spPr>
          <a:xfrm>
            <a:off x="914400" y="1066800"/>
            <a:ext cx="10210800" cy="5105400"/>
          </a:xfrm>
        </p:spPr>
        <p:txBody>
          <a:bodyPr/>
          <a:lstStyle/>
          <a:p>
            <a:r>
              <a:rPr lang="en-US" dirty="0" smtClean="0"/>
              <a:t>Interviewing </a:t>
            </a:r>
          </a:p>
          <a:p>
            <a:r>
              <a:rPr lang="en-US" dirty="0" smtClean="0"/>
              <a:t>Focus groups and facilitated workshops</a:t>
            </a:r>
          </a:p>
          <a:p>
            <a:r>
              <a:rPr lang="en-US" dirty="0" smtClean="0"/>
              <a:t>Questionnaires and surveys </a:t>
            </a:r>
          </a:p>
          <a:p>
            <a:r>
              <a:rPr lang="en-US" dirty="0" smtClean="0"/>
              <a:t>Observation </a:t>
            </a:r>
          </a:p>
          <a:p>
            <a:r>
              <a:rPr lang="en-US" dirty="0" smtClean="0"/>
              <a:t>Prototyping </a:t>
            </a:r>
          </a:p>
          <a:p>
            <a:r>
              <a:rPr lang="en-US" b="1" dirty="0"/>
              <a:t>Brainstorming</a:t>
            </a:r>
            <a:r>
              <a:rPr lang="en-US" dirty="0"/>
              <a:t> </a:t>
            </a:r>
            <a:endParaRPr lang="en-US" dirty="0" smtClean="0"/>
          </a:p>
          <a:p>
            <a:r>
              <a:rPr lang="en-US" b="1" dirty="0" smtClean="0"/>
              <a:t>Benchmarking</a:t>
            </a:r>
            <a:r>
              <a:rPr lang="en-US" dirty="0"/>
              <a:t>, or generating ideas by comparing specific project practices or </a:t>
            </a:r>
            <a:r>
              <a:rPr lang="en-US" dirty="0" smtClean="0"/>
              <a:t>product characteristics </a:t>
            </a:r>
            <a:r>
              <a:rPr lang="en-US" dirty="0"/>
              <a:t>to those of other projects or products inside or outside the </a:t>
            </a:r>
            <a:r>
              <a:rPr lang="en-US" dirty="0" smtClean="0"/>
              <a:t>performing organization</a:t>
            </a:r>
            <a:r>
              <a:rPr lang="en-US" dirty="0"/>
              <a:t>, can also be used to collect </a:t>
            </a:r>
            <a:r>
              <a:rPr lang="en-US" dirty="0" smtClean="0"/>
              <a:t>requirements</a:t>
            </a:r>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0"/>
            <a:ext cx="9601200" cy="1143000"/>
          </a:xfrm>
        </p:spPr>
        <p:txBody>
          <a:bodyPr>
            <a:normAutofit/>
          </a:bodyPr>
          <a:lstStyle/>
          <a:p>
            <a:r>
              <a:rPr lang="en-US" dirty="0" smtClean="0"/>
              <a:t>Requirements Traceability Matrix</a:t>
            </a:r>
            <a:endParaRPr lang="en-US" dirty="0"/>
          </a:p>
        </p:txBody>
      </p:sp>
      <p:sp>
        <p:nvSpPr>
          <p:cNvPr id="2" name="Content Placeholder 1"/>
          <p:cNvSpPr>
            <a:spLocks noGrp="1"/>
          </p:cNvSpPr>
          <p:nvPr>
            <p:ph idx="1"/>
          </p:nvPr>
        </p:nvSpPr>
        <p:spPr>
          <a:xfrm>
            <a:off x="1143000" y="1485900"/>
            <a:ext cx="9067800" cy="2286000"/>
          </a:xfrm>
        </p:spPr>
        <p:txBody>
          <a:bodyPr/>
          <a:lstStyle/>
          <a:p>
            <a:r>
              <a:rPr lang="en-US" sz="2400" dirty="0"/>
              <a:t>A </a:t>
            </a:r>
            <a:r>
              <a:rPr lang="en-US" sz="2400" b="1" dirty="0"/>
              <a:t>requirements traceability matrix (RTM) </a:t>
            </a:r>
            <a:r>
              <a:rPr lang="en-US" sz="2400" dirty="0"/>
              <a:t>is a table that lists requirements, various attributes of each requirement, and the status of the requirements to ensure that all requirements are addressed</a:t>
            </a:r>
          </a:p>
          <a:p>
            <a:r>
              <a:rPr lang="en-US" sz="2400" dirty="0"/>
              <a:t>Table 5-1. Sample entry in an RTM</a:t>
            </a:r>
            <a:endParaRPr lang="en-US" dirty="0" smtClean="0"/>
          </a:p>
        </p:txBody>
      </p:sp>
      <p:graphicFrame>
        <p:nvGraphicFramePr>
          <p:cNvPr id="7" name="Table 6" descr="Table with 5 column and two rows. The column headers are requirement number, name, category, source, and status. "/>
          <p:cNvGraphicFramePr>
            <a:graphicFrameLocks noGrp="1"/>
          </p:cNvGraphicFramePr>
          <p:nvPr>
            <p:extLst>
              <p:ext uri="{D42A27DB-BD31-4B8C-83A1-F6EECF244321}">
                <p14:modId xmlns:p14="http://schemas.microsoft.com/office/powerpoint/2010/main" val="2981845656"/>
              </p:ext>
            </p:extLst>
          </p:nvPr>
        </p:nvGraphicFramePr>
        <p:xfrm>
          <a:off x="1754094" y="4114800"/>
          <a:ext cx="8617855" cy="1193800"/>
        </p:xfrm>
        <a:graphic>
          <a:graphicData uri="http://schemas.openxmlformats.org/drawingml/2006/table">
            <a:tbl>
              <a:tblPr firstRow="1" bandRow="1">
                <a:tableStyleId>{5C22544A-7EE6-4342-B048-85BDC9FD1C3A}</a:tableStyleId>
              </a:tblPr>
              <a:tblGrid>
                <a:gridCol w="1723571">
                  <a:extLst>
                    <a:ext uri="{9D8B030D-6E8A-4147-A177-3AD203B41FA5}">
                      <a16:colId xmlns:a16="http://schemas.microsoft.com/office/drawing/2014/main" val="20000"/>
                    </a:ext>
                  </a:extLst>
                </a:gridCol>
                <a:gridCol w="1723571">
                  <a:extLst>
                    <a:ext uri="{9D8B030D-6E8A-4147-A177-3AD203B41FA5}">
                      <a16:colId xmlns:a16="http://schemas.microsoft.com/office/drawing/2014/main" val="20001"/>
                    </a:ext>
                  </a:extLst>
                </a:gridCol>
                <a:gridCol w="1723571">
                  <a:extLst>
                    <a:ext uri="{9D8B030D-6E8A-4147-A177-3AD203B41FA5}">
                      <a16:colId xmlns:a16="http://schemas.microsoft.com/office/drawing/2014/main" val="20002"/>
                    </a:ext>
                  </a:extLst>
                </a:gridCol>
                <a:gridCol w="1723571">
                  <a:extLst>
                    <a:ext uri="{9D8B030D-6E8A-4147-A177-3AD203B41FA5}">
                      <a16:colId xmlns:a16="http://schemas.microsoft.com/office/drawing/2014/main" val="20003"/>
                    </a:ext>
                  </a:extLst>
                </a:gridCol>
                <a:gridCol w="1723571">
                  <a:extLst>
                    <a:ext uri="{9D8B030D-6E8A-4147-A177-3AD203B41FA5}">
                      <a16:colId xmlns:a16="http://schemas.microsoft.com/office/drawing/2014/main" val="20004"/>
                    </a:ext>
                  </a:extLst>
                </a:gridCol>
              </a:tblGrid>
              <a:tr h="370840">
                <a:tc>
                  <a:txBody>
                    <a:bodyPr/>
                    <a:lstStyle/>
                    <a:p>
                      <a:r>
                        <a:rPr lang="en-US" sz="1200" b="0" dirty="0" smtClean="0"/>
                        <a:t>Requirement No. </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93C3"/>
                    </a:solidFill>
                  </a:tcPr>
                </a:tc>
                <a:tc>
                  <a:txBody>
                    <a:bodyPr/>
                    <a:lstStyle/>
                    <a:p>
                      <a:r>
                        <a:rPr lang="en-US" sz="1200" b="0" dirty="0" smtClean="0"/>
                        <a:t>Name</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93C3"/>
                    </a:solidFill>
                  </a:tcPr>
                </a:tc>
                <a:tc>
                  <a:txBody>
                    <a:bodyPr/>
                    <a:lstStyle/>
                    <a:p>
                      <a:r>
                        <a:rPr lang="en-US" sz="1200" b="0" dirty="0" smtClean="0"/>
                        <a:t>Category</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93C3"/>
                    </a:solidFill>
                  </a:tcPr>
                </a:tc>
                <a:tc>
                  <a:txBody>
                    <a:bodyPr/>
                    <a:lstStyle/>
                    <a:p>
                      <a:r>
                        <a:rPr lang="en-US" sz="1200" b="0" dirty="0" smtClean="0"/>
                        <a:t>Source</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93C3"/>
                    </a:solidFill>
                  </a:tcPr>
                </a:tc>
                <a:tc>
                  <a:txBody>
                    <a:bodyPr/>
                    <a:lstStyle/>
                    <a:p>
                      <a:r>
                        <a:rPr lang="en-US" sz="1200" b="0" dirty="0" smtClean="0"/>
                        <a:t>Status</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93C3"/>
                    </a:solidFill>
                  </a:tcPr>
                </a:tc>
                <a:extLst>
                  <a:ext uri="{0D108BD9-81ED-4DB2-BD59-A6C34878D82A}">
                    <a16:rowId xmlns:a16="http://schemas.microsoft.com/office/drawing/2014/main" val="10000"/>
                  </a:ext>
                </a:extLst>
              </a:tr>
              <a:tr h="370840">
                <a:tc>
                  <a:txBody>
                    <a:bodyPr/>
                    <a:lstStyle/>
                    <a:p>
                      <a:r>
                        <a:rPr lang="en-US" sz="1200" dirty="0" smtClean="0"/>
                        <a:t>R32</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1E3F2"/>
                    </a:solidFill>
                  </a:tcPr>
                </a:tc>
                <a:tc>
                  <a:txBody>
                    <a:bodyPr/>
                    <a:lstStyle/>
                    <a:p>
                      <a:r>
                        <a:rPr lang="en-US" sz="1200" dirty="0" smtClean="0"/>
                        <a:t>Laptop memory</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1E3F2"/>
                    </a:solidFill>
                  </a:tcPr>
                </a:tc>
                <a:tc>
                  <a:txBody>
                    <a:bodyPr/>
                    <a:lstStyle/>
                    <a:p>
                      <a:r>
                        <a:rPr lang="en-US" sz="1200" dirty="0" smtClean="0"/>
                        <a:t>Hardware</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1E3F2"/>
                    </a:solidFill>
                  </a:tcPr>
                </a:tc>
                <a:tc>
                  <a:txBody>
                    <a:bodyPr/>
                    <a:lstStyle/>
                    <a:p>
                      <a:r>
                        <a:rPr lang="en-US" sz="1200" dirty="0" smtClean="0"/>
                        <a:t>Project charter and corporate laptop specifications</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1E3F2"/>
                    </a:solidFill>
                  </a:tcPr>
                </a:tc>
                <a:tc>
                  <a:txBody>
                    <a:bodyPr/>
                    <a:lstStyle/>
                    <a:p>
                      <a:r>
                        <a:rPr lang="en-US" sz="1200" dirty="0" smtClean="0"/>
                        <a:t>Complete</a:t>
                      </a:r>
                      <a:r>
                        <a:rPr lang="en-US" sz="1200" baseline="0" dirty="0" smtClean="0"/>
                        <a:t>. Laptops ordered meet requirement by having 4GB of memory.</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1E3F2"/>
                    </a:solidFill>
                  </a:tcPr>
                </a:tc>
                <a:extLst>
                  <a:ext uri="{0D108BD9-81ED-4DB2-BD59-A6C34878D82A}">
                    <a16:rowId xmlns:a16="http://schemas.microsoft.com/office/drawing/2014/main" val="10001"/>
                  </a:ext>
                </a:extLst>
              </a:tr>
            </a:tbl>
          </a:graphicData>
        </a:graphic>
      </p:graphicFrame>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38200" y="152401"/>
            <a:ext cx="9829800" cy="1311275"/>
          </a:xfrm>
        </p:spPr>
        <p:txBody>
          <a:bodyPr>
            <a:normAutofit/>
          </a:bodyPr>
          <a:lstStyle/>
          <a:p>
            <a:r>
              <a:rPr lang="en-US" dirty="0" smtClean="0">
                <a:solidFill>
                  <a:srgbClr val="FF0000"/>
                </a:solidFill>
              </a:rPr>
              <a:t>Defining Scope</a:t>
            </a:r>
          </a:p>
        </p:txBody>
      </p:sp>
      <p:sp>
        <p:nvSpPr>
          <p:cNvPr id="18435" name="Rectangle 3"/>
          <p:cNvSpPr>
            <a:spLocks noGrp="1" noChangeArrowheads="1"/>
          </p:cNvSpPr>
          <p:nvPr>
            <p:ph idx="1"/>
          </p:nvPr>
        </p:nvSpPr>
        <p:spPr>
          <a:xfrm>
            <a:off x="838200" y="1600200"/>
            <a:ext cx="10744200" cy="4343400"/>
          </a:xfrm>
        </p:spPr>
        <p:txBody>
          <a:bodyPr/>
          <a:lstStyle/>
          <a:p>
            <a:r>
              <a:rPr lang="en-US" b="1" dirty="0" smtClean="0"/>
              <a:t>Project </a:t>
            </a:r>
            <a:r>
              <a:rPr lang="en-US" b="1" dirty="0"/>
              <a:t>scope </a:t>
            </a:r>
            <a:r>
              <a:rPr lang="en-US" b="1" dirty="0" smtClean="0"/>
              <a:t>statements: </a:t>
            </a:r>
            <a:r>
              <a:rPr lang="en-US" dirty="0"/>
              <a:t>A formal document that describes the project’s scope, deliverables, boundaries, assumptions, and constraints. It </a:t>
            </a:r>
            <a:r>
              <a:rPr lang="en-US" dirty="0" smtClean="0"/>
              <a:t>provides </a:t>
            </a:r>
            <a:r>
              <a:rPr lang="en-US" dirty="0"/>
              <a:t>a common agreement among stakeholders about the project’s outcomes.</a:t>
            </a:r>
          </a:p>
          <a:p>
            <a:r>
              <a:rPr lang="en-US" dirty="0" smtClean="0"/>
              <a:t>As time progresses, the scope of a project should become clearer and specific</a:t>
            </a:r>
          </a:p>
        </p:txBody>
      </p:sp>
      <p:sp>
        <p:nvSpPr>
          <p:cNvPr id="18436"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F1335457-D0D4-42C9-897C-5B0BA910BCFA}"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1"/>
            <a:ext cx="10363200" cy="1461841"/>
          </a:xfrm>
        </p:spPr>
        <p:txBody>
          <a:bodyPr>
            <a:normAutofit/>
          </a:bodyPr>
          <a:lstStyle/>
          <a:p>
            <a:r>
              <a:rPr lang="en-US" dirty="0" smtClean="0"/>
              <a:t>Sample Project Charter (partial)</a:t>
            </a:r>
            <a:endParaRPr lang="en-US" dirty="0"/>
          </a:p>
        </p:txBody>
      </p:sp>
      <p:graphicFrame>
        <p:nvGraphicFramePr>
          <p:cNvPr id="2" name="Table 1" descr="Table with 1 column and 8 rows. The column header is Project Title: Information Technology (IT) Upgrade project. "/>
          <p:cNvGraphicFramePr>
            <a:graphicFrameLocks noGrp="1"/>
          </p:cNvGraphicFramePr>
          <p:nvPr>
            <p:extLst>
              <p:ext uri="{D42A27DB-BD31-4B8C-83A1-F6EECF244321}">
                <p14:modId xmlns:p14="http://schemas.microsoft.com/office/powerpoint/2010/main" val="1963021366"/>
              </p:ext>
            </p:extLst>
          </p:nvPr>
        </p:nvGraphicFramePr>
        <p:xfrm>
          <a:off x="2249665" y="1595861"/>
          <a:ext cx="7692671" cy="4712192"/>
        </p:xfrm>
        <a:graphic>
          <a:graphicData uri="http://schemas.openxmlformats.org/drawingml/2006/table">
            <a:tbl>
              <a:tblPr firstRow="1" bandRow="1">
                <a:tableStyleId>{2D5ABB26-0587-4C30-8999-92F81FD0307C}</a:tableStyleId>
              </a:tblPr>
              <a:tblGrid>
                <a:gridCol w="7692671">
                  <a:extLst>
                    <a:ext uri="{9D8B030D-6E8A-4147-A177-3AD203B41FA5}">
                      <a16:colId xmlns:a16="http://schemas.microsoft.com/office/drawing/2014/main" val="20000"/>
                    </a:ext>
                  </a:extLst>
                </a:gridCol>
              </a:tblGrid>
              <a:tr h="272138">
                <a:tc>
                  <a:txBody>
                    <a:bodyPr/>
                    <a:lstStyle/>
                    <a:p>
                      <a:r>
                        <a:rPr lang="en-US" sz="1200" b="1" dirty="0" smtClean="0"/>
                        <a:t>Project Title</a:t>
                      </a:r>
                      <a:r>
                        <a:rPr lang="en-US" sz="1200" dirty="0" smtClean="0"/>
                        <a:t>:</a:t>
                      </a:r>
                      <a:r>
                        <a:rPr lang="en-US" sz="1200" baseline="0" dirty="0" smtClean="0"/>
                        <a:t> Information Technology (IT) Upgrade project</a:t>
                      </a:r>
                      <a:endParaRPr lang="en-US" sz="1200" dirty="0"/>
                    </a:p>
                  </a:txBody>
                  <a:tcPr>
                    <a:solidFill>
                      <a:srgbClr val="AAE0FA"/>
                    </a:solidFill>
                  </a:tcPr>
                </a:tc>
                <a:extLst>
                  <a:ext uri="{0D108BD9-81ED-4DB2-BD59-A6C34878D82A}">
                    <a16:rowId xmlns:a16="http://schemas.microsoft.com/office/drawing/2014/main" val="10000"/>
                  </a:ext>
                </a:extLst>
              </a:tr>
              <a:tr h="457200">
                <a:tc>
                  <a:txBody>
                    <a:bodyPr/>
                    <a:lstStyle/>
                    <a:p>
                      <a:r>
                        <a:rPr lang="en-US" sz="1200" b="1" dirty="0" smtClean="0"/>
                        <a:t>Project Start</a:t>
                      </a:r>
                      <a:r>
                        <a:rPr lang="en-US" sz="1200" b="1" baseline="0" dirty="0" smtClean="0"/>
                        <a:t> Date</a:t>
                      </a:r>
                      <a:r>
                        <a:rPr lang="en-US" sz="1200" baseline="0" dirty="0" smtClean="0"/>
                        <a:t>: March 4 </a:t>
                      </a:r>
                    </a:p>
                    <a:p>
                      <a:r>
                        <a:rPr lang="en-US" sz="1200" b="1" baseline="0" dirty="0" smtClean="0"/>
                        <a:t>Project Finish Date</a:t>
                      </a:r>
                      <a:r>
                        <a:rPr lang="en-US" sz="1200" baseline="0" dirty="0" smtClean="0"/>
                        <a:t>: December 4</a:t>
                      </a:r>
                      <a:endParaRPr lang="en-US" sz="1200" dirty="0"/>
                    </a:p>
                  </a:txBody>
                  <a:tcPr>
                    <a:solidFill>
                      <a:srgbClr val="C6E9FC"/>
                    </a:solidFill>
                  </a:tcPr>
                </a:tc>
                <a:extLst>
                  <a:ext uri="{0D108BD9-81ED-4DB2-BD59-A6C34878D82A}">
                    <a16:rowId xmlns:a16="http://schemas.microsoft.com/office/drawing/2014/main" val="10001"/>
                  </a:ext>
                </a:extLst>
              </a:tr>
              <a:tr h="914400">
                <a:tc>
                  <a:txBody>
                    <a:bodyPr/>
                    <a:lstStyle/>
                    <a:p>
                      <a:r>
                        <a:rPr lang="en-US" sz="1200" b="1" dirty="0" smtClean="0"/>
                        <a:t>Key</a:t>
                      </a:r>
                      <a:r>
                        <a:rPr lang="en-US" sz="1200" b="1" baseline="0" dirty="0" smtClean="0"/>
                        <a:t> Schedule Milestones</a:t>
                      </a:r>
                      <a:r>
                        <a:rPr lang="en-US" sz="1200" baseline="0" dirty="0" smtClean="0"/>
                        <a:t>: </a:t>
                      </a:r>
                    </a:p>
                    <a:p>
                      <a:pPr marL="285750" indent="-285750">
                        <a:buFont typeface="Arial" panose="020B0604020202020204" pitchFamily="34" charset="0"/>
                        <a:buChar char="•"/>
                      </a:pPr>
                      <a:r>
                        <a:rPr lang="en-US" sz="1200" baseline="0" dirty="0" smtClean="0"/>
                        <a:t>Inventory update completed April 15</a:t>
                      </a:r>
                    </a:p>
                    <a:p>
                      <a:pPr marL="285750" indent="-285750">
                        <a:buFont typeface="Arial" panose="020B0604020202020204" pitchFamily="34" charset="0"/>
                        <a:buChar char="•"/>
                      </a:pPr>
                      <a:r>
                        <a:rPr lang="en-US" sz="1200" baseline="0" dirty="0" smtClean="0"/>
                        <a:t>Hardware and software acquired August 1</a:t>
                      </a:r>
                    </a:p>
                    <a:p>
                      <a:pPr marL="285750" indent="-285750">
                        <a:buFont typeface="Arial" panose="020B0604020202020204" pitchFamily="34" charset="0"/>
                        <a:buChar char="•"/>
                      </a:pPr>
                      <a:r>
                        <a:rPr lang="en-US" sz="1200" baseline="0" dirty="0" smtClean="0"/>
                        <a:t>Installation complete October 1</a:t>
                      </a:r>
                    </a:p>
                    <a:p>
                      <a:pPr marL="285750" indent="-285750">
                        <a:buFont typeface="Arial" panose="020B0604020202020204" pitchFamily="34" charset="0"/>
                        <a:buChar char="•"/>
                      </a:pPr>
                      <a:r>
                        <a:rPr lang="en-US" sz="1200" baseline="0" dirty="0" smtClean="0"/>
                        <a:t>Testing complete November 15</a:t>
                      </a:r>
                      <a:endParaRPr lang="en-US" sz="1200" dirty="0"/>
                    </a:p>
                  </a:txBody>
                  <a:tcPr>
                    <a:solidFill>
                      <a:srgbClr val="AAE0FA"/>
                    </a:solidFill>
                  </a:tcPr>
                </a:tc>
                <a:extLst>
                  <a:ext uri="{0D108BD9-81ED-4DB2-BD59-A6C34878D82A}">
                    <a16:rowId xmlns:a16="http://schemas.microsoft.com/office/drawing/2014/main" val="10002"/>
                  </a:ext>
                </a:extLst>
              </a:tr>
              <a:tr h="289560">
                <a:tc>
                  <a:txBody>
                    <a:bodyPr/>
                    <a:lstStyle/>
                    <a:p>
                      <a:r>
                        <a:rPr lang="en-US" sz="1200" b="1" dirty="0" smtClean="0"/>
                        <a:t>Budget</a:t>
                      </a:r>
                      <a:r>
                        <a:rPr lang="en-US" sz="1200" b="1" baseline="0" dirty="0" smtClean="0"/>
                        <a:t> information</a:t>
                      </a:r>
                      <a:r>
                        <a:rPr lang="en-US" sz="1200" baseline="0" dirty="0" smtClean="0"/>
                        <a:t>: Budgeted $1,000,000 for hardware and software costs and $500,000 for labor costs. </a:t>
                      </a:r>
                      <a:endParaRPr lang="en-US" sz="1200" dirty="0"/>
                    </a:p>
                  </a:txBody>
                  <a:tcPr>
                    <a:solidFill>
                      <a:srgbClr val="C6E9FC"/>
                    </a:solidFill>
                  </a:tcPr>
                </a:tc>
                <a:extLst>
                  <a:ext uri="{0D108BD9-81ED-4DB2-BD59-A6C34878D82A}">
                    <a16:rowId xmlns:a16="http://schemas.microsoft.com/office/drawing/2014/main" val="10003"/>
                  </a:ext>
                </a:extLst>
              </a:tr>
              <a:tr h="381000">
                <a:tc>
                  <a:txBody>
                    <a:bodyPr/>
                    <a:lstStyle/>
                    <a:p>
                      <a:r>
                        <a:rPr lang="en-US" sz="1200" b="1" dirty="0" smtClean="0"/>
                        <a:t>Manager</a:t>
                      </a:r>
                      <a:r>
                        <a:rPr lang="en-US" sz="1200" dirty="0" smtClean="0"/>
                        <a:t>: Kim Nguyen</a:t>
                      </a:r>
                      <a:r>
                        <a:rPr lang="en-US" sz="1200" baseline="0" dirty="0" smtClean="0"/>
                        <a:t>, (310) 555- 2784, knguyen@course.com</a:t>
                      </a:r>
                      <a:endParaRPr lang="en-US" sz="1200" dirty="0"/>
                    </a:p>
                  </a:txBody>
                  <a:tcPr>
                    <a:solidFill>
                      <a:srgbClr val="AAE0FA"/>
                    </a:solidFill>
                  </a:tcPr>
                </a:tc>
                <a:extLst>
                  <a:ext uri="{0D108BD9-81ED-4DB2-BD59-A6C34878D82A}">
                    <a16:rowId xmlns:a16="http://schemas.microsoft.com/office/drawing/2014/main" val="10004"/>
                  </a:ext>
                </a:extLst>
              </a:tr>
              <a:tr h="658352">
                <a:tc>
                  <a:txBody>
                    <a:bodyPr/>
                    <a:lstStyle/>
                    <a:p>
                      <a:r>
                        <a:rPr lang="en-US" sz="1200" b="1" dirty="0" smtClean="0"/>
                        <a:t>Project</a:t>
                      </a:r>
                      <a:r>
                        <a:rPr lang="en-US" sz="1200" b="1" baseline="0" dirty="0" smtClean="0"/>
                        <a:t> objectives</a:t>
                      </a:r>
                      <a:r>
                        <a:rPr lang="en-US" sz="1200" baseline="0" dirty="0" smtClean="0"/>
                        <a:t>: Upgrade hardware and software for all employees (approximately 2,000) within nine months based on new corporate standards. See attached sheet describing the new standards. Upgrades may affect servers as well as associated network hardware and software. </a:t>
                      </a:r>
                      <a:endParaRPr lang="en-US" sz="1200" dirty="0"/>
                    </a:p>
                  </a:txBody>
                  <a:tcPr>
                    <a:solidFill>
                      <a:srgbClr val="C6E9FC"/>
                    </a:solidFill>
                  </a:tcPr>
                </a:tc>
                <a:extLst>
                  <a:ext uri="{0D108BD9-81ED-4DB2-BD59-A6C34878D82A}">
                    <a16:rowId xmlns:a16="http://schemas.microsoft.com/office/drawing/2014/main" val="10005"/>
                  </a:ext>
                </a:extLst>
              </a:tr>
              <a:tr h="484648">
                <a:tc>
                  <a:txBody>
                    <a:bodyPr/>
                    <a:lstStyle/>
                    <a:p>
                      <a:r>
                        <a:rPr lang="en-US" sz="1200" b="1" dirty="0" smtClean="0"/>
                        <a:t>Main Project</a:t>
                      </a:r>
                      <a:r>
                        <a:rPr lang="en-US" sz="1200" b="1" baseline="0" dirty="0" smtClean="0"/>
                        <a:t> Success Criteria: </a:t>
                      </a:r>
                      <a:r>
                        <a:rPr lang="en-US" sz="1200" b="0" baseline="0" dirty="0" smtClean="0"/>
                        <a:t>The hardware, software, and network upgrades must meet all written specifications, be thoroughly tested, and be completed in nine months. Employee work disruptions will be minimal. </a:t>
                      </a:r>
                      <a:endParaRPr lang="en-US" sz="1200" b="1" dirty="0"/>
                    </a:p>
                  </a:txBody>
                  <a:tcPr>
                    <a:solidFill>
                      <a:srgbClr val="AAE0FA"/>
                    </a:solidFill>
                  </a:tcPr>
                </a:tc>
                <a:extLst>
                  <a:ext uri="{0D108BD9-81ED-4DB2-BD59-A6C34878D82A}">
                    <a16:rowId xmlns:a16="http://schemas.microsoft.com/office/drawing/2014/main" val="10006"/>
                  </a:ext>
                </a:extLst>
              </a:tr>
              <a:tr h="658352">
                <a:tc>
                  <a:txBody>
                    <a:bodyPr/>
                    <a:lstStyle/>
                    <a:p>
                      <a:r>
                        <a:rPr lang="en-US" sz="1200" b="1" dirty="0" smtClean="0"/>
                        <a:t>Approach: </a:t>
                      </a:r>
                    </a:p>
                    <a:p>
                      <a:pPr marL="285750" indent="-285750">
                        <a:buFont typeface="Arial" panose="020B0604020202020204" pitchFamily="34" charset="0"/>
                        <a:buChar char="•"/>
                      </a:pPr>
                      <a:r>
                        <a:rPr lang="en-US" sz="1200" b="0" dirty="0" smtClean="0"/>
                        <a:t>Update the IT inventory</a:t>
                      </a:r>
                      <a:r>
                        <a:rPr lang="en-US" sz="1200" b="0" baseline="0" dirty="0" smtClean="0"/>
                        <a:t> database to determine upgrade needs. </a:t>
                      </a:r>
                    </a:p>
                    <a:p>
                      <a:pPr marL="285750" indent="-285750">
                        <a:buFont typeface="Arial" panose="020B0604020202020204" pitchFamily="34" charset="0"/>
                        <a:buChar char="•"/>
                      </a:pPr>
                      <a:r>
                        <a:rPr lang="en-US" sz="1200" b="0" baseline="0" dirty="0" smtClean="0"/>
                        <a:t>Develop detailed cost estimate for project and report to CIO</a:t>
                      </a:r>
                    </a:p>
                    <a:p>
                      <a:pPr marL="285750" indent="-285750">
                        <a:buFont typeface="Arial" panose="020B0604020202020204" pitchFamily="34" charset="0"/>
                        <a:buChar char="•"/>
                      </a:pPr>
                      <a:r>
                        <a:rPr lang="en-US" sz="1200" b="0" baseline="0" dirty="0" smtClean="0"/>
                        <a:t>Issue a request for quote to obtain hardware and software</a:t>
                      </a:r>
                    </a:p>
                    <a:p>
                      <a:pPr marL="285750" indent="-285750">
                        <a:buFont typeface="Arial" panose="020B0604020202020204" pitchFamily="34" charset="0"/>
                        <a:buChar char="•"/>
                      </a:pPr>
                      <a:r>
                        <a:rPr lang="en-US" sz="1200" b="0" baseline="0" dirty="0" smtClean="0"/>
                        <a:t>Use internal staff as much as possible for planning, analysis, and installation</a:t>
                      </a:r>
                      <a:endParaRPr lang="en-US" sz="1200" b="0" dirty="0"/>
                    </a:p>
                  </a:txBody>
                  <a:tcPr>
                    <a:solidFill>
                      <a:srgbClr val="C6E9FC"/>
                    </a:solidFill>
                  </a:tcPr>
                </a:tc>
                <a:extLst>
                  <a:ext uri="{0D108BD9-81ED-4DB2-BD59-A6C34878D82A}">
                    <a16:rowId xmlns:a16="http://schemas.microsoft.com/office/drawing/2014/main" val="10007"/>
                  </a:ext>
                </a:extLst>
              </a:tr>
            </a:tbl>
          </a:graphicData>
        </a:graphic>
      </p:graphicFrame>
      <p:sp>
        <p:nvSpPr>
          <p:cNvPr id="4" name="Footer Placeholder 3"/>
          <p:cNvSpPr>
            <a:spLocks noGrp="1"/>
          </p:cNvSpPr>
          <p:nvPr>
            <p:ph type="ftr" sz="quarter" idx="10"/>
          </p:nvPr>
        </p:nvSpPr>
        <p:spPr>
          <a:xfrm>
            <a:off x="1524000" y="6442074"/>
            <a:ext cx="2590800" cy="415927"/>
          </a:xfrm>
        </p:spPr>
        <p:txBody>
          <a:bodyPr/>
          <a:lstStyle/>
          <a:p>
            <a:pPr>
              <a:defRPr/>
            </a:pPr>
            <a:r>
              <a:rPr lang="en-US" dirty="0"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12</a:t>
            </a:fld>
            <a:endParaRPr lang="en-US" dirty="0"/>
          </a:p>
        </p:txBody>
      </p:sp>
    </p:spTree>
    <p:extLst>
      <p:ext uri="{BB962C8B-B14F-4D97-AF65-F5344CB8AC3E}">
        <p14:creationId xmlns:p14="http://schemas.microsoft.com/office/powerpoint/2010/main" val="17970445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533400" y="304800"/>
            <a:ext cx="9982200" cy="1143000"/>
          </a:xfrm>
        </p:spPr>
        <p:txBody>
          <a:bodyPr>
            <a:normAutofit/>
          </a:bodyPr>
          <a:lstStyle/>
          <a:p>
            <a:r>
              <a:rPr lang="en-US" sz="3600" dirty="0" smtClean="0"/>
              <a:t>Adding Project </a:t>
            </a:r>
            <a:r>
              <a:rPr lang="en-US" sz="3600" dirty="0"/>
              <a:t>Scope</a:t>
            </a:r>
          </a:p>
        </p:txBody>
      </p:sp>
      <p:graphicFrame>
        <p:nvGraphicFramePr>
          <p:cNvPr id="2" name="Table 1" descr="Table with 1 columns and 3 rows. The column header is Project Charter: Upgrades may affect servers… (listed under Project Objective). "/>
          <p:cNvGraphicFramePr>
            <a:graphicFrameLocks noGrp="1"/>
          </p:cNvGraphicFramePr>
          <p:nvPr>
            <p:extLst>
              <p:ext uri="{D42A27DB-BD31-4B8C-83A1-F6EECF244321}">
                <p14:modId xmlns:p14="http://schemas.microsoft.com/office/powerpoint/2010/main" val="451334225"/>
              </p:ext>
            </p:extLst>
          </p:nvPr>
        </p:nvGraphicFramePr>
        <p:xfrm>
          <a:off x="1881809" y="1752600"/>
          <a:ext cx="8428383" cy="3444240"/>
        </p:xfrm>
        <a:graphic>
          <a:graphicData uri="http://schemas.openxmlformats.org/drawingml/2006/table">
            <a:tbl>
              <a:tblPr firstRow="1" bandRow="1">
                <a:tableStyleId>{2D5ABB26-0587-4C30-8999-92F81FD0307C}</a:tableStyleId>
              </a:tblPr>
              <a:tblGrid>
                <a:gridCol w="8428383">
                  <a:extLst>
                    <a:ext uri="{9D8B030D-6E8A-4147-A177-3AD203B41FA5}">
                      <a16:colId xmlns:a16="http://schemas.microsoft.com/office/drawing/2014/main" val="20000"/>
                    </a:ext>
                  </a:extLst>
                </a:gridCol>
              </a:tblGrid>
              <a:tr h="370840">
                <a:tc>
                  <a:txBody>
                    <a:bodyPr/>
                    <a:lstStyle/>
                    <a:p>
                      <a:r>
                        <a:rPr lang="en-US" sz="1600" b="1" dirty="0" smtClean="0"/>
                        <a:t>Project Charter:</a:t>
                      </a:r>
                    </a:p>
                    <a:p>
                      <a:r>
                        <a:rPr lang="en-US" sz="1600" dirty="0" smtClean="0"/>
                        <a:t>Upgrades may affect servers…(listed</a:t>
                      </a:r>
                      <a:r>
                        <a:rPr lang="en-US" sz="1600" baseline="0" dirty="0" smtClean="0"/>
                        <a:t> under Project Objective) </a:t>
                      </a:r>
                      <a:endParaRPr lang="en-US" sz="1600" dirty="0"/>
                    </a:p>
                  </a:txBody>
                  <a:tcPr>
                    <a:solidFill>
                      <a:srgbClr val="A4D6EA"/>
                    </a:solidFill>
                  </a:tcPr>
                </a:tc>
                <a:extLst>
                  <a:ext uri="{0D108BD9-81ED-4DB2-BD59-A6C34878D82A}">
                    <a16:rowId xmlns:a16="http://schemas.microsoft.com/office/drawing/2014/main" val="10000"/>
                  </a:ext>
                </a:extLst>
              </a:tr>
              <a:tr h="370840">
                <a:tc>
                  <a:txBody>
                    <a:bodyPr/>
                    <a:lstStyle/>
                    <a:p>
                      <a:r>
                        <a:rPr lang="en-US" sz="1600" b="1" dirty="0" smtClean="0"/>
                        <a:t>Project</a:t>
                      </a:r>
                      <a:r>
                        <a:rPr lang="en-US" sz="1600" b="1" baseline="0" dirty="0" smtClean="0"/>
                        <a:t> Scope Statement, Version 1:</a:t>
                      </a:r>
                    </a:p>
                    <a:p>
                      <a:r>
                        <a:rPr lang="en-US" sz="1600" b="0" baseline="0" dirty="0" smtClean="0"/>
                        <a:t>Servers: If additional servers are required to support this project, they must be compatible with existing servers. If it is more economical to enhance existing servers, a detailed description of enhancements must be submitted to the CIO for approval. See current server specifications provided in Attachment 6. The CEO must approve a detailed plan describing the servers and their location at least 2 weeks before installation. </a:t>
                      </a:r>
                      <a:endParaRPr lang="en-US" sz="1600" b="0" dirty="0"/>
                    </a:p>
                  </a:txBody>
                  <a:tcPr>
                    <a:solidFill>
                      <a:srgbClr val="C1E3F2"/>
                    </a:solidFill>
                  </a:tcPr>
                </a:tc>
                <a:extLst>
                  <a:ext uri="{0D108BD9-81ED-4DB2-BD59-A6C34878D82A}">
                    <a16:rowId xmlns:a16="http://schemas.microsoft.com/office/drawing/2014/main" val="10001"/>
                  </a:ext>
                </a:extLst>
              </a:tr>
              <a:tr h="370840">
                <a:tc>
                  <a:txBody>
                    <a:bodyPr/>
                    <a:lstStyle/>
                    <a:p>
                      <a:r>
                        <a:rPr lang="en-US" sz="1600" b="1" dirty="0" smtClean="0"/>
                        <a:t>Project</a:t>
                      </a:r>
                      <a:r>
                        <a:rPr lang="en-US" sz="1600" b="1" baseline="0" dirty="0" smtClean="0"/>
                        <a:t> Scope Statement, Version 2</a:t>
                      </a:r>
                    </a:p>
                    <a:p>
                      <a:r>
                        <a:rPr lang="en-US" sz="1600" b="0" baseline="0" dirty="0" smtClean="0"/>
                        <a:t>Servers: This project will required purchasing ten new servers to support Web, network, database, applications and printing functions. Virtualization will be used to maximize efficient. Detailed descriptions of the servers are provided in a product brochure in Appendix 8 along with a plan describing where they will be located. </a:t>
                      </a:r>
                      <a:endParaRPr lang="en-US" sz="1600" b="0" dirty="0"/>
                    </a:p>
                  </a:txBody>
                  <a:tcPr>
                    <a:solidFill>
                      <a:srgbClr val="A4D6EA"/>
                    </a:solidFill>
                  </a:tcPr>
                </a:tc>
                <a:extLst>
                  <a:ext uri="{0D108BD9-81ED-4DB2-BD59-A6C34878D82A}">
                    <a16:rowId xmlns:a16="http://schemas.microsoft.com/office/drawing/2014/main" val="10002"/>
                  </a:ext>
                </a:extLst>
              </a:tr>
            </a:tbl>
          </a:graphicData>
        </a:graphic>
      </p:graphicFrame>
      <p:sp>
        <p:nvSpPr>
          <p:cNvPr id="19459"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buFontTx/>
              <a:buNone/>
              <a:defRPr/>
            </a:pPr>
            <a:fld id="{5408CF9A-C8EF-404E-A6D1-AAA46EE490CD}" type="slidenum">
              <a:rPr lang="en-US" smtClean="0"/>
              <a:pPr>
                <a:buFontTx/>
                <a:buNone/>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216114"/>
            <a:ext cx="10668000" cy="1447800"/>
          </a:xfrm>
        </p:spPr>
        <p:txBody>
          <a:bodyPr>
            <a:noAutofit/>
          </a:bodyPr>
          <a:lstStyle/>
          <a:p>
            <a:r>
              <a:rPr lang="en-US" dirty="0" smtClean="0">
                <a:solidFill>
                  <a:srgbClr val="FF0000"/>
                </a:solidFill>
              </a:rPr>
              <a:t>Creating the Work Breakdown Structure (WBS)</a:t>
            </a:r>
          </a:p>
        </p:txBody>
      </p:sp>
      <p:sp>
        <p:nvSpPr>
          <p:cNvPr id="21507" name="Rectangle 3"/>
          <p:cNvSpPr>
            <a:spLocks noGrp="1" noChangeArrowheads="1"/>
          </p:cNvSpPr>
          <p:nvPr>
            <p:ph idx="1"/>
          </p:nvPr>
        </p:nvSpPr>
        <p:spPr>
          <a:xfrm>
            <a:off x="762000" y="1847210"/>
            <a:ext cx="10058400" cy="4267200"/>
          </a:xfrm>
        </p:spPr>
        <p:txBody>
          <a:bodyPr>
            <a:noAutofit/>
          </a:bodyPr>
          <a:lstStyle/>
          <a:p>
            <a:r>
              <a:rPr lang="en-US" sz="2400" dirty="0"/>
              <a:t>A </a:t>
            </a:r>
            <a:r>
              <a:rPr lang="en-US" sz="2400" b="1" dirty="0"/>
              <a:t>Work Breakdown Structure (WBS)</a:t>
            </a:r>
            <a:r>
              <a:rPr lang="en-US" sz="2400" dirty="0"/>
              <a:t> is a hierarchical breakdown of the total project work into </a:t>
            </a:r>
            <a:r>
              <a:rPr lang="en-US" sz="2400" b="1" dirty="0"/>
              <a:t>smaller, manageable pieces</a:t>
            </a:r>
            <a:r>
              <a:rPr lang="en-US" sz="2400" dirty="0"/>
              <a:t>. </a:t>
            </a:r>
            <a:endParaRPr lang="en-US" sz="2400" dirty="0" smtClean="0"/>
          </a:p>
          <a:p>
            <a:endParaRPr lang="en-US" sz="2400" b="1" dirty="0" smtClean="0"/>
          </a:p>
          <a:p>
            <a:r>
              <a:rPr lang="en-US" sz="2400" b="1" dirty="0" smtClean="0"/>
              <a:t>Decomposition</a:t>
            </a:r>
            <a:r>
              <a:rPr lang="en-US" sz="2400" dirty="0" smtClean="0"/>
              <a:t> </a:t>
            </a:r>
            <a:r>
              <a:rPr lang="en-US" sz="2400" dirty="0"/>
              <a:t>is subdividing project deliverables into smaller pieces</a:t>
            </a:r>
          </a:p>
          <a:p>
            <a:r>
              <a:rPr lang="en-US" sz="2400" dirty="0"/>
              <a:t>A </a:t>
            </a:r>
            <a:r>
              <a:rPr lang="en-US" sz="2400" b="1" dirty="0"/>
              <a:t>work package </a:t>
            </a:r>
            <a:r>
              <a:rPr lang="en-US" sz="2400" dirty="0"/>
              <a:t>is a task at the lowest level of the </a:t>
            </a:r>
            <a:r>
              <a:rPr lang="en-US" sz="2400" dirty="0" smtClean="0"/>
              <a:t>WBS</a:t>
            </a:r>
          </a:p>
          <a:p>
            <a:endParaRPr lang="en-US" sz="2400" dirty="0"/>
          </a:p>
          <a:p>
            <a:r>
              <a:rPr lang="en-US" sz="2400" dirty="0"/>
              <a:t>In </a:t>
            </a:r>
            <a:r>
              <a:rPr lang="en-US" sz="2400" dirty="0" smtClean="0"/>
              <a:t>simple words, </a:t>
            </a:r>
            <a:r>
              <a:rPr lang="en-US" sz="2400" b="1" dirty="0"/>
              <a:t>WBS = Breaking the big project into smaller tasks until they are easy to manage.</a:t>
            </a:r>
            <a:endParaRPr lang="en-US" sz="2400" dirty="0"/>
          </a:p>
        </p:txBody>
      </p:sp>
      <p:sp>
        <p:nvSpPr>
          <p:cNvPr id="21508"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Eighth Edition</a:t>
            </a:r>
          </a:p>
        </p:txBody>
      </p:sp>
      <p:sp>
        <p:nvSpPr>
          <p:cNvPr id="8" name="Slide Number Placeholder 7"/>
          <p:cNvSpPr>
            <a:spLocks noGrp="1"/>
          </p:cNvSpPr>
          <p:nvPr>
            <p:ph type="sldNum" sz="quarter" idx="11"/>
          </p:nvPr>
        </p:nvSpPr>
        <p:spPr/>
        <p:txBody>
          <a:bodyPr/>
          <a:lstStyle/>
          <a:p>
            <a:pPr>
              <a:defRPr/>
            </a:pPr>
            <a:fld id="{4842C04C-78A8-47E1-9358-C2595DF744E9}" type="slidenum">
              <a:rPr lang="en-US" smtClean="0"/>
              <a:pPr>
                <a:defRPr/>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Structure of WBS</a:t>
            </a:r>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15</a:t>
            </a:fld>
            <a:endParaRPr lang="en-US" dirty="0"/>
          </a:p>
        </p:txBody>
      </p:sp>
      <p:sp>
        <p:nvSpPr>
          <p:cNvPr id="7" name="Rectangle 1"/>
          <p:cNvSpPr>
            <a:spLocks noGrp="1" noChangeArrowheads="1"/>
          </p:cNvSpPr>
          <p:nvPr>
            <p:ph idx="1"/>
          </p:nvPr>
        </p:nvSpPr>
        <p:spPr bwMode="auto">
          <a:xfrm>
            <a:off x="838200" y="1905000"/>
            <a:ext cx="941636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Level 1:</a:t>
            </a:r>
            <a:r>
              <a:rPr kumimoji="0" lang="en-US" altLang="en-US" sz="2400" b="0" i="0" u="none" strike="noStrike" cap="none" normalizeH="0" baseline="0" dirty="0" smtClean="0">
                <a:ln>
                  <a:noFill/>
                </a:ln>
                <a:solidFill>
                  <a:schemeClr val="tx1"/>
                </a:solidFill>
                <a:effectLst/>
                <a:latin typeface="Arial" panose="020B0604020202020204" pitchFamily="34" charset="0"/>
              </a:rPr>
              <a:t> The overall project.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Level 2:</a:t>
            </a:r>
            <a:r>
              <a:rPr kumimoji="0" lang="en-US" altLang="en-US" sz="2400" b="0" i="0" u="none" strike="noStrike" cap="none" normalizeH="0" baseline="0" dirty="0" smtClean="0">
                <a:ln>
                  <a:noFill/>
                </a:ln>
                <a:solidFill>
                  <a:schemeClr val="tx1"/>
                </a:solidFill>
                <a:effectLst/>
                <a:latin typeface="Arial" panose="020B0604020202020204" pitchFamily="34" charset="0"/>
              </a:rPr>
              <a:t> Major deliverables or phases.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Level 3:</a:t>
            </a:r>
            <a:r>
              <a:rPr kumimoji="0" lang="en-US" altLang="en-US" sz="2400" b="0" i="0" u="none" strike="noStrike" cap="none" normalizeH="0" baseline="0" dirty="0" smtClean="0">
                <a:ln>
                  <a:noFill/>
                </a:ln>
                <a:solidFill>
                  <a:schemeClr val="tx1"/>
                </a:solidFill>
                <a:effectLst/>
                <a:latin typeface="Arial" panose="020B0604020202020204" pitchFamily="34" charset="0"/>
              </a:rPr>
              <a:t> Smaller components, sub-deliverables, or work packages.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Level 4 (and beyond):</a:t>
            </a:r>
            <a:r>
              <a:rPr kumimoji="0" lang="en-US" altLang="en-US" sz="2400" b="0" i="0" u="none" strike="noStrike" cap="none" normalizeH="0" baseline="0" dirty="0" smtClean="0">
                <a:ln>
                  <a:noFill/>
                </a:ln>
                <a:solidFill>
                  <a:schemeClr val="tx1"/>
                </a:solidFill>
                <a:effectLst/>
                <a:latin typeface="Arial" panose="020B0604020202020204" pitchFamily="34" charset="0"/>
              </a:rPr>
              <a:t> Detailed tasks if needed.</a:t>
            </a:r>
          </a:p>
        </p:txBody>
      </p:sp>
    </p:spTree>
    <p:extLst>
      <p:ext uri="{BB962C8B-B14F-4D97-AF65-F5344CB8AC3E}">
        <p14:creationId xmlns:p14="http://schemas.microsoft.com/office/powerpoint/2010/main" val="2455975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Work Breakdown Structure Example</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16</a:t>
            </a:fld>
            <a:endParaRPr lang="en-US" dirty="0"/>
          </a:p>
        </p:txBody>
      </p:sp>
      <p:pic>
        <p:nvPicPr>
          <p:cNvPr id="2050" name="Picture 2" descr="Overview Of Work Breakdown Structure (WBS) In Software Development -  Eastgate Soft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60054"/>
            <a:ext cx="4724400" cy="41452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6248400" y="2057400"/>
            <a:ext cx="5591158" cy="3671304"/>
          </a:xfrm>
          <a:prstGeom prst="rect">
            <a:avLst/>
          </a:prstGeom>
        </p:spPr>
      </p:pic>
    </p:spTree>
    <p:extLst>
      <p:ext uri="{BB962C8B-B14F-4D97-AF65-F5344CB8AC3E}">
        <p14:creationId xmlns:p14="http://schemas.microsoft.com/office/powerpoint/2010/main" val="2539495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152400"/>
            <a:ext cx="10668000" cy="1371600"/>
          </a:xfrm>
        </p:spPr>
        <p:txBody>
          <a:bodyPr>
            <a:normAutofit/>
          </a:bodyPr>
          <a:lstStyle/>
          <a:p>
            <a:r>
              <a:rPr lang="en-US" dirty="0" smtClean="0"/>
              <a:t>Sample Intranet WBS</a:t>
            </a:r>
            <a:r>
              <a:rPr lang="en-US" baseline="0" dirty="0" smtClean="0"/>
              <a:t> </a:t>
            </a:r>
            <a:r>
              <a:rPr lang="en-US" dirty="0" smtClean="0"/>
              <a:t>Organized by Phase</a:t>
            </a:r>
          </a:p>
        </p:txBody>
      </p:sp>
      <p:pic>
        <p:nvPicPr>
          <p:cNvPr id="2" name="Picture 1" descr="A flowchart and tabular form of intranet project. The chart starts at level one-entire project and there is one box called intranet project. This goes to concept, website design, web site development, roll out, and support in level 2. Concept goes to evaluate current system, define requirements, define specific functionality, define risks and risk management approach, develop project plan and brief web plan in level 3. Define requirements goes to define user requirements, define content requirements, and define server owner requirements in level 4. The tabular form with PMI numbering starts with 1.1 Concept. The next line is indented and is 1.1.1 Evaluate current systems. The next line is 1.1.2 define requirements. The next line is indented and is has 1.1.2.1 Define user requirements. The next line is 1.1.2.2 define content requirements then 1.1.2.3 define system requirements, and 1.1.2.4 define server owner requirements. The next line has a left indentation and is 1.1.3 define specific functionality. The next line is 1.1.4 define risks and risk management approach then 1.1.5 development project plan, and 1.1.6 brief web development team. The next line has a left indentation and is 1.2 web site design, then 1.3 website development, 1.4 roll out, and 1.5 support.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600201"/>
            <a:ext cx="7924800" cy="5181600"/>
          </a:xfrm>
          <a:prstGeom prst="rect">
            <a:avLst/>
          </a:prstGeom>
        </p:spPr>
      </p:pic>
      <p:sp>
        <p:nvSpPr>
          <p:cNvPr id="23556" name="Footer Placeholder 6"/>
          <p:cNvSpPr>
            <a:spLocks noGrp="1"/>
          </p:cNvSpPr>
          <p:nvPr>
            <p:ph type="ftr" sz="quarter" idx="10"/>
          </p:nvPr>
        </p:nvSpPr>
        <p:spPr bwMode="auto">
          <a:xfrm>
            <a:off x="1524000" y="6172201"/>
            <a:ext cx="2057400" cy="685801"/>
          </a:xfrm>
          <a:noFill/>
          <a:ln>
            <a:miter lim="800000"/>
            <a:headEnd/>
            <a:tailEnd/>
          </a:ln>
        </p:spPr>
        <p:txBody>
          <a:bodyPr/>
          <a:lstStyle/>
          <a:p>
            <a:pPr>
              <a:buFontTx/>
              <a:buNone/>
            </a:pPr>
            <a:r>
              <a:rPr lang="en-US" dirty="0" smtClean="0"/>
              <a:t>Information Technology Project Management, Eighth Edition</a:t>
            </a:r>
          </a:p>
        </p:txBody>
      </p:sp>
      <p:sp>
        <p:nvSpPr>
          <p:cNvPr id="8" name="Slide Number Placeholder 7"/>
          <p:cNvSpPr>
            <a:spLocks noGrp="1"/>
          </p:cNvSpPr>
          <p:nvPr>
            <p:ph type="sldNum" sz="quarter" idx="11"/>
          </p:nvPr>
        </p:nvSpPr>
        <p:spPr/>
        <p:txBody>
          <a:bodyPr/>
          <a:lstStyle/>
          <a:p>
            <a:pPr>
              <a:buFontTx/>
              <a:buNone/>
              <a:defRPr/>
            </a:pPr>
            <a:fld id="{4DCEA2F6-9510-4648-BF26-FB2B9CF1D7D0}" type="slidenum">
              <a:rPr lang="en-US" smtClean="0"/>
              <a:pPr>
                <a:buFontTx/>
                <a:buNone/>
                <a:defRPr/>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838200" y="91283"/>
            <a:ext cx="9829801" cy="954087"/>
          </a:xfrm>
        </p:spPr>
        <p:txBody>
          <a:bodyPr>
            <a:normAutofit/>
          </a:bodyPr>
          <a:lstStyle/>
          <a:p>
            <a:r>
              <a:rPr lang="en-US" dirty="0" smtClean="0"/>
              <a:t>Approaches to Developing WBSs</a:t>
            </a:r>
          </a:p>
        </p:txBody>
      </p:sp>
      <p:sp>
        <p:nvSpPr>
          <p:cNvPr id="28675" name="Rectangle 3"/>
          <p:cNvSpPr>
            <a:spLocks noGrp="1" noChangeArrowheads="1"/>
          </p:cNvSpPr>
          <p:nvPr>
            <p:ph idx="1"/>
          </p:nvPr>
        </p:nvSpPr>
        <p:spPr>
          <a:xfrm>
            <a:off x="762000" y="1241427"/>
            <a:ext cx="10820400" cy="5083174"/>
          </a:xfrm>
        </p:spPr>
        <p:txBody>
          <a:bodyPr/>
          <a:lstStyle/>
          <a:p>
            <a:pPr>
              <a:lnSpc>
                <a:spcPct val="90000"/>
              </a:lnSpc>
            </a:pPr>
            <a:r>
              <a:rPr lang="en-US" b="1" dirty="0" smtClean="0"/>
              <a:t>Using guidelines: </a:t>
            </a:r>
            <a:r>
              <a:rPr lang="en-US" dirty="0" smtClean="0"/>
              <a:t>Some organizations, like the </a:t>
            </a:r>
            <a:r>
              <a:rPr lang="en-US" dirty="0"/>
              <a:t>PMI (Project Management Institute)</a:t>
            </a:r>
            <a:r>
              <a:rPr lang="en-US" dirty="0" smtClean="0"/>
              <a:t>, provide guidelines for preparing WBSs</a:t>
            </a:r>
          </a:p>
          <a:p>
            <a:pPr marL="109537" indent="0">
              <a:lnSpc>
                <a:spcPct val="90000"/>
              </a:lnSpc>
              <a:buNone/>
            </a:pPr>
            <a:endParaRPr lang="en-US" dirty="0" smtClean="0"/>
          </a:p>
          <a:p>
            <a:pPr>
              <a:lnSpc>
                <a:spcPct val="90000"/>
              </a:lnSpc>
            </a:pPr>
            <a:r>
              <a:rPr lang="en-US" dirty="0" smtClean="0"/>
              <a:t>The </a:t>
            </a:r>
            <a:r>
              <a:rPr lang="en-US" b="1" dirty="0" smtClean="0"/>
              <a:t>analogy approach</a:t>
            </a:r>
            <a:r>
              <a:rPr lang="en-US" dirty="0" smtClean="0"/>
              <a:t>: Review WBSs of similar projects and tailor to your project</a:t>
            </a:r>
          </a:p>
          <a:p>
            <a:pPr>
              <a:lnSpc>
                <a:spcPct val="90000"/>
              </a:lnSpc>
            </a:pPr>
            <a:r>
              <a:rPr lang="en-US" dirty="0" smtClean="0"/>
              <a:t>The </a:t>
            </a:r>
            <a:r>
              <a:rPr lang="en-US" b="1" dirty="0" smtClean="0"/>
              <a:t>top-down approach</a:t>
            </a:r>
            <a:r>
              <a:rPr lang="en-US" dirty="0" smtClean="0"/>
              <a:t>: Start with the largest items of the project and break them down</a:t>
            </a:r>
          </a:p>
          <a:p>
            <a:pPr>
              <a:lnSpc>
                <a:spcPct val="90000"/>
              </a:lnSpc>
            </a:pPr>
            <a:r>
              <a:rPr lang="en-US" dirty="0" smtClean="0"/>
              <a:t>The </a:t>
            </a:r>
            <a:r>
              <a:rPr lang="en-US" b="1" dirty="0" smtClean="0"/>
              <a:t>bottom-up approach</a:t>
            </a:r>
            <a:r>
              <a:rPr lang="en-US" dirty="0" smtClean="0"/>
              <a:t>: Start with the specific tasks and roll them up</a:t>
            </a:r>
          </a:p>
          <a:p>
            <a:pPr>
              <a:lnSpc>
                <a:spcPct val="90000"/>
              </a:lnSpc>
            </a:pPr>
            <a:r>
              <a:rPr lang="en-US" dirty="0" smtClean="0"/>
              <a:t>Mind-mapping approach:  </a:t>
            </a:r>
            <a:r>
              <a:rPr lang="en-US" b="1" dirty="0" smtClean="0"/>
              <a:t>Mind mapping </a:t>
            </a:r>
            <a:r>
              <a:rPr lang="en-US" dirty="0" smtClean="0"/>
              <a:t>is a technique that uses branches radiating out from a core idea to structure thoughts and ideas</a:t>
            </a:r>
          </a:p>
        </p:txBody>
      </p:sp>
      <p:sp>
        <p:nvSpPr>
          <p:cNvPr id="28676"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09856F29-EB62-4BC1-BFDE-CF95752C2E71}" type="slidenum">
              <a:rPr lang="en-US" smtClean="0"/>
              <a:pPr>
                <a:defRPr/>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r>
              <a:rPr lang="en-US" dirty="0" smtClean="0"/>
              <a:t>Sample Mind-Mapping Approach for Creating a WBS</a:t>
            </a:r>
          </a:p>
        </p:txBody>
      </p:sp>
      <p:pic>
        <p:nvPicPr>
          <p:cNvPr id="2" name="Picture 1" descr="A mind map. At the center is an IT upgrade project which is attached to four boxes called project management, install hardware and software, upgrade inventory, and acquire hardware and software. Upgrade inventory goes to update database and perform physical inventory which goes to building A, building B and building C. Acquire hardware and software goes to servers and user hardware which goes to laptops and desktops.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133601"/>
            <a:ext cx="8991600" cy="3352800"/>
          </a:xfrm>
          <a:prstGeom prst="rect">
            <a:avLst/>
          </a:prstGeom>
        </p:spPr>
      </p:pic>
      <p:sp>
        <p:nvSpPr>
          <p:cNvPr id="29700"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buFontTx/>
              <a:buNone/>
              <a:defRPr/>
            </a:pPr>
            <a:fld id="{46E36C33-50F9-4823-96DE-C86D336AEB83}" type="slidenum">
              <a:rPr lang="en-US" smtClean="0"/>
              <a:pPr>
                <a:buFontTx/>
                <a:buNone/>
                <a:defRPr/>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09599" y="0"/>
            <a:ext cx="10841569" cy="1417638"/>
          </a:xfrm>
        </p:spPr>
        <p:txBody>
          <a:bodyPr>
            <a:normAutofit/>
          </a:bodyPr>
          <a:lstStyle/>
          <a:p>
            <a:r>
              <a:rPr lang="en-US" dirty="0" smtClean="0"/>
              <a:t>The WBS Dictionary and Scope Baseline</a:t>
            </a:r>
          </a:p>
        </p:txBody>
      </p:sp>
      <p:sp>
        <p:nvSpPr>
          <p:cNvPr id="31747" name="Rectangle 3"/>
          <p:cNvSpPr>
            <a:spLocks noGrp="1" noChangeArrowheads="1"/>
          </p:cNvSpPr>
          <p:nvPr>
            <p:ph idx="1"/>
          </p:nvPr>
        </p:nvSpPr>
        <p:spPr>
          <a:xfrm>
            <a:off x="914400" y="1981200"/>
            <a:ext cx="10287000" cy="3167062"/>
          </a:xfrm>
        </p:spPr>
        <p:txBody>
          <a:bodyPr/>
          <a:lstStyle/>
          <a:p>
            <a:r>
              <a:rPr lang="en-US" dirty="0" smtClean="0"/>
              <a:t>Many WBS tasks are vague and must be explained more so that people know what to do and can estimate how long it will take and what it will cost to do the work</a:t>
            </a:r>
          </a:p>
          <a:p>
            <a:r>
              <a:rPr lang="en-US" dirty="0" smtClean="0"/>
              <a:t>A </a:t>
            </a:r>
            <a:r>
              <a:rPr lang="en-US" b="1" dirty="0" smtClean="0"/>
              <a:t>WBS dictionary</a:t>
            </a:r>
            <a:r>
              <a:rPr lang="en-US" dirty="0" smtClean="0"/>
              <a:t> is a document that describes detailed information about each WBS item</a:t>
            </a:r>
          </a:p>
        </p:txBody>
      </p:sp>
      <p:sp>
        <p:nvSpPr>
          <p:cNvPr id="31748"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EE501A8D-5261-4758-A526-F64B18DE3C4A}" type="slidenum">
              <a:rPr lang="en-US" smtClean="0"/>
              <a:pPr>
                <a:defRPr/>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71120"/>
            <a:ext cx="9601200" cy="1417638"/>
          </a:xfrm>
        </p:spPr>
        <p:txBody>
          <a:bodyPr>
            <a:normAutofit/>
          </a:bodyPr>
          <a:lstStyle/>
          <a:p>
            <a:r>
              <a:rPr lang="en-US" dirty="0" smtClean="0"/>
              <a:t>Sample WBS Dictionary Entry</a:t>
            </a:r>
            <a:endParaRPr lang="en-US" dirty="0"/>
          </a:p>
        </p:txBody>
      </p:sp>
      <p:graphicFrame>
        <p:nvGraphicFramePr>
          <p:cNvPr id="2" name="Table 1" descr="Table with one column and five rows. The column header is WBS Dictionary Entry March 20. "/>
          <p:cNvGraphicFramePr>
            <a:graphicFrameLocks noGrp="1"/>
          </p:cNvGraphicFramePr>
          <p:nvPr>
            <p:extLst>
              <p:ext uri="{D42A27DB-BD31-4B8C-83A1-F6EECF244321}">
                <p14:modId xmlns:p14="http://schemas.microsoft.com/office/powerpoint/2010/main" val="1966619907"/>
              </p:ext>
            </p:extLst>
          </p:nvPr>
        </p:nvGraphicFramePr>
        <p:xfrm>
          <a:off x="1876310" y="1752600"/>
          <a:ext cx="8353540" cy="3952240"/>
        </p:xfrm>
        <a:graphic>
          <a:graphicData uri="http://schemas.openxmlformats.org/drawingml/2006/table">
            <a:tbl>
              <a:tblPr firstRow="1" bandRow="1">
                <a:tableStyleId>{5C22544A-7EE6-4342-B048-85BDC9FD1C3A}</a:tableStyleId>
              </a:tblPr>
              <a:tblGrid>
                <a:gridCol w="8353540">
                  <a:extLst>
                    <a:ext uri="{9D8B030D-6E8A-4147-A177-3AD203B41FA5}">
                      <a16:colId xmlns:a16="http://schemas.microsoft.com/office/drawing/2014/main" val="20000"/>
                    </a:ext>
                  </a:extLst>
                </a:gridCol>
              </a:tblGrid>
              <a:tr h="370840">
                <a:tc>
                  <a:txBody>
                    <a:bodyPr/>
                    <a:lstStyle/>
                    <a:p>
                      <a:pPr algn="ctr"/>
                      <a:r>
                        <a:rPr lang="en-US" sz="1200" b="0" dirty="0" smtClean="0"/>
                        <a:t>WBS Dictionary</a:t>
                      </a:r>
                      <a:r>
                        <a:rPr lang="en-US" sz="1200" b="0" baseline="0" dirty="0" smtClean="0"/>
                        <a:t> Entry March 20</a:t>
                      </a:r>
                      <a:endParaRPr lang="en-US" sz="1200" b="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9EA"/>
                    </a:solidFill>
                  </a:tcPr>
                </a:tc>
                <a:extLst>
                  <a:ext uri="{0D108BD9-81ED-4DB2-BD59-A6C34878D82A}">
                    <a16:rowId xmlns:a16="http://schemas.microsoft.com/office/drawing/2014/main" val="10000"/>
                  </a:ext>
                </a:extLst>
              </a:tr>
              <a:tr h="370840">
                <a:tc>
                  <a:txBody>
                    <a:bodyPr/>
                    <a:lstStyle/>
                    <a:p>
                      <a:r>
                        <a:rPr lang="en-US" sz="1200" b="1" dirty="0" smtClean="0"/>
                        <a:t>Project Title</a:t>
                      </a:r>
                      <a:r>
                        <a:rPr lang="en-US" sz="1200" dirty="0" smtClean="0"/>
                        <a:t>:</a:t>
                      </a:r>
                      <a:r>
                        <a:rPr lang="en-US" sz="1200" baseline="0" dirty="0" smtClean="0"/>
                        <a:t> Information technology (IT) Upgrade Project</a:t>
                      </a:r>
                      <a:endParaRPr lang="en-US" sz="12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a16="http://schemas.microsoft.com/office/drawing/2014/main" val="10001"/>
                  </a:ext>
                </a:extLst>
              </a:tr>
              <a:tr h="370840">
                <a:tc>
                  <a:txBody>
                    <a:bodyPr/>
                    <a:lstStyle/>
                    <a:p>
                      <a:r>
                        <a:rPr lang="en-US" sz="1200" b="1" dirty="0" smtClean="0"/>
                        <a:t>WBS Item Number</a:t>
                      </a:r>
                      <a:r>
                        <a:rPr lang="en-US" sz="1200" dirty="0" smtClean="0"/>
                        <a:t>: 2.2</a:t>
                      </a:r>
                      <a:endParaRPr 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AE0FA"/>
                    </a:solidFill>
                  </a:tcPr>
                </a:tc>
                <a:extLst>
                  <a:ext uri="{0D108BD9-81ED-4DB2-BD59-A6C34878D82A}">
                    <a16:rowId xmlns:a16="http://schemas.microsoft.com/office/drawing/2014/main" val="10002"/>
                  </a:ext>
                </a:extLst>
              </a:tr>
              <a:tr h="370840">
                <a:tc>
                  <a:txBody>
                    <a:bodyPr/>
                    <a:lstStyle/>
                    <a:p>
                      <a:r>
                        <a:rPr lang="en-US" sz="1200" b="1" dirty="0" smtClean="0"/>
                        <a:t>WBS</a:t>
                      </a:r>
                      <a:r>
                        <a:rPr lang="en-US" sz="1200" b="1" baseline="0" dirty="0" smtClean="0"/>
                        <a:t> Item Name</a:t>
                      </a:r>
                      <a:r>
                        <a:rPr lang="en-US" sz="1200" baseline="0" dirty="0" smtClean="0"/>
                        <a:t>: Update Database</a:t>
                      </a:r>
                      <a:endParaRPr 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6E9FC"/>
                    </a:solidFill>
                  </a:tcPr>
                </a:tc>
                <a:extLst>
                  <a:ext uri="{0D108BD9-81ED-4DB2-BD59-A6C34878D82A}">
                    <a16:rowId xmlns:a16="http://schemas.microsoft.com/office/drawing/2014/main" val="10003"/>
                  </a:ext>
                </a:extLst>
              </a:tr>
              <a:tr h="370840">
                <a:tc>
                  <a:txBody>
                    <a:bodyPr/>
                    <a:lstStyle/>
                    <a:p>
                      <a:r>
                        <a:rPr lang="en-US" sz="1200" b="1" dirty="0" smtClean="0"/>
                        <a:t>Description:</a:t>
                      </a:r>
                      <a:r>
                        <a:rPr lang="en-US" sz="1200" dirty="0" smtClean="0"/>
                        <a:t> The IT department maintains an online database of hardware and software on the corporate intranet. However, we need to make sure that we know exactly what hardware and software employees are currently using and if they have any unique needs before we decide what to order for the upgrade. This task will involve reviewing information from the current database, producing reports that list each department's employees and location, and updating the data after performing the physical inventory and receiving inputs from department managers. Our project sponsor will send a notice to all department managers to communicate the importance of this project and this particular task. In addition to general hardware and software upgrades, the project sponsors will ask the department managers to provide information for any unique requirements they might have that could affect the upgrades. This task also includes updating the inventory data for network hardware and software. After updating the inventory database, we will send an e-mail to each department manager to verify the information and make changes online as needed. Department managers will be responsible for ensuring that their people are available and cooperative during the physical inventory. Completing this task is dependent on WBS Item Number 2.1, Perform Physical Inventory, and must precede WBS Item Number 3.0, Acquire Hardware and Software.</a:t>
                      </a:r>
                      <a:endParaRPr lang="en-US"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AE0FA"/>
                    </a:solidFill>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0"/>
          </p:nvPr>
        </p:nvSpPr>
        <p:spPr/>
        <p:txBody>
          <a:bodyPr/>
          <a:lstStyle/>
          <a:p>
            <a:pPr>
              <a:defRPr/>
            </a:pPr>
            <a:r>
              <a:rPr lang="en-US" smtClean="0"/>
              <a:t>Information Technology Project Management, Eighth Edition</a:t>
            </a:r>
            <a:endParaRPr lang="en-US" dirty="0"/>
          </a:p>
        </p:txBody>
      </p:sp>
      <p:sp>
        <p:nvSpPr>
          <p:cNvPr id="5" name="Slide Number Placeholder 4"/>
          <p:cNvSpPr>
            <a:spLocks noGrp="1"/>
          </p:cNvSpPr>
          <p:nvPr>
            <p:ph type="sldNum" sz="quarter" idx="11"/>
          </p:nvPr>
        </p:nvSpPr>
        <p:spPr/>
        <p:txBody>
          <a:bodyPr/>
          <a:lstStyle/>
          <a:p>
            <a:pPr>
              <a:defRPr/>
            </a:pPr>
            <a:fld id="{676C0B31-47C3-49FD-8211-A1EA24F16913}" type="slidenum">
              <a:rPr lang="en-US" smtClean="0"/>
              <a:pPr>
                <a:defRPr/>
              </a:pPr>
              <a:t>21</a:t>
            </a:fld>
            <a:endParaRPr lang="en-US" dirty="0"/>
          </a:p>
        </p:txBody>
      </p:sp>
    </p:spTree>
    <p:extLst>
      <p:ext uri="{BB962C8B-B14F-4D97-AF65-F5344CB8AC3E}">
        <p14:creationId xmlns:p14="http://schemas.microsoft.com/office/powerpoint/2010/main" val="8467188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dirty="0" smtClean="0">
                <a:solidFill>
                  <a:srgbClr val="FF0000"/>
                </a:solidFill>
              </a:rPr>
              <a:t>Validating Scope</a:t>
            </a:r>
          </a:p>
        </p:txBody>
      </p:sp>
      <p:sp>
        <p:nvSpPr>
          <p:cNvPr id="35843" name="Rectangle 3"/>
          <p:cNvSpPr>
            <a:spLocks noGrp="1" noChangeArrowheads="1"/>
          </p:cNvSpPr>
          <p:nvPr>
            <p:ph idx="1"/>
          </p:nvPr>
        </p:nvSpPr>
        <p:spPr>
          <a:xfrm>
            <a:off x="609600" y="1705430"/>
            <a:ext cx="11049000" cy="3552371"/>
          </a:xfrm>
        </p:spPr>
        <p:txBody>
          <a:bodyPr/>
          <a:lstStyle/>
          <a:p>
            <a:pPr>
              <a:lnSpc>
                <a:spcPct val="90000"/>
              </a:lnSpc>
            </a:pPr>
            <a:r>
              <a:rPr lang="en-US" b="1" dirty="0"/>
              <a:t>Validate Scope</a:t>
            </a:r>
            <a:r>
              <a:rPr lang="en-US" dirty="0"/>
              <a:t> is the process of </a:t>
            </a:r>
            <a:r>
              <a:rPr lang="en-US" b="1" dirty="0"/>
              <a:t>formalizing acceptance</a:t>
            </a:r>
            <a:r>
              <a:rPr lang="en-US" dirty="0"/>
              <a:t> of the completed project deliverables.</a:t>
            </a:r>
            <a:endParaRPr lang="en-US" dirty="0" smtClean="0"/>
          </a:p>
          <a:p>
            <a:pPr>
              <a:lnSpc>
                <a:spcPct val="90000"/>
              </a:lnSpc>
            </a:pPr>
            <a:r>
              <a:rPr lang="en-US" dirty="0" smtClean="0"/>
              <a:t>Acceptance is often achieved by a customer inspection and then sign-off on key deliverables</a:t>
            </a:r>
          </a:p>
          <a:p>
            <a:pPr>
              <a:lnSpc>
                <a:spcPct val="90000"/>
              </a:lnSpc>
            </a:pPr>
            <a:endParaRPr lang="en-US" sz="2400" dirty="0"/>
          </a:p>
          <a:p>
            <a:pPr>
              <a:lnSpc>
                <a:spcPct val="90000"/>
              </a:lnSpc>
            </a:pPr>
            <a:r>
              <a:rPr lang="en-US" sz="2400" dirty="0"/>
              <a:t>Validating scope means checking deliverables with stakeholders, getting formal approval, and making sure the project is building exactly what was promised.</a:t>
            </a:r>
          </a:p>
        </p:txBody>
      </p:sp>
      <p:sp>
        <p:nvSpPr>
          <p:cNvPr id="35844"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41615BF9-3FF1-4053-BEA1-4C2B00685CB3}" type="slidenum">
              <a:rPr lang="en-US" smtClean="0"/>
              <a:pPr>
                <a:defRPr/>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dirty="0" smtClean="0">
                <a:solidFill>
                  <a:srgbClr val="FF0000"/>
                </a:solidFill>
              </a:rPr>
              <a:t>Controlling Scope</a:t>
            </a:r>
          </a:p>
        </p:txBody>
      </p:sp>
      <p:sp>
        <p:nvSpPr>
          <p:cNvPr id="36867" name="Rectangle 3"/>
          <p:cNvSpPr>
            <a:spLocks noGrp="1" noChangeArrowheads="1"/>
          </p:cNvSpPr>
          <p:nvPr>
            <p:ph idx="1"/>
          </p:nvPr>
        </p:nvSpPr>
        <p:spPr>
          <a:xfrm>
            <a:off x="838200" y="1481138"/>
            <a:ext cx="5410200" cy="4462462"/>
          </a:xfrm>
        </p:spPr>
        <p:txBody>
          <a:bodyPr/>
          <a:lstStyle/>
          <a:p>
            <a:r>
              <a:rPr lang="en-US" dirty="0" smtClean="0"/>
              <a:t>Scope control involves controlling changes to the project scope</a:t>
            </a:r>
          </a:p>
          <a:p>
            <a:r>
              <a:rPr lang="en-US" dirty="0"/>
              <a:t>Control Scope means </a:t>
            </a:r>
            <a:r>
              <a:rPr lang="en-US" u="sng" dirty="0"/>
              <a:t>keeping the project on track </a:t>
            </a:r>
            <a:r>
              <a:rPr lang="en-US" dirty="0"/>
              <a:t>by only working on approved requirements, and carefully managing any requested changes</a:t>
            </a:r>
            <a:r>
              <a:rPr lang="en-US" dirty="0" smtClean="0"/>
              <a:t>.</a:t>
            </a:r>
          </a:p>
        </p:txBody>
      </p:sp>
      <p:sp>
        <p:nvSpPr>
          <p:cNvPr id="36868"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FA2787EA-4FDC-4AD1-A8FA-09B43D31602B}" type="slidenum">
              <a:rPr lang="en-US" smtClean="0"/>
              <a:pPr>
                <a:defRPr/>
              </a:pPr>
              <a:t>23</a:t>
            </a:fld>
            <a:endParaRPr lang="en-US" dirty="0"/>
          </a:p>
        </p:txBody>
      </p:sp>
      <p:sp>
        <p:nvSpPr>
          <p:cNvPr id="2" name="Rectangle 1"/>
          <p:cNvSpPr/>
          <p:nvPr/>
        </p:nvSpPr>
        <p:spPr>
          <a:xfrm>
            <a:off x="6405283" y="2465725"/>
            <a:ext cx="5791200" cy="3477875"/>
          </a:xfrm>
          <a:prstGeom prst="rect">
            <a:avLst/>
          </a:prstGeom>
        </p:spPr>
        <p:txBody>
          <a:bodyPr wrap="square">
            <a:spAutoFit/>
          </a:bodyPr>
          <a:lstStyle/>
          <a:p>
            <a:r>
              <a:rPr lang="en-US" b="1" dirty="0"/>
              <a:t>Example (IT Project – Mobile App)</a:t>
            </a:r>
          </a:p>
          <a:p>
            <a:pPr>
              <a:buFont typeface="Arial" panose="020B0604020202020204" pitchFamily="34" charset="0"/>
              <a:buChar char="•"/>
            </a:pPr>
            <a:r>
              <a:rPr lang="en-US" dirty="0">
                <a:solidFill>
                  <a:srgbClr val="FF0000"/>
                </a:solidFill>
              </a:rPr>
              <a:t>Scope baseline: </a:t>
            </a:r>
            <a:r>
              <a:rPr lang="en-US" dirty="0"/>
              <a:t>App must have login, profile, and messaging features.</a:t>
            </a:r>
          </a:p>
          <a:p>
            <a:pPr>
              <a:buFont typeface="Arial" panose="020B0604020202020204" pitchFamily="34" charset="0"/>
              <a:buChar char="•"/>
            </a:pPr>
            <a:r>
              <a:rPr lang="en-US" dirty="0"/>
              <a:t>During execution, a stakeholder asks for “dark mode” (not in requirements).</a:t>
            </a:r>
          </a:p>
          <a:p>
            <a:pPr>
              <a:buFont typeface="Arial" panose="020B0604020202020204" pitchFamily="34" charset="0"/>
              <a:buChar char="•"/>
            </a:pPr>
            <a:r>
              <a:rPr lang="en-US" b="1" dirty="0"/>
              <a:t>Control Scope</a:t>
            </a:r>
            <a:r>
              <a:rPr lang="en-US" dirty="0"/>
              <a:t> process:</a:t>
            </a:r>
          </a:p>
          <a:p>
            <a:pPr marL="742950" lvl="1" indent="-285750">
              <a:buFont typeface="Arial" panose="020B0604020202020204" pitchFamily="34" charset="0"/>
              <a:buChar char="•"/>
            </a:pPr>
            <a:r>
              <a:rPr lang="en-US" dirty="0"/>
              <a:t>Evaluate request.</a:t>
            </a:r>
          </a:p>
          <a:p>
            <a:pPr marL="742950" lvl="1" indent="-285750">
              <a:buFont typeface="Arial" panose="020B0604020202020204" pitchFamily="34" charset="0"/>
              <a:buChar char="•"/>
            </a:pPr>
            <a:r>
              <a:rPr lang="en-US" dirty="0"/>
              <a:t>Check impact on time, cost, resources.</a:t>
            </a:r>
          </a:p>
          <a:p>
            <a:pPr marL="742950" lvl="1" indent="-285750">
              <a:buFont typeface="Arial" panose="020B0604020202020204" pitchFamily="34" charset="0"/>
              <a:buChar char="•"/>
            </a:pPr>
            <a:r>
              <a:rPr lang="en-US" dirty="0"/>
              <a:t>Approve or reject formally.</a:t>
            </a:r>
          </a:p>
          <a:p>
            <a:pPr marL="742950" lvl="1" indent="-285750">
              <a:buFont typeface="Arial" panose="020B0604020202020204" pitchFamily="34" charset="0"/>
              <a:buChar char="•"/>
            </a:pPr>
            <a:r>
              <a:rPr lang="en-US" dirty="0"/>
              <a:t>Update documents if approved.</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09600" y="228600"/>
            <a:ext cx="9601200" cy="1143000"/>
          </a:xfrm>
        </p:spPr>
        <p:txBody>
          <a:bodyPr/>
          <a:lstStyle/>
          <a:p>
            <a:r>
              <a:rPr lang="en-US" dirty="0" smtClean="0"/>
              <a:t>Summary</a:t>
            </a:r>
          </a:p>
        </p:txBody>
      </p:sp>
      <p:sp>
        <p:nvSpPr>
          <p:cNvPr id="43011" name="Rectangle 3"/>
          <p:cNvSpPr>
            <a:spLocks noGrp="1" noChangeArrowheads="1"/>
          </p:cNvSpPr>
          <p:nvPr>
            <p:ph idx="1"/>
          </p:nvPr>
        </p:nvSpPr>
        <p:spPr>
          <a:xfrm>
            <a:off x="1143000" y="1481138"/>
            <a:ext cx="10308168" cy="4614862"/>
          </a:xfrm>
        </p:spPr>
        <p:txBody>
          <a:bodyPr/>
          <a:lstStyle/>
          <a:p>
            <a:r>
              <a:rPr lang="en-US" dirty="0" smtClean="0"/>
              <a:t>Project scope management includes the processes required to ensure that the project addresses all the work required, and only the work required, to complete the project successfully</a:t>
            </a:r>
          </a:p>
          <a:p>
            <a:r>
              <a:rPr lang="en-US" dirty="0" smtClean="0"/>
              <a:t>Main processes include</a:t>
            </a:r>
          </a:p>
          <a:p>
            <a:pPr lvl="1"/>
            <a:r>
              <a:rPr lang="en-US" dirty="0" smtClean="0"/>
              <a:t>Define scope management</a:t>
            </a:r>
          </a:p>
          <a:p>
            <a:pPr lvl="1"/>
            <a:r>
              <a:rPr lang="en-US" dirty="0" smtClean="0"/>
              <a:t>Collect requirements</a:t>
            </a:r>
          </a:p>
          <a:p>
            <a:pPr lvl="1"/>
            <a:r>
              <a:rPr lang="en-US" dirty="0" smtClean="0"/>
              <a:t>Define scope</a:t>
            </a:r>
          </a:p>
          <a:p>
            <a:pPr lvl="1"/>
            <a:r>
              <a:rPr lang="en-US" dirty="0" smtClean="0"/>
              <a:t>Create WBS</a:t>
            </a:r>
          </a:p>
          <a:p>
            <a:pPr lvl="1"/>
            <a:r>
              <a:rPr lang="en-US" dirty="0" smtClean="0"/>
              <a:t>Validate scope</a:t>
            </a:r>
          </a:p>
          <a:p>
            <a:pPr lvl="1"/>
            <a:r>
              <a:rPr lang="en-US" dirty="0" smtClean="0"/>
              <a:t>Control scope</a:t>
            </a:r>
          </a:p>
        </p:txBody>
      </p:sp>
      <p:sp>
        <p:nvSpPr>
          <p:cNvPr id="43012"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Eighth Edition</a:t>
            </a:r>
            <a:endParaRPr lang="en-US" dirty="0" smtClean="0"/>
          </a:p>
        </p:txBody>
      </p:sp>
      <p:sp>
        <p:nvSpPr>
          <p:cNvPr id="8" name="Slide Number Placeholder 7"/>
          <p:cNvSpPr>
            <a:spLocks noGrp="1"/>
          </p:cNvSpPr>
          <p:nvPr>
            <p:ph type="sldNum" sz="quarter" idx="11"/>
          </p:nvPr>
        </p:nvSpPr>
        <p:spPr/>
        <p:txBody>
          <a:bodyPr/>
          <a:lstStyle/>
          <a:p>
            <a:pPr>
              <a:defRPr/>
            </a:pPr>
            <a:fld id="{5B88E6DB-F3C7-46D8-83C9-70FD224F3622}" type="slidenum">
              <a:rPr lang="en-US" smtClean="0"/>
              <a:pPr>
                <a:defRPr/>
              </a:pPr>
              <a:t>24</a:t>
            </a:fld>
            <a:endParaRPr lang="en-US"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2449</TotalTime>
  <Words>1876</Words>
  <Application>Microsoft Office PowerPoint</Application>
  <PresentationFormat>Widescreen</PresentationFormat>
  <Paragraphs>190</Paragraphs>
  <Slides>24</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24</vt:i4>
      </vt:variant>
    </vt:vector>
  </HeadingPairs>
  <TitlesOfParts>
    <vt:vector size="36" baseType="lpstr">
      <vt:lpstr>Arial</vt:lpstr>
      <vt:lpstr>Arial Rounded MT Bold</vt:lpstr>
      <vt:lpstr>Calibri</vt:lpstr>
      <vt:lpstr>Courier New</vt:lpstr>
      <vt:lpstr>Lucida Sans Unicode</vt:lpstr>
      <vt:lpstr>Times New Roman</vt:lpstr>
      <vt:lpstr>Verdana</vt:lpstr>
      <vt:lpstr>Wingdings</vt:lpstr>
      <vt:lpstr>Wingdings 2</vt:lpstr>
      <vt:lpstr>Wingdings 3</vt:lpstr>
      <vt:lpstr>Custom Design</vt:lpstr>
      <vt:lpstr>Theme1</vt:lpstr>
      <vt:lpstr>Project Scope Management</vt:lpstr>
      <vt:lpstr>What is Project Scope Management?</vt:lpstr>
      <vt:lpstr>Project Scope Management Processes</vt:lpstr>
      <vt:lpstr>Project Scope Management Summary</vt:lpstr>
      <vt:lpstr>Planning Scope Management</vt:lpstr>
      <vt:lpstr>Scope Management Plan Contents</vt:lpstr>
      <vt:lpstr>Requirements Management Plan</vt:lpstr>
      <vt:lpstr>Collecting Requirements</vt:lpstr>
      <vt:lpstr>Methods for Collecting Requirements</vt:lpstr>
      <vt:lpstr>Requirements Traceability Matrix</vt:lpstr>
      <vt:lpstr>Defining Scope</vt:lpstr>
      <vt:lpstr>Sample Project Charter (partial)</vt:lpstr>
      <vt:lpstr>Adding Project Scope</vt:lpstr>
      <vt:lpstr>Creating the Work Breakdown Structure (WBS)</vt:lpstr>
      <vt:lpstr>Structure of WBS</vt:lpstr>
      <vt:lpstr>Work Breakdown Structure Example</vt:lpstr>
      <vt:lpstr>Sample Intranet WBS Organized by Phase</vt:lpstr>
      <vt:lpstr>Approaches to Developing WBSs</vt:lpstr>
      <vt:lpstr>Sample Mind-Mapping Approach for Creating a WBS</vt:lpstr>
      <vt:lpstr>The WBS Dictionary and Scope Baseline</vt:lpstr>
      <vt:lpstr>Sample WBS Dictionary Entry</vt:lpstr>
      <vt:lpstr>Validating Scope</vt:lpstr>
      <vt:lpstr>Controlling Scope</vt:lpstr>
      <vt:lpstr>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Windows User</cp:lastModifiedBy>
  <cp:revision>211</cp:revision>
  <dcterms:created xsi:type="dcterms:W3CDTF">2001-07-05T23:10:12Z</dcterms:created>
  <dcterms:modified xsi:type="dcterms:W3CDTF">2025-09-24T11:21:55Z</dcterms:modified>
</cp:coreProperties>
</file>