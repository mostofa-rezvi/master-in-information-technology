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58" r:id="rId2"/>
    <p:sldMasterId id="2147483870" r:id="rId3"/>
  </p:sldMasterIdLst>
  <p:notesMasterIdLst>
    <p:notesMasterId r:id="rId52"/>
  </p:notesMasterIdLst>
  <p:handoutMasterIdLst>
    <p:handoutMasterId r:id="rId53"/>
  </p:handoutMasterIdLst>
  <p:sldIdLst>
    <p:sldId id="396" r:id="rId4"/>
    <p:sldId id="336" r:id="rId5"/>
    <p:sldId id="340" r:id="rId6"/>
    <p:sldId id="387" r:id="rId7"/>
    <p:sldId id="391" r:id="rId8"/>
    <p:sldId id="341" r:id="rId9"/>
    <p:sldId id="342"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3" r:id="rId29"/>
    <p:sldId id="364" r:id="rId30"/>
    <p:sldId id="409" r:id="rId31"/>
    <p:sldId id="410" r:id="rId32"/>
    <p:sldId id="397" r:id="rId33"/>
    <p:sldId id="400" r:id="rId34"/>
    <p:sldId id="399" r:id="rId35"/>
    <p:sldId id="401" r:id="rId36"/>
    <p:sldId id="402" r:id="rId37"/>
    <p:sldId id="404" r:id="rId38"/>
    <p:sldId id="405" r:id="rId39"/>
    <p:sldId id="407" r:id="rId40"/>
    <p:sldId id="372" r:id="rId41"/>
    <p:sldId id="373" r:id="rId42"/>
    <p:sldId id="375" r:id="rId43"/>
    <p:sldId id="377" r:id="rId44"/>
    <p:sldId id="378" r:id="rId45"/>
    <p:sldId id="395" r:id="rId46"/>
    <p:sldId id="379" r:id="rId47"/>
    <p:sldId id="380" r:id="rId48"/>
    <p:sldId id="381" r:id="rId49"/>
    <p:sldId id="382" r:id="rId50"/>
    <p:sldId id="386" r:id="rId51"/>
  </p:sldIdLst>
  <p:sldSz cx="12192000" cy="6858000"/>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4FE"/>
    <a:srgbClr val="A9E1F7"/>
    <a:srgbClr val="00B6F0"/>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469" autoAdjust="0"/>
    <p:restoredTop sz="86427" autoAdjust="0"/>
  </p:normalViewPr>
  <p:slideViewPr>
    <p:cSldViewPr>
      <p:cViewPr varScale="1">
        <p:scale>
          <a:sx n="96" d="100"/>
          <a:sy n="96" d="100"/>
        </p:scale>
        <p:origin x="1752"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E7B4F1CC-2762-4A50-BFA6-AF4F471C3C68}" type="slidenum">
              <a:rPr lang="en-US"/>
              <a:pPr>
                <a:defRPr/>
              </a:pPr>
              <a:t>‹#›</a:t>
            </a:fld>
            <a:endParaRPr lang="en-US" dirty="0"/>
          </a:p>
        </p:txBody>
      </p:sp>
    </p:spTree>
    <p:extLst>
      <p:ext uri="{BB962C8B-B14F-4D97-AF65-F5344CB8AC3E}">
        <p14:creationId xmlns:p14="http://schemas.microsoft.com/office/powerpoint/2010/main" val="2665740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6451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CF3EBEAF-6895-428A-8971-6FD8257AC81C}" type="slidenum">
              <a:rPr lang="en-US"/>
              <a:pPr>
                <a:defRPr/>
              </a:pPr>
              <a:t>‹#›</a:t>
            </a:fld>
            <a:endParaRPr lang="en-US" dirty="0"/>
          </a:p>
        </p:txBody>
      </p:sp>
    </p:spTree>
    <p:extLst>
      <p:ext uri="{BB962C8B-B14F-4D97-AF65-F5344CB8AC3E}">
        <p14:creationId xmlns:p14="http://schemas.microsoft.com/office/powerpoint/2010/main" val="27817955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381000" y="685800"/>
            <a:ext cx="6096000" cy="3429000"/>
          </a:xfrm>
          <a:ln/>
        </p:spPr>
      </p:sp>
      <p:sp>
        <p:nvSpPr>
          <p:cNvPr id="59395" name="Notes Placeholder 2"/>
          <p:cNvSpPr>
            <a:spLocks noGrp="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1" kern="1200" dirty="0" smtClean="0">
              <a:solidFill>
                <a:schemeClr val="tx2"/>
              </a:solidFill>
              <a:effectLst>
                <a:outerShdw blurRad="38100" dist="38100" dir="2700000" algn="tl">
                  <a:srgbClr val="FFFFFF"/>
                </a:outerShdw>
              </a:effectLst>
              <a:latin typeface="Arial Rounded MT Bold" pitchFamily="34" charset="0"/>
              <a:ea typeface="+mn-ea"/>
              <a:cs typeface="+mn-cs"/>
            </a:endParaRPr>
          </a:p>
        </p:txBody>
      </p:sp>
      <p:sp>
        <p:nvSpPr>
          <p:cNvPr id="59396"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EC327F-7E80-4D08-B8B0-0F574A3B94BC}" type="slidenum">
              <a:rPr kumimoji="0" 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smtClean="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219950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F3EBEAF-6895-428A-8971-6FD8257AC81C}" type="slidenum">
              <a:rPr lang="en-US" smtClean="0"/>
              <a:pPr>
                <a:defRPr/>
              </a:pPr>
              <a:t>2</a:t>
            </a:fld>
            <a:endParaRPr lang="en-US" dirty="0"/>
          </a:p>
        </p:txBody>
      </p:sp>
    </p:spTree>
    <p:extLst>
      <p:ext uri="{BB962C8B-B14F-4D97-AF65-F5344CB8AC3E}">
        <p14:creationId xmlns:p14="http://schemas.microsoft.com/office/powerpoint/2010/main" val="559563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0F4D64B7-11BE-4AAB-A1A2-20471B7113C1}" type="slidenum">
              <a:rPr lang="en-US" smtClean="0"/>
              <a:pPr/>
              <a:t>11</a:t>
            </a:fld>
            <a:endParaRPr lang="en-US" dirty="0" smtClean="0"/>
          </a:p>
        </p:txBody>
      </p:sp>
      <p:sp>
        <p:nvSpPr>
          <p:cNvPr id="66563"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66564" name="Rectangle 3"/>
          <p:cNvSpPr>
            <a:spLocks noGrp="1" noChangeArrowheads="1"/>
          </p:cNvSpPr>
          <p:nvPr>
            <p:ph type="body" idx="1"/>
          </p:nvPr>
        </p:nvSpPr>
        <p:spPr>
          <a:solidFill>
            <a:srgbClr val="FFFFFF"/>
          </a:solidFill>
          <a:ln>
            <a:solidFill>
              <a:srgbClr val="000000"/>
            </a:solidFill>
          </a:ln>
        </p:spPr>
        <p:txBody>
          <a:bodyPr/>
          <a:lstStyle/>
          <a:p>
            <a:endParaRPr lang="en-US" dirty="0" smtClean="0"/>
          </a:p>
        </p:txBody>
      </p:sp>
    </p:spTree>
    <p:extLst>
      <p:ext uri="{BB962C8B-B14F-4D97-AF65-F5344CB8AC3E}">
        <p14:creationId xmlns:p14="http://schemas.microsoft.com/office/powerpoint/2010/main" val="785461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themeOverride" Target="../theme/themeOverride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DFEA177-C202-48BA-AF4D-2645A8CF6F9F}"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C9C870F-4AB0-48EA-9ACA-4E0C1250B96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4B66BDA-B7BA-440B-BF34-F6DF8DFF61F9}"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A491FBB-05A9-4CEA-9627-761E2FCF9D81}"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1EC25135-0D65-4FDE-A603-3A297B6B4037}"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486EC8A9-E05A-438D-BA48-FA908318F65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C63C376F-9D73-4343-8401-E824D78AA17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7DFFDD6-B46B-48EF-A55E-B5A0FBF60447}"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91D75B6-C890-4F77-8E54-C3ED368CAA62}"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F89822F-469C-4E72-8161-9668E37E21AA}"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9F2EC78-DC8E-458A-B3A2-8620E36F414E}"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grpSp>
        <p:nvGrpSpPr>
          <p:cNvPr id="2" name="Group 15"/>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129213C3-25F8-4CC4-AF1E-FFB11A2B0C96}"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a:xfrm>
            <a:off x="0" y="0"/>
            <a:ext cx="12192000" cy="990600"/>
          </a:xfrm>
        </p:spPr>
        <p:txBody>
          <a:bodyPr rtlCol="0"/>
          <a:lstStyle/>
          <a:p>
            <a:r>
              <a:rPr lang="en-US" dirty="0" smtClean="0"/>
              <a:t>Click to edit Master title style</a:t>
            </a:r>
            <a:endParaRPr lang="en-US" dirty="0"/>
          </a:p>
        </p:txBody>
      </p:sp>
      <p:sp>
        <p:nvSpPr>
          <p:cNvPr id="3" name="Content Placeholder 2"/>
          <p:cNvSpPr>
            <a:spLocks noGrp="1"/>
          </p:cNvSpPr>
          <p:nvPr>
            <p:ph idx="1"/>
          </p:nvPr>
        </p:nvSpPr>
        <p:spPr>
          <a:xfrm>
            <a:off x="101600" y="1066800"/>
            <a:ext cx="11988800" cy="48768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17"/>
          <p:cNvSpPr>
            <a:spLocks noGrp="1"/>
          </p:cNvSpPr>
          <p:nvPr>
            <p:ph type="sldNum" sz="quarter" idx="11"/>
          </p:nvPr>
        </p:nvSpPr>
        <p:spPr>
          <a:xfrm>
            <a:off x="11451168" y="6492876"/>
            <a:ext cx="740833" cy="365125"/>
          </a:xfrm>
        </p:spPr>
        <p:txBody>
          <a:bodyPr/>
          <a:lstStyle>
            <a:lvl1pPr>
              <a:buFontTx/>
              <a:buNone/>
              <a:defRPr sz="1200">
                <a:latin typeface="+mn-lt"/>
              </a:defRPr>
            </a:lvl1pPr>
          </a:lstStyle>
          <a:p>
            <a:pPr>
              <a:defRPr/>
            </a:pPr>
            <a:fld id="{DC5EDC1C-DD06-4243-A0F6-5A02A43274AD}" type="slidenum">
              <a:rPr lang="en-US" smtClean="0"/>
              <a:pPr>
                <a:defRPr/>
              </a:pPr>
              <a:t>‹#›</a:t>
            </a:fld>
            <a:endParaRPr lang="en-US" dirty="0"/>
          </a:p>
        </p:txBody>
      </p:sp>
      <p:sp>
        <p:nvSpPr>
          <p:cNvPr id="9" name="Footer Placeholder 6"/>
          <p:cNvSpPr txBox="1">
            <a:spLocks/>
          </p:cNvSpPr>
          <p:nvPr userDrawn="1"/>
        </p:nvSpPr>
        <p:spPr bwMode="auto">
          <a:xfrm>
            <a:off x="0" y="6492876"/>
            <a:ext cx="3454400" cy="365125"/>
          </a:xfrm>
          <a:prstGeom prst="rect">
            <a:avLst/>
          </a:prstGeom>
          <a:noFill/>
          <a:ln>
            <a:miter lim="800000"/>
            <a:headEnd/>
            <a:tailEnd/>
          </a:ln>
        </p:spPr>
        <p:txBody>
          <a:bodyPr vert="horz" anchor="b"/>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smtClean="0">
                <a:ln>
                  <a:noFill/>
                </a:ln>
                <a:solidFill>
                  <a:schemeClr val="tx1"/>
                </a:solidFill>
                <a:effectLst/>
                <a:uLnTx/>
                <a:uFillTx/>
                <a:latin typeface="Arial" charset="0"/>
                <a:ea typeface="+mn-ea"/>
                <a:cs typeface="+mn-cs"/>
              </a:rPr>
              <a:t>Information Technology Project Management, Eighth Edition</a:t>
            </a:r>
          </a:p>
        </p:txBody>
      </p:sp>
      <p:sp>
        <p:nvSpPr>
          <p:cNvPr id="4" name="Footer Placeholder 21"/>
          <p:cNvSpPr txBox="1">
            <a:spLocks/>
          </p:cNvSpPr>
          <p:nvPr/>
        </p:nvSpPr>
        <p:spPr>
          <a:xfrm>
            <a:off x="7315200" y="6492876"/>
            <a:ext cx="2133600" cy="365125"/>
          </a:xfrm>
          <a:prstGeom prst="rect">
            <a:avLst/>
          </a:prstGeom>
        </p:spPr>
        <p:txBody>
          <a:bodyPr anchor="b"/>
          <a:lstStyle>
            <a:lvl1pPr algn="l">
              <a:buFontTx/>
              <a:buNone/>
              <a:defRPr smtClean="0"/>
            </a:lvl1pPr>
          </a:lstStyle>
          <a:p>
            <a:pPr>
              <a:defRPr/>
            </a:pPr>
            <a:r>
              <a:rPr lang="en-US" sz="1200" dirty="0">
                <a:latin typeface="+mn-lt"/>
              </a:rPr>
              <a:t>Copyright </a:t>
            </a:r>
            <a:r>
              <a:rPr lang="en-US" sz="1200" dirty="0" smtClean="0">
                <a:latin typeface="+mn-lt"/>
              </a:rPr>
              <a:t>2016</a:t>
            </a:r>
            <a:endParaRPr lang="en-US" sz="1200" dirty="0">
              <a:latin typeface="+mn-l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65C8C67B-79E0-4B03-B548-F16276F862A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97BB675E-CD20-4C54-8399-39A650F866BA}"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D4748EE6-6B0B-4557-BE05-F13259545733}"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8F8CC0BE-5FF1-4C81-A1E4-B20E45CD56ED}"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66D02AE8-0F98-4760-A7D3-E3FB9149980D}"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B105FC69-1F0D-4295-BEAF-FB708C736AC1}"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6" name="Freeform 5"/>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7" name="Right Triangle 6"/>
          <p:cNvSpPr>
            <a:spLocks/>
          </p:cNvSpPr>
          <p:nvPr/>
        </p:nvSpPr>
        <p:spPr bwMode="auto">
          <a:xfrm>
            <a:off x="-8056" y="5791253"/>
            <a:ext cx="4536419"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smtClean="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601E5F35-7DC0-482B-828C-42B387541D4D}"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28A6C5CD-ACCB-4EFC-BFDB-1031EBD9A9AB}"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C7A9624F-B5B9-4CA5-BE26-992B54613FF3}"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grpSp>
        <p:nvGrpSpPr>
          <p:cNvPr id="2" name="Group 15"/>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smtClean="0">
                <a:solidFill>
                  <a:srgbClr val="2DA2BF">
                    <a:tint val="20000"/>
                  </a:srgbClr>
                </a:solidFill>
              </a:rPr>
              <a:t>Information Technology Project Management, Eighth Edition</a:t>
            </a:r>
            <a:endParaRPr lang="en-US" dirty="0">
              <a:solidFill>
                <a:srgbClr val="2DA2BF">
                  <a:tint val="20000"/>
                </a:srgbClr>
              </a:solidFill>
            </a:endParaRP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99C9FF7E-57B2-43A2-BA09-B73DB1F96FF2}" type="slidenum">
              <a:rPr lang="en-US" smtClean="0"/>
              <a:pPr>
                <a:defRPr/>
              </a:pPr>
              <a:t>‹#›</a:t>
            </a:fld>
            <a:endParaRPr lang="en-US" dirty="0"/>
          </a:p>
        </p:txBody>
      </p:sp>
    </p:spTree>
    <p:extLst>
      <p:ext uri="{BB962C8B-B14F-4D97-AF65-F5344CB8AC3E}">
        <p14:creationId xmlns:p14="http://schemas.microsoft.com/office/powerpoint/2010/main" val="24346898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7315200" y="6492876"/>
            <a:ext cx="2133600" cy="365125"/>
          </a:xfrm>
          <a:prstGeom prst="rect">
            <a:avLst/>
          </a:prstGeom>
        </p:spPr>
        <p:txBody>
          <a:bodyPr anchor="b"/>
          <a:lstStyle>
            <a:lvl1pPr algn="l">
              <a:buFontTx/>
              <a:buNone/>
              <a:defRPr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Copyright </a:t>
            </a:r>
            <a:r>
              <a:rPr kumimoji="0" lang="en-US" sz="1200" b="0" i="0" u="none" strike="noStrike" kern="1200" cap="none" spc="0" normalizeH="0" baseline="0" noProof="0" dirty="0" smtClean="0">
                <a:ln>
                  <a:noFill/>
                </a:ln>
                <a:solidFill>
                  <a:prstClr val="black"/>
                </a:solidFill>
                <a:effectLst/>
                <a:uLnTx/>
                <a:uFillTx/>
                <a:latin typeface="Arial"/>
                <a:ea typeface="+mn-ea"/>
                <a:cs typeface="+mn-cs"/>
              </a:rPr>
              <a:t>2016</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p>
            <a:r>
              <a:rPr lang="en-US" smtClean="0"/>
              <a:t>Click to edit Master title style</a:t>
            </a:r>
            <a:endParaRPr lang="en-US" dirty="0"/>
          </a:p>
        </p:txBody>
      </p:sp>
      <p:sp>
        <p:nvSpPr>
          <p:cNvPr id="5" name="Footer Placeholder 21"/>
          <p:cNvSpPr>
            <a:spLocks noGrp="1"/>
          </p:cNvSpPr>
          <p:nvPr>
            <p:ph type="ftr" sz="quarter" idx="10"/>
          </p:nvPr>
        </p:nvSpPr>
        <p:spPr>
          <a:xfrm>
            <a:off x="0" y="6492876"/>
            <a:ext cx="3454400" cy="365125"/>
          </a:xfrm>
        </p:spPr>
        <p:txBody>
          <a:bodyPr/>
          <a:lstStyle>
            <a:lvl1pPr algn="l">
              <a:buFontTx/>
              <a:buNone/>
              <a:defRPr sz="1200">
                <a:latin typeface="+mn-lt"/>
              </a:defRPr>
            </a:lvl1pPr>
          </a:lstStyle>
          <a:p>
            <a:pPr>
              <a:defRPr/>
            </a:pPr>
            <a:r>
              <a:rPr lang="en-US" smtClean="0">
                <a:solidFill>
                  <a:prstClr val="black"/>
                </a:solidFill>
              </a:rPr>
              <a:t>Information Technology Project Management, Eighth Edition</a:t>
            </a:r>
            <a:endParaRPr lang="en-US" dirty="0">
              <a:solidFill>
                <a:prstClr val="black"/>
              </a:solidFill>
            </a:endParaRPr>
          </a:p>
        </p:txBody>
      </p:sp>
      <p:sp>
        <p:nvSpPr>
          <p:cNvPr id="6" name="Slide Number Placeholder 17"/>
          <p:cNvSpPr>
            <a:spLocks noGrp="1"/>
          </p:cNvSpPr>
          <p:nvPr>
            <p:ph type="sldNum" sz="quarter" idx="11"/>
          </p:nvPr>
        </p:nvSpPr>
        <p:spPr>
          <a:xfrm>
            <a:off x="11451168" y="6492876"/>
            <a:ext cx="740833" cy="365125"/>
          </a:xfrm>
        </p:spPr>
        <p:txBody>
          <a:bodyPr/>
          <a:lstStyle>
            <a:lvl1pPr>
              <a:buFontTx/>
              <a:buNone/>
              <a:defRPr sz="1200">
                <a:latin typeface="+mn-lt"/>
              </a:defRPr>
            </a:lvl1pPr>
          </a:lstStyle>
          <a:p>
            <a:pPr>
              <a:defRPr/>
            </a:pPr>
            <a:fld id="{D4FD9659-824B-46C0-8A9A-C90F38C1F825}"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34270912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solidFill>
                <a:prstClr val="white"/>
              </a:solidFill>
            </a:endParaRPr>
          </a:p>
        </p:txBody>
      </p:sp>
      <p:sp>
        <p:nvSpPr>
          <p:cNvPr id="7" name="Footer Placeholder 4"/>
          <p:cNvSpPr>
            <a:spLocks noGrp="1"/>
          </p:cNvSpPr>
          <p:nvPr>
            <p:ph type="ftr" sz="quarter" idx="11"/>
          </p:nvPr>
        </p:nvSpPr>
        <p:spPr/>
        <p:txBody>
          <a:bodyPr/>
          <a:lstStyle>
            <a:lvl1pPr>
              <a:defRPr/>
            </a:lvl1pPr>
            <a:extLst/>
          </a:lstStyle>
          <a:p>
            <a:pPr>
              <a:defRPr/>
            </a:pPr>
            <a:r>
              <a:rPr lang="en-US" smtClean="0">
                <a:solidFill>
                  <a:prstClr val="white"/>
                </a:solidFill>
              </a:rPr>
              <a:t>Information Technology Project Management, Eighth Edition</a:t>
            </a:r>
            <a:endParaRPr lang="en-US" dirty="0">
              <a:solidFill>
                <a:prstClr val="white"/>
              </a:solidFill>
            </a:endParaRPr>
          </a:p>
        </p:txBody>
      </p:sp>
      <p:sp>
        <p:nvSpPr>
          <p:cNvPr id="8" name="Slide Number Placeholder 5"/>
          <p:cNvSpPr>
            <a:spLocks noGrp="1"/>
          </p:cNvSpPr>
          <p:nvPr>
            <p:ph type="sldNum" sz="quarter" idx="12"/>
          </p:nvPr>
        </p:nvSpPr>
        <p:spPr/>
        <p:txBody>
          <a:bodyPr/>
          <a:lstStyle>
            <a:lvl1pPr>
              <a:defRPr/>
            </a:lvl1pPr>
            <a:extLst/>
          </a:lstStyle>
          <a:p>
            <a:pPr>
              <a:defRPr/>
            </a:pPr>
            <a:fld id="{2799675F-4A93-44A1-8896-452D54AE32F2}" type="slidenum">
              <a:rPr lang="en-US" smtClean="0">
                <a:solidFill>
                  <a:prstClr val="white"/>
                </a:solidFill>
              </a:rPr>
              <a:pPr>
                <a:defRPr/>
              </a:pPr>
              <a:t>‹#›</a:t>
            </a:fld>
            <a:endParaRPr lang="en-US" dirty="0">
              <a:solidFill>
                <a:prstClr val="white"/>
              </a:solidFill>
            </a:endParaRPr>
          </a:p>
        </p:txBody>
      </p:sp>
    </p:spTree>
    <p:extLst>
      <p:ext uri="{BB962C8B-B14F-4D97-AF65-F5344CB8AC3E}">
        <p14:creationId xmlns:p14="http://schemas.microsoft.com/office/powerpoint/2010/main" val="701214499"/>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solidFill>
                <a:prstClr val="white"/>
              </a:solidFill>
            </a:endParaRPr>
          </a:p>
        </p:txBody>
      </p:sp>
      <p:sp>
        <p:nvSpPr>
          <p:cNvPr id="6" name="Footer Placeholder 5"/>
          <p:cNvSpPr>
            <a:spLocks noGrp="1"/>
          </p:cNvSpPr>
          <p:nvPr>
            <p:ph type="ftr" sz="quarter" idx="11"/>
          </p:nvPr>
        </p:nvSpPr>
        <p:spPr/>
        <p:txBody>
          <a:bodyPr/>
          <a:lstStyle>
            <a:lvl1pPr>
              <a:defRPr/>
            </a:lvl1pPr>
            <a:extLst/>
          </a:lstStyle>
          <a:p>
            <a:pPr>
              <a:defRPr/>
            </a:pPr>
            <a:r>
              <a:rPr lang="en-US" smtClean="0">
                <a:solidFill>
                  <a:prstClr val="white"/>
                </a:solidFill>
              </a:rPr>
              <a:t>Information Technology Project Management, Eighth Edition</a:t>
            </a:r>
            <a:endParaRPr lang="en-US" dirty="0">
              <a:solidFill>
                <a:prstClr val="white"/>
              </a:solidFill>
            </a:endParaRPr>
          </a:p>
        </p:txBody>
      </p:sp>
      <p:sp>
        <p:nvSpPr>
          <p:cNvPr id="7" name="Slide Number Placeholder 6"/>
          <p:cNvSpPr>
            <a:spLocks noGrp="1"/>
          </p:cNvSpPr>
          <p:nvPr>
            <p:ph type="sldNum" sz="quarter" idx="12"/>
          </p:nvPr>
        </p:nvSpPr>
        <p:spPr/>
        <p:txBody>
          <a:bodyPr/>
          <a:lstStyle>
            <a:lvl1pPr>
              <a:defRPr/>
            </a:lvl1pPr>
            <a:extLst/>
          </a:lstStyle>
          <a:p>
            <a:pPr>
              <a:defRPr/>
            </a:pPr>
            <a:fld id="{45A903A5-3145-4C33-861E-F726013C416E}" type="slidenum">
              <a:rPr lang="en-US" smtClean="0">
                <a:solidFill>
                  <a:prstClr val="white"/>
                </a:solidFill>
              </a:rPr>
              <a:pPr>
                <a:defRPr/>
              </a:pPr>
              <a:t>‹#›</a:t>
            </a:fld>
            <a:endParaRPr lang="en-US" dirty="0">
              <a:solidFill>
                <a:prstClr val="white"/>
              </a:solidFill>
            </a:endParaRPr>
          </a:p>
        </p:txBody>
      </p:sp>
    </p:spTree>
    <p:extLst>
      <p:ext uri="{BB962C8B-B14F-4D97-AF65-F5344CB8AC3E}">
        <p14:creationId xmlns:p14="http://schemas.microsoft.com/office/powerpoint/2010/main" val="426262523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dirty="0">
              <a:solidFill>
                <a:prstClr val="black"/>
              </a:solidFill>
            </a:endParaRPr>
          </a:p>
        </p:txBody>
      </p:sp>
      <p:sp>
        <p:nvSpPr>
          <p:cNvPr id="8" name="Footer Placeholder 7"/>
          <p:cNvSpPr>
            <a:spLocks noGrp="1"/>
          </p:cNvSpPr>
          <p:nvPr>
            <p:ph type="ftr" sz="quarter" idx="11"/>
          </p:nvPr>
        </p:nvSpPr>
        <p:spPr/>
        <p:txBody>
          <a:bodyPr/>
          <a:lstStyle>
            <a:lvl1pPr>
              <a:defRPr/>
            </a:lvl1pPr>
            <a:extLst/>
          </a:lstStyle>
          <a:p>
            <a:pPr>
              <a:defRPr/>
            </a:pPr>
            <a:r>
              <a:rPr lang="en-US" smtClean="0">
                <a:solidFill>
                  <a:prstClr val="black"/>
                </a:solidFill>
              </a:rPr>
              <a:t>Information Technology Project Management, Eighth Edition</a:t>
            </a:r>
            <a:endParaRPr lang="en-US" dirty="0">
              <a:solidFill>
                <a:prstClr val="black"/>
              </a:solidFill>
            </a:endParaRPr>
          </a:p>
        </p:txBody>
      </p:sp>
      <p:sp>
        <p:nvSpPr>
          <p:cNvPr id="9" name="Slide Number Placeholder 8"/>
          <p:cNvSpPr>
            <a:spLocks noGrp="1"/>
          </p:cNvSpPr>
          <p:nvPr>
            <p:ph type="sldNum" sz="quarter" idx="12"/>
          </p:nvPr>
        </p:nvSpPr>
        <p:spPr/>
        <p:txBody>
          <a:bodyPr/>
          <a:lstStyle>
            <a:lvl1pPr>
              <a:defRPr/>
            </a:lvl1pPr>
            <a:extLst/>
          </a:lstStyle>
          <a:p>
            <a:pPr>
              <a:defRPr/>
            </a:pPr>
            <a:fld id="{79F8D2C1-FDC8-4049-A2F1-36C9287BEF68}"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8543871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endParaRPr lang="en-US" dirty="0">
              <a:solidFill>
                <a:prstClr val="white"/>
              </a:solidFill>
            </a:endParaRPr>
          </a:p>
        </p:txBody>
      </p:sp>
      <p:sp>
        <p:nvSpPr>
          <p:cNvPr id="4" name="Footer Placeholder 3"/>
          <p:cNvSpPr>
            <a:spLocks noGrp="1"/>
          </p:cNvSpPr>
          <p:nvPr>
            <p:ph type="ftr" sz="quarter" idx="11"/>
          </p:nvPr>
        </p:nvSpPr>
        <p:spPr/>
        <p:txBody>
          <a:bodyPr/>
          <a:lstStyle>
            <a:lvl1pPr>
              <a:defRPr/>
            </a:lvl1pPr>
            <a:extLst/>
          </a:lstStyle>
          <a:p>
            <a:pPr>
              <a:defRPr/>
            </a:pPr>
            <a:r>
              <a:rPr lang="en-US" smtClean="0">
                <a:solidFill>
                  <a:prstClr val="white"/>
                </a:solidFill>
              </a:rPr>
              <a:t>Information Technology Project Management, Eighth Edition</a:t>
            </a:r>
            <a:endParaRPr lang="en-US" dirty="0">
              <a:solidFill>
                <a:prstClr val="white"/>
              </a:solidFill>
            </a:endParaRPr>
          </a:p>
        </p:txBody>
      </p:sp>
      <p:sp>
        <p:nvSpPr>
          <p:cNvPr id="5" name="Slide Number Placeholder 4"/>
          <p:cNvSpPr>
            <a:spLocks noGrp="1"/>
          </p:cNvSpPr>
          <p:nvPr>
            <p:ph type="sldNum" sz="quarter" idx="12"/>
          </p:nvPr>
        </p:nvSpPr>
        <p:spPr/>
        <p:txBody>
          <a:bodyPr/>
          <a:lstStyle>
            <a:lvl1pPr>
              <a:defRPr/>
            </a:lvl1pPr>
            <a:extLst/>
          </a:lstStyle>
          <a:p>
            <a:pPr>
              <a:defRPr/>
            </a:pPr>
            <a:fld id="{0BD84499-56DB-4FF3-8D99-174F9EB97545}" type="slidenum">
              <a:rPr lang="en-US" smtClean="0">
                <a:solidFill>
                  <a:prstClr val="white"/>
                </a:solidFill>
              </a:rPr>
              <a:pPr>
                <a:defRPr/>
              </a:pPr>
              <a:t>‹#›</a:t>
            </a:fld>
            <a:endParaRPr lang="en-US" dirty="0">
              <a:solidFill>
                <a:prstClr val="white"/>
              </a:solidFill>
            </a:endParaRPr>
          </a:p>
        </p:txBody>
      </p:sp>
    </p:spTree>
    <p:extLst>
      <p:ext uri="{BB962C8B-B14F-4D97-AF65-F5344CB8AC3E}">
        <p14:creationId xmlns:p14="http://schemas.microsoft.com/office/powerpoint/2010/main" val="3111865631"/>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solidFill>
                <a:prstClr val="black"/>
              </a:solidFill>
            </a:endParaRPr>
          </a:p>
        </p:txBody>
      </p:sp>
      <p:sp>
        <p:nvSpPr>
          <p:cNvPr id="3" name="Footer Placeholder 21"/>
          <p:cNvSpPr>
            <a:spLocks noGrp="1"/>
          </p:cNvSpPr>
          <p:nvPr>
            <p:ph type="ftr" sz="quarter" idx="11"/>
          </p:nvPr>
        </p:nvSpPr>
        <p:spPr/>
        <p:txBody>
          <a:bodyPr/>
          <a:lstStyle>
            <a:lvl1pPr>
              <a:defRPr/>
            </a:lvl1pPr>
          </a:lstStyle>
          <a:p>
            <a:pPr>
              <a:defRPr/>
            </a:pPr>
            <a:r>
              <a:rPr lang="en-US" smtClean="0">
                <a:solidFill>
                  <a:prstClr val="black"/>
                </a:solidFill>
              </a:rPr>
              <a:t>Information Technology Project Management, Eighth Edition</a:t>
            </a:r>
            <a:endParaRPr lang="en-US" dirty="0">
              <a:solidFill>
                <a:prstClr val="black"/>
              </a:solidFill>
            </a:endParaRPr>
          </a:p>
        </p:txBody>
      </p:sp>
      <p:sp>
        <p:nvSpPr>
          <p:cNvPr id="4" name="Slide Number Placeholder 17"/>
          <p:cNvSpPr>
            <a:spLocks noGrp="1"/>
          </p:cNvSpPr>
          <p:nvPr>
            <p:ph type="sldNum" sz="quarter" idx="12"/>
          </p:nvPr>
        </p:nvSpPr>
        <p:spPr/>
        <p:txBody>
          <a:bodyPr/>
          <a:lstStyle>
            <a:lvl1pPr>
              <a:defRPr/>
            </a:lvl1pPr>
          </a:lstStyle>
          <a:p>
            <a:pPr>
              <a:defRPr/>
            </a:pPr>
            <a:fld id="{88BFF443-6094-4853-B8BA-F1264293BEA5}"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7332758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solidFill>
                <a:prstClr val="black"/>
              </a:solidFill>
            </a:endParaRPr>
          </a:p>
        </p:txBody>
      </p:sp>
      <p:sp>
        <p:nvSpPr>
          <p:cNvPr id="6" name="Footer Placeholder 5"/>
          <p:cNvSpPr>
            <a:spLocks noGrp="1"/>
          </p:cNvSpPr>
          <p:nvPr>
            <p:ph type="ftr" sz="quarter" idx="11"/>
          </p:nvPr>
        </p:nvSpPr>
        <p:spPr/>
        <p:txBody>
          <a:bodyPr/>
          <a:lstStyle>
            <a:lvl1pPr>
              <a:defRPr/>
            </a:lvl1pPr>
            <a:extLst/>
          </a:lstStyle>
          <a:p>
            <a:pPr>
              <a:defRPr/>
            </a:pPr>
            <a:r>
              <a:rPr lang="en-US" smtClean="0">
                <a:solidFill>
                  <a:prstClr val="black"/>
                </a:solidFill>
              </a:rPr>
              <a:t>Information Technology Project Management, Eighth Edition</a:t>
            </a:r>
            <a:endParaRPr lang="en-US" dirty="0">
              <a:solidFill>
                <a:prstClr val="black"/>
              </a:solidFill>
            </a:endParaRPr>
          </a:p>
        </p:txBody>
      </p:sp>
      <p:sp>
        <p:nvSpPr>
          <p:cNvPr id="7" name="Slide Number Placeholder 6"/>
          <p:cNvSpPr>
            <a:spLocks noGrp="1"/>
          </p:cNvSpPr>
          <p:nvPr>
            <p:ph type="sldNum" sz="quarter" idx="12"/>
          </p:nvPr>
        </p:nvSpPr>
        <p:spPr/>
        <p:txBody>
          <a:bodyPr/>
          <a:lstStyle>
            <a:lvl1pPr>
              <a:defRPr/>
            </a:lvl1pPr>
            <a:extLst/>
          </a:lstStyle>
          <a:p>
            <a:pPr>
              <a:defRPr/>
            </a:pPr>
            <a:fld id="{A521D880-5042-48D3-9E9D-9C6275C0D5B4}"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53390627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reeform 5"/>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Right Triangle 6"/>
          <p:cNvSpPr>
            <a:spLocks/>
          </p:cNvSpPr>
          <p:nvPr/>
        </p:nvSpPr>
        <p:spPr bwMode="auto">
          <a:xfrm>
            <a:off x="-8056" y="5791253"/>
            <a:ext cx="4536419"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smtClean="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solidFill>
                <a:prstClr val="white"/>
              </a:solidFill>
            </a:endParaRPr>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smtClean="0">
                <a:solidFill>
                  <a:prstClr val="white"/>
                </a:solidFill>
              </a:rPr>
              <a:t>Information Technology Project Management, Eighth Edition</a:t>
            </a:r>
            <a:endParaRPr lang="en-US" dirty="0">
              <a:solidFill>
                <a:prstClr val="white"/>
              </a:solidFill>
            </a:endParaRP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0A9D95BA-DBCE-4585-9D62-69E5B33609E2}" type="slidenum">
              <a:rPr lang="en-US" smtClean="0">
                <a:solidFill>
                  <a:prstClr val="white"/>
                </a:solidFill>
              </a:rPr>
              <a:pPr>
                <a:defRPr/>
              </a:pPr>
              <a:t>‹#›</a:t>
            </a:fld>
            <a:endParaRPr lang="en-US" dirty="0">
              <a:solidFill>
                <a:prstClr val="white"/>
              </a:solidFill>
            </a:endParaRPr>
          </a:p>
        </p:txBody>
      </p:sp>
    </p:spTree>
    <p:extLst>
      <p:ext uri="{BB962C8B-B14F-4D97-AF65-F5344CB8AC3E}">
        <p14:creationId xmlns:p14="http://schemas.microsoft.com/office/powerpoint/2010/main" val="2787544322"/>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solidFill>
                <a:prstClr val="black"/>
              </a:solidFill>
            </a:endParaRPr>
          </a:p>
        </p:txBody>
      </p:sp>
      <p:sp>
        <p:nvSpPr>
          <p:cNvPr id="5" name="Footer Placeholder 21"/>
          <p:cNvSpPr>
            <a:spLocks noGrp="1"/>
          </p:cNvSpPr>
          <p:nvPr>
            <p:ph type="ftr" sz="quarter" idx="11"/>
          </p:nvPr>
        </p:nvSpPr>
        <p:spPr/>
        <p:txBody>
          <a:bodyPr/>
          <a:lstStyle>
            <a:lvl1pPr>
              <a:defRPr/>
            </a:lvl1pPr>
          </a:lstStyle>
          <a:p>
            <a:pPr>
              <a:defRPr/>
            </a:pPr>
            <a:r>
              <a:rPr lang="en-US" smtClean="0">
                <a:solidFill>
                  <a:prstClr val="black"/>
                </a:solidFill>
              </a:rPr>
              <a:t>Information Technology Project Management, Eighth Edition</a:t>
            </a:r>
            <a:endParaRPr lang="en-US" dirty="0">
              <a:solidFill>
                <a:prstClr val="black"/>
              </a:solidFill>
            </a:endParaRPr>
          </a:p>
        </p:txBody>
      </p:sp>
      <p:sp>
        <p:nvSpPr>
          <p:cNvPr id="6" name="Slide Number Placeholder 17"/>
          <p:cNvSpPr>
            <a:spLocks noGrp="1"/>
          </p:cNvSpPr>
          <p:nvPr>
            <p:ph type="sldNum" sz="quarter" idx="12"/>
          </p:nvPr>
        </p:nvSpPr>
        <p:spPr/>
        <p:txBody>
          <a:bodyPr/>
          <a:lstStyle>
            <a:lvl1pPr>
              <a:defRPr/>
            </a:lvl1pPr>
          </a:lstStyle>
          <a:p>
            <a:pPr>
              <a:defRPr/>
            </a:pPr>
            <a:fld id="{79C7716B-8CDB-4114-B58A-CD791D036412}"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29242021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solidFill>
                <a:prstClr val="black"/>
              </a:solidFill>
            </a:endParaRPr>
          </a:p>
        </p:txBody>
      </p:sp>
      <p:sp>
        <p:nvSpPr>
          <p:cNvPr id="5" name="Footer Placeholder 21"/>
          <p:cNvSpPr>
            <a:spLocks noGrp="1"/>
          </p:cNvSpPr>
          <p:nvPr>
            <p:ph type="ftr" sz="quarter" idx="11"/>
          </p:nvPr>
        </p:nvSpPr>
        <p:spPr/>
        <p:txBody>
          <a:bodyPr/>
          <a:lstStyle>
            <a:lvl1pPr>
              <a:defRPr/>
            </a:lvl1pPr>
          </a:lstStyle>
          <a:p>
            <a:pPr>
              <a:defRPr/>
            </a:pPr>
            <a:r>
              <a:rPr lang="en-US" smtClean="0">
                <a:solidFill>
                  <a:prstClr val="black"/>
                </a:solidFill>
              </a:rPr>
              <a:t>Information Technology Project Management, Eighth Edition</a:t>
            </a:r>
            <a:endParaRPr lang="en-US" dirty="0">
              <a:solidFill>
                <a:prstClr val="black"/>
              </a:solidFill>
            </a:endParaRPr>
          </a:p>
        </p:txBody>
      </p:sp>
      <p:sp>
        <p:nvSpPr>
          <p:cNvPr id="6" name="Slide Number Placeholder 17"/>
          <p:cNvSpPr>
            <a:spLocks noGrp="1"/>
          </p:cNvSpPr>
          <p:nvPr>
            <p:ph type="sldNum" sz="quarter" idx="12"/>
          </p:nvPr>
        </p:nvSpPr>
        <p:spPr/>
        <p:txBody>
          <a:bodyPr/>
          <a:lstStyle>
            <a:lvl1pPr>
              <a:defRPr/>
            </a:lvl1pPr>
          </a:lstStyle>
          <a:p>
            <a:pPr>
              <a:defRPr/>
            </a:pPr>
            <a:fld id="{A5896A34-DE02-4C2F-B86D-63B07783C002}"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421860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C880B4BE-BFE4-4577-A30B-8926328F733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smtClean="0"/>
              <a:t>Click to edit Master title style</a:t>
            </a:r>
            <a:endParaRPr lang="en-US"/>
          </a:p>
        </p:txBody>
      </p:sp>
      <p:sp>
        <p:nvSpPr>
          <p:cNvPr id="1033" name="Text Placeholder 29"/>
          <p:cNvSpPr>
            <a:spLocks noGrp="1"/>
          </p:cNvSpPr>
          <p:nvPr>
            <p:ph type="body" idx="1"/>
          </p:nvPr>
        </p:nvSpPr>
        <p:spPr bwMode="auto">
          <a:xfrm>
            <a:off x="609600" y="1481138"/>
            <a:ext cx="10972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2" name="Freeform 11"/>
          <p:cNvSpPr>
            <a:spLocks/>
          </p:cNvSpPr>
          <p:nvPr userDrawn="1"/>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5839884" y="6408739"/>
            <a:ext cx="3134783"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dirty="0"/>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C880B4BE-BFE4-4577-A30B-8926328F7334}"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hf hdr="0" ft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2" name="Freeform 11"/>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a:ea typeface="+mn-ea"/>
              <a:cs typeface="+mn-cs"/>
            </a:endParaRPr>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smtClean="0"/>
              <a:t>Click to edit Master title style</a:t>
            </a:r>
            <a:endParaRPr lang="en-US"/>
          </a:p>
        </p:txBody>
      </p:sp>
      <p:sp>
        <p:nvSpPr>
          <p:cNvPr id="1033" name="Text Placeholder 29"/>
          <p:cNvSpPr>
            <a:spLocks noGrp="1"/>
          </p:cNvSpPr>
          <p:nvPr>
            <p:ph type="body" idx="1"/>
          </p:nvPr>
        </p:nvSpPr>
        <p:spPr bwMode="auto">
          <a:xfrm>
            <a:off x="609600" y="1481138"/>
            <a:ext cx="10972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solidFill>
                <a:prstClr val="black"/>
              </a:solidFill>
            </a:endParaRPr>
          </a:p>
        </p:txBody>
      </p:sp>
      <p:sp>
        <p:nvSpPr>
          <p:cNvPr id="22" name="Footer Placeholder 21"/>
          <p:cNvSpPr>
            <a:spLocks noGrp="1"/>
          </p:cNvSpPr>
          <p:nvPr>
            <p:ph type="ftr" sz="quarter" idx="3"/>
          </p:nvPr>
        </p:nvSpPr>
        <p:spPr>
          <a:xfrm>
            <a:off x="5839884" y="6408739"/>
            <a:ext cx="3134783"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smtClean="0">
                <a:solidFill>
                  <a:prstClr val="black"/>
                </a:solidFill>
              </a:rPr>
              <a:t>Information Technology Project Management, Eighth Edition</a:t>
            </a:r>
            <a:endParaRPr lang="en-US" dirty="0">
              <a:solidFill>
                <a:prstClr val="black"/>
              </a:solidFill>
            </a:endParaRPr>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F0DB9A2-6BF9-4BB6-B94C-EBCA49169742}"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4035272305"/>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14400" y="592195"/>
            <a:ext cx="10058400" cy="1785109"/>
          </a:xfrm>
        </p:spPr>
        <p:txBody>
          <a:bodyPr>
            <a:noAutofit/>
          </a:bodyPr>
          <a:lstStyle/>
          <a:p>
            <a:pPr fontAlgn="auto">
              <a:spcAft>
                <a:spcPts val="0"/>
              </a:spcAft>
              <a:defRPr/>
            </a:pPr>
            <a:r>
              <a:rPr lang="en-US" sz="4400" dirty="0" smtClean="0">
                <a:effectLst>
                  <a:outerShdw blurRad="38100" dist="38100" dir="2700000" algn="tl">
                    <a:srgbClr val="FFFFFF"/>
                  </a:outerShdw>
                </a:effectLst>
                <a:latin typeface="Arial Rounded MT Bold" pitchFamily="34" charset="0"/>
              </a:rPr>
              <a:t>Project </a:t>
            </a:r>
            <a:r>
              <a:rPr lang="en-US" sz="4400" dirty="0">
                <a:effectLst>
                  <a:outerShdw blurRad="38100" dist="38100" dir="2700000" algn="tl">
                    <a:srgbClr val="FFFFFF"/>
                  </a:outerShdw>
                </a:effectLst>
                <a:latin typeface="Arial Rounded MT Bold" pitchFamily="34" charset="0"/>
              </a:rPr>
              <a:t>Time Management</a:t>
            </a:r>
            <a:endParaRPr dirty="0">
              <a:effectLst>
                <a:outerShdw blurRad="38100" dist="38100" dir="2700000" algn="tl">
                  <a:srgbClr val="FFFFFF"/>
                </a:outerShdw>
              </a:effectLst>
              <a:latin typeface="Arial Rounded MT Bold" pitchFamily="34" charset="0"/>
            </a:endParaRPr>
          </a:p>
        </p:txBody>
      </p:sp>
      <p:pic>
        <p:nvPicPr>
          <p:cNvPr id="8" name="Picture 7" descr="The cover of Information Technology Project Management, Eighth Edition by Kathy Schwalbe. The cover features four individuals looking away from the camera and onto a complex map."/>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2928110"/>
            <a:ext cx="2646400" cy="3277621"/>
          </a:xfrm>
          <a:prstGeom prst="rect">
            <a:avLst/>
          </a:prstGeom>
        </p:spPr>
      </p:pic>
    </p:spTree>
    <p:extLst>
      <p:ext uri="{BB962C8B-B14F-4D97-AF65-F5344CB8AC3E}">
        <p14:creationId xmlns:p14="http://schemas.microsoft.com/office/powerpoint/2010/main" val="1122287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762000" y="304800"/>
            <a:ext cx="9144000" cy="990600"/>
          </a:xfrm>
        </p:spPr>
        <p:txBody>
          <a:bodyPr>
            <a:normAutofit/>
          </a:bodyPr>
          <a:lstStyle/>
          <a:p>
            <a:r>
              <a:rPr lang="en-US" dirty="0" smtClean="0"/>
              <a:t>Importance of Project Schedules</a:t>
            </a:r>
          </a:p>
        </p:txBody>
      </p:sp>
      <p:sp>
        <p:nvSpPr>
          <p:cNvPr id="11267" name="Rectangle 3"/>
          <p:cNvSpPr>
            <a:spLocks noGrp="1" noChangeArrowheads="1"/>
          </p:cNvSpPr>
          <p:nvPr>
            <p:ph idx="1"/>
          </p:nvPr>
        </p:nvSpPr>
        <p:spPr>
          <a:xfrm>
            <a:off x="762000" y="1752600"/>
            <a:ext cx="10896600" cy="3886200"/>
          </a:xfrm>
        </p:spPr>
        <p:txBody>
          <a:bodyPr/>
          <a:lstStyle/>
          <a:p>
            <a:r>
              <a:rPr lang="en-US" dirty="0" smtClean="0"/>
              <a:t>Managers often cite delivering projects on time as one of their biggest challenges</a:t>
            </a:r>
          </a:p>
          <a:p>
            <a:r>
              <a:rPr lang="en-US" dirty="0" smtClean="0"/>
              <a:t>Time has the least amount of flexibility; it passes no matter what happens on a project</a:t>
            </a:r>
          </a:p>
          <a:p>
            <a:r>
              <a:rPr lang="en-US" dirty="0" smtClean="0"/>
              <a:t>Schedule issues are the main reason for conflicts on projects, especially during the second half of projects</a:t>
            </a:r>
          </a:p>
        </p:txBody>
      </p:sp>
      <p:sp>
        <p:nvSpPr>
          <p:cNvPr id="6" name="Slide Number Placeholder 5"/>
          <p:cNvSpPr>
            <a:spLocks noGrp="1"/>
          </p:cNvSpPr>
          <p:nvPr>
            <p:ph type="sldNum" sz="quarter" idx="11"/>
          </p:nvPr>
        </p:nvSpPr>
        <p:spPr/>
        <p:txBody>
          <a:bodyPr/>
          <a:lstStyle/>
          <a:p>
            <a:pPr>
              <a:defRPr/>
            </a:pPr>
            <a:fld id="{EB2DCDCB-BB36-45DB-B937-73A12411FF58}"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62000" y="152400"/>
            <a:ext cx="9906000" cy="990600"/>
          </a:xfrm>
        </p:spPr>
        <p:txBody>
          <a:bodyPr>
            <a:normAutofit/>
          </a:bodyPr>
          <a:lstStyle/>
          <a:p>
            <a:r>
              <a:rPr lang="en-US" dirty="0" smtClean="0"/>
              <a:t>Project Time Management Processes</a:t>
            </a:r>
          </a:p>
        </p:txBody>
      </p:sp>
      <p:sp>
        <p:nvSpPr>
          <p:cNvPr id="14339" name="Rectangle 3"/>
          <p:cNvSpPr>
            <a:spLocks noGrp="1" noChangeArrowheads="1"/>
          </p:cNvSpPr>
          <p:nvPr>
            <p:ph idx="1"/>
          </p:nvPr>
        </p:nvSpPr>
        <p:spPr>
          <a:xfrm>
            <a:off x="762000" y="1219200"/>
            <a:ext cx="9829800" cy="4876800"/>
          </a:xfrm>
        </p:spPr>
        <p:txBody>
          <a:bodyPr/>
          <a:lstStyle/>
          <a:p>
            <a:r>
              <a:rPr lang="en-US" sz="2000" b="1" dirty="0">
                <a:solidFill>
                  <a:srgbClr val="FF0000"/>
                </a:solidFill>
              </a:rPr>
              <a:t>Planning schedule management: </a:t>
            </a:r>
            <a:r>
              <a:rPr lang="en-US" sz="2000" dirty="0"/>
              <a:t>determining the policies, procedures, and documentation that will be used for planning, executing, and controlling the project schedule</a:t>
            </a:r>
          </a:p>
          <a:p>
            <a:r>
              <a:rPr lang="en-US" sz="2000" b="1" dirty="0">
                <a:solidFill>
                  <a:srgbClr val="FF0000"/>
                </a:solidFill>
              </a:rPr>
              <a:t>Defining activities: </a:t>
            </a:r>
            <a:r>
              <a:rPr lang="en-US" sz="2000" dirty="0"/>
              <a:t>identifying the specific activities that the project team members and stakeholders must perform to produce the project deliverables</a:t>
            </a:r>
            <a:endParaRPr lang="en-US" sz="2000" b="1" dirty="0"/>
          </a:p>
          <a:p>
            <a:pPr>
              <a:lnSpc>
                <a:spcPct val="80000"/>
              </a:lnSpc>
            </a:pPr>
            <a:r>
              <a:rPr lang="en-US" sz="2000" b="1" dirty="0">
                <a:solidFill>
                  <a:srgbClr val="FF0000"/>
                </a:solidFill>
              </a:rPr>
              <a:t>Sequencing activities:</a:t>
            </a:r>
            <a:r>
              <a:rPr lang="en-US" sz="2000" dirty="0">
                <a:solidFill>
                  <a:srgbClr val="FF0000"/>
                </a:solidFill>
              </a:rPr>
              <a:t> </a:t>
            </a:r>
            <a:r>
              <a:rPr lang="en-US" sz="2000" dirty="0"/>
              <a:t>identifying and documenting the relationships between project activities</a:t>
            </a:r>
          </a:p>
          <a:p>
            <a:pPr>
              <a:lnSpc>
                <a:spcPct val="80000"/>
              </a:lnSpc>
            </a:pPr>
            <a:r>
              <a:rPr lang="en-US" sz="2000" b="1" dirty="0">
                <a:solidFill>
                  <a:srgbClr val="FF0000"/>
                </a:solidFill>
              </a:rPr>
              <a:t>Estimating activity resources: </a:t>
            </a:r>
            <a:r>
              <a:rPr lang="en-US" sz="2000" dirty="0"/>
              <a:t>estimating how many </a:t>
            </a:r>
            <a:r>
              <a:rPr lang="en-US" sz="2000" b="1" dirty="0"/>
              <a:t>resources </a:t>
            </a:r>
            <a:r>
              <a:rPr lang="en-US" sz="2000" dirty="0"/>
              <a:t>a project team should use to perform project activities</a:t>
            </a:r>
          </a:p>
          <a:p>
            <a:pPr>
              <a:lnSpc>
                <a:spcPct val="80000"/>
              </a:lnSpc>
            </a:pPr>
            <a:r>
              <a:rPr lang="en-US" sz="2000" b="1" dirty="0">
                <a:solidFill>
                  <a:srgbClr val="FF0000"/>
                </a:solidFill>
              </a:rPr>
              <a:t>Estimating activity durations:</a:t>
            </a:r>
            <a:r>
              <a:rPr lang="en-US" sz="2000" b="1" dirty="0"/>
              <a:t> </a:t>
            </a:r>
            <a:r>
              <a:rPr lang="en-US" sz="2000" dirty="0"/>
              <a:t>estimating the number of work periods that are needed to complete individual activities</a:t>
            </a:r>
          </a:p>
          <a:p>
            <a:pPr>
              <a:lnSpc>
                <a:spcPct val="80000"/>
              </a:lnSpc>
            </a:pPr>
            <a:r>
              <a:rPr lang="en-US" sz="2000" b="1" dirty="0">
                <a:solidFill>
                  <a:srgbClr val="FF0000"/>
                </a:solidFill>
              </a:rPr>
              <a:t>Developing the schedule: </a:t>
            </a:r>
            <a:r>
              <a:rPr lang="en-US" sz="2000" dirty="0"/>
              <a:t>analyzing activity sequences, activity resource estimates, and activity duration estimates to create the project schedule</a:t>
            </a:r>
          </a:p>
          <a:p>
            <a:pPr>
              <a:lnSpc>
                <a:spcPct val="80000"/>
              </a:lnSpc>
            </a:pPr>
            <a:r>
              <a:rPr lang="en-US" sz="2000" b="1" dirty="0">
                <a:solidFill>
                  <a:srgbClr val="FF0000"/>
                </a:solidFill>
              </a:rPr>
              <a:t>Controlling the schedule:</a:t>
            </a:r>
            <a:r>
              <a:rPr lang="en-US" sz="2000" dirty="0">
                <a:solidFill>
                  <a:srgbClr val="FF0000"/>
                </a:solidFill>
              </a:rPr>
              <a:t> </a:t>
            </a:r>
            <a:r>
              <a:rPr lang="en-US" sz="2000" dirty="0"/>
              <a:t>controlling and managing changes to the project schedule</a:t>
            </a:r>
          </a:p>
        </p:txBody>
      </p:sp>
      <p:sp>
        <p:nvSpPr>
          <p:cNvPr id="6" name="Slide Number Placeholder 5"/>
          <p:cNvSpPr>
            <a:spLocks noGrp="1"/>
          </p:cNvSpPr>
          <p:nvPr>
            <p:ph type="sldNum" sz="quarter" idx="11"/>
          </p:nvPr>
        </p:nvSpPr>
        <p:spPr/>
        <p:txBody>
          <a:bodyPr/>
          <a:lstStyle/>
          <a:p>
            <a:pPr>
              <a:defRPr/>
            </a:pPr>
            <a:fld id="{1C7BEF57-3FAF-45F7-A64B-4A03589D8F34}"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a:bodyPr>
          <a:lstStyle/>
          <a:p>
            <a:r>
              <a:rPr lang="en-US" dirty="0" smtClean="0"/>
              <a:t>Project Time Management Summary</a:t>
            </a:r>
          </a:p>
        </p:txBody>
      </p:sp>
      <p:pic>
        <p:nvPicPr>
          <p:cNvPr id="3" name="Picture 2" descr="A project time management summary. It beings with Planning (bold) which includes the following. Process: Plan schedule management (bold) . Outputs: schedule management plan. Process: Define activities (bold). Outputs: Activity list, activity attributes, milestone list, project management plan updates. Process: Sequence activities (bold). Outputs: Project schedule network diagrams, project documents updates. Process: Estimate activity resources (bold). Outputs: Activity resource requirements, resource breakdown structure, project documents updates. Process: Estimate activity durations (bold). Outputs: Activity duration estimates, project documents updates. Process: Develop schedule (bold). Outputs: Schedule baseline, project schedule, schedule data, project calendars, project management plan updates, project documents updates. An arrow pointing to the right separates Planning and Monitoring and Controlling. Monitoring and controlling (bold) includes the following. Process: Control schedule (bold). Outputs: Work performance information, schedule forecasts, change requests, project management plan updates, project documents updates, organizational process assets updates. An arrow pointing from left to right is labeled Project Start on the left and Project finish on the righ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1130630"/>
            <a:ext cx="8115300" cy="5222216"/>
          </a:xfrm>
          <a:prstGeom prst="rect">
            <a:avLst/>
          </a:prstGeom>
        </p:spPr>
      </p:pic>
      <p:sp>
        <p:nvSpPr>
          <p:cNvPr id="5" name="Slide Number Placeholder 4"/>
          <p:cNvSpPr>
            <a:spLocks noGrp="1"/>
          </p:cNvSpPr>
          <p:nvPr>
            <p:ph type="sldNum" sz="quarter" idx="11"/>
          </p:nvPr>
        </p:nvSpPr>
        <p:spPr/>
        <p:txBody>
          <a:bodyPr/>
          <a:lstStyle/>
          <a:p>
            <a:pPr>
              <a:defRPr/>
            </a:pPr>
            <a:fld id="{AEDE0555-12AE-4560-B223-B50328FFE016}" type="slidenum">
              <a:rPr lang="en-US" smtClean="0"/>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152400"/>
            <a:ext cx="9982200" cy="990600"/>
          </a:xfrm>
        </p:spPr>
        <p:txBody>
          <a:bodyPr/>
          <a:lstStyle/>
          <a:p>
            <a:r>
              <a:rPr lang="en-US" dirty="0" smtClean="0">
                <a:solidFill>
                  <a:srgbClr val="FF0000"/>
                </a:solidFill>
              </a:rPr>
              <a:t>Planning Schedule Management</a:t>
            </a:r>
            <a:endParaRPr lang="en-US" dirty="0">
              <a:solidFill>
                <a:srgbClr val="FF0000"/>
              </a:solidFill>
            </a:endParaRPr>
          </a:p>
        </p:txBody>
      </p:sp>
      <p:sp>
        <p:nvSpPr>
          <p:cNvPr id="2" name="Content Placeholder 1"/>
          <p:cNvSpPr>
            <a:spLocks noGrp="1"/>
          </p:cNvSpPr>
          <p:nvPr>
            <p:ph idx="1"/>
          </p:nvPr>
        </p:nvSpPr>
        <p:spPr>
          <a:xfrm>
            <a:off x="838200" y="1447800"/>
            <a:ext cx="10210800" cy="4876800"/>
          </a:xfrm>
        </p:spPr>
        <p:txBody>
          <a:bodyPr/>
          <a:lstStyle/>
          <a:p>
            <a:r>
              <a:rPr lang="en-US" dirty="0" smtClean="0"/>
              <a:t>The </a:t>
            </a:r>
            <a:r>
              <a:rPr lang="en-US" dirty="0"/>
              <a:t>project team uses expert judgment, analytical techniques, and </a:t>
            </a:r>
            <a:r>
              <a:rPr lang="en-US" dirty="0" smtClean="0"/>
              <a:t>meetings to </a:t>
            </a:r>
            <a:r>
              <a:rPr lang="en-US" dirty="0"/>
              <a:t>develop the schedule management </a:t>
            </a:r>
            <a:r>
              <a:rPr lang="en-US" dirty="0" smtClean="0"/>
              <a:t>plan</a:t>
            </a:r>
          </a:p>
          <a:p>
            <a:r>
              <a:rPr lang="en-US" dirty="0" smtClean="0"/>
              <a:t>A schedule management plan includes:</a:t>
            </a:r>
          </a:p>
          <a:p>
            <a:pPr lvl="1"/>
            <a:r>
              <a:rPr lang="en-US" dirty="0" smtClean="0"/>
              <a:t>The </a:t>
            </a:r>
            <a:r>
              <a:rPr lang="en-US" dirty="0" smtClean="0"/>
              <a:t>scheduling methodology</a:t>
            </a:r>
          </a:p>
          <a:p>
            <a:pPr lvl="1"/>
            <a:r>
              <a:rPr lang="en-US" dirty="0" smtClean="0"/>
              <a:t>Level of accuracy and units of measure</a:t>
            </a:r>
          </a:p>
          <a:p>
            <a:pPr lvl="1"/>
            <a:r>
              <a:rPr lang="en-US" dirty="0" smtClean="0"/>
              <a:t>Rules </a:t>
            </a:r>
            <a:r>
              <a:rPr lang="en-US" dirty="0" smtClean="0"/>
              <a:t>of performance measurement</a:t>
            </a:r>
          </a:p>
          <a:p>
            <a:pPr lvl="1"/>
            <a:r>
              <a:rPr lang="en-US" dirty="0" smtClean="0"/>
              <a:t>Reporting formats</a:t>
            </a:r>
          </a:p>
          <a:p>
            <a:pPr lvl="1"/>
            <a:r>
              <a:rPr lang="en-US" dirty="0" smtClean="0"/>
              <a:t>Process descriptions</a:t>
            </a: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5</a:t>
            </a:fld>
            <a:endParaRPr lang="en-US" dirty="0"/>
          </a:p>
        </p:txBody>
      </p:sp>
    </p:spTree>
    <p:extLst>
      <p:ext uri="{BB962C8B-B14F-4D97-AF65-F5344CB8AC3E}">
        <p14:creationId xmlns:p14="http://schemas.microsoft.com/office/powerpoint/2010/main" val="1561433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304800"/>
            <a:ext cx="9982200" cy="990600"/>
          </a:xfrm>
        </p:spPr>
        <p:txBody>
          <a:bodyPr/>
          <a:lstStyle/>
          <a:p>
            <a:r>
              <a:rPr lang="en-US" dirty="0" smtClean="0">
                <a:solidFill>
                  <a:srgbClr val="FF0000"/>
                </a:solidFill>
              </a:rPr>
              <a:t>Defining Activities</a:t>
            </a:r>
          </a:p>
        </p:txBody>
      </p:sp>
      <p:sp>
        <p:nvSpPr>
          <p:cNvPr id="16387" name="Rectangle 3"/>
          <p:cNvSpPr>
            <a:spLocks noGrp="1" noChangeArrowheads="1"/>
          </p:cNvSpPr>
          <p:nvPr>
            <p:ph idx="1"/>
          </p:nvPr>
        </p:nvSpPr>
        <p:spPr>
          <a:xfrm>
            <a:off x="990600" y="1600200"/>
            <a:ext cx="9601200" cy="4114800"/>
          </a:xfrm>
        </p:spPr>
        <p:txBody>
          <a:bodyPr/>
          <a:lstStyle/>
          <a:p>
            <a:pPr algn="just"/>
            <a:r>
              <a:rPr lang="en-US" dirty="0" smtClean="0"/>
              <a:t>An </a:t>
            </a:r>
            <a:r>
              <a:rPr lang="en-US" b="1" dirty="0" smtClean="0"/>
              <a:t>activity</a:t>
            </a:r>
            <a:r>
              <a:rPr lang="en-US" dirty="0" smtClean="0"/>
              <a:t> or </a:t>
            </a:r>
            <a:r>
              <a:rPr lang="en-US" b="1" dirty="0" smtClean="0"/>
              <a:t>task</a:t>
            </a:r>
            <a:r>
              <a:rPr lang="en-US" dirty="0" smtClean="0"/>
              <a:t> is an element of work normally found on the work breakdown structure (WBS) that has an expected duration, a cost, and resource </a:t>
            </a:r>
            <a:r>
              <a:rPr lang="en-US" dirty="0" smtClean="0"/>
              <a:t>requirements</a:t>
            </a:r>
          </a:p>
          <a:p>
            <a:endParaRPr lang="en-US" dirty="0" smtClean="0"/>
          </a:p>
          <a:p>
            <a:pPr algn="just">
              <a:lnSpc>
                <a:spcPct val="80000"/>
              </a:lnSpc>
            </a:pPr>
            <a:r>
              <a:rPr lang="en-US" dirty="0" smtClean="0"/>
              <a:t>Activity definition involves developing a more detailed WBS and supporting explanations to understand all the work to be done so you can develop realistic cost and duration estimates</a:t>
            </a:r>
          </a:p>
        </p:txBody>
      </p:sp>
      <p:sp>
        <p:nvSpPr>
          <p:cNvPr id="6" name="Slide Number Placeholder 5"/>
          <p:cNvSpPr>
            <a:spLocks noGrp="1"/>
          </p:cNvSpPr>
          <p:nvPr>
            <p:ph type="sldNum" sz="quarter" idx="11"/>
          </p:nvPr>
        </p:nvSpPr>
        <p:spPr/>
        <p:txBody>
          <a:bodyPr/>
          <a:lstStyle/>
          <a:p>
            <a:pPr>
              <a:defRPr/>
            </a:pPr>
            <a:fld id="{E3990CB0-9CAD-47C6-98DA-F3FB6E96E082}"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09600" y="228600"/>
            <a:ext cx="10058400" cy="990600"/>
          </a:xfrm>
        </p:spPr>
        <p:txBody>
          <a:bodyPr/>
          <a:lstStyle/>
          <a:p>
            <a:r>
              <a:rPr lang="en-US" dirty="0" smtClean="0"/>
              <a:t>Activity Lists and Attributes</a:t>
            </a:r>
          </a:p>
        </p:txBody>
      </p:sp>
      <p:sp>
        <p:nvSpPr>
          <p:cNvPr id="17411" name="Rectangle 3"/>
          <p:cNvSpPr>
            <a:spLocks noGrp="1" noChangeArrowheads="1"/>
          </p:cNvSpPr>
          <p:nvPr>
            <p:ph idx="1"/>
          </p:nvPr>
        </p:nvSpPr>
        <p:spPr>
          <a:xfrm>
            <a:off x="838200" y="1447800"/>
            <a:ext cx="10363200" cy="4495800"/>
          </a:xfrm>
        </p:spPr>
        <p:txBody>
          <a:bodyPr/>
          <a:lstStyle/>
          <a:p>
            <a:pPr algn="just"/>
            <a:r>
              <a:rPr lang="en-US" dirty="0" smtClean="0"/>
              <a:t>An </a:t>
            </a:r>
            <a:r>
              <a:rPr lang="en-US" b="1" dirty="0" smtClean="0"/>
              <a:t>activity list</a:t>
            </a:r>
            <a:r>
              <a:rPr lang="en-US" dirty="0" smtClean="0"/>
              <a:t> is a tabulation of activities to be included on a project schedule that includes</a:t>
            </a:r>
          </a:p>
          <a:p>
            <a:pPr lvl="1"/>
            <a:r>
              <a:rPr lang="en-US" dirty="0" smtClean="0"/>
              <a:t>the activity name</a:t>
            </a:r>
          </a:p>
          <a:p>
            <a:pPr lvl="1"/>
            <a:r>
              <a:rPr lang="en-US" dirty="0" smtClean="0"/>
              <a:t>an activity identifier or number</a:t>
            </a:r>
          </a:p>
          <a:p>
            <a:pPr lvl="1"/>
            <a:r>
              <a:rPr lang="en-US" dirty="0" smtClean="0"/>
              <a:t>a brief description of the activity</a:t>
            </a:r>
          </a:p>
          <a:p>
            <a:pPr algn="just"/>
            <a:r>
              <a:rPr lang="en-US" b="1" dirty="0" smtClean="0"/>
              <a:t>Activity attributes</a:t>
            </a:r>
            <a:r>
              <a:rPr lang="en-US" dirty="0" smtClean="0"/>
              <a:t> provide more information such as predecessors, successors, logical relationships, leads and lags, resource requirements, constraints, imposed dates, and assumptions related to the activity</a:t>
            </a:r>
          </a:p>
        </p:txBody>
      </p:sp>
      <p:sp>
        <p:nvSpPr>
          <p:cNvPr id="6" name="Slide Number Placeholder 5"/>
          <p:cNvSpPr>
            <a:spLocks noGrp="1"/>
          </p:cNvSpPr>
          <p:nvPr>
            <p:ph type="sldNum" sz="quarter" idx="11"/>
          </p:nvPr>
        </p:nvSpPr>
        <p:spPr/>
        <p:txBody>
          <a:bodyPr/>
          <a:lstStyle/>
          <a:p>
            <a:pPr>
              <a:defRPr/>
            </a:pPr>
            <a:fld id="{CAED0421-8ED8-4E0C-BFCB-4504FB076A03}"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81000" y="228600"/>
            <a:ext cx="10287000" cy="990600"/>
          </a:xfrm>
        </p:spPr>
        <p:txBody>
          <a:bodyPr/>
          <a:lstStyle/>
          <a:p>
            <a:r>
              <a:rPr lang="en-US" dirty="0" smtClean="0">
                <a:solidFill>
                  <a:srgbClr val="FF0000"/>
                </a:solidFill>
              </a:rPr>
              <a:t>Sequencing Activities</a:t>
            </a:r>
          </a:p>
        </p:txBody>
      </p:sp>
      <p:sp>
        <p:nvSpPr>
          <p:cNvPr id="20483" name="Rectangle 3"/>
          <p:cNvSpPr>
            <a:spLocks noGrp="1" noChangeArrowheads="1"/>
          </p:cNvSpPr>
          <p:nvPr>
            <p:ph idx="1"/>
          </p:nvPr>
        </p:nvSpPr>
        <p:spPr>
          <a:xfrm>
            <a:off x="838200" y="1600200"/>
            <a:ext cx="9753600" cy="4648200"/>
          </a:xfrm>
        </p:spPr>
        <p:txBody>
          <a:bodyPr/>
          <a:lstStyle/>
          <a:p>
            <a:pPr algn="just"/>
            <a:r>
              <a:rPr lang="en-US" dirty="0" smtClean="0"/>
              <a:t>Involves reviewing activities and determining </a:t>
            </a:r>
            <a:r>
              <a:rPr lang="en-US" dirty="0" smtClean="0"/>
              <a:t>dependencies</a:t>
            </a:r>
          </a:p>
          <a:p>
            <a:pPr marL="109537" indent="0" algn="just">
              <a:buNone/>
            </a:pPr>
            <a:endParaRPr lang="en-US" dirty="0" smtClean="0"/>
          </a:p>
          <a:p>
            <a:pPr algn="just"/>
            <a:r>
              <a:rPr lang="en-US" dirty="0" smtClean="0"/>
              <a:t>A </a:t>
            </a:r>
            <a:r>
              <a:rPr lang="en-US" b="1" dirty="0" smtClean="0"/>
              <a:t>dependency</a:t>
            </a:r>
            <a:r>
              <a:rPr lang="en-US" dirty="0" smtClean="0"/>
              <a:t> or </a:t>
            </a:r>
            <a:r>
              <a:rPr lang="en-US" b="1" dirty="0" smtClean="0"/>
              <a:t>relationship</a:t>
            </a:r>
            <a:r>
              <a:rPr lang="en-US" dirty="0" smtClean="0"/>
              <a:t> is the sequencing of project activities or </a:t>
            </a:r>
            <a:r>
              <a:rPr lang="en-US" dirty="0" smtClean="0"/>
              <a:t>tasks</a:t>
            </a:r>
          </a:p>
          <a:p>
            <a:pPr marL="109537" indent="0" algn="just">
              <a:buNone/>
            </a:pPr>
            <a:r>
              <a:rPr lang="en-US" dirty="0" smtClean="0"/>
              <a:t>	</a:t>
            </a:r>
          </a:p>
          <a:p>
            <a:pPr algn="just"/>
            <a:r>
              <a:rPr lang="en-US" dirty="0" smtClean="0"/>
              <a:t>You </a:t>
            </a:r>
            <a:r>
              <a:rPr lang="en-US" i="1" dirty="0" smtClean="0"/>
              <a:t>must</a:t>
            </a:r>
            <a:r>
              <a:rPr lang="en-US" dirty="0" smtClean="0"/>
              <a:t> determine </a:t>
            </a:r>
            <a:r>
              <a:rPr lang="en-US" dirty="0" smtClean="0"/>
              <a:t>dependencies to use the </a:t>
            </a:r>
            <a:r>
              <a:rPr lang="en-US" i="1" dirty="0" smtClean="0"/>
              <a:t>critical path analysis</a:t>
            </a:r>
          </a:p>
        </p:txBody>
      </p:sp>
      <p:sp>
        <p:nvSpPr>
          <p:cNvPr id="6" name="Slide Number Placeholder 5"/>
          <p:cNvSpPr>
            <a:spLocks noGrp="1"/>
          </p:cNvSpPr>
          <p:nvPr>
            <p:ph type="sldNum" sz="quarter" idx="11"/>
          </p:nvPr>
        </p:nvSpPr>
        <p:spPr/>
        <p:txBody>
          <a:bodyPr/>
          <a:lstStyle/>
          <a:p>
            <a:pPr>
              <a:defRPr/>
            </a:pPr>
            <a:fld id="{1C907678-8CC1-460A-BA5A-131F8F1087B4}"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152400"/>
            <a:ext cx="10134600" cy="990600"/>
          </a:xfrm>
        </p:spPr>
        <p:txBody>
          <a:bodyPr/>
          <a:lstStyle/>
          <a:p>
            <a:r>
              <a:rPr lang="en-US" dirty="0" smtClean="0"/>
              <a:t>Three types of Dependencies</a:t>
            </a:r>
          </a:p>
        </p:txBody>
      </p:sp>
      <p:sp>
        <p:nvSpPr>
          <p:cNvPr id="21507" name="Rectangle 3"/>
          <p:cNvSpPr>
            <a:spLocks noGrp="1" noChangeArrowheads="1"/>
          </p:cNvSpPr>
          <p:nvPr>
            <p:ph idx="1"/>
          </p:nvPr>
        </p:nvSpPr>
        <p:spPr>
          <a:xfrm>
            <a:off x="533400" y="1447800"/>
            <a:ext cx="10744200" cy="4800600"/>
          </a:xfrm>
        </p:spPr>
        <p:txBody>
          <a:bodyPr/>
          <a:lstStyle/>
          <a:p>
            <a:pPr algn="just">
              <a:lnSpc>
                <a:spcPct val="90000"/>
              </a:lnSpc>
            </a:pPr>
            <a:r>
              <a:rPr lang="en-US" b="1" dirty="0" smtClean="0"/>
              <a:t>Mandatory dependencies:</a:t>
            </a:r>
            <a:r>
              <a:rPr lang="en-US" dirty="0" smtClean="0"/>
              <a:t> </a:t>
            </a:r>
            <a:r>
              <a:rPr lang="en-US" dirty="0" smtClean="0"/>
              <a:t>The</a:t>
            </a:r>
            <a:r>
              <a:rPr lang="en-US" b="1" dirty="0" smtClean="0"/>
              <a:t> </a:t>
            </a:r>
            <a:r>
              <a:rPr lang="en-US" dirty="0" smtClean="0"/>
              <a:t>relationships </a:t>
            </a:r>
            <a:r>
              <a:rPr lang="en-US" dirty="0"/>
              <a:t>between project activities that are </a:t>
            </a:r>
            <a:r>
              <a:rPr lang="en-US" b="1" dirty="0"/>
              <a:t>inherent</a:t>
            </a:r>
            <a:r>
              <a:rPr lang="en-US" dirty="0"/>
              <a:t> or </a:t>
            </a:r>
            <a:r>
              <a:rPr lang="en-US" b="1" dirty="0" smtClean="0"/>
              <a:t>unavoidable. </a:t>
            </a:r>
            <a:r>
              <a:rPr lang="en-US" dirty="0" smtClean="0"/>
              <a:t>Also </a:t>
            </a:r>
            <a:r>
              <a:rPr lang="en-US" dirty="0"/>
              <a:t>called </a:t>
            </a:r>
            <a:r>
              <a:rPr lang="en-US" b="1" dirty="0" smtClean="0"/>
              <a:t>hard logic</a:t>
            </a:r>
            <a:r>
              <a:rPr lang="en-US" dirty="0" smtClean="0"/>
              <a:t> </a:t>
            </a:r>
            <a:r>
              <a:rPr lang="en-US" dirty="0"/>
              <a:t>or </a:t>
            </a:r>
            <a:r>
              <a:rPr lang="en-US" b="1" dirty="0" smtClean="0"/>
              <a:t>hard </a:t>
            </a:r>
            <a:r>
              <a:rPr lang="en-US" b="1" dirty="0"/>
              <a:t>dependencies.</a:t>
            </a:r>
            <a:endParaRPr lang="en-US" dirty="0" smtClean="0"/>
          </a:p>
          <a:p>
            <a:pPr marL="109537" indent="0">
              <a:lnSpc>
                <a:spcPct val="90000"/>
              </a:lnSpc>
              <a:buNone/>
            </a:pPr>
            <a:endParaRPr lang="en-US" b="1" dirty="0" smtClean="0"/>
          </a:p>
          <a:p>
            <a:pPr algn="just">
              <a:lnSpc>
                <a:spcPct val="90000"/>
              </a:lnSpc>
            </a:pPr>
            <a:r>
              <a:rPr lang="en-US" b="1" dirty="0" smtClean="0"/>
              <a:t>Discretionary dependencies: </a:t>
            </a:r>
            <a:r>
              <a:rPr lang="en-US" dirty="0"/>
              <a:t>D</a:t>
            </a:r>
            <a:r>
              <a:rPr lang="en-US" dirty="0" smtClean="0"/>
              <a:t>efined </a:t>
            </a:r>
            <a:r>
              <a:rPr lang="en-US" dirty="0" smtClean="0"/>
              <a:t>by the project </a:t>
            </a:r>
            <a:r>
              <a:rPr lang="en-US" dirty="0" smtClean="0"/>
              <a:t>team,  </a:t>
            </a:r>
            <a:r>
              <a:rPr lang="en-US" dirty="0" smtClean="0"/>
              <a:t>sometimes referred to as soft </a:t>
            </a:r>
            <a:r>
              <a:rPr lang="en-US" dirty="0" smtClean="0"/>
              <a:t>logic. T</a:t>
            </a:r>
            <a:r>
              <a:rPr lang="en-US" dirty="0" smtClean="0"/>
              <a:t>he </a:t>
            </a:r>
            <a:r>
              <a:rPr lang="en-US" dirty="0"/>
              <a:t>project manager or team </a:t>
            </a:r>
            <a:r>
              <a:rPr lang="en-US" b="1" dirty="0"/>
              <a:t>decides</a:t>
            </a:r>
            <a:r>
              <a:rPr lang="en-US" dirty="0"/>
              <a:t> to use </a:t>
            </a:r>
            <a:r>
              <a:rPr lang="en-US" dirty="0" smtClean="0"/>
              <a:t>it for </a:t>
            </a:r>
            <a:r>
              <a:rPr lang="en-US" dirty="0"/>
              <a:t>better workflow, efficiency, or experience — but they </a:t>
            </a:r>
            <a:r>
              <a:rPr lang="en-US" b="1" dirty="0"/>
              <a:t>can be changed</a:t>
            </a:r>
            <a:r>
              <a:rPr lang="en-US" dirty="0"/>
              <a:t> if needed</a:t>
            </a:r>
            <a:endParaRPr lang="en-US" dirty="0" smtClean="0"/>
          </a:p>
          <a:p>
            <a:pPr algn="just">
              <a:lnSpc>
                <a:spcPct val="90000"/>
              </a:lnSpc>
            </a:pPr>
            <a:endParaRPr lang="en-US" b="1" dirty="0" smtClean="0"/>
          </a:p>
          <a:p>
            <a:pPr>
              <a:lnSpc>
                <a:spcPct val="90000"/>
              </a:lnSpc>
            </a:pPr>
            <a:r>
              <a:rPr lang="en-US" b="1" dirty="0" smtClean="0"/>
              <a:t>External dependencies:</a:t>
            </a:r>
            <a:r>
              <a:rPr lang="en-US" dirty="0" smtClean="0"/>
              <a:t> involve relationships between project and non-project </a:t>
            </a:r>
            <a:r>
              <a:rPr lang="en-US" dirty="0" smtClean="0"/>
              <a:t>activities. </a:t>
            </a:r>
            <a:r>
              <a:rPr lang="en-US" dirty="0" smtClean="0"/>
              <a:t>E.g. receive </a:t>
            </a:r>
            <a:r>
              <a:rPr lang="en-US" dirty="0"/>
              <a:t>government approval </a:t>
            </a:r>
            <a:r>
              <a:rPr lang="en-US" dirty="0" smtClean="0"/>
              <a:t>for any project</a:t>
            </a:r>
            <a:endParaRPr lang="en-US" dirty="0" smtClean="0"/>
          </a:p>
        </p:txBody>
      </p:sp>
      <p:sp>
        <p:nvSpPr>
          <p:cNvPr id="6" name="Slide Number Placeholder 5"/>
          <p:cNvSpPr>
            <a:spLocks noGrp="1"/>
          </p:cNvSpPr>
          <p:nvPr>
            <p:ph type="sldNum" sz="quarter" idx="11"/>
          </p:nvPr>
        </p:nvSpPr>
        <p:spPr/>
        <p:txBody>
          <a:bodyPr/>
          <a:lstStyle/>
          <a:p>
            <a:pPr>
              <a:defRPr/>
            </a:pPr>
            <a:fld id="{5B8BBAD3-A968-47CC-BC42-F5C3CCDA5555}"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62000" y="228600"/>
            <a:ext cx="9906000" cy="990600"/>
          </a:xfrm>
        </p:spPr>
        <p:txBody>
          <a:bodyPr/>
          <a:lstStyle/>
          <a:p>
            <a:r>
              <a:rPr lang="en-US" dirty="0" smtClean="0"/>
              <a:t>Network Diagrams</a:t>
            </a:r>
          </a:p>
        </p:txBody>
      </p:sp>
      <p:sp>
        <p:nvSpPr>
          <p:cNvPr id="22531" name="Rectangle 3"/>
          <p:cNvSpPr>
            <a:spLocks noGrp="1" noChangeArrowheads="1"/>
          </p:cNvSpPr>
          <p:nvPr>
            <p:ph idx="1"/>
          </p:nvPr>
        </p:nvSpPr>
        <p:spPr>
          <a:xfrm>
            <a:off x="914400" y="1600200"/>
            <a:ext cx="10210800" cy="4572000"/>
          </a:xfrm>
        </p:spPr>
        <p:txBody>
          <a:bodyPr/>
          <a:lstStyle/>
          <a:p>
            <a:pPr algn="just"/>
            <a:r>
              <a:rPr lang="en-US" dirty="0" smtClean="0"/>
              <a:t>Network diagrams are the preferred technique for showing activity </a:t>
            </a:r>
            <a:r>
              <a:rPr lang="en-US" dirty="0" smtClean="0"/>
              <a:t>sequencing</a:t>
            </a:r>
          </a:p>
          <a:p>
            <a:pPr algn="just"/>
            <a:endParaRPr lang="en-US" dirty="0" smtClean="0"/>
          </a:p>
          <a:p>
            <a:pPr algn="just"/>
            <a:r>
              <a:rPr lang="en-US" dirty="0" smtClean="0"/>
              <a:t>A </a:t>
            </a:r>
            <a:r>
              <a:rPr lang="en-US" b="1" dirty="0" smtClean="0"/>
              <a:t>network diagram</a:t>
            </a:r>
            <a:r>
              <a:rPr lang="en-US" dirty="0" smtClean="0"/>
              <a:t> is a schematic display of the logical relationships among, or sequencing of, project </a:t>
            </a:r>
            <a:r>
              <a:rPr lang="en-US" dirty="0" smtClean="0"/>
              <a:t>activities</a:t>
            </a:r>
          </a:p>
          <a:p>
            <a:pPr algn="just"/>
            <a:endParaRPr lang="en-US" dirty="0" smtClean="0"/>
          </a:p>
          <a:p>
            <a:pPr algn="just"/>
            <a:r>
              <a:rPr lang="en-US" dirty="0" smtClean="0"/>
              <a:t>Two main formats </a:t>
            </a:r>
            <a:r>
              <a:rPr lang="en-US" dirty="0" smtClean="0"/>
              <a:t>are:</a:t>
            </a:r>
          </a:p>
          <a:p>
            <a:pPr lvl="1" algn="just"/>
            <a:r>
              <a:rPr lang="en-US" dirty="0" smtClean="0"/>
              <a:t> </a:t>
            </a:r>
            <a:r>
              <a:rPr lang="en-US" dirty="0"/>
              <a:t>T</a:t>
            </a:r>
            <a:r>
              <a:rPr lang="en-US" dirty="0" smtClean="0"/>
              <a:t>he </a:t>
            </a:r>
            <a:r>
              <a:rPr lang="en-US" dirty="0" smtClean="0"/>
              <a:t>arrow </a:t>
            </a:r>
            <a:r>
              <a:rPr lang="en-US" dirty="0" smtClean="0"/>
              <a:t>diagramming method, and</a:t>
            </a:r>
          </a:p>
          <a:p>
            <a:pPr lvl="1" algn="just"/>
            <a:r>
              <a:rPr lang="en-US" dirty="0" smtClean="0"/>
              <a:t> </a:t>
            </a:r>
            <a:r>
              <a:rPr lang="en-US" dirty="0"/>
              <a:t>P</a:t>
            </a:r>
            <a:r>
              <a:rPr lang="en-US" dirty="0" smtClean="0"/>
              <a:t>recedence </a:t>
            </a:r>
            <a:r>
              <a:rPr lang="en-US" dirty="0" smtClean="0"/>
              <a:t>diagramming methods</a:t>
            </a:r>
          </a:p>
        </p:txBody>
      </p:sp>
      <p:sp>
        <p:nvSpPr>
          <p:cNvPr id="6" name="Slide Number Placeholder 5"/>
          <p:cNvSpPr>
            <a:spLocks noGrp="1"/>
          </p:cNvSpPr>
          <p:nvPr>
            <p:ph type="sldNum" sz="quarter" idx="11"/>
          </p:nvPr>
        </p:nvSpPr>
        <p:spPr/>
        <p:txBody>
          <a:bodyPr/>
          <a:lstStyle/>
          <a:p>
            <a:pPr>
              <a:defRPr/>
            </a:pPr>
            <a:fld id="{F9398F04-7328-4D9A-BC8C-7399E9F9A343}"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28600"/>
            <a:ext cx="10210800" cy="990600"/>
          </a:xfrm>
        </p:spPr>
        <p:txBody>
          <a:bodyPr>
            <a:normAutofit/>
          </a:bodyPr>
          <a:lstStyle/>
          <a:p>
            <a:r>
              <a:rPr lang="en-US" sz="3600" dirty="0" smtClean="0"/>
              <a:t>Network </a:t>
            </a:r>
            <a:r>
              <a:rPr lang="en-US" sz="3600" dirty="0"/>
              <a:t>Diagram for Project X</a:t>
            </a:r>
            <a:endParaRPr lang="en-US" dirty="0" smtClean="0"/>
          </a:p>
        </p:txBody>
      </p:sp>
      <p:pic>
        <p:nvPicPr>
          <p:cNvPr id="2" name="Picture 1" descr="A network diagram. Note: Assume all durations are in days; A equals 1 means Activity A has a duration of 1 day. The diagram begins on the left with circle 1. An arrow labeled A equals 1 points from circle 1 to circle 2. An arrow labeled B equals 2 points from circle 1 to circle 3. An arrow labeled C equals 3 points from circle 1 to circle 4. An arrow labeled D equals 4 points from circle 2 to circle 5. An arrow labeled E equals 5 points from circle 3 to circle 5. An arrow labeled F equals 4 points from circle 3 to circle 6. An arrow labeled G equals 6 points from circle 4 to circle 7. An arrow labeled H equals 6 points from circle 5 to circle 6. An arrow labeled I equals 2 points from circle 7 to circle 6. An arrow labeled J equals 3 points from circle 6 to circl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4005" y="1447801"/>
            <a:ext cx="9132571" cy="4577729"/>
          </a:xfrm>
          <a:prstGeom prst="rect">
            <a:avLst/>
          </a:prstGeom>
        </p:spPr>
      </p:pic>
      <p:sp>
        <p:nvSpPr>
          <p:cNvPr id="6" name="Slide Number Placeholder 5"/>
          <p:cNvSpPr>
            <a:spLocks noGrp="1"/>
          </p:cNvSpPr>
          <p:nvPr>
            <p:ph type="sldNum" sz="quarter" idx="11"/>
          </p:nvPr>
        </p:nvSpPr>
        <p:spPr/>
        <p:txBody>
          <a:bodyPr/>
          <a:lstStyle/>
          <a:p>
            <a:pPr>
              <a:buFontTx/>
              <a:buNone/>
              <a:defRPr/>
            </a:pPr>
            <a:fld id="{C3B026E8-5638-45B3-992F-6E806CDE3B8E}" type="slidenum">
              <a:rPr lang="en-US" smtClean="0"/>
              <a:pPr>
                <a:buFontTx/>
                <a:buNone/>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62000" y="304800"/>
            <a:ext cx="9906000" cy="990600"/>
          </a:xfrm>
        </p:spPr>
        <p:txBody>
          <a:bodyPr>
            <a:normAutofit/>
          </a:bodyPr>
          <a:lstStyle/>
          <a:p>
            <a:r>
              <a:rPr lang="en-US" dirty="0" smtClean="0"/>
              <a:t>Arrow Diagramming Method (ADM)</a:t>
            </a:r>
          </a:p>
        </p:txBody>
      </p:sp>
      <p:sp>
        <p:nvSpPr>
          <p:cNvPr id="24579" name="Rectangle 3"/>
          <p:cNvSpPr>
            <a:spLocks noGrp="1" noChangeArrowheads="1"/>
          </p:cNvSpPr>
          <p:nvPr>
            <p:ph idx="1"/>
          </p:nvPr>
        </p:nvSpPr>
        <p:spPr>
          <a:xfrm>
            <a:off x="1066800" y="1752600"/>
            <a:ext cx="9525000" cy="4495800"/>
          </a:xfrm>
        </p:spPr>
        <p:txBody>
          <a:bodyPr/>
          <a:lstStyle/>
          <a:p>
            <a:r>
              <a:rPr lang="en-US" dirty="0" smtClean="0"/>
              <a:t>Also called activity-on-arrow (AOA) network </a:t>
            </a:r>
            <a:r>
              <a:rPr lang="en-US" dirty="0" smtClean="0"/>
              <a:t>diagrams</a:t>
            </a:r>
          </a:p>
          <a:p>
            <a:endParaRPr lang="en-US" dirty="0" smtClean="0"/>
          </a:p>
          <a:p>
            <a:r>
              <a:rPr lang="en-US" dirty="0" smtClean="0"/>
              <a:t>Activities are represented by </a:t>
            </a:r>
            <a:r>
              <a:rPr lang="en-US" dirty="0" smtClean="0"/>
              <a:t>arrows</a:t>
            </a:r>
          </a:p>
          <a:p>
            <a:endParaRPr lang="en-US" dirty="0" smtClean="0"/>
          </a:p>
          <a:p>
            <a:r>
              <a:rPr lang="en-US" dirty="0" smtClean="0"/>
              <a:t>Nodes or circles are the starting and ending points of </a:t>
            </a:r>
            <a:r>
              <a:rPr lang="en-US" dirty="0" smtClean="0"/>
              <a:t>activities</a:t>
            </a:r>
          </a:p>
          <a:p>
            <a:endParaRPr lang="en-US" dirty="0" smtClean="0"/>
          </a:p>
          <a:p>
            <a:r>
              <a:rPr lang="en-US" dirty="0" smtClean="0"/>
              <a:t>Can only show finish-to-start dependencies</a:t>
            </a:r>
          </a:p>
        </p:txBody>
      </p:sp>
      <p:sp>
        <p:nvSpPr>
          <p:cNvPr id="6" name="Slide Number Placeholder 5"/>
          <p:cNvSpPr>
            <a:spLocks noGrp="1"/>
          </p:cNvSpPr>
          <p:nvPr>
            <p:ph type="sldNum" sz="quarter" idx="11"/>
          </p:nvPr>
        </p:nvSpPr>
        <p:spPr/>
        <p:txBody>
          <a:bodyPr/>
          <a:lstStyle/>
          <a:p>
            <a:pPr>
              <a:defRPr/>
            </a:pPr>
            <a:fld id="{A4C98BB9-3C19-4BD6-9A5F-7F1B5FE7A47F}"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1000" y="228600"/>
            <a:ext cx="10287000" cy="990600"/>
          </a:xfrm>
        </p:spPr>
        <p:txBody>
          <a:bodyPr>
            <a:normAutofit/>
          </a:bodyPr>
          <a:lstStyle/>
          <a:p>
            <a:r>
              <a:rPr lang="en-US" dirty="0" smtClean="0"/>
              <a:t>Process for Creating AOA Diagrams</a:t>
            </a:r>
          </a:p>
        </p:txBody>
      </p:sp>
      <p:sp>
        <p:nvSpPr>
          <p:cNvPr id="25603" name="Rectangle 3"/>
          <p:cNvSpPr>
            <a:spLocks noGrp="1" noChangeArrowheads="1"/>
          </p:cNvSpPr>
          <p:nvPr>
            <p:ph idx="1"/>
          </p:nvPr>
        </p:nvSpPr>
        <p:spPr>
          <a:xfrm>
            <a:off x="838200" y="1295400"/>
            <a:ext cx="10210800" cy="4876800"/>
          </a:xfrm>
        </p:spPr>
        <p:txBody>
          <a:bodyPr/>
          <a:lstStyle/>
          <a:p>
            <a:pPr marL="566737" indent="-457200">
              <a:buClr>
                <a:schemeClr val="tx1"/>
              </a:buClr>
              <a:buSzPct val="100000"/>
              <a:buFont typeface="+mj-lt"/>
              <a:buAutoNum type="arabicPeriod"/>
            </a:pPr>
            <a:r>
              <a:rPr lang="en-US" sz="2350" dirty="0"/>
              <a:t>Find all of the activities that start at node 1.  Draw their finish nodes and draw arrows between node 1 and those finish nodes.  Put the activity letter or name and duration estimate on the associated arrow </a:t>
            </a:r>
          </a:p>
          <a:p>
            <a:pPr marL="566737" indent="-457200">
              <a:buClr>
                <a:schemeClr val="tx1"/>
              </a:buClr>
              <a:buSzPct val="100000"/>
              <a:buFont typeface="+mj-lt"/>
              <a:buAutoNum type="arabicPeriod"/>
            </a:pPr>
            <a:r>
              <a:rPr lang="en-US" sz="2350" dirty="0"/>
              <a:t>Continuing </a:t>
            </a:r>
            <a:r>
              <a:rPr lang="en-US" sz="2350" dirty="0" smtClean="0"/>
              <a:t>to draw </a:t>
            </a:r>
            <a:r>
              <a:rPr lang="en-US" sz="2350" dirty="0"/>
              <a:t>the network diagram, working from left to right.  Look for bursts and merges.  </a:t>
            </a:r>
            <a:r>
              <a:rPr lang="en-US" sz="2350" b="1" dirty="0"/>
              <a:t>Bursts</a:t>
            </a:r>
            <a:r>
              <a:rPr lang="en-US" sz="2350" dirty="0"/>
              <a:t> occur when a single node is followed by two or more activities.  A </a:t>
            </a:r>
            <a:r>
              <a:rPr lang="en-US" sz="2350" b="1" dirty="0"/>
              <a:t>merge</a:t>
            </a:r>
            <a:r>
              <a:rPr lang="en-US" sz="2350" dirty="0"/>
              <a:t> occurs when two or more nodes precede a single node</a:t>
            </a:r>
          </a:p>
          <a:p>
            <a:pPr marL="566737" indent="-457200">
              <a:buClr>
                <a:schemeClr val="tx1"/>
              </a:buClr>
              <a:buSzPct val="100000"/>
              <a:buFont typeface="+mj-lt"/>
              <a:buAutoNum type="arabicPeriod"/>
            </a:pPr>
            <a:r>
              <a:rPr lang="en-US" sz="2350" dirty="0"/>
              <a:t>Continue drawing the project network diagram until all activities are included on the diagram that have dependencies</a:t>
            </a:r>
          </a:p>
          <a:p>
            <a:pPr marL="566737" indent="-457200">
              <a:buClr>
                <a:schemeClr val="tx1"/>
              </a:buClr>
              <a:buSzPct val="100000"/>
              <a:buFont typeface="+mj-lt"/>
              <a:buAutoNum type="arabicPeriod"/>
            </a:pPr>
            <a:r>
              <a:rPr lang="en-US" sz="2350" dirty="0"/>
              <a:t>As a rule of thumb, all arrowheads should face toward the right, and no arrows should cross on an AOA network diagram</a:t>
            </a:r>
          </a:p>
        </p:txBody>
      </p:sp>
      <p:sp>
        <p:nvSpPr>
          <p:cNvPr id="6" name="Slide Number Placeholder 5"/>
          <p:cNvSpPr>
            <a:spLocks noGrp="1"/>
          </p:cNvSpPr>
          <p:nvPr>
            <p:ph type="sldNum" sz="quarter" idx="11"/>
          </p:nvPr>
        </p:nvSpPr>
        <p:spPr/>
        <p:txBody>
          <a:bodyPr/>
          <a:lstStyle/>
          <a:p>
            <a:pPr>
              <a:defRPr/>
            </a:pPr>
            <a:fld id="{F78120F8-6832-4F3B-ADF8-A6FDA54EFEAD}"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5800" y="358140"/>
            <a:ext cx="9982200" cy="1089660"/>
          </a:xfrm>
        </p:spPr>
        <p:txBody>
          <a:bodyPr>
            <a:normAutofit fontScale="90000"/>
          </a:bodyPr>
          <a:lstStyle/>
          <a:p>
            <a:r>
              <a:rPr lang="en-US" dirty="0" smtClean="0"/>
              <a:t>Precedence Diagramming Method (PDM)</a:t>
            </a:r>
          </a:p>
        </p:txBody>
      </p:sp>
      <p:sp>
        <p:nvSpPr>
          <p:cNvPr id="26627" name="Rectangle 3"/>
          <p:cNvSpPr>
            <a:spLocks noGrp="1" noChangeArrowheads="1"/>
          </p:cNvSpPr>
          <p:nvPr>
            <p:ph idx="1"/>
          </p:nvPr>
        </p:nvSpPr>
        <p:spPr>
          <a:xfrm>
            <a:off x="990600" y="1828800"/>
            <a:ext cx="9601200" cy="4191000"/>
          </a:xfrm>
        </p:spPr>
        <p:txBody>
          <a:bodyPr/>
          <a:lstStyle/>
          <a:p>
            <a:r>
              <a:rPr lang="en-US" dirty="0" smtClean="0"/>
              <a:t>Activities are represented by </a:t>
            </a:r>
            <a:r>
              <a:rPr lang="en-US" dirty="0" smtClean="0"/>
              <a:t>boxes</a:t>
            </a:r>
          </a:p>
          <a:p>
            <a:endParaRPr lang="en-US" dirty="0" smtClean="0"/>
          </a:p>
          <a:p>
            <a:r>
              <a:rPr lang="en-US" dirty="0" smtClean="0"/>
              <a:t>Arrows show relationships between </a:t>
            </a:r>
            <a:r>
              <a:rPr lang="en-US" dirty="0" smtClean="0"/>
              <a:t>activities</a:t>
            </a:r>
          </a:p>
          <a:p>
            <a:endParaRPr lang="en-US" dirty="0" smtClean="0"/>
          </a:p>
          <a:p>
            <a:r>
              <a:rPr lang="en-US" dirty="0" smtClean="0"/>
              <a:t>More popular than ADM method and used by project </a:t>
            </a:r>
            <a:r>
              <a:rPr lang="en-US" dirty="0" smtClean="0"/>
              <a:t>management software</a:t>
            </a:r>
          </a:p>
          <a:p>
            <a:endParaRPr lang="en-US" dirty="0" smtClean="0"/>
          </a:p>
          <a:p>
            <a:r>
              <a:rPr lang="en-US" dirty="0" smtClean="0"/>
              <a:t>Better at showing different types of dependencies</a:t>
            </a:r>
          </a:p>
        </p:txBody>
      </p:sp>
      <p:sp>
        <p:nvSpPr>
          <p:cNvPr id="6" name="Slide Number Placeholder 5"/>
          <p:cNvSpPr>
            <a:spLocks noGrp="1"/>
          </p:cNvSpPr>
          <p:nvPr>
            <p:ph type="sldNum" sz="quarter" idx="11"/>
          </p:nvPr>
        </p:nvSpPr>
        <p:spPr/>
        <p:txBody>
          <a:bodyPr/>
          <a:lstStyle/>
          <a:p>
            <a:pPr>
              <a:defRPr/>
            </a:pPr>
            <a:fld id="{45ECF90C-27FF-4771-A56A-23DBBE2C7B3C}"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52400"/>
            <a:ext cx="10287000" cy="990600"/>
          </a:xfrm>
        </p:spPr>
        <p:txBody>
          <a:bodyPr/>
          <a:lstStyle/>
          <a:p>
            <a:r>
              <a:rPr lang="en-US" sz="3600" dirty="0" smtClean="0"/>
              <a:t>Task </a:t>
            </a:r>
            <a:r>
              <a:rPr lang="en-US" sz="3600" dirty="0"/>
              <a:t>Dependency Types</a:t>
            </a:r>
          </a:p>
        </p:txBody>
      </p:sp>
      <p:graphicFrame>
        <p:nvGraphicFramePr>
          <p:cNvPr id="4" name="Table 3" descr="A table with 3 columns and 5 rows. The column headers are Task dependency, Example, and Description."/>
          <p:cNvGraphicFramePr>
            <a:graphicFrameLocks noGrp="1"/>
          </p:cNvGraphicFramePr>
          <p:nvPr>
            <p:extLst>
              <p:ext uri="{D42A27DB-BD31-4B8C-83A1-F6EECF244321}">
                <p14:modId xmlns:p14="http://schemas.microsoft.com/office/powerpoint/2010/main" val="2400871285"/>
              </p:ext>
            </p:extLst>
          </p:nvPr>
        </p:nvGraphicFramePr>
        <p:xfrm>
          <a:off x="2144713" y="1507190"/>
          <a:ext cx="7902574" cy="4427248"/>
        </p:xfrm>
        <a:graphic>
          <a:graphicData uri="http://schemas.openxmlformats.org/drawingml/2006/table">
            <a:tbl>
              <a:tblPr firstRow="1">
                <a:tableStyleId>{5C22544A-7EE6-4342-B048-85BDC9FD1C3A}</a:tableStyleId>
              </a:tblPr>
              <a:tblGrid>
                <a:gridCol w="2633628">
                  <a:extLst>
                    <a:ext uri="{9D8B030D-6E8A-4147-A177-3AD203B41FA5}">
                      <a16:colId xmlns:a16="http://schemas.microsoft.com/office/drawing/2014/main" val="1097144089"/>
                    </a:ext>
                  </a:extLst>
                </a:gridCol>
                <a:gridCol w="2634473">
                  <a:extLst>
                    <a:ext uri="{9D8B030D-6E8A-4147-A177-3AD203B41FA5}">
                      <a16:colId xmlns:a16="http://schemas.microsoft.com/office/drawing/2014/main" val="1628095092"/>
                    </a:ext>
                  </a:extLst>
                </a:gridCol>
                <a:gridCol w="2634473">
                  <a:extLst>
                    <a:ext uri="{9D8B030D-6E8A-4147-A177-3AD203B41FA5}">
                      <a16:colId xmlns:a16="http://schemas.microsoft.com/office/drawing/2014/main" val="1648939593"/>
                    </a:ext>
                  </a:extLst>
                </a:gridCol>
              </a:tblGrid>
              <a:tr h="169518">
                <a:tc>
                  <a:txBody>
                    <a:bodyPr/>
                    <a:lstStyle/>
                    <a:p>
                      <a:pPr marL="0" marR="0">
                        <a:lnSpc>
                          <a:spcPct val="107000"/>
                        </a:lnSpc>
                        <a:spcBef>
                          <a:spcPts val="0"/>
                        </a:spcBef>
                        <a:spcAft>
                          <a:spcPts val="0"/>
                        </a:spcAft>
                      </a:pPr>
                      <a:r>
                        <a:rPr lang="en-US" sz="1100" dirty="0">
                          <a:effectLst/>
                        </a:rPr>
                        <a:t>Task dependency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Example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Description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1984685"/>
                  </a:ext>
                </a:extLst>
              </a:tr>
              <a:tr h="1061965">
                <a:tc>
                  <a:txBody>
                    <a:bodyPr/>
                    <a:lstStyle/>
                    <a:p>
                      <a:pPr marL="0" marR="0">
                        <a:lnSpc>
                          <a:spcPct val="107000"/>
                        </a:lnSpc>
                        <a:spcBef>
                          <a:spcPts val="0"/>
                        </a:spcBef>
                        <a:spcAft>
                          <a:spcPts val="0"/>
                        </a:spcAft>
                      </a:pPr>
                      <a:r>
                        <a:rPr lang="en-US" sz="1100">
                          <a:effectLst/>
                        </a:rPr>
                        <a:t>Finish-to-start (FS)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A diagram of a box labeled A in the top left corner and a box labeled B in the bottom right corner. An arrow points from the right side of box A to the top side of box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Task (B) cannot start until task (A) finishes.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32188245"/>
                  </a:ext>
                </a:extLst>
              </a:tr>
              <a:tr h="1061965">
                <a:tc>
                  <a:txBody>
                    <a:bodyPr/>
                    <a:lstStyle/>
                    <a:p>
                      <a:pPr marL="0" marR="0">
                        <a:lnSpc>
                          <a:spcPct val="107000"/>
                        </a:lnSpc>
                        <a:spcBef>
                          <a:spcPts val="0"/>
                        </a:spcBef>
                        <a:spcAft>
                          <a:spcPts val="0"/>
                        </a:spcAft>
                      </a:pPr>
                      <a:r>
                        <a:rPr lang="en-US" sz="1100">
                          <a:effectLst/>
                        </a:rPr>
                        <a:t>Start-to-start (SS)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A diagram of a box labeled A above a box labeled B. Box B is more aligned to the right. An arrow points from the left side of box A down towards the left side of box 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Task (B) cannot start until task (A) starts.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6548907"/>
                  </a:ext>
                </a:extLst>
              </a:tr>
              <a:tr h="1061965">
                <a:tc>
                  <a:txBody>
                    <a:bodyPr/>
                    <a:lstStyle/>
                    <a:p>
                      <a:pPr marL="0" marR="0">
                        <a:lnSpc>
                          <a:spcPct val="107000"/>
                        </a:lnSpc>
                        <a:spcBef>
                          <a:spcPts val="0"/>
                        </a:spcBef>
                        <a:spcAft>
                          <a:spcPts val="0"/>
                        </a:spcAft>
                      </a:pPr>
                      <a:r>
                        <a:rPr lang="en-US" sz="1100">
                          <a:effectLst/>
                        </a:rPr>
                        <a:t>Finish-to-finish (FF)</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A diagram of a box labeled A above a box labeled B. Box B is more aligned to the left. An arrow points from the right side of box A and down to the right side of box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Task (B) cannot finish until task (A) finishes.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7907818"/>
                  </a:ext>
                </a:extLst>
              </a:tr>
              <a:tr h="1061965">
                <a:tc>
                  <a:txBody>
                    <a:bodyPr/>
                    <a:lstStyle/>
                    <a:p>
                      <a:pPr marL="0" marR="0">
                        <a:lnSpc>
                          <a:spcPct val="107000"/>
                        </a:lnSpc>
                        <a:spcBef>
                          <a:spcPts val="0"/>
                        </a:spcBef>
                        <a:spcAft>
                          <a:spcPts val="0"/>
                        </a:spcAft>
                      </a:pPr>
                      <a:r>
                        <a:rPr lang="en-US" sz="1100">
                          <a:effectLst/>
                        </a:rPr>
                        <a:t>Start-to-finish (SF)</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A diagram of a box labeled A in the top right corner and a box labeled B in the bottom left corner. An arrow points from the left side of box A to the right side of box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Task (B) cannot finish until task (A) starts.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8404873"/>
                  </a:ext>
                </a:extLst>
              </a:tr>
            </a:tbl>
          </a:graphicData>
        </a:graphic>
      </p:graphicFrame>
      <p:pic>
        <p:nvPicPr>
          <p:cNvPr id="2" name="Picture 1" descr="Screenshot of the table. Task dependencies are the nature of the relationship between two linked tasks. You link tasks by defining a dependency between their finish and start dates. For example, the “Contact caterers” task must finish before the start of the “Determine menus” task. There are four kinds of task dependencies in Microsoft Project.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143000"/>
            <a:ext cx="9246818" cy="5105400"/>
          </a:xfrm>
          <a:prstGeom prst="rect">
            <a:avLst/>
          </a:prstGeom>
        </p:spPr>
      </p:pic>
      <p:sp>
        <p:nvSpPr>
          <p:cNvPr id="7" name="Slide Number Placeholder 6"/>
          <p:cNvSpPr>
            <a:spLocks noGrp="1"/>
          </p:cNvSpPr>
          <p:nvPr>
            <p:ph type="sldNum" sz="quarter" idx="11"/>
          </p:nvPr>
        </p:nvSpPr>
        <p:spPr/>
        <p:txBody>
          <a:bodyPr/>
          <a:lstStyle/>
          <a:p>
            <a:pPr>
              <a:buFontTx/>
              <a:buNone/>
              <a:defRPr/>
            </a:pPr>
            <a:fld id="{A4D16118-26E8-437C-B900-43E37754E064}" type="slidenum">
              <a:rPr lang="en-US" smtClean="0"/>
              <a:pPr>
                <a:buFontTx/>
                <a:buNone/>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09600" y="228600"/>
            <a:ext cx="9829800" cy="1143000"/>
          </a:xfrm>
        </p:spPr>
        <p:txBody>
          <a:bodyPr>
            <a:normAutofit/>
          </a:bodyPr>
          <a:lstStyle/>
          <a:p>
            <a:r>
              <a:rPr lang="en-US" sz="3600" dirty="0" smtClean="0"/>
              <a:t>Sample </a:t>
            </a:r>
            <a:r>
              <a:rPr lang="en-US" sz="3600" dirty="0"/>
              <a:t>PDM Network Diagram</a:t>
            </a:r>
            <a:endParaRPr lang="en-US" sz="3200" dirty="0"/>
          </a:p>
        </p:txBody>
      </p:sp>
      <p:pic>
        <p:nvPicPr>
          <p:cNvPr id="3" name="Picture 2" descr="A network diagram. There are 10 boxes labeled A through J. Boxes A, B, and C are in the first column, boxes D, E, F, and G are in the second column, boxes H and I are in the third column, and box J is in the fourth column. Box A, Start: Monday 8/3/09, ID: 1, Finish: Monday 8/3/09, Duration: 1 day, Res: blank. An arrow points from box A to box D. Box B, Start: Monday 8/3/09, ID: 2, Finish: Tuesday 8/4/09, Duration: 2 days, Res: blank. An arrow points from box B to box E and F. Box C, Start: Monday 8/3/09, ID: 3, Finish: Wednesday 8/5/09, Duration: 3 days, Res: blank. An arrow points from box C to box G. Box D, Start: Tuesday 8/4/09, ID: 4, Finish: Friday 8/7/09, Duration: 4 days, Res: blank. An arrow points from box D to box H. Box E, Start: Wednesday 8/5/09, ID: 5, Finish: Tuesday 8/11/09, Duration: 5 days, Res: blank. An arrow points from box E to box H. Box F, start: Wednesday 8/5/09, ID: 6, Finish: Monday 8/10/09, Duration: 4 days, Res: blank. An arrow points from box F to box J. Box G, Start: Thursday 8/6/09, ID: 7, Finish: Thursday 8/13/09, Duration: 6 days, Res: blank. An arrow points from box G to box I. Box H, Start: Wednesday 8/12/09, ID: 8, Finish: Wednesday 8/19/09, Duration 6 days, Res: blank. An arrow points from box H to box J. Box I, Start: Friday 8/14/09, ID: 9, Finish: Monday 8/17/09, Duration: 2 days, Res: blank. An arrow points from box I to box J. Box J, Start: Thursday 8/20/09, ID: 10, Finish: Monday 8/24/09, Duration: 3 days, Res: blank."/>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04" y="1524000"/>
            <a:ext cx="12064996" cy="4343399"/>
          </a:xfrm>
          <a:prstGeom prst="rect">
            <a:avLst/>
          </a:prstGeom>
        </p:spPr>
      </p:pic>
      <p:sp>
        <p:nvSpPr>
          <p:cNvPr id="6" name="Slide Number Placeholder 5"/>
          <p:cNvSpPr>
            <a:spLocks noGrp="1"/>
          </p:cNvSpPr>
          <p:nvPr>
            <p:ph type="sldNum" sz="quarter" idx="11"/>
          </p:nvPr>
        </p:nvSpPr>
        <p:spPr/>
        <p:txBody>
          <a:bodyPr/>
          <a:lstStyle/>
          <a:p>
            <a:pPr>
              <a:buFontTx/>
              <a:buNone/>
              <a:defRPr/>
            </a:pPr>
            <a:fld id="{2094BC48-FA5E-46CE-8C4F-D07352F303E3}" type="slidenum">
              <a:rPr lang="en-US" smtClean="0"/>
              <a:pPr>
                <a:buFontTx/>
                <a:buNone/>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33400" y="152400"/>
            <a:ext cx="10134600" cy="990600"/>
          </a:xfrm>
        </p:spPr>
        <p:txBody>
          <a:bodyPr>
            <a:normAutofit/>
          </a:bodyPr>
          <a:lstStyle/>
          <a:p>
            <a:r>
              <a:rPr lang="en-US" dirty="0" smtClean="0">
                <a:solidFill>
                  <a:srgbClr val="FF0000"/>
                </a:solidFill>
              </a:rPr>
              <a:t>Estimating Activity Resources</a:t>
            </a:r>
          </a:p>
        </p:txBody>
      </p:sp>
      <p:sp>
        <p:nvSpPr>
          <p:cNvPr id="29699" name="Rectangle 3"/>
          <p:cNvSpPr>
            <a:spLocks noGrp="1" noChangeArrowheads="1"/>
          </p:cNvSpPr>
          <p:nvPr>
            <p:ph idx="1"/>
          </p:nvPr>
        </p:nvSpPr>
        <p:spPr>
          <a:xfrm>
            <a:off x="838200" y="1219200"/>
            <a:ext cx="10210800" cy="4876800"/>
          </a:xfrm>
        </p:spPr>
        <p:txBody>
          <a:bodyPr/>
          <a:lstStyle/>
          <a:p>
            <a:r>
              <a:rPr lang="en-US" b="1" dirty="0" smtClean="0"/>
              <a:t>R</a:t>
            </a:r>
            <a:r>
              <a:rPr lang="en-US" b="1" dirty="0" smtClean="0"/>
              <a:t>esources</a:t>
            </a:r>
            <a:r>
              <a:rPr lang="en-US" dirty="0" smtClean="0"/>
              <a:t> </a:t>
            </a:r>
            <a:r>
              <a:rPr lang="en-US" dirty="0" smtClean="0"/>
              <a:t>are people, equipment, and </a:t>
            </a:r>
            <a:r>
              <a:rPr lang="en-US" dirty="0" smtClean="0"/>
              <a:t>materials</a:t>
            </a:r>
          </a:p>
          <a:p>
            <a:endParaRPr lang="en-US" dirty="0" smtClean="0"/>
          </a:p>
          <a:p>
            <a:pPr algn="just"/>
            <a:r>
              <a:rPr lang="en-US" dirty="0"/>
              <a:t>Before estimating activity durations, you must have a good idea of the quantity and type of resources that will be assigned to each </a:t>
            </a:r>
            <a:r>
              <a:rPr lang="en-US" dirty="0" smtClean="0"/>
              <a:t>activity.</a:t>
            </a:r>
          </a:p>
          <a:p>
            <a:pPr algn="just"/>
            <a:endParaRPr lang="en-US" dirty="0" smtClean="0"/>
          </a:p>
          <a:p>
            <a:pPr>
              <a:lnSpc>
                <a:spcPct val="90000"/>
              </a:lnSpc>
            </a:pPr>
            <a:r>
              <a:rPr lang="en-US" dirty="0" smtClean="0"/>
              <a:t>Consider important issues in estimating resources</a:t>
            </a:r>
          </a:p>
          <a:p>
            <a:pPr lvl="1">
              <a:lnSpc>
                <a:spcPct val="90000"/>
              </a:lnSpc>
            </a:pPr>
            <a:r>
              <a:rPr lang="en-US" dirty="0" smtClean="0"/>
              <a:t>How difficult will it be to do specific activities on this project?</a:t>
            </a:r>
          </a:p>
          <a:p>
            <a:pPr lvl="1">
              <a:lnSpc>
                <a:spcPct val="90000"/>
              </a:lnSpc>
            </a:pPr>
            <a:r>
              <a:rPr lang="en-US" dirty="0" smtClean="0"/>
              <a:t>What is the organization’s history in doing similar activities?</a:t>
            </a:r>
          </a:p>
          <a:p>
            <a:pPr lvl="1">
              <a:lnSpc>
                <a:spcPct val="90000"/>
              </a:lnSpc>
            </a:pPr>
            <a:r>
              <a:rPr lang="en-US" dirty="0" smtClean="0"/>
              <a:t>Are the required resources available?</a:t>
            </a:r>
          </a:p>
          <a:p>
            <a:pPr marL="109537" indent="0">
              <a:lnSpc>
                <a:spcPct val="90000"/>
              </a:lnSpc>
              <a:buNone/>
            </a:pPr>
            <a:endParaRPr lang="en-US" dirty="0" smtClean="0"/>
          </a:p>
        </p:txBody>
      </p:sp>
      <p:sp>
        <p:nvSpPr>
          <p:cNvPr id="6" name="Slide Number Placeholder 5"/>
          <p:cNvSpPr>
            <a:spLocks noGrp="1"/>
          </p:cNvSpPr>
          <p:nvPr>
            <p:ph type="sldNum" sz="quarter" idx="11"/>
          </p:nvPr>
        </p:nvSpPr>
        <p:spPr/>
        <p:txBody>
          <a:bodyPr/>
          <a:lstStyle/>
          <a:p>
            <a:pPr>
              <a:defRPr/>
            </a:pPr>
            <a:fld id="{9A288B24-D97E-41B0-8DB0-789651200C06}"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62000" y="228600"/>
            <a:ext cx="9906000" cy="990600"/>
          </a:xfrm>
        </p:spPr>
        <p:txBody>
          <a:bodyPr/>
          <a:lstStyle/>
          <a:p>
            <a:r>
              <a:rPr lang="en-US" dirty="0" smtClean="0">
                <a:solidFill>
                  <a:srgbClr val="FF0000"/>
                </a:solidFill>
              </a:rPr>
              <a:t>Activity Duration Estimating</a:t>
            </a:r>
          </a:p>
        </p:txBody>
      </p:sp>
      <p:sp>
        <p:nvSpPr>
          <p:cNvPr id="30723" name="Rectangle 3"/>
          <p:cNvSpPr>
            <a:spLocks noGrp="1" noChangeArrowheads="1"/>
          </p:cNvSpPr>
          <p:nvPr>
            <p:ph idx="1"/>
          </p:nvPr>
        </p:nvSpPr>
        <p:spPr>
          <a:xfrm>
            <a:off x="1143000" y="1524000"/>
            <a:ext cx="9753600" cy="4724400"/>
          </a:xfrm>
        </p:spPr>
        <p:txBody>
          <a:bodyPr/>
          <a:lstStyle/>
          <a:p>
            <a:r>
              <a:rPr lang="en-US" b="1" dirty="0"/>
              <a:t>Duration</a:t>
            </a:r>
            <a:r>
              <a:rPr lang="en-US" dirty="0"/>
              <a:t> is the </a:t>
            </a:r>
            <a:r>
              <a:rPr lang="en-US" b="1" dirty="0"/>
              <a:t>total time</a:t>
            </a:r>
            <a:r>
              <a:rPr lang="en-US" dirty="0"/>
              <a:t> that an activity takes to complete — from </a:t>
            </a:r>
            <a:r>
              <a:rPr lang="en-US" b="1" dirty="0"/>
              <a:t>start to finish</a:t>
            </a:r>
            <a:r>
              <a:rPr lang="en-US" dirty="0"/>
              <a:t> — including working time and waiting time (like weekends or breaks</a:t>
            </a:r>
            <a:r>
              <a:rPr lang="en-US" dirty="0" smtClean="0"/>
              <a:t>).</a:t>
            </a:r>
          </a:p>
          <a:p>
            <a:pPr lvl="1"/>
            <a:r>
              <a:rPr lang="en-US" dirty="0"/>
              <a:t>A task starts on Monday and finishes on Friday → </a:t>
            </a:r>
            <a:r>
              <a:rPr lang="en-US" b="1" dirty="0"/>
              <a:t>Duration = 5 </a:t>
            </a:r>
            <a:r>
              <a:rPr lang="en-US" b="1" dirty="0" smtClean="0"/>
              <a:t>days</a:t>
            </a:r>
          </a:p>
          <a:p>
            <a:pPr lvl="1"/>
            <a:endParaRPr lang="en-US" dirty="0" smtClean="0"/>
          </a:p>
          <a:p>
            <a:r>
              <a:rPr lang="en-US" b="1" dirty="0"/>
              <a:t>Effort</a:t>
            </a:r>
            <a:r>
              <a:rPr lang="en-US" dirty="0"/>
              <a:t> is the </a:t>
            </a:r>
            <a:r>
              <a:rPr lang="en-US" b="1" dirty="0"/>
              <a:t>total amount of work</a:t>
            </a:r>
            <a:r>
              <a:rPr lang="en-US" dirty="0"/>
              <a:t> or </a:t>
            </a:r>
            <a:r>
              <a:rPr lang="en-US" b="1" dirty="0"/>
              <a:t>labor time</a:t>
            </a:r>
            <a:r>
              <a:rPr lang="en-US" dirty="0"/>
              <a:t> (in work hours or workdays) that people actually spend working on an activity</a:t>
            </a:r>
            <a:r>
              <a:rPr lang="en-US" dirty="0" smtClean="0"/>
              <a:t>.</a:t>
            </a:r>
          </a:p>
          <a:p>
            <a:pPr lvl="1"/>
            <a:r>
              <a:rPr lang="en-US" dirty="0"/>
              <a:t>If two people each work 4 hours per day for 5 days →</a:t>
            </a:r>
            <a:br>
              <a:rPr lang="en-US" dirty="0"/>
            </a:br>
            <a:r>
              <a:rPr lang="en-US" b="1" dirty="0"/>
              <a:t>Effort = 2 × 4 × 5 = 40 </a:t>
            </a:r>
            <a:r>
              <a:rPr lang="en-US" b="1" dirty="0" smtClean="0"/>
              <a:t>person-hours</a:t>
            </a:r>
            <a:endParaRPr lang="en-US" dirty="0" smtClean="0"/>
          </a:p>
        </p:txBody>
      </p:sp>
      <p:sp>
        <p:nvSpPr>
          <p:cNvPr id="6" name="Slide Number Placeholder 5"/>
          <p:cNvSpPr>
            <a:spLocks noGrp="1"/>
          </p:cNvSpPr>
          <p:nvPr>
            <p:ph type="sldNum" sz="quarter" idx="11"/>
          </p:nvPr>
        </p:nvSpPr>
        <p:spPr/>
        <p:txBody>
          <a:bodyPr/>
          <a:lstStyle/>
          <a:p>
            <a:pPr>
              <a:defRPr/>
            </a:pPr>
            <a:fld id="{3FF7902D-2E9A-4368-BC8F-780B390E78C2}"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81000" y="228600"/>
            <a:ext cx="10287000" cy="990600"/>
          </a:xfrm>
        </p:spPr>
        <p:txBody>
          <a:bodyPr/>
          <a:lstStyle/>
          <a:p>
            <a:r>
              <a:rPr lang="en-US" dirty="0" smtClean="0"/>
              <a:t>Three-Point Estimates</a:t>
            </a:r>
          </a:p>
        </p:txBody>
      </p:sp>
      <p:sp>
        <p:nvSpPr>
          <p:cNvPr id="31747" name="Rectangle 3"/>
          <p:cNvSpPr>
            <a:spLocks noGrp="1" noChangeArrowheads="1"/>
          </p:cNvSpPr>
          <p:nvPr>
            <p:ph idx="1"/>
          </p:nvPr>
        </p:nvSpPr>
        <p:spPr>
          <a:xfrm>
            <a:off x="914400" y="1524000"/>
            <a:ext cx="10134600" cy="4572000"/>
          </a:xfrm>
        </p:spPr>
        <p:txBody>
          <a:bodyPr/>
          <a:lstStyle/>
          <a:p>
            <a:r>
              <a:rPr lang="en-US" dirty="0" smtClean="0"/>
              <a:t>Instead of providing activity estimates as a discrete number, such as four weeks, it’s often helpful to create a </a:t>
            </a:r>
            <a:r>
              <a:rPr lang="en-US" b="1" dirty="0" smtClean="0"/>
              <a:t>three-point estimate</a:t>
            </a:r>
          </a:p>
          <a:p>
            <a:pPr lvl="1"/>
            <a:r>
              <a:rPr lang="en-US" dirty="0" smtClean="0"/>
              <a:t>an estimate that includes an </a:t>
            </a:r>
            <a:r>
              <a:rPr lang="en-US" dirty="0" smtClean="0">
                <a:solidFill>
                  <a:srgbClr val="FF0000"/>
                </a:solidFill>
              </a:rPr>
              <a:t>optimistic, most likely, and pessimistic estimate</a:t>
            </a:r>
            <a:r>
              <a:rPr lang="en-US" dirty="0" smtClean="0"/>
              <a:t>, such as three weeks for the optimistic, four weeks for the most likely, and five weeks for the pessimistic estimate</a:t>
            </a:r>
          </a:p>
          <a:p>
            <a:r>
              <a:rPr lang="en-US" dirty="0" smtClean="0"/>
              <a:t>Three-point estimates are needed for PERT and Monte Carlo simulations</a:t>
            </a:r>
          </a:p>
        </p:txBody>
      </p:sp>
      <p:sp>
        <p:nvSpPr>
          <p:cNvPr id="6" name="Slide Number Placeholder 5"/>
          <p:cNvSpPr>
            <a:spLocks noGrp="1"/>
          </p:cNvSpPr>
          <p:nvPr>
            <p:ph type="sldNum" sz="quarter" idx="11"/>
          </p:nvPr>
        </p:nvSpPr>
        <p:spPr/>
        <p:txBody>
          <a:bodyPr/>
          <a:lstStyle/>
          <a:p>
            <a:pPr>
              <a:defRPr/>
            </a:pPr>
            <a:fld id="{AD458F38-7F74-4F04-A54C-61AF37FECED0}"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04800" y="228600"/>
            <a:ext cx="10363200" cy="990600"/>
          </a:xfrm>
        </p:spPr>
        <p:txBody>
          <a:bodyPr>
            <a:normAutofit/>
          </a:bodyPr>
          <a:lstStyle/>
          <a:p>
            <a:r>
              <a:rPr lang="en-US" dirty="0" smtClean="0">
                <a:solidFill>
                  <a:srgbClr val="FF0000"/>
                </a:solidFill>
              </a:rPr>
              <a:t>Developing the Schedule</a:t>
            </a:r>
          </a:p>
        </p:txBody>
      </p:sp>
      <p:sp>
        <p:nvSpPr>
          <p:cNvPr id="32771" name="Rectangle 3"/>
          <p:cNvSpPr>
            <a:spLocks noGrp="1" noChangeArrowheads="1"/>
          </p:cNvSpPr>
          <p:nvPr>
            <p:ph idx="1"/>
          </p:nvPr>
        </p:nvSpPr>
        <p:spPr>
          <a:xfrm>
            <a:off x="609600" y="1600200"/>
            <a:ext cx="10841568" cy="4648200"/>
          </a:xfrm>
        </p:spPr>
        <p:txBody>
          <a:bodyPr/>
          <a:lstStyle/>
          <a:p>
            <a:pPr>
              <a:lnSpc>
                <a:spcPct val="90000"/>
              </a:lnSpc>
            </a:pPr>
            <a:r>
              <a:rPr lang="en-US" dirty="0" smtClean="0"/>
              <a:t>The ultimate </a:t>
            </a:r>
            <a:r>
              <a:rPr lang="en-US" dirty="0" smtClean="0"/>
              <a:t>goal is to create a realistic project schedule that provides a basis for monitoring project progress for the time dimension of the </a:t>
            </a:r>
            <a:r>
              <a:rPr lang="en-US" dirty="0" smtClean="0"/>
              <a:t>project</a:t>
            </a:r>
          </a:p>
          <a:p>
            <a:pPr>
              <a:lnSpc>
                <a:spcPct val="90000"/>
              </a:lnSpc>
            </a:pPr>
            <a:endParaRPr lang="en-US" dirty="0" smtClean="0"/>
          </a:p>
          <a:p>
            <a:pPr>
              <a:lnSpc>
                <a:spcPct val="90000"/>
              </a:lnSpc>
            </a:pPr>
            <a:r>
              <a:rPr lang="en-US" dirty="0" smtClean="0"/>
              <a:t>Important tools and techniques include Gantt charts, critical path analysis, and critical chain scheduling, and PERT analysis</a:t>
            </a:r>
          </a:p>
        </p:txBody>
      </p:sp>
      <p:sp>
        <p:nvSpPr>
          <p:cNvPr id="6" name="Slide Number Placeholder 5"/>
          <p:cNvSpPr>
            <a:spLocks noGrp="1"/>
          </p:cNvSpPr>
          <p:nvPr>
            <p:ph type="sldNum" sz="quarter" idx="11"/>
          </p:nvPr>
        </p:nvSpPr>
        <p:spPr/>
        <p:txBody>
          <a:bodyPr/>
          <a:lstStyle/>
          <a:p>
            <a:pPr>
              <a:defRPr/>
            </a:pPr>
            <a:fld id="{EEF0914C-B560-4916-A481-53F2E5D7B739}"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81000" y="228600"/>
            <a:ext cx="10287000" cy="990600"/>
          </a:xfrm>
        </p:spPr>
        <p:txBody>
          <a:bodyPr/>
          <a:lstStyle/>
          <a:p>
            <a:r>
              <a:rPr lang="en-US" dirty="0" smtClean="0"/>
              <a:t>Gantt Charts</a:t>
            </a:r>
          </a:p>
        </p:txBody>
      </p:sp>
      <p:sp>
        <p:nvSpPr>
          <p:cNvPr id="33795" name="Rectangle 3"/>
          <p:cNvSpPr>
            <a:spLocks noGrp="1" noChangeArrowheads="1"/>
          </p:cNvSpPr>
          <p:nvPr>
            <p:ph idx="1"/>
          </p:nvPr>
        </p:nvSpPr>
        <p:spPr>
          <a:xfrm>
            <a:off x="1600200" y="1524000"/>
            <a:ext cx="8991600" cy="4648200"/>
          </a:xfrm>
        </p:spPr>
        <p:txBody>
          <a:bodyPr/>
          <a:lstStyle/>
          <a:p>
            <a:pPr>
              <a:lnSpc>
                <a:spcPct val="90000"/>
              </a:lnSpc>
            </a:pPr>
            <a:r>
              <a:rPr lang="en-US" b="1" dirty="0" smtClean="0"/>
              <a:t>Gantt charts</a:t>
            </a:r>
            <a:r>
              <a:rPr lang="en-US" dirty="0" smtClean="0"/>
              <a:t> provide a standard format for displaying project schedule information by listing project activities and their corresponding start and finish dates in a calendar format</a:t>
            </a:r>
          </a:p>
          <a:p>
            <a:pPr>
              <a:lnSpc>
                <a:spcPct val="90000"/>
              </a:lnSpc>
            </a:pPr>
            <a:r>
              <a:rPr lang="en-US" dirty="0" smtClean="0"/>
              <a:t>Symbols include:</a:t>
            </a:r>
          </a:p>
          <a:p>
            <a:pPr lvl="1">
              <a:lnSpc>
                <a:spcPct val="90000"/>
              </a:lnSpc>
            </a:pPr>
            <a:r>
              <a:rPr lang="en-US" dirty="0" smtClean="0"/>
              <a:t>A black diamond: a milestones </a:t>
            </a:r>
          </a:p>
          <a:p>
            <a:pPr lvl="1">
              <a:lnSpc>
                <a:spcPct val="90000"/>
              </a:lnSpc>
            </a:pPr>
            <a:r>
              <a:rPr lang="en-US" dirty="0" smtClean="0"/>
              <a:t>Thick black bars: summary tasks</a:t>
            </a:r>
          </a:p>
          <a:p>
            <a:pPr lvl="1">
              <a:lnSpc>
                <a:spcPct val="90000"/>
              </a:lnSpc>
            </a:pPr>
            <a:r>
              <a:rPr lang="en-US" dirty="0" smtClean="0"/>
              <a:t>Lighter horizontal bars: durations of tasks</a:t>
            </a:r>
          </a:p>
          <a:p>
            <a:pPr lvl="1">
              <a:lnSpc>
                <a:spcPct val="90000"/>
              </a:lnSpc>
            </a:pPr>
            <a:r>
              <a:rPr lang="en-US" dirty="0" smtClean="0"/>
              <a:t>Arrows: dependencies between tasks</a:t>
            </a:r>
          </a:p>
        </p:txBody>
      </p:sp>
      <p:sp>
        <p:nvSpPr>
          <p:cNvPr id="6" name="Slide Number Placeholder 5"/>
          <p:cNvSpPr>
            <a:spLocks noGrp="1"/>
          </p:cNvSpPr>
          <p:nvPr>
            <p:ph type="sldNum" sz="quarter" idx="11"/>
          </p:nvPr>
        </p:nvSpPr>
        <p:spPr/>
        <p:txBody>
          <a:bodyPr/>
          <a:lstStyle/>
          <a:p>
            <a:pPr>
              <a:defRPr/>
            </a:pPr>
            <a:fld id="{1FDE96D3-A52F-45D5-B2AF-E5E47A603FE7}"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09600" y="381000"/>
            <a:ext cx="9144000" cy="990600"/>
          </a:xfrm>
        </p:spPr>
        <p:txBody>
          <a:bodyPr>
            <a:normAutofit/>
          </a:bodyPr>
          <a:lstStyle/>
          <a:p>
            <a:r>
              <a:rPr lang="en-US" dirty="0" smtClean="0"/>
              <a:t>Gantt Chart for Project X</a:t>
            </a:r>
          </a:p>
        </p:txBody>
      </p:sp>
      <p:pic>
        <p:nvPicPr>
          <p:cNvPr id="3" name="Picture 2" descr="A Gantt chart. On the left side is a pane with task names ranging from A to J. On the right is a timeline ranging from August 2, 2015 to August 23, 2015. The timeline is broken up into four sections with days ranging from Sunday to Saturday. Task A is completed on Monday of the first week and an arrow points from task A to task D. Task B ranges from Monday to Tuesday on the first week. Task C ranges from Monday to Wednesday on the first week. An arrow points from task C to task G. Task D ranges from Tuesday to Friday in the first week. An arrow points from task D to task H. Task E ranges from Wednesday of the first week to Tuesday of the second week. An arrow points from task E to task H. Task F ranges from Wednesday of the first week to Monday of the second week. An arrow points from task F to task J. Task G ranges from Thursday of the first week to Thursday of the second week. An arrow points from task G to task I. Task H ranges from Wednesday of the second week to Wednesday of the third week. An arrow points from task H to task J. Task I ranges from Friday of the second week to Monday of the third week. An arrow points from task I to task J. Task J ranges from Thursday of the third week to Monday of the fourth week. Note: Used with permission from Microsoft Corporation."/>
          <p:cNvPicPr>
            <a:picLocks noChangeAspect="1"/>
          </p:cNvPicPr>
          <p:nvPr/>
        </p:nvPicPr>
        <p:blipFill rotWithShape="1">
          <a:blip r:embed="rId2">
            <a:extLst>
              <a:ext uri="{28A0092B-C50C-407E-A947-70E740481C1C}">
                <a14:useLocalDpi xmlns:a14="http://schemas.microsoft.com/office/drawing/2010/main" val="0"/>
              </a:ext>
            </a:extLst>
          </a:blip>
          <a:srcRect b="7403"/>
          <a:stretch/>
        </p:blipFill>
        <p:spPr>
          <a:xfrm>
            <a:off x="1983860" y="1597728"/>
            <a:ext cx="8224280" cy="3812473"/>
          </a:xfrm>
          <a:prstGeom prst="rect">
            <a:avLst/>
          </a:prstGeom>
        </p:spPr>
      </p:pic>
      <p:sp>
        <p:nvSpPr>
          <p:cNvPr id="7" name="Slide Number Placeholder 6"/>
          <p:cNvSpPr>
            <a:spLocks noGrp="1"/>
          </p:cNvSpPr>
          <p:nvPr>
            <p:ph type="sldNum" sz="quarter" idx="11"/>
          </p:nvPr>
        </p:nvSpPr>
        <p:spPr/>
        <p:txBody>
          <a:bodyPr/>
          <a:lstStyle/>
          <a:p>
            <a:pPr>
              <a:buFontTx/>
              <a:buNone/>
              <a:defRPr/>
            </a:pPr>
            <a:fld id="{F3784B9A-2398-468D-9D00-2729FA002109}" type="slidenum">
              <a:rPr lang="en-US" smtClean="0"/>
              <a:pPr>
                <a:buFontTx/>
                <a:buNone/>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09600" y="0"/>
            <a:ext cx="9601200" cy="1143000"/>
          </a:xfrm>
        </p:spPr>
        <p:txBody>
          <a:bodyPr>
            <a:normAutofit/>
          </a:bodyPr>
          <a:lstStyle/>
          <a:p>
            <a:r>
              <a:rPr lang="en-US" sz="3600" dirty="0" smtClean="0"/>
              <a:t>Gantt </a:t>
            </a:r>
            <a:r>
              <a:rPr lang="en-US" sz="3600" dirty="0"/>
              <a:t>Chart for Software Launch Project</a:t>
            </a:r>
            <a:endParaRPr lang="en-US" dirty="0" smtClean="0"/>
          </a:p>
        </p:txBody>
      </p:sp>
      <p:pic>
        <p:nvPicPr>
          <p:cNvPr id="2" name="Picture 1" descr="A Gantt chart. On the left are task names which include Marketing plan distributed, Corp Comm, Corp Comm Kickoff, Comm Plan delivered, Packaging, Datasheets, Reseller kits, Competitive comparison, Demo script, Working model, Advertising, Develop creative briefs, Develop concepts, Creative Concepts, Ad development, Public relations, Working model, Beta Test, Develop Beta List, Mail Beta Copies, Provide Technical support, Close beta, Internal Communications, Hardware Relationships, Programs, Release to manufacturing, Manufacture product, and Project announced. An annotation pointing to Corp Comm reads, WBS hierarchy shown by indentations. On the right side is a timeline of the tasks ranging from December to June. An annotation pointing to the task related to Corp Comm reads, Summary task. An annotation pointing to the task related to Competitive comparison reads, Milestone. An annotation pointing to the task related to Develop concepts reads, Individual task bar. An annotation pointing to the task related to Provide technical support reads, Arrows show dependenci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6797" y="1182115"/>
            <a:ext cx="6278409" cy="5142485"/>
          </a:xfrm>
          <a:prstGeom prst="rect">
            <a:avLst/>
          </a:prstGeom>
        </p:spPr>
      </p:pic>
      <p:sp>
        <p:nvSpPr>
          <p:cNvPr id="6" name="Slide Number Placeholder 5"/>
          <p:cNvSpPr>
            <a:spLocks noGrp="1"/>
          </p:cNvSpPr>
          <p:nvPr>
            <p:ph type="sldNum" sz="quarter" idx="11"/>
          </p:nvPr>
        </p:nvSpPr>
        <p:spPr/>
        <p:txBody>
          <a:bodyPr/>
          <a:lstStyle/>
          <a:p>
            <a:pPr>
              <a:buFontTx/>
              <a:buNone/>
              <a:defRPr/>
            </a:pPr>
            <a:fld id="{B9A2A0F0-42CA-4FF4-8D02-0516D9A5FAB1}" type="slidenum">
              <a:rPr lang="en-US" smtClean="0"/>
              <a:pPr>
                <a:buFontTx/>
                <a:buNone/>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914400" y="381000"/>
            <a:ext cx="9753600" cy="990600"/>
          </a:xfrm>
        </p:spPr>
        <p:txBody>
          <a:bodyPr>
            <a:normAutofit/>
          </a:bodyPr>
          <a:lstStyle/>
          <a:p>
            <a:r>
              <a:rPr lang="en-US" dirty="0" smtClean="0"/>
              <a:t>Adding Milestones to Gantt Charts</a:t>
            </a:r>
          </a:p>
        </p:txBody>
      </p:sp>
      <p:sp>
        <p:nvSpPr>
          <p:cNvPr id="36867" name="Rectangle 3"/>
          <p:cNvSpPr>
            <a:spLocks noGrp="1" noChangeArrowheads="1"/>
          </p:cNvSpPr>
          <p:nvPr>
            <p:ph idx="1"/>
          </p:nvPr>
        </p:nvSpPr>
        <p:spPr>
          <a:xfrm>
            <a:off x="1600200" y="1676400"/>
            <a:ext cx="8991600" cy="4648200"/>
          </a:xfrm>
        </p:spPr>
        <p:txBody>
          <a:bodyPr/>
          <a:lstStyle/>
          <a:p>
            <a:r>
              <a:rPr lang="en-US" dirty="0" smtClean="0"/>
              <a:t>Many people like to focus on meeting milestones, especially for large projects</a:t>
            </a:r>
          </a:p>
          <a:p>
            <a:r>
              <a:rPr lang="en-US" dirty="0" smtClean="0"/>
              <a:t>Milestones emphasize important events or accomplishments on projects</a:t>
            </a:r>
          </a:p>
          <a:p>
            <a:r>
              <a:rPr lang="en-US" dirty="0" smtClean="0"/>
              <a:t>Normally create milestone by entering tasks with a zero duration, or you can mark any task as a milestone</a:t>
            </a:r>
          </a:p>
        </p:txBody>
      </p:sp>
      <p:sp>
        <p:nvSpPr>
          <p:cNvPr id="6" name="Slide Number Placeholder 5"/>
          <p:cNvSpPr>
            <a:spLocks noGrp="1"/>
          </p:cNvSpPr>
          <p:nvPr>
            <p:ph type="sldNum" sz="quarter" idx="11"/>
          </p:nvPr>
        </p:nvSpPr>
        <p:spPr/>
        <p:txBody>
          <a:bodyPr/>
          <a:lstStyle/>
          <a:p>
            <a:pPr>
              <a:defRPr/>
            </a:pPr>
            <a:fld id="{2C850C89-3CD0-4104-9DBD-5E8728FD873E}"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09600" y="304800"/>
            <a:ext cx="10058400" cy="990600"/>
          </a:xfrm>
        </p:spPr>
        <p:txBody>
          <a:bodyPr/>
          <a:lstStyle/>
          <a:p>
            <a:r>
              <a:rPr lang="en-US" dirty="0" smtClean="0"/>
              <a:t>SMART Criteria</a:t>
            </a:r>
          </a:p>
        </p:txBody>
      </p:sp>
      <p:sp>
        <p:nvSpPr>
          <p:cNvPr id="37891" name="Rectangle 3"/>
          <p:cNvSpPr>
            <a:spLocks noGrp="1" noChangeArrowheads="1"/>
          </p:cNvSpPr>
          <p:nvPr>
            <p:ph idx="1"/>
          </p:nvPr>
        </p:nvSpPr>
        <p:spPr>
          <a:xfrm>
            <a:off x="1600200" y="1600200"/>
            <a:ext cx="8991600" cy="4648200"/>
          </a:xfrm>
        </p:spPr>
        <p:txBody>
          <a:bodyPr/>
          <a:lstStyle/>
          <a:p>
            <a:r>
              <a:rPr lang="en-US" dirty="0" smtClean="0"/>
              <a:t>Milestones should be</a:t>
            </a:r>
          </a:p>
          <a:p>
            <a:pPr lvl="1"/>
            <a:r>
              <a:rPr lang="en-US" b="1" dirty="0" smtClean="0"/>
              <a:t>S</a:t>
            </a:r>
            <a:r>
              <a:rPr lang="en-US" dirty="0" smtClean="0"/>
              <a:t>pecific</a:t>
            </a:r>
          </a:p>
          <a:p>
            <a:pPr lvl="1"/>
            <a:r>
              <a:rPr lang="en-US" b="1" dirty="0" smtClean="0"/>
              <a:t>M</a:t>
            </a:r>
            <a:r>
              <a:rPr lang="en-US" dirty="0" smtClean="0"/>
              <a:t>easurable</a:t>
            </a:r>
          </a:p>
          <a:p>
            <a:pPr lvl="1"/>
            <a:r>
              <a:rPr lang="en-US" b="1" dirty="0" smtClean="0"/>
              <a:t>A</a:t>
            </a:r>
            <a:r>
              <a:rPr lang="en-US" dirty="0" smtClean="0"/>
              <a:t>ssignable</a:t>
            </a:r>
          </a:p>
          <a:p>
            <a:pPr lvl="1"/>
            <a:r>
              <a:rPr lang="en-US" b="1" dirty="0" smtClean="0"/>
              <a:t>R</a:t>
            </a:r>
            <a:r>
              <a:rPr lang="en-US" dirty="0" smtClean="0"/>
              <a:t>ealistic</a:t>
            </a:r>
          </a:p>
          <a:p>
            <a:pPr lvl="1"/>
            <a:r>
              <a:rPr lang="en-US" b="1" dirty="0" smtClean="0"/>
              <a:t>T</a:t>
            </a:r>
            <a:r>
              <a:rPr lang="en-US" dirty="0" smtClean="0"/>
              <a:t>ime-framed</a:t>
            </a:r>
          </a:p>
        </p:txBody>
      </p:sp>
      <p:sp>
        <p:nvSpPr>
          <p:cNvPr id="6" name="Slide Number Placeholder 5"/>
          <p:cNvSpPr>
            <a:spLocks noGrp="1"/>
          </p:cNvSpPr>
          <p:nvPr>
            <p:ph type="sldNum" sz="quarter" idx="11"/>
          </p:nvPr>
        </p:nvSpPr>
        <p:spPr/>
        <p:txBody>
          <a:bodyPr/>
          <a:lstStyle/>
          <a:p>
            <a:pPr>
              <a:defRPr/>
            </a:pPr>
            <a:fld id="{F249AFF9-8771-4AA9-8D36-4C4D22991DE7}"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09600" y="228600"/>
            <a:ext cx="10058400" cy="990600"/>
          </a:xfrm>
        </p:spPr>
        <p:txBody>
          <a:bodyPr>
            <a:normAutofit/>
          </a:bodyPr>
          <a:lstStyle/>
          <a:p>
            <a:r>
              <a:rPr lang="en-US" dirty="0" smtClean="0"/>
              <a:t>Critical Path Method (CPM)</a:t>
            </a:r>
          </a:p>
        </p:txBody>
      </p:sp>
      <p:sp>
        <p:nvSpPr>
          <p:cNvPr id="40963" name="Rectangle 3"/>
          <p:cNvSpPr>
            <a:spLocks noGrp="1" noChangeArrowheads="1"/>
          </p:cNvSpPr>
          <p:nvPr>
            <p:ph idx="1"/>
          </p:nvPr>
        </p:nvSpPr>
        <p:spPr>
          <a:xfrm>
            <a:off x="609600" y="1524000"/>
            <a:ext cx="10841568" cy="4648200"/>
          </a:xfrm>
        </p:spPr>
        <p:txBody>
          <a:bodyPr/>
          <a:lstStyle/>
          <a:p>
            <a:pPr>
              <a:lnSpc>
                <a:spcPct val="90000"/>
              </a:lnSpc>
            </a:pPr>
            <a:r>
              <a:rPr lang="en-US" dirty="0"/>
              <a:t>The Critical Path Method is the sequence of scheduled activities that determines the project's duration</a:t>
            </a:r>
            <a:r>
              <a:rPr lang="en-US" dirty="0" smtClean="0"/>
              <a:t>.</a:t>
            </a:r>
          </a:p>
          <a:p>
            <a:pPr>
              <a:lnSpc>
                <a:spcPct val="90000"/>
              </a:lnSpc>
            </a:pPr>
            <a:endParaRPr lang="en-US" b="1" dirty="0" smtClean="0"/>
          </a:p>
          <a:p>
            <a:pPr algn="just">
              <a:lnSpc>
                <a:spcPct val="90000"/>
              </a:lnSpc>
            </a:pPr>
            <a:r>
              <a:rPr lang="en-US" dirty="0" smtClean="0"/>
              <a:t>A </a:t>
            </a:r>
            <a:r>
              <a:rPr lang="en-US" b="1" dirty="0" smtClean="0"/>
              <a:t>critical path</a:t>
            </a:r>
            <a:r>
              <a:rPr lang="en-US" dirty="0" smtClean="0"/>
              <a:t> for a project is the series of activities that determines the </a:t>
            </a:r>
            <a:r>
              <a:rPr lang="en-US" i="1" dirty="0" smtClean="0"/>
              <a:t>earliest time</a:t>
            </a:r>
            <a:r>
              <a:rPr lang="en-US" dirty="0" smtClean="0"/>
              <a:t> by which the project can be completed</a:t>
            </a:r>
          </a:p>
          <a:p>
            <a:pPr>
              <a:lnSpc>
                <a:spcPct val="90000"/>
              </a:lnSpc>
            </a:pPr>
            <a:endParaRPr lang="en-US" dirty="0" smtClean="0"/>
          </a:p>
          <a:p>
            <a:pPr>
              <a:lnSpc>
                <a:spcPct val="90000"/>
              </a:lnSpc>
            </a:pPr>
            <a:r>
              <a:rPr lang="en-US" dirty="0" smtClean="0"/>
              <a:t>The </a:t>
            </a:r>
            <a:r>
              <a:rPr lang="en-US" dirty="0" smtClean="0"/>
              <a:t>critical path is the </a:t>
            </a:r>
            <a:r>
              <a:rPr lang="en-US" i="1" dirty="0" smtClean="0"/>
              <a:t>longest path</a:t>
            </a:r>
            <a:r>
              <a:rPr lang="en-US" dirty="0" smtClean="0"/>
              <a:t> through the network diagram and has the least amount of</a:t>
            </a:r>
            <a:r>
              <a:rPr lang="en-US" b="1" dirty="0" smtClean="0"/>
              <a:t> </a:t>
            </a:r>
            <a:r>
              <a:rPr lang="en-US" dirty="0" smtClean="0"/>
              <a:t>slack or </a:t>
            </a:r>
            <a:r>
              <a:rPr lang="en-US" dirty="0" smtClean="0"/>
              <a:t>float</a:t>
            </a:r>
          </a:p>
          <a:p>
            <a:pPr>
              <a:lnSpc>
                <a:spcPct val="90000"/>
              </a:lnSpc>
            </a:pPr>
            <a:endParaRPr lang="en-US" dirty="0" smtClean="0"/>
          </a:p>
          <a:p>
            <a:pPr>
              <a:lnSpc>
                <a:spcPct val="90000"/>
              </a:lnSpc>
            </a:pPr>
            <a:r>
              <a:rPr lang="en-US" b="1" dirty="0" smtClean="0"/>
              <a:t>Slack </a:t>
            </a:r>
            <a:r>
              <a:rPr lang="en-US" dirty="0" smtClean="0"/>
              <a:t>or</a:t>
            </a:r>
            <a:r>
              <a:rPr lang="en-US" b="1" dirty="0" smtClean="0"/>
              <a:t> float</a:t>
            </a:r>
            <a:r>
              <a:rPr lang="en-US" dirty="0" smtClean="0"/>
              <a:t> is</a:t>
            </a:r>
            <a:r>
              <a:rPr lang="en-US" b="1" dirty="0" smtClean="0"/>
              <a:t> </a:t>
            </a:r>
            <a:r>
              <a:rPr lang="en-US" dirty="0" smtClean="0"/>
              <a:t>the amount of time an activity may be delayed without delaying a succeeding activity or the project’s finish date</a:t>
            </a:r>
          </a:p>
        </p:txBody>
      </p:sp>
      <p:sp>
        <p:nvSpPr>
          <p:cNvPr id="6" name="Slide Number Placeholder 5"/>
          <p:cNvSpPr>
            <a:spLocks noGrp="1"/>
          </p:cNvSpPr>
          <p:nvPr>
            <p:ph type="sldNum" sz="quarter" idx="11"/>
          </p:nvPr>
        </p:nvSpPr>
        <p:spPr/>
        <p:txBody>
          <a:bodyPr/>
          <a:lstStyle/>
          <a:p>
            <a:pPr>
              <a:defRPr/>
            </a:pPr>
            <a:fld id="{EBA1AB2D-5DFB-4950-AF7C-9D232B8F5198}"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304800"/>
            <a:ext cx="10210800" cy="990600"/>
          </a:xfrm>
        </p:spPr>
        <p:txBody>
          <a:bodyPr/>
          <a:lstStyle/>
          <a:p>
            <a:r>
              <a:rPr lang="en-US" dirty="0" smtClean="0"/>
              <a:t>Calculating the Critical Path</a:t>
            </a:r>
          </a:p>
        </p:txBody>
      </p:sp>
      <p:sp>
        <p:nvSpPr>
          <p:cNvPr id="41987" name="Rectangle 3"/>
          <p:cNvSpPr>
            <a:spLocks noGrp="1" noChangeArrowheads="1"/>
          </p:cNvSpPr>
          <p:nvPr>
            <p:ph idx="1"/>
          </p:nvPr>
        </p:nvSpPr>
        <p:spPr>
          <a:xfrm>
            <a:off x="838200" y="1600200"/>
            <a:ext cx="10515600" cy="4648200"/>
          </a:xfrm>
        </p:spPr>
        <p:txBody>
          <a:bodyPr/>
          <a:lstStyle/>
          <a:p>
            <a:r>
              <a:rPr lang="en-US" dirty="0" smtClean="0"/>
              <a:t>First, develop a good network diagram</a:t>
            </a:r>
          </a:p>
          <a:p>
            <a:r>
              <a:rPr lang="en-US" dirty="0" smtClean="0"/>
              <a:t>Add the duration estimates for all activities on each path through the network diagram</a:t>
            </a:r>
          </a:p>
          <a:p>
            <a:r>
              <a:rPr lang="en-US" dirty="0" smtClean="0"/>
              <a:t>The longest path is the critical path</a:t>
            </a:r>
          </a:p>
          <a:p>
            <a:r>
              <a:rPr lang="en-US" dirty="0" smtClean="0"/>
              <a:t>If one or more of the activities on the critical path takes longer than planned, the whole project schedule will slip </a:t>
            </a:r>
            <a:r>
              <a:rPr lang="en-US" i="1" dirty="0" smtClean="0"/>
              <a:t>unless</a:t>
            </a:r>
            <a:r>
              <a:rPr lang="en-US" dirty="0" smtClean="0"/>
              <a:t> the project manager takes corrective action</a:t>
            </a:r>
          </a:p>
        </p:txBody>
      </p:sp>
      <p:sp>
        <p:nvSpPr>
          <p:cNvPr id="6" name="Slide Number Placeholder 5"/>
          <p:cNvSpPr>
            <a:spLocks noGrp="1"/>
          </p:cNvSpPr>
          <p:nvPr>
            <p:ph type="sldNum" sz="quarter" idx="11"/>
          </p:nvPr>
        </p:nvSpPr>
        <p:spPr/>
        <p:txBody>
          <a:bodyPr/>
          <a:lstStyle/>
          <a:p>
            <a:pPr>
              <a:defRPr/>
            </a:pPr>
            <a:fld id="{F82DCDDA-7202-4BF8-8035-48F69F05CA08}"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09600" y="152400"/>
            <a:ext cx="9601200" cy="1143000"/>
          </a:xfrm>
        </p:spPr>
        <p:txBody>
          <a:bodyPr>
            <a:normAutofit/>
          </a:bodyPr>
          <a:lstStyle/>
          <a:p>
            <a:r>
              <a:rPr lang="en-US" sz="3600" dirty="0" smtClean="0"/>
              <a:t>Determining </a:t>
            </a:r>
            <a:r>
              <a:rPr lang="en-US" sz="3600" dirty="0"/>
              <a:t>the Critical Path for Project X</a:t>
            </a:r>
          </a:p>
        </p:txBody>
      </p:sp>
      <p:pic>
        <p:nvPicPr>
          <p:cNvPr id="2" name="Picture 1" descr="A network diagram. Note: Assume all durations are in days. Path 1 begins at A then goes to D then H then J. The length equals 1 plus 4 plus 6 plus 3 which equals 14 days. Path 2 begins at B then goes to E then H then J. The length equals 2 plus 5 plus 6 plus 3 which equals 16 days. Path 3 begins at B then goes to F then J. Length equals 2 plus 4 plus 3 equals 9 days. Path 4 begins at C then goes to G then I then J. The length is equal to 3 plus 6 plus 2 plus 3 equals 14 days. Since the critical path is the longest path through the network diagram, Path 2, B-E-H-J, is the critical path for Project X."/>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1329520"/>
            <a:ext cx="8610600" cy="5071280"/>
          </a:xfrm>
          <a:prstGeom prst="rect">
            <a:avLst/>
          </a:prstGeom>
        </p:spPr>
      </p:pic>
      <p:sp>
        <p:nvSpPr>
          <p:cNvPr id="6" name="Slide Number Placeholder 5"/>
          <p:cNvSpPr>
            <a:spLocks noGrp="1"/>
          </p:cNvSpPr>
          <p:nvPr>
            <p:ph type="sldNum" sz="quarter" idx="11"/>
          </p:nvPr>
        </p:nvSpPr>
        <p:spPr/>
        <p:txBody>
          <a:bodyPr/>
          <a:lstStyle/>
          <a:p>
            <a:pPr>
              <a:buFontTx/>
              <a:buNone/>
              <a:defRPr/>
            </a:pPr>
            <a:fld id="{EDDB1B10-3CAF-48B2-BF53-B898F606F6FD}" type="slidenum">
              <a:rPr lang="en-US" smtClean="0"/>
              <a:pPr>
                <a:buFontTx/>
                <a:buNone/>
                <a:defRPr/>
              </a:pPr>
              <a:t>28</a:t>
            </a:fld>
            <a:endParaRPr lang="en-US" dirty="0"/>
          </a:p>
        </p:txBody>
      </p:sp>
    </p:spTree>
    <p:extLst>
      <p:ext uri="{BB962C8B-B14F-4D97-AF65-F5344CB8AC3E}">
        <p14:creationId xmlns:p14="http://schemas.microsoft.com/office/powerpoint/2010/main" val="691372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09600" y="304800"/>
            <a:ext cx="10058400" cy="990600"/>
          </a:xfrm>
        </p:spPr>
        <p:txBody>
          <a:bodyPr>
            <a:normAutofit fontScale="90000"/>
          </a:bodyPr>
          <a:lstStyle/>
          <a:p>
            <a:r>
              <a:rPr lang="en-US" dirty="0" smtClean="0"/>
              <a:t>Using Critical Path Analysis to Make Schedule Trade-offs</a:t>
            </a:r>
          </a:p>
        </p:txBody>
      </p:sp>
      <p:sp>
        <p:nvSpPr>
          <p:cNvPr id="45059" name="Rectangle 3"/>
          <p:cNvSpPr>
            <a:spLocks noGrp="1" noChangeArrowheads="1"/>
          </p:cNvSpPr>
          <p:nvPr>
            <p:ph idx="1"/>
          </p:nvPr>
        </p:nvSpPr>
        <p:spPr>
          <a:xfrm>
            <a:off x="1219200" y="1600200"/>
            <a:ext cx="9906000" cy="4648200"/>
          </a:xfrm>
        </p:spPr>
        <p:txBody>
          <a:bodyPr/>
          <a:lstStyle/>
          <a:p>
            <a:r>
              <a:rPr lang="en-US" b="1" dirty="0" smtClean="0"/>
              <a:t>Free slack </a:t>
            </a:r>
            <a:r>
              <a:rPr lang="en-US" dirty="0" smtClean="0"/>
              <a:t>or</a:t>
            </a:r>
            <a:r>
              <a:rPr lang="en-US" b="1" dirty="0" smtClean="0"/>
              <a:t> free float</a:t>
            </a:r>
            <a:r>
              <a:rPr lang="en-US" dirty="0" smtClean="0"/>
              <a:t> is the amount of time an activity can be delayed without delaying the early start of any immediately following activities</a:t>
            </a:r>
          </a:p>
          <a:p>
            <a:r>
              <a:rPr lang="en-US" b="1" dirty="0" smtClean="0"/>
              <a:t>Total slack </a:t>
            </a:r>
            <a:r>
              <a:rPr lang="en-US" dirty="0" smtClean="0"/>
              <a:t>or</a:t>
            </a:r>
            <a:r>
              <a:rPr lang="en-US" b="1" dirty="0" smtClean="0"/>
              <a:t> total float</a:t>
            </a:r>
            <a:r>
              <a:rPr lang="en-US" dirty="0" smtClean="0"/>
              <a:t> is the amount of time an activity may be delayed from its early start without delaying the planned project finish date</a:t>
            </a:r>
          </a:p>
          <a:p>
            <a:r>
              <a:rPr lang="en-US" dirty="0" smtClean="0"/>
              <a:t>A </a:t>
            </a:r>
            <a:r>
              <a:rPr lang="en-US" b="1" dirty="0" smtClean="0"/>
              <a:t>forward pass</a:t>
            </a:r>
            <a:r>
              <a:rPr lang="en-US" dirty="0" smtClean="0"/>
              <a:t> through the network diagram determines the early start and finish dates</a:t>
            </a:r>
          </a:p>
          <a:p>
            <a:r>
              <a:rPr lang="en-US" dirty="0" smtClean="0"/>
              <a:t>A </a:t>
            </a:r>
            <a:r>
              <a:rPr lang="en-US" b="1" dirty="0" smtClean="0"/>
              <a:t>backward pass</a:t>
            </a:r>
            <a:r>
              <a:rPr lang="en-US" dirty="0" smtClean="0"/>
              <a:t> determines the late start and finish dates</a:t>
            </a:r>
          </a:p>
        </p:txBody>
      </p:sp>
      <p:sp>
        <p:nvSpPr>
          <p:cNvPr id="6" name="Slide Number Placeholder 5"/>
          <p:cNvSpPr>
            <a:spLocks noGrp="1"/>
          </p:cNvSpPr>
          <p:nvPr>
            <p:ph type="sldNum" sz="quarter" idx="11"/>
          </p:nvPr>
        </p:nvSpPr>
        <p:spPr/>
        <p:txBody>
          <a:bodyPr/>
          <a:lstStyle/>
          <a:p>
            <a:pPr>
              <a:defRPr/>
            </a:pPr>
            <a:fld id="{5B2878E0-1EF5-4F6D-8CB8-2F1B4519DBDE}" type="slidenum">
              <a:rPr lang="en-US" smtClean="0"/>
              <a:pPr>
                <a:defRPr/>
              </a:pPr>
              <a:t>29</a:t>
            </a:fld>
            <a:endParaRPr lang="en-US" dirty="0"/>
          </a:p>
        </p:txBody>
      </p:sp>
    </p:spTree>
    <p:extLst>
      <p:ext uri="{BB962C8B-B14F-4D97-AF65-F5344CB8AC3E}">
        <p14:creationId xmlns:p14="http://schemas.microsoft.com/office/powerpoint/2010/main" val="967550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548" y="533400"/>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3" name="Content Placeholder 2"/>
          <p:cNvSpPr>
            <a:spLocks noGrp="1"/>
          </p:cNvSpPr>
          <p:nvPr>
            <p:ph idx="1"/>
          </p:nvPr>
        </p:nvSpPr>
        <p:spPr>
          <a:xfrm>
            <a:off x="685800" y="1981200"/>
            <a:ext cx="5638800" cy="4343400"/>
          </a:xfrm>
        </p:spPr>
        <p:txBody>
          <a:bodyPr/>
          <a:lstStyle/>
          <a:p>
            <a:r>
              <a:rPr lang="en-US" dirty="0" smtClean="0"/>
              <a:t>List </a:t>
            </a:r>
            <a:r>
              <a:rPr lang="en-US" dirty="0"/>
              <a:t>Project Tasks and Estimate their Duration</a:t>
            </a:r>
          </a:p>
          <a:p>
            <a:pPr marL="109537" indent="0">
              <a:buNone/>
            </a:pP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30</a:t>
            </a:fld>
            <a:endParaRPr lang="en-US" dirty="0"/>
          </a:p>
        </p:txBody>
      </p:sp>
      <p:pic>
        <p:nvPicPr>
          <p:cNvPr id="1028" name="Picture 4" descr="task list for critical path metho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4783" y="2790824"/>
            <a:ext cx="5082150" cy="2724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597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548" y="533400"/>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3" name="Content Placeholder 2"/>
          <p:cNvSpPr>
            <a:spLocks noGrp="1"/>
          </p:cNvSpPr>
          <p:nvPr>
            <p:ph idx="1"/>
          </p:nvPr>
        </p:nvSpPr>
        <p:spPr>
          <a:xfrm>
            <a:off x="685800" y="1981200"/>
            <a:ext cx="5638800" cy="4343400"/>
          </a:xfrm>
        </p:spPr>
        <p:txBody>
          <a:bodyPr/>
          <a:lstStyle/>
          <a:p>
            <a:r>
              <a:rPr lang="en-US" dirty="0"/>
              <a:t>Identify Task Dependencies</a:t>
            </a:r>
          </a:p>
          <a:p>
            <a:pPr marL="109537" indent="0">
              <a:buNone/>
            </a:pP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31</a:t>
            </a:fld>
            <a:endParaRPr lang="en-US" dirty="0"/>
          </a:p>
        </p:txBody>
      </p:sp>
      <p:pic>
        <p:nvPicPr>
          <p:cNvPr id="2050" name="Picture 2" descr="Task list with dependencies for critical path metho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743200"/>
            <a:ext cx="7818116"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5470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548" y="533400"/>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3" name="Content Placeholder 2"/>
          <p:cNvSpPr>
            <a:spLocks noGrp="1"/>
          </p:cNvSpPr>
          <p:nvPr>
            <p:ph idx="1"/>
          </p:nvPr>
        </p:nvSpPr>
        <p:spPr>
          <a:xfrm>
            <a:off x="685800" y="1981200"/>
            <a:ext cx="5638800" cy="4343400"/>
          </a:xfrm>
        </p:spPr>
        <p:txBody>
          <a:bodyPr/>
          <a:lstStyle/>
          <a:p>
            <a:r>
              <a:rPr lang="en-US" dirty="0"/>
              <a:t>Create a Critical Path Diagram</a:t>
            </a:r>
          </a:p>
          <a:p>
            <a:pPr lvl="1">
              <a:buFont typeface="Wingdings" panose="05000000000000000000" pitchFamily="2" charset="2"/>
              <a:buChar char="§"/>
            </a:pPr>
            <a:r>
              <a:rPr lang="en-US" dirty="0" smtClean="0"/>
              <a:t>Every </a:t>
            </a:r>
            <a:r>
              <a:rPr lang="en-US" dirty="0"/>
              <a:t>project task has a start and finish </a:t>
            </a:r>
            <a:r>
              <a:rPr lang="en-US" dirty="0" smtClean="0"/>
              <a:t>time. </a:t>
            </a:r>
          </a:p>
          <a:p>
            <a:pPr lvl="2">
              <a:buFont typeface="Wingdings" panose="05000000000000000000" pitchFamily="2" charset="2"/>
              <a:buChar char="§"/>
            </a:pPr>
            <a:r>
              <a:rPr lang="en-US" b="1" dirty="0" smtClean="0"/>
              <a:t>Earliest </a:t>
            </a:r>
            <a:r>
              <a:rPr lang="en-US" b="1" dirty="0"/>
              <a:t>start time (ES</a:t>
            </a:r>
            <a:r>
              <a:rPr lang="en-US" b="1" dirty="0" smtClean="0"/>
              <a:t>)</a:t>
            </a:r>
          </a:p>
          <a:p>
            <a:pPr lvl="2">
              <a:buFont typeface="Wingdings" panose="05000000000000000000" pitchFamily="2" charset="2"/>
              <a:buChar char="§"/>
            </a:pPr>
            <a:r>
              <a:rPr lang="en-US" b="1" dirty="0"/>
              <a:t>Earliest finish time (EF</a:t>
            </a:r>
            <a:r>
              <a:rPr lang="en-US" b="1" dirty="0" smtClean="0"/>
              <a:t>)</a:t>
            </a:r>
          </a:p>
          <a:p>
            <a:pPr lvl="2">
              <a:buFont typeface="Wingdings" panose="05000000000000000000" pitchFamily="2" charset="2"/>
              <a:buChar char="§"/>
            </a:pPr>
            <a:r>
              <a:rPr lang="en-US" b="1" dirty="0"/>
              <a:t>Latest start time (LS</a:t>
            </a:r>
            <a:r>
              <a:rPr lang="en-US" b="1" dirty="0" smtClean="0"/>
              <a:t>)</a:t>
            </a:r>
          </a:p>
          <a:p>
            <a:pPr lvl="2">
              <a:buFont typeface="Wingdings" panose="05000000000000000000" pitchFamily="2" charset="2"/>
              <a:buChar char="§"/>
            </a:pPr>
            <a:r>
              <a:rPr lang="en-US" b="1" dirty="0"/>
              <a:t>Latest finish time (LF</a:t>
            </a:r>
            <a:r>
              <a:rPr lang="en-US" b="1" dirty="0" smtClean="0"/>
              <a:t>)</a:t>
            </a:r>
          </a:p>
          <a:p>
            <a:pPr lvl="2">
              <a:buFont typeface="Wingdings" panose="05000000000000000000" pitchFamily="2" charset="2"/>
              <a:buChar char="§"/>
            </a:pPr>
            <a:r>
              <a:rPr lang="en-US" b="1" dirty="0"/>
              <a:t>Slack or float</a:t>
            </a: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32</a:t>
            </a:fld>
            <a:endParaRPr lang="en-US" dirty="0"/>
          </a:p>
        </p:txBody>
      </p:sp>
    </p:spTree>
    <p:extLst>
      <p:ext uri="{BB962C8B-B14F-4D97-AF65-F5344CB8AC3E}">
        <p14:creationId xmlns:p14="http://schemas.microsoft.com/office/powerpoint/2010/main" val="639069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574" y="36443"/>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33</a:t>
            </a:fld>
            <a:endParaRPr lang="en-US" dirty="0"/>
          </a:p>
        </p:txBody>
      </p:sp>
      <p:pic>
        <p:nvPicPr>
          <p:cNvPr id="3074" name="Picture 2" descr="https://www.projectmanager.com/wp-content/uploads/2025/01/Critical-path-diagram-no-es-ef-ls-lf-or-slac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0"/>
            <a:ext cx="11963400" cy="382325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Task list with dependencies for critical path meth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914400"/>
            <a:ext cx="5334000" cy="1923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065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548" y="533400"/>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3" name="Content Placeholder 2"/>
          <p:cNvSpPr>
            <a:spLocks noGrp="1"/>
          </p:cNvSpPr>
          <p:nvPr>
            <p:ph idx="1"/>
          </p:nvPr>
        </p:nvSpPr>
        <p:spPr>
          <a:xfrm>
            <a:off x="685800" y="1981200"/>
            <a:ext cx="5638800" cy="4343400"/>
          </a:xfrm>
        </p:spPr>
        <p:txBody>
          <a:bodyPr/>
          <a:lstStyle/>
          <a:p>
            <a:r>
              <a:rPr lang="en-US" dirty="0"/>
              <a:t>Use the Critical Path Algorithm Formulas</a:t>
            </a:r>
          </a:p>
          <a:p>
            <a:pPr lvl="1"/>
            <a:r>
              <a:rPr lang="en-US" dirty="0" smtClean="0"/>
              <a:t>Calculate </a:t>
            </a:r>
            <a:r>
              <a:rPr lang="en-US" dirty="0"/>
              <a:t>the </a:t>
            </a:r>
            <a:r>
              <a:rPr lang="en-US" dirty="0" smtClean="0"/>
              <a:t>ES</a:t>
            </a:r>
            <a:r>
              <a:rPr lang="en-US" dirty="0"/>
              <a:t> </a:t>
            </a:r>
            <a:r>
              <a:rPr lang="en-US" dirty="0" smtClean="0"/>
              <a:t>and EF and </a:t>
            </a:r>
            <a:r>
              <a:rPr lang="en-US" dirty="0"/>
              <a:t>slack using the critical </a:t>
            </a:r>
            <a:r>
              <a:rPr lang="en-US" dirty="0" smtClean="0"/>
              <a:t>path </a:t>
            </a:r>
            <a:r>
              <a:rPr lang="en-US" b="1" dirty="0">
                <a:solidFill>
                  <a:srgbClr val="FF0000"/>
                </a:solidFill>
              </a:rPr>
              <a:t>Forward Pass</a:t>
            </a:r>
            <a:r>
              <a:rPr lang="en-US" dirty="0" smtClean="0"/>
              <a:t> </a:t>
            </a:r>
            <a:r>
              <a:rPr lang="en-US" dirty="0"/>
              <a:t>formula.</a:t>
            </a:r>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34</a:t>
            </a:fld>
            <a:endParaRPr lang="en-US" dirty="0"/>
          </a:p>
        </p:txBody>
      </p:sp>
      <p:pic>
        <p:nvPicPr>
          <p:cNvPr id="5122" name="Picture 2" descr="first step in the critical path method forward pa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2378076"/>
            <a:ext cx="4859911" cy="4114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ask list with dependencies for critical path meth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4891666"/>
            <a:ext cx="5268849" cy="1900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56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548" y="533400"/>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35</a:t>
            </a:fld>
            <a:endParaRPr lang="en-US" dirty="0"/>
          </a:p>
        </p:txBody>
      </p:sp>
      <p:pic>
        <p:nvPicPr>
          <p:cNvPr id="7170" name="Picture 2" descr="second step in the critical path method forward pa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055317"/>
            <a:ext cx="10029872" cy="38026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Task list with dependencies for critical path meth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348" y="1383844"/>
            <a:ext cx="4634948" cy="1671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792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548" y="533400"/>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3" name="Content Placeholder 2"/>
          <p:cNvSpPr>
            <a:spLocks noGrp="1"/>
          </p:cNvSpPr>
          <p:nvPr>
            <p:ph idx="1"/>
          </p:nvPr>
        </p:nvSpPr>
        <p:spPr>
          <a:xfrm>
            <a:off x="23191" y="1981200"/>
            <a:ext cx="5410200" cy="4343400"/>
          </a:xfrm>
        </p:spPr>
        <p:txBody>
          <a:bodyPr/>
          <a:lstStyle/>
          <a:p>
            <a:pPr lvl="1"/>
            <a:r>
              <a:rPr lang="en-US" dirty="0"/>
              <a:t>Calculate the </a:t>
            </a:r>
            <a:r>
              <a:rPr lang="en-US" dirty="0" smtClean="0"/>
              <a:t>LS </a:t>
            </a:r>
            <a:r>
              <a:rPr lang="en-US" dirty="0"/>
              <a:t>and </a:t>
            </a:r>
            <a:r>
              <a:rPr lang="en-US" dirty="0" smtClean="0"/>
              <a:t>LF </a:t>
            </a:r>
            <a:r>
              <a:rPr lang="en-US" dirty="0"/>
              <a:t>and slack using the critical path </a:t>
            </a:r>
            <a:r>
              <a:rPr lang="en-US" b="1" dirty="0">
                <a:solidFill>
                  <a:srgbClr val="FF0000"/>
                </a:solidFill>
              </a:rPr>
              <a:t>Backward </a:t>
            </a:r>
            <a:r>
              <a:rPr lang="en-US" b="1" dirty="0" smtClean="0">
                <a:solidFill>
                  <a:srgbClr val="FF0000"/>
                </a:solidFill>
              </a:rPr>
              <a:t>Pass </a:t>
            </a:r>
            <a:r>
              <a:rPr lang="en-US" dirty="0" smtClean="0"/>
              <a:t>formula</a:t>
            </a:r>
            <a:r>
              <a:rPr lang="en-US" dirty="0"/>
              <a:t>.</a:t>
            </a:r>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36</a:t>
            </a:fld>
            <a:endParaRPr lang="en-US" dirty="0"/>
          </a:p>
        </p:txBody>
      </p:sp>
      <p:pic>
        <p:nvPicPr>
          <p:cNvPr id="8194" name="Picture 2" descr="First step in the critical path method backward pa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3515" y="1856616"/>
            <a:ext cx="5444939" cy="4303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643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85638"/>
            <a:ext cx="11277600" cy="990600"/>
          </a:xfrm>
        </p:spPr>
        <p:txBody>
          <a:bodyPr>
            <a:normAutofit/>
          </a:bodyPr>
          <a:lstStyle/>
          <a:p>
            <a:r>
              <a:rPr lang="en-US" dirty="0" smtClean="0">
                <a:effectLst/>
              </a:rPr>
              <a:t>Example of Calculating </a:t>
            </a:r>
            <a:r>
              <a:rPr lang="en-US" dirty="0">
                <a:effectLst/>
              </a:rPr>
              <a:t>the Critical </a:t>
            </a:r>
            <a:r>
              <a:rPr lang="en-US" dirty="0" smtClean="0">
                <a:effectLst/>
              </a:rPr>
              <a:t>Path</a:t>
            </a: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37</a:t>
            </a:fld>
            <a:endParaRPr lang="en-US" dirty="0"/>
          </a:p>
        </p:txBody>
      </p:sp>
      <p:pic>
        <p:nvPicPr>
          <p:cNvPr id="10242" name="Picture 2" descr="https://www.projectmanager.com/wp-content/uploads/2025/01/Critical-path-method-calculating-slac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04" y="1844676"/>
            <a:ext cx="1219200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288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09600" y="228600"/>
            <a:ext cx="10058400" cy="1143000"/>
          </a:xfrm>
        </p:spPr>
        <p:txBody>
          <a:bodyPr>
            <a:normAutofit fontScale="90000"/>
          </a:bodyPr>
          <a:lstStyle/>
          <a:p>
            <a:r>
              <a:rPr lang="en-US" dirty="0" smtClean="0"/>
              <a:t>Importance of Updating Critical Path Data</a:t>
            </a:r>
          </a:p>
        </p:txBody>
      </p:sp>
      <p:sp>
        <p:nvSpPr>
          <p:cNvPr id="49155" name="Rectangle 3"/>
          <p:cNvSpPr>
            <a:spLocks noGrp="1" noChangeArrowheads="1"/>
          </p:cNvSpPr>
          <p:nvPr>
            <p:ph idx="1"/>
          </p:nvPr>
        </p:nvSpPr>
        <p:spPr>
          <a:xfrm>
            <a:off x="1524000" y="1981200"/>
            <a:ext cx="9829800" cy="4038600"/>
          </a:xfrm>
        </p:spPr>
        <p:txBody>
          <a:bodyPr/>
          <a:lstStyle/>
          <a:p>
            <a:r>
              <a:rPr lang="en-US" dirty="0" smtClean="0"/>
              <a:t>It is important to update the project schedule information to meet time goals for a project</a:t>
            </a:r>
          </a:p>
          <a:p>
            <a:r>
              <a:rPr lang="en-US" dirty="0" smtClean="0"/>
              <a:t>The critical path may change as you enter actual start and finish dates</a:t>
            </a:r>
          </a:p>
          <a:p>
            <a:r>
              <a:rPr lang="en-US" dirty="0" smtClean="0"/>
              <a:t>If you know the project completion date will slip, negotiate with the project sponsor</a:t>
            </a:r>
          </a:p>
        </p:txBody>
      </p:sp>
      <p:sp>
        <p:nvSpPr>
          <p:cNvPr id="6" name="Slide Number Placeholder 5"/>
          <p:cNvSpPr>
            <a:spLocks noGrp="1"/>
          </p:cNvSpPr>
          <p:nvPr>
            <p:ph type="sldNum" sz="quarter" idx="11"/>
          </p:nvPr>
        </p:nvSpPr>
        <p:spPr/>
        <p:txBody>
          <a:bodyPr/>
          <a:lstStyle/>
          <a:p>
            <a:pPr>
              <a:defRPr/>
            </a:pPr>
            <a:fld id="{0DF7383D-7075-4AAF-B0A1-A58EB85DF292}"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524000" y="152400"/>
            <a:ext cx="9144000" cy="990600"/>
          </a:xfrm>
        </p:spPr>
        <p:txBody>
          <a:bodyPr>
            <a:normAutofit/>
          </a:bodyPr>
          <a:lstStyle/>
          <a:p>
            <a:r>
              <a:rPr lang="en-US" dirty="0" smtClean="0"/>
              <a:t>Critical Chain Scheduling</a:t>
            </a:r>
          </a:p>
        </p:txBody>
      </p:sp>
      <p:sp>
        <p:nvSpPr>
          <p:cNvPr id="50179" name="Rectangle 3"/>
          <p:cNvSpPr>
            <a:spLocks noGrp="1" noChangeArrowheads="1"/>
          </p:cNvSpPr>
          <p:nvPr>
            <p:ph idx="1"/>
          </p:nvPr>
        </p:nvSpPr>
        <p:spPr>
          <a:xfrm>
            <a:off x="1600200" y="1371600"/>
            <a:ext cx="8991600" cy="4724400"/>
          </a:xfrm>
        </p:spPr>
        <p:txBody>
          <a:bodyPr/>
          <a:lstStyle/>
          <a:p>
            <a:pPr>
              <a:lnSpc>
                <a:spcPct val="90000"/>
              </a:lnSpc>
            </a:pPr>
            <a:r>
              <a:rPr lang="en-US" b="1" dirty="0" smtClean="0"/>
              <a:t>Critical chain scheduling</a:t>
            </a:r>
          </a:p>
          <a:p>
            <a:pPr lvl="1">
              <a:lnSpc>
                <a:spcPct val="90000"/>
              </a:lnSpc>
            </a:pPr>
            <a:r>
              <a:rPr lang="en-US" dirty="0" smtClean="0"/>
              <a:t>a method of scheduling that considers limited resources when creating a project schedule and includes buffers to protect the project completion date</a:t>
            </a:r>
          </a:p>
          <a:p>
            <a:pPr>
              <a:lnSpc>
                <a:spcPct val="90000"/>
              </a:lnSpc>
            </a:pPr>
            <a:r>
              <a:rPr lang="en-US" dirty="0" smtClean="0"/>
              <a:t>Uses the </a:t>
            </a:r>
            <a:r>
              <a:rPr lang="en-US" b="1" dirty="0" smtClean="0"/>
              <a:t>Theory of Constraints</a:t>
            </a:r>
            <a:r>
              <a:rPr lang="en-US" dirty="0" smtClean="0"/>
              <a:t> </a:t>
            </a:r>
            <a:r>
              <a:rPr lang="en-US" b="1" dirty="0" smtClean="0"/>
              <a:t>(TOC)</a:t>
            </a:r>
          </a:p>
          <a:p>
            <a:pPr lvl="1">
              <a:lnSpc>
                <a:spcPct val="90000"/>
              </a:lnSpc>
            </a:pPr>
            <a:r>
              <a:rPr lang="en-US" dirty="0" smtClean="0"/>
              <a:t>a management philosophy developed by Eliyahu M. Goldratt and introduced in his book </a:t>
            </a:r>
            <a:r>
              <a:rPr lang="en-US" i="1" dirty="0" smtClean="0"/>
              <a:t>The Goal</a:t>
            </a:r>
            <a:r>
              <a:rPr lang="en-US" dirty="0" smtClean="0"/>
              <a:t>. </a:t>
            </a:r>
          </a:p>
          <a:p>
            <a:pPr>
              <a:lnSpc>
                <a:spcPct val="90000"/>
              </a:lnSpc>
            </a:pPr>
            <a:r>
              <a:rPr lang="en-US" dirty="0" smtClean="0"/>
              <a:t>Attempts to minimize </a:t>
            </a:r>
            <a:r>
              <a:rPr lang="en-US" b="1" dirty="0" smtClean="0"/>
              <a:t>multitasking</a:t>
            </a:r>
          </a:p>
          <a:p>
            <a:pPr lvl="1">
              <a:lnSpc>
                <a:spcPct val="90000"/>
              </a:lnSpc>
            </a:pPr>
            <a:r>
              <a:rPr lang="en-US" dirty="0" smtClean="0"/>
              <a:t>when a resource works on more than one task at a time</a:t>
            </a:r>
          </a:p>
        </p:txBody>
      </p:sp>
      <p:sp>
        <p:nvSpPr>
          <p:cNvPr id="6" name="Slide Number Placeholder 5"/>
          <p:cNvSpPr>
            <a:spLocks noGrp="1"/>
          </p:cNvSpPr>
          <p:nvPr>
            <p:ph type="sldNum" sz="quarter" idx="11"/>
          </p:nvPr>
        </p:nvSpPr>
        <p:spPr/>
        <p:txBody>
          <a:bodyPr/>
          <a:lstStyle/>
          <a:p>
            <a:pPr>
              <a:defRPr/>
            </a:pPr>
            <a:fld id="{09E75986-2522-43CD-808C-023B2804D60B}"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524000" y="152400"/>
            <a:ext cx="9144000" cy="990600"/>
          </a:xfrm>
        </p:spPr>
        <p:txBody>
          <a:bodyPr>
            <a:normAutofit/>
          </a:bodyPr>
          <a:lstStyle/>
          <a:p>
            <a:r>
              <a:rPr lang="en-US" dirty="0" smtClean="0"/>
              <a:t>Buffers and Critical Chain</a:t>
            </a:r>
          </a:p>
        </p:txBody>
      </p:sp>
      <p:sp>
        <p:nvSpPr>
          <p:cNvPr id="52227" name="Rectangle 3"/>
          <p:cNvSpPr>
            <a:spLocks noGrp="1" noChangeArrowheads="1"/>
          </p:cNvSpPr>
          <p:nvPr>
            <p:ph idx="1"/>
          </p:nvPr>
        </p:nvSpPr>
        <p:spPr>
          <a:xfrm>
            <a:off x="1600200" y="1295400"/>
            <a:ext cx="8991600" cy="4876800"/>
          </a:xfrm>
        </p:spPr>
        <p:txBody>
          <a:bodyPr/>
          <a:lstStyle/>
          <a:p>
            <a:pPr>
              <a:lnSpc>
                <a:spcPct val="90000"/>
              </a:lnSpc>
            </a:pPr>
            <a:r>
              <a:rPr lang="en-US" dirty="0" smtClean="0"/>
              <a:t>A </a:t>
            </a:r>
            <a:r>
              <a:rPr lang="en-US" b="1" dirty="0" smtClean="0"/>
              <a:t>buffer</a:t>
            </a:r>
            <a:r>
              <a:rPr lang="en-US" dirty="0" smtClean="0"/>
              <a:t> is additional time to complete a task</a:t>
            </a:r>
          </a:p>
          <a:p>
            <a:pPr>
              <a:lnSpc>
                <a:spcPct val="90000"/>
              </a:lnSpc>
            </a:pPr>
            <a:r>
              <a:rPr lang="en-US" b="1" dirty="0" smtClean="0"/>
              <a:t>Murphy’s Law</a:t>
            </a:r>
            <a:r>
              <a:rPr lang="en-US" dirty="0" smtClean="0"/>
              <a:t> states that if something </a:t>
            </a:r>
            <a:r>
              <a:rPr lang="en-US" dirty="0" smtClean="0">
                <a:solidFill>
                  <a:srgbClr val="FF0000"/>
                </a:solidFill>
              </a:rPr>
              <a:t>can</a:t>
            </a:r>
            <a:r>
              <a:rPr lang="en-US" dirty="0" smtClean="0"/>
              <a:t> go wrong, it will</a:t>
            </a:r>
          </a:p>
          <a:p>
            <a:pPr>
              <a:lnSpc>
                <a:spcPct val="90000"/>
              </a:lnSpc>
            </a:pPr>
            <a:r>
              <a:rPr lang="en-US" b="1" dirty="0" smtClean="0"/>
              <a:t>Parkinson’s Law</a:t>
            </a:r>
            <a:r>
              <a:rPr lang="en-US" dirty="0" smtClean="0"/>
              <a:t> states that work expands to fill the time allowed</a:t>
            </a:r>
          </a:p>
          <a:p>
            <a:pPr>
              <a:lnSpc>
                <a:spcPct val="90000"/>
              </a:lnSpc>
            </a:pPr>
            <a:r>
              <a:rPr lang="en-US" dirty="0" smtClean="0"/>
              <a:t>In traditional estimates, people often add a buffer to each task and use it if it’s needed or not</a:t>
            </a:r>
          </a:p>
          <a:p>
            <a:pPr>
              <a:lnSpc>
                <a:spcPct val="90000"/>
              </a:lnSpc>
            </a:pPr>
            <a:r>
              <a:rPr lang="en-US" dirty="0" smtClean="0"/>
              <a:t>Critical chain scheduling removes buffers from individual tasks and instead creates</a:t>
            </a:r>
          </a:p>
          <a:p>
            <a:pPr lvl="1">
              <a:lnSpc>
                <a:spcPct val="90000"/>
              </a:lnSpc>
            </a:pPr>
            <a:r>
              <a:rPr lang="en-US" dirty="0" smtClean="0"/>
              <a:t>a </a:t>
            </a:r>
            <a:r>
              <a:rPr lang="en-US" b="1" dirty="0" smtClean="0"/>
              <a:t>project buffer</a:t>
            </a:r>
            <a:r>
              <a:rPr lang="en-US" dirty="0" smtClean="0"/>
              <a:t> or additional time added before the project’s due date</a:t>
            </a:r>
          </a:p>
          <a:p>
            <a:pPr lvl="1">
              <a:lnSpc>
                <a:spcPct val="90000"/>
              </a:lnSpc>
            </a:pPr>
            <a:r>
              <a:rPr lang="en-US" b="1" dirty="0" smtClean="0"/>
              <a:t>feeding buffers </a:t>
            </a:r>
            <a:r>
              <a:rPr lang="en-US" dirty="0" smtClean="0"/>
              <a:t>or additional time added before tasks on the critical path</a:t>
            </a:r>
          </a:p>
        </p:txBody>
      </p:sp>
      <p:sp>
        <p:nvSpPr>
          <p:cNvPr id="6" name="Slide Number Placeholder 5"/>
          <p:cNvSpPr>
            <a:spLocks noGrp="1"/>
          </p:cNvSpPr>
          <p:nvPr>
            <p:ph type="sldNum" sz="quarter" idx="11"/>
          </p:nvPr>
        </p:nvSpPr>
        <p:spPr/>
        <p:txBody>
          <a:bodyPr/>
          <a:lstStyle/>
          <a:p>
            <a:pPr>
              <a:defRPr/>
            </a:pPr>
            <a:fld id="{4426C9F7-5646-4D06-A4FC-2FAC61732D62}"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381000" y="228600"/>
            <a:ext cx="10287000" cy="1219200"/>
          </a:xfrm>
        </p:spPr>
        <p:txBody>
          <a:bodyPr>
            <a:normAutofit fontScale="90000"/>
          </a:bodyPr>
          <a:lstStyle/>
          <a:p>
            <a:r>
              <a:rPr lang="en-US" dirty="0" smtClean="0"/>
              <a:t>Program Evaluation and Review Technique (PERT)</a:t>
            </a:r>
          </a:p>
        </p:txBody>
      </p:sp>
      <p:sp>
        <p:nvSpPr>
          <p:cNvPr id="54275" name="Rectangle 3"/>
          <p:cNvSpPr>
            <a:spLocks noGrp="1" noChangeArrowheads="1"/>
          </p:cNvSpPr>
          <p:nvPr>
            <p:ph idx="1"/>
          </p:nvPr>
        </p:nvSpPr>
        <p:spPr>
          <a:xfrm>
            <a:off x="990600" y="1828800"/>
            <a:ext cx="9601200" cy="4343400"/>
          </a:xfrm>
        </p:spPr>
        <p:txBody>
          <a:bodyPr/>
          <a:lstStyle/>
          <a:p>
            <a:r>
              <a:rPr lang="en-US" b="1" dirty="0" smtClean="0"/>
              <a:t>PERT</a:t>
            </a:r>
            <a:r>
              <a:rPr lang="en-US" dirty="0" smtClean="0"/>
              <a:t> is a network analysis technique used to estimate project duration when there is a high degree of uncertainty about the individual activity duration estimates</a:t>
            </a:r>
          </a:p>
          <a:p>
            <a:r>
              <a:rPr lang="en-US" dirty="0" smtClean="0"/>
              <a:t>PERT uses </a:t>
            </a:r>
            <a:r>
              <a:rPr lang="en-US" b="1" dirty="0" smtClean="0"/>
              <a:t>probabilistic time estimates</a:t>
            </a:r>
          </a:p>
          <a:p>
            <a:pPr lvl="1"/>
            <a:r>
              <a:rPr lang="en-US" dirty="0" smtClean="0"/>
              <a:t>duration estimates based on using optimistic, most likely, and pessimistic estimates of activity durations, or a three-point estimate</a:t>
            </a:r>
          </a:p>
        </p:txBody>
      </p:sp>
      <p:sp>
        <p:nvSpPr>
          <p:cNvPr id="6" name="Slide Number Placeholder 5"/>
          <p:cNvSpPr>
            <a:spLocks noGrp="1"/>
          </p:cNvSpPr>
          <p:nvPr>
            <p:ph type="sldNum" sz="quarter" idx="11"/>
          </p:nvPr>
        </p:nvSpPr>
        <p:spPr/>
        <p:txBody>
          <a:bodyPr/>
          <a:lstStyle/>
          <a:p>
            <a:pPr>
              <a:defRPr/>
            </a:pPr>
            <a:fld id="{611ABE37-AD7A-4B3D-8C07-1D411BECE9E1}"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a:bodyPr>
          <a:lstStyle/>
          <a:p>
            <a:r>
              <a:rPr lang="en-US" dirty="0" smtClean="0"/>
              <a:t>PERT Formula and Example</a:t>
            </a:r>
          </a:p>
        </p:txBody>
      </p:sp>
      <p:pic>
        <p:nvPicPr>
          <p:cNvPr id="2" name="Picture 1" descr="Two equations. Begin equation. PERT weighted average equals start fraction optimistic time plus 4 times most likely time plus pessimistic time over 6 end fraction. End equation. Example: Begin equation. PERT weighted average equals start fraction 8 workdays plus 4 times 10 workdays plus 24 workdays over 6 end fraction equals 12 days. End equation."/>
          <p:cNvPicPr>
            <a:picLocks noChangeAspect="1"/>
          </p:cNvPicPr>
          <p:nvPr/>
        </p:nvPicPr>
        <p:blipFill>
          <a:blip r:embed="rId2"/>
          <a:stretch>
            <a:fillRect/>
          </a:stretch>
        </p:blipFill>
        <p:spPr>
          <a:xfrm>
            <a:off x="1447800" y="1128712"/>
            <a:ext cx="8734425" cy="2771775"/>
          </a:xfrm>
          <a:prstGeom prst="rect">
            <a:avLst/>
          </a:prstGeom>
        </p:spPr>
      </p:pic>
      <p:sp>
        <p:nvSpPr>
          <p:cNvPr id="55299" name="Rectangle 3"/>
          <p:cNvSpPr>
            <a:spLocks noGrp="1" noChangeArrowheads="1"/>
          </p:cNvSpPr>
          <p:nvPr>
            <p:ph idx="1"/>
          </p:nvPr>
        </p:nvSpPr>
        <p:spPr>
          <a:xfrm>
            <a:off x="1600200" y="4038600"/>
            <a:ext cx="8991600" cy="1905000"/>
          </a:xfrm>
        </p:spPr>
        <p:txBody>
          <a:bodyPr/>
          <a:lstStyle/>
          <a:p>
            <a:pPr>
              <a:lnSpc>
                <a:spcPct val="90000"/>
              </a:lnSpc>
              <a:buFontTx/>
              <a:buNone/>
            </a:pPr>
            <a:r>
              <a:rPr lang="en-US" sz="2400" dirty="0"/>
              <a:t>where optimistic time= 8 days</a:t>
            </a:r>
          </a:p>
          <a:p>
            <a:pPr>
              <a:lnSpc>
                <a:spcPct val="90000"/>
              </a:lnSpc>
              <a:buFontTx/>
              <a:buNone/>
            </a:pPr>
            <a:r>
              <a:rPr lang="en-US" sz="2400" dirty="0"/>
              <a:t>most likely time = </a:t>
            </a:r>
            <a:r>
              <a:rPr lang="en-US" sz="2400" b="1" dirty="0"/>
              <a:t>10 days</a:t>
            </a:r>
            <a:r>
              <a:rPr lang="en-US" sz="2400" dirty="0"/>
              <a:t>, and</a:t>
            </a:r>
          </a:p>
          <a:p>
            <a:pPr>
              <a:lnSpc>
                <a:spcPct val="90000"/>
              </a:lnSpc>
              <a:buFontTx/>
              <a:buNone/>
            </a:pPr>
            <a:r>
              <a:rPr lang="en-US" sz="2400" dirty="0"/>
              <a:t>pessimistic time = 24 days</a:t>
            </a:r>
          </a:p>
          <a:p>
            <a:pPr>
              <a:lnSpc>
                <a:spcPct val="90000"/>
              </a:lnSpc>
              <a:buFontTx/>
              <a:buNone/>
            </a:pPr>
            <a:r>
              <a:rPr lang="en-US" sz="2400" dirty="0"/>
              <a:t>    Therefore, you’d use </a:t>
            </a:r>
            <a:r>
              <a:rPr lang="en-US" sz="2400" b="1" dirty="0"/>
              <a:t>12 days</a:t>
            </a:r>
            <a:r>
              <a:rPr lang="en-US" sz="2400" dirty="0"/>
              <a:t> on the network diagram instead of 10 when using PERT for the above example</a:t>
            </a:r>
          </a:p>
        </p:txBody>
      </p:sp>
      <p:sp>
        <p:nvSpPr>
          <p:cNvPr id="6" name="Slide Number Placeholder 5"/>
          <p:cNvSpPr>
            <a:spLocks noGrp="1"/>
          </p:cNvSpPr>
          <p:nvPr>
            <p:ph type="sldNum" sz="quarter" idx="11"/>
          </p:nvPr>
        </p:nvSpPr>
        <p:spPr/>
        <p:txBody>
          <a:bodyPr/>
          <a:lstStyle/>
          <a:p>
            <a:pPr>
              <a:defRPr/>
            </a:pPr>
            <a:fld id="{16102E75-11F1-4483-A22E-C5BB66735E11}"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228600"/>
            <a:ext cx="10287000" cy="990600"/>
          </a:xfrm>
        </p:spPr>
        <p:txBody>
          <a:bodyPr/>
          <a:lstStyle/>
          <a:p>
            <a:r>
              <a:rPr lang="en-US" dirty="0" smtClean="0"/>
              <a:t>Agile and Time Management</a:t>
            </a:r>
            <a:endParaRPr lang="en-US" dirty="0"/>
          </a:p>
        </p:txBody>
      </p:sp>
      <p:sp>
        <p:nvSpPr>
          <p:cNvPr id="2" name="Content Placeholder 1"/>
          <p:cNvSpPr>
            <a:spLocks noGrp="1"/>
          </p:cNvSpPr>
          <p:nvPr>
            <p:ph idx="1"/>
          </p:nvPr>
        </p:nvSpPr>
        <p:spPr>
          <a:xfrm>
            <a:off x="914400" y="1447800"/>
            <a:ext cx="10972800" cy="4724400"/>
          </a:xfrm>
        </p:spPr>
        <p:txBody>
          <a:bodyPr/>
          <a:lstStyle/>
          <a:p>
            <a:r>
              <a:rPr lang="en-US" dirty="0" smtClean="0"/>
              <a:t>The core values of the Manifesto for Agile Software Development are </a:t>
            </a:r>
          </a:p>
          <a:p>
            <a:pPr lvl="1"/>
            <a:r>
              <a:rPr lang="en-US" dirty="0" smtClean="0"/>
              <a:t>Customer collaboration over contract negotiation</a:t>
            </a:r>
          </a:p>
          <a:p>
            <a:pPr lvl="1"/>
            <a:r>
              <a:rPr lang="en-US" dirty="0" smtClean="0"/>
              <a:t>Responding to change by following a plan</a:t>
            </a:r>
          </a:p>
          <a:p>
            <a:r>
              <a:rPr lang="en-US" dirty="0" smtClean="0"/>
              <a:t>The product owner defines and prioritizes the work to be done within a sprint, so collaboration and time management are designed into the process</a:t>
            </a:r>
          </a:p>
          <a:p>
            <a:r>
              <a:rPr lang="en-US" dirty="0" smtClean="0"/>
              <a:t>Teams focus on producing a useful product in a specified timeframe with strong customer input</a:t>
            </a:r>
          </a:p>
          <a:p>
            <a:r>
              <a:rPr lang="en-US" dirty="0" smtClean="0"/>
              <a:t>Don’t emphasize defining all the work before scheduling it</a:t>
            </a:r>
            <a:r>
              <a:rPr lang="en-US" dirty="0"/>
              <a:t>	</a:t>
            </a:r>
            <a:r>
              <a:rPr lang="en-US" dirty="0" smtClean="0"/>
              <a:t>		</a:t>
            </a:r>
            <a:endParaRPr lang="en-US" dirty="0"/>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43</a:t>
            </a:fld>
            <a:endParaRPr lang="en-US" dirty="0"/>
          </a:p>
        </p:txBody>
      </p:sp>
    </p:spTree>
    <p:extLst>
      <p:ext uri="{BB962C8B-B14F-4D97-AF65-F5344CB8AC3E}">
        <p14:creationId xmlns:p14="http://schemas.microsoft.com/office/powerpoint/2010/main" val="22965138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304800"/>
            <a:ext cx="9144000" cy="990600"/>
          </a:xfrm>
        </p:spPr>
        <p:txBody>
          <a:bodyPr/>
          <a:lstStyle/>
          <a:p>
            <a:r>
              <a:rPr lang="en-US" dirty="0" smtClean="0"/>
              <a:t>Schedule Control Suggestions</a:t>
            </a:r>
          </a:p>
        </p:txBody>
      </p:sp>
      <p:sp>
        <p:nvSpPr>
          <p:cNvPr id="56323" name="Rectangle 3"/>
          <p:cNvSpPr>
            <a:spLocks noGrp="1" noChangeArrowheads="1"/>
          </p:cNvSpPr>
          <p:nvPr>
            <p:ph idx="1"/>
          </p:nvPr>
        </p:nvSpPr>
        <p:spPr>
          <a:xfrm>
            <a:off x="1600200" y="1676400"/>
            <a:ext cx="8991600" cy="3048000"/>
          </a:xfrm>
        </p:spPr>
        <p:txBody>
          <a:bodyPr/>
          <a:lstStyle/>
          <a:p>
            <a:r>
              <a:rPr lang="en-US" dirty="0" smtClean="0"/>
              <a:t>Perform reality checks on schedules</a:t>
            </a:r>
          </a:p>
          <a:p>
            <a:r>
              <a:rPr lang="en-US" dirty="0" smtClean="0"/>
              <a:t>Allow for contingencies</a:t>
            </a:r>
          </a:p>
          <a:p>
            <a:r>
              <a:rPr lang="en-US" dirty="0" smtClean="0"/>
              <a:t>Don’t plan for everyone to work at 100% capacity all the time</a:t>
            </a:r>
          </a:p>
          <a:p>
            <a:r>
              <a:rPr lang="en-US" dirty="0" smtClean="0"/>
              <a:t>Hold progress meetings with stakeholders and be clear and honest in communicating schedule issues</a:t>
            </a:r>
          </a:p>
        </p:txBody>
      </p:sp>
      <p:sp>
        <p:nvSpPr>
          <p:cNvPr id="6" name="Slide Number Placeholder 5"/>
          <p:cNvSpPr>
            <a:spLocks noGrp="1"/>
          </p:cNvSpPr>
          <p:nvPr>
            <p:ph type="sldNum" sz="quarter" idx="11"/>
          </p:nvPr>
        </p:nvSpPr>
        <p:spPr/>
        <p:txBody>
          <a:bodyPr/>
          <a:lstStyle/>
          <a:p>
            <a:pPr>
              <a:defRPr/>
            </a:pPr>
            <a:fld id="{B0C1A858-5023-4926-B9FF-652E1A710FDE}" type="slidenum">
              <a:rPr lang="en-US" smtClean="0"/>
              <a:pPr>
                <a:defRPr/>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609600" y="228600"/>
            <a:ext cx="10058400" cy="990600"/>
          </a:xfrm>
        </p:spPr>
        <p:txBody>
          <a:bodyPr>
            <a:normAutofit/>
          </a:bodyPr>
          <a:lstStyle/>
          <a:p>
            <a:r>
              <a:rPr lang="en-US" dirty="0" smtClean="0">
                <a:solidFill>
                  <a:srgbClr val="FF0000"/>
                </a:solidFill>
              </a:rPr>
              <a:t>Controlling the Schedule</a:t>
            </a:r>
          </a:p>
        </p:txBody>
      </p:sp>
      <p:sp>
        <p:nvSpPr>
          <p:cNvPr id="57347" name="Rectangle 3"/>
          <p:cNvSpPr>
            <a:spLocks noGrp="1" noChangeArrowheads="1"/>
          </p:cNvSpPr>
          <p:nvPr>
            <p:ph idx="1"/>
          </p:nvPr>
        </p:nvSpPr>
        <p:spPr>
          <a:xfrm>
            <a:off x="1600200" y="1371600"/>
            <a:ext cx="8991600" cy="4800600"/>
          </a:xfrm>
        </p:spPr>
        <p:txBody>
          <a:bodyPr/>
          <a:lstStyle/>
          <a:p>
            <a:pPr>
              <a:lnSpc>
                <a:spcPct val="90000"/>
              </a:lnSpc>
            </a:pPr>
            <a:r>
              <a:rPr lang="en-US" dirty="0" smtClean="0"/>
              <a:t>Goals are to know the status of the schedule, influence factors that cause schedule changes, determine that the schedule has changed, and manage changes when they occur</a:t>
            </a:r>
          </a:p>
          <a:p>
            <a:pPr>
              <a:lnSpc>
                <a:spcPct val="90000"/>
              </a:lnSpc>
            </a:pPr>
            <a:r>
              <a:rPr lang="en-US" dirty="0" smtClean="0"/>
              <a:t>Tools and techniques include</a:t>
            </a:r>
          </a:p>
          <a:p>
            <a:pPr lvl="1">
              <a:lnSpc>
                <a:spcPct val="90000"/>
              </a:lnSpc>
            </a:pPr>
            <a:r>
              <a:rPr lang="en-US" dirty="0" smtClean="0"/>
              <a:t>Progress reports</a:t>
            </a:r>
          </a:p>
          <a:p>
            <a:pPr lvl="1">
              <a:lnSpc>
                <a:spcPct val="90000"/>
              </a:lnSpc>
            </a:pPr>
            <a:r>
              <a:rPr lang="en-US" dirty="0" smtClean="0"/>
              <a:t>A schedule change control system</a:t>
            </a:r>
          </a:p>
          <a:p>
            <a:pPr lvl="1">
              <a:lnSpc>
                <a:spcPct val="90000"/>
              </a:lnSpc>
            </a:pPr>
            <a:r>
              <a:rPr lang="en-US" dirty="0" smtClean="0"/>
              <a:t>Project management software, including schedule comparison charts like the tracking Gantt chart</a:t>
            </a:r>
          </a:p>
          <a:p>
            <a:pPr lvl="1">
              <a:lnSpc>
                <a:spcPct val="90000"/>
              </a:lnSpc>
            </a:pPr>
            <a:r>
              <a:rPr lang="en-US" dirty="0" smtClean="0"/>
              <a:t>Variance analysis, such as analyzing float or slack</a:t>
            </a:r>
          </a:p>
          <a:p>
            <a:pPr lvl="1">
              <a:lnSpc>
                <a:spcPct val="90000"/>
              </a:lnSpc>
            </a:pPr>
            <a:r>
              <a:rPr lang="en-US" dirty="0" smtClean="0"/>
              <a:t>Performance management, such as earned value (chapter 7)</a:t>
            </a:r>
          </a:p>
        </p:txBody>
      </p:sp>
      <p:sp>
        <p:nvSpPr>
          <p:cNvPr id="6" name="Slide Number Placeholder 5"/>
          <p:cNvSpPr>
            <a:spLocks noGrp="1"/>
          </p:cNvSpPr>
          <p:nvPr>
            <p:ph type="sldNum" sz="quarter" idx="11"/>
          </p:nvPr>
        </p:nvSpPr>
        <p:spPr/>
        <p:txBody>
          <a:bodyPr/>
          <a:lstStyle/>
          <a:p>
            <a:pPr>
              <a:defRPr/>
            </a:pPr>
            <a:fld id="{B0240E2E-B66C-4064-B91E-500EEA5DF79B}" type="slidenum">
              <a:rPr lang="en-US" smtClean="0"/>
              <a:pPr>
                <a:defRPr/>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524000" y="152400"/>
            <a:ext cx="9144000" cy="990600"/>
          </a:xfrm>
        </p:spPr>
        <p:txBody>
          <a:bodyPr/>
          <a:lstStyle/>
          <a:p>
            <a:r>
              <a:rPr lang="en-US" dirty="0" smtClean="0"/>
              <a:t>Reality Checks on Scheduling</a:t>
            </a:r>
          </a:p>
        </p:txBody>
      </p:sp>
      <p:sp>
        <p:nvSpPr>
          <p:cNvPr id="58371" name="Rectangle 3"/>
          <p:cNvSpPr>
            <a:spLocks noGrp="1" noChangeArrowheads="1"/>
          </p:cNvSpPr>
          <p:nvPr>
            <p:ph idx="1"/>
          </p:nvPr>
        </p:nvSpPr>
        <p:spPr>
          <a:xfrm>
            <a:off x="1600200" y="1447800"/>
            <a:ext cx="8991600" cy="4648200"/>
          </a:xfrm>
        </p:spPr>
        <p:txBody>
          <a:bodyPr/>
          <a:lstStyle/>
          <a:p>
            <a:r>
              <a:rPr lang="en-US" dirty="0" smtClean="0"/>
              <a:t>First review the draft schedule or estimated completion date in the project charter</a:t>
            </a:r>
          </a:p>
          <a:p>
            <a:r>
              <a:rPr lang="en-US" dirty="0" smtClean="0"/>
              <a:t>Prepare a more detailed schedule with the project team</a:t>
            </a:r>
          </a:p>
          <a:p>
            <a:r>
              <a:rPr lang="en-US" dirty="0" smtClean="0"/>
              <a:t>Make sure the schedule is realistic and followed</a:t>
            </a:r>
          </a:p>
          <a:p>
            <a:r>
              <a:rPr lang="en-US" dirty="0" smtClean="0"/>
              <a:t>Alert top management well in advance if there are schedule problems</a:t>
            </a:r>
          </a:p>
        </p:txBody>
      </p:sp>
      <p:sp>
        <p:nvSpPr>
          <p:cNvPr id="6" name="Slide Number Placeholder 5"/>
          <p:cNvSpPr>
            <a:spLocks noGrp="1"/>
          </p:cNvSpPr>
          <p:nvPr>
            <p:ph type="sldNum" sz="quarter" idx="11"/>
          </p:nvPr>
        </p:nvSpPr>
        <p:spPr/>
        <p:txBody>
          <a:bodyPr/>
          <a:lstStyle/>
          <a:p>
            <a:pPr>
              <a:defRPr/>
            </a:pPr>
            <a:fld id="{64C3512C-5BED-469D-A505-6CEF29DE3E0E}" type="slidenum">
              <a:rPr lang="en-US" smtClean="0"/>
              <a:pPr>
                <a:defRPr/>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524000" y="228600"/>
            <a:ext cx="9144000" cy="990600"/>
          </a:xfrm>
        </p:spPr>
        <p:txBody>
          <a:bodyPr/>
          <a:lstStyle/>
          <a:p>
            <a:r>
              <a:rPr lang="en-US" dirty="0" smtClean="0"/>
              <a:t>Working with People Issues</a:t>
            </a:r>
          </a:p>
        </p:txBody>
      </p:sp>
      <p:sp>
        <p:nvSpPr>
          <p:cNvPr id="59395" name="Rectangle 3"/>
          <p:cNvSpPr>
            <a:spLocks noGrp="1" noChangeArrowheads="1"/>
          </p:cNvSpPr>
          <p:nvPr>
            <p:ph idx="1"/>
          </p:nvPr>
        </p:nvSpPr>
        <p:spPr>
          <a:xfrm>
            <a:off x="1600200" y="1447800"/>
            <a:ext cx="8991600" cy="4724400"/>
          </a:xfrm>
        </p:spPr>
        <p:txBody>
          <a:bodyPr/>
          <a:lstStyle/>
          <a:p>
            <a:r>
              <a:rPr lang="en-US" dirty="0" smtClean="0"/>
              <a:t>Strong leadership helps projects succeed more than good PERT charts</a:t>
            </a:r>
          </a:p>
          <a:p>
            <a:r>
              <a:rPr lang="en-US" dirty="0" smtClean="0"/>
              <a:t>Project managers should use</a:t>
            </a:r>
          </a:p>
          <a:p>
            <a:pPr lvl="1"/>
            <a:r>
              <a:rPr lang="en-US" dirty="0" smtClean="0"/>
              <a:t>empowerment</a:t>
            </a:r>
          </a:p>
          <a:p>
            <a:pPr lvl="1"/>
            <a:r>
              <a:rPr lang="en-US" dirty="0" smtClean="0"/>
              <a:t>incentives</a:t>
            </a:r>
          </a:p>
          <a:p>
            <a:pPr lvl="1"/>
            <a:r>
              <a:rPr lang="en-US" dirty="0" smtClean="0"/>
              <a:t>discipline</a:t>
            </a:r>
          </a:p>
          <a:p>
            <a:pPr lvl="1"/>
            <a:r>
              <a:rPr lang="en-US" dirty="0" smtClean="0"/>
              <a:t>negotiation</a:t>
            </a:r>
          </a:p>
        </p:txBody>
      </p:sp>
      <p:sp>
        <p:nvSpPr>
          <p:cNvPr id="6" name="Slide Number Placeholder 5"/>
          <p:cNvSpPr>
            <a:spLocks noGrp="1"/>
          </p:cNvSpPr>
          <p:nvPr>
            <p:ph type="sldNum" sz="quarter" idx="11"/>
          </p:nvPr>
        </p:nvSpPr>
        <p:spPr/>
        <p:txBody>
          <a:bodyPr/>
          <a:lstStyle/>
          <a:p>
            <a:pPr>
              <a:defRPr/>
            </a:pPr>
            <a:fld id="{32B7A234-8778-40A8-A10C-C6324862A665}" type="slidenum">
              <a:rPr lang="en-US" smtClean="0"/>
              <a:pPr>
                <a:defRPr/>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dirty="0" smtClean="0"/>
              <a:t>Chapter Summary</a:t>
            </a:r>
          </a:p>
        </p:txBody>
      </p:sp>
      <p:sp>
        <p:nvSpPr>
          <p:cNvPr id="63491" name="Rectangle 3"/>
          <p:cNvSpPr>
            <a:spLocks noGrp="1" noChangeArrowheads="1"/>
          </p:cNvSpPr>
          <p:nvPr>
            <p:ph idx="1"/>
          </p:nvPr>
        </p:nvSpPr>
        <p:spPr>
          <a:xfrm>
            <a:off x="1600200" y="1295400"/>
            <a:ext cx="8991600" cy="4648200"/>
          </a:xfrm>
        </p:spPr>
        <p:txBody>
          <a:bodyPr/>
          <a:lstStyle/>
          <a:p>
            <a:pPr>
              <a:lnSpc>
                <a:spcPct val="90000"/>
              </a:lnSpc>
            </a:pPr>
            <a:r>
              <a:rPr lang="en-US" dirty="0" smtClean="0"/>
              <a:t>Project time management is often cited as the main source of conflict on projects, and most IT projects exceed time estimates</a:t>
            </a:r>
          </a:p>
          <a:p>
            <a:pPr>
              <a:lnSpc>
                <a:spcPct val="90000"/>
              </a:lnSpc>
            </a:pPr>
            <a:r>
              <a:rPr lang="en-US" dirty="0" smtClean="0"/>
              <a:t>Main processes include</a:t>
            </a:r>
          </a:p>
          <a:p>
            <a:pPr lvl="1">
              <a:lnSpc>
                <a:spcPct val="90000"/>
              </a:lnSpc>
            </a:pPr>
            <a:r>
              <a:rPr lang="en-US" dirty="0" smtClean="0"/>
              <a:t>Plan schedule management</a:t>
            </a:r>
          </a:p>
          <a:p>
            <a:pPr lvl="1">
              <a:lnSpc>
                <a:spcPct val="90000"/>
              </a:lnSpc>
            </a:pPr>
            <a:r>
              <a:rPr lang="en-US" dirty="0" smtClean="0"/>
              <a:t>Define activities</a:t>
            </a:r>
          </a:p>
          <a:p>
            <a:pPr lvl="1">
              <a:lnSpc>
                <a:spcPct val="90000"/>
              </a:lnSpc>
            </a:pPr>
            <a:r>
              <a:rPr lang="en-US" dirty="0" smtClean="0"/>
              <a:t>Sequence activities</a:t>
            </a:r>
          </a:p>
          <a:p>
            <a:pPr lvl="1">
              <a:lnSpc>
                <a:spcPct val="90000"/>
              </a:lnSpc>
            </a:pPr>
            <a:r>
              <a:rPr lang="en-US" dirty="0" smtClean="0"/>
              <a:t>Estimate activity resources</a:t>
            </a:r>
          </a:p>
          <a:p>
            <a:pPr lvl="1">
              <a:lnSpc>
                <a:spcPct val="90000"/>
              </a:lnSpc>
            </a:pPr>
            <a:r>
              <a:rPr lang="en-US" dirty="0" smtClean="0"/>
              <a:t>Estimate activity durations</a:t>
            </a:r>
          </a:p>
          <a:p>
            <a:pPr lvl="1">
              <a:lnSpc>
                <a:spcPct val="90000"/>
              </a:lnSpc>
            </a:pPr>
            <a:r>
              <a:rPr lang="en-US" dirty="0" smtClean="0"/>
              <a:t>Develop schedule</a:t>
            </a:r>
          </a:p>
          <a:p>
            <a:pPr lvl="1">
              <a:lnSpc>
                <a:spcPct val="90000"/>
              </a:lnSpc>
            </a:pPr>
            <a:r>
              <a:rPr lang="en-US" dirty="0" smtClean="0"/>
              <a:t>Control schedule</a:t>
            </a:r>
          </a:p>
        </p:txBody>
      </p:sp>
      <p:sp>
        <p:nvSpPr>
          <p:cNvPr id="6" name="Slide Number Placeholder 5"/>
          <p:cNvSpPr>
            <a:spLocks noGrp="1"/>
          </p:cNvSpPr>
          <p:nvPr>
            <p:ph type="sldNum" sz="quarter" idx="11"/>
          </p:nvPr>
        </p:nvSpPr>
        <p:spPr/>
        <p:txBody>
          <a:bodyPr/>
          <a:lstStyle/>
          <a:p>
            <a:pPr>
              <a:defRPr/>
            </a:pPr>
            <a:fld id="{169144F6-8D6B-43D0-ACD9-CBCF47EB473B}" type="slidenum">
              <a:rPr lang="en-US" smtClean="0"/>
              <a:pPr>
                <a:defRPr/>
              </a:pPr>
              <a:t>48</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1_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5.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6.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7.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8.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3729</TotalTime>
  <Words>2400</Words>
  <Application>Microsoft Office PowerPoint</Application>
  <PresentationFormat>Widescreen</PresentationFormat>
  <Paragraphs>293</Paragraphs>
  <Slides>48</Slides>
  <Notes>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48</vt:i4>
      </vt:variant>
    </vt:vector>
  </HeadingPairs>
  <TitlesOfParts>
    <vt:vector size="60" baseType="lpstr">
      <vt:lpstr>Arial</vt:lpstr>
      <vt:lpstr>Arial Rounded MT Bold</vt:lpstr>
      <vt:lpstr>Calibri</vt:lpstr>
      <vt:lpstr>Lucida Sans Unicode</vt:lpstr>
      <vt:lpstr>Times New Roman</vt:lpstr>
      <vt:lpstr>Verdana</vt:lpstr>
      <vt:lpstr>Wingdings</vt:lpstr>
      <vt:lpstr>Wingdings 2</vt:lpstr>
      <vt:lpstr>Wingdings 3</vt:lpstr>
      <vt:lpstr>Custom Design</vt:lpstr>
      <vt:lpstr>Theme1</vt:lpstr>
      <vt:lpstr>1_Theme1</vt:lpstr>
      <vt:lpstr>Project Time Management</vt:lpstr>
      <vt:lpstr>Importance of Project Schedules</vt:lpstr>
      <vt:lpstr>Project Time Management Processes</vt:lpstr>
      <vt:lpstr>Project Time Management Summary</vt:lpstr>
      <vt:lpstr>Planning Schedule Management</vt:lpstr>
      <vt:lpstr>Defining Activities</vt:lpstr>
      <vt:lpstr>Activity Lists and Attributes</vt:lpstr>
      <vt:lpstr>Sequencing Activities</vt:lpstr>
      <vt:lpstr>Three types of Dependencies</vt:lpstr>
      <vt:lpstr>Network Diagrams</vt:lpstr>
      <vt:lpstr>Network Diagram for Project X</vt:lpstr>
      <vt:lpstr>Arrow Diagramming Method (ADM)</vt:lpstr>
      <vt:lpstr>Process for Creating AOA Diagrams</vt:lpstr>
      <vt:lpstr>Precedence Diagramming Method (PDM)</vt:lpstr>
      <vt:lpstr>Task Dependency Types</vt:lpstr>
      <vt:lpstr>Sample PDM Network Diagram</vt:lpstr>
      <vt:lpstr>Estimating Activity Resources</vt:lpstr>
      <vt:lpstr>Activity Duration Estimating</vt:lpstr>
      <vt:lpstr>Three-Point Estimates</vt:lpstr>
      <vt:lpstr>Developing the Schedule</vt:lpstr>
      <vt:lpstr>Gantt Charts</vt:lpstr>
      <vt:lpstr>Gantt Chart for Project X</vt:lpstr>
      <vt:lpstr>Gantt Chart for Software Launch Project</vt:lpstr>
      <vt:lpstr>Adding Milestones to Gantt Charts</vt:lpstr>
      <vt:lpstr>SMART Criteria</vt:lpstr>
      <vt:lpstr>Critical Path Method (CPM)</vt:lpstr>
      <vt:lpstr>Calculating the Critical Path</vt:lpstr>
      <vt:lpstr>Determining the Critical Path for Project X</vt:lpstr>
      <vt:lpstr>Using Critical Path Analysis to Make Schedule Trade-offs</vt:lpstr>
      <vt:lpstr>Example of Calculating the Critical Path</vt:lpstr>
      <vt:lpstr>Example of Calculating the Critical Path</vt:lpstr>
      <vt:lpstr>Example of Calculating the Critical Path</vt:lpstr>
      <vt:lpstr>Example of Calculating the Critical Path</vt:lpstr>
      <vt:lpstr>Example of Calculating the Critical Path</vt:lpstr>
      <vt:lpstr>Example of Calculating the Critical Path</vt:lpstr>
      <vt:lpstr>Example of Calculating the Critical Path</vt:lpstr>
      <vt:lpstr>Example of Calculating the Critical Path</vt:lpstr>
      <vt:lpstr>Importance of Updating Critical Path Data</vt:lpstr>
      <vt:lpstr>Critical Chain Scheduling</vt:lpstr>
      <vt:lpstr>Buffers and Critical Chain</vt:lpstr>
      <vt:lpstr>Program Evaluation and Review Technique (PERT)</vt:lpstr>
      <vt:lpstr>PERT Formula and Example</vt:lpstr>
      <vt:lpstr>Agile and Time Management</vt:lpstr>
      <vt:lpstr>Schedule Control Suggestions</vt:lpstr>
      <vt:lpstr>Controlling the Schedule</vt:lpstr>
      <vt:lpstr>Reality Checks on Scheduling</vt:lpstr>
      <vt:lpstr>Working with People Issues</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Windows User</cp:lastModifiedBy>
  <cp:revision>229</cp:revision>
  <dcterms:created xsi:type="dcterms:W3CDTF">2001-07-05T23:10:12Z</dcterms:created>
  <dcterms:modified xsi:type="dcterms:W3CDTF">2025-10-08T13:54:54Z</dcterms:modified>
</cp:coreProperties>
</file>