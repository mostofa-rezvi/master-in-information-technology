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2" r:id="rId4"/>
    <p:sldId id="259" r:id="rId5"/>
    <p:sldId id="258" r:id="rId6"/>
    <p:sldId id="274" r:id="rId7"/>
    <p:sldId id="260" r:id="rId8"/>
    <p:sldId id="263" r:id="rId9"/>
    <p:sldId id="364" r:id="rId10"/>
    <p:sldId id="371" r:id="rId11"/>
    <p:sldId id="264" r:id="rId12"/>
    <p:sldId id="265" r:id="rId13"/>
    <p:sldId id="266" r:id="rId14"/>
    <p:sldId id="267" r:id="rId15"/>
    <p:sldId id="268" r:id="rId16"/>
    <p:sldId id="372" r:id="rId17"/>
    <p:sldId id="373" r:id="rId18"/>
    <p:sldId id="374" r:id="rId19"/>
    <p:sldId id="375" r:id="rId20"/>
    <p:sldId id="269" r:id="rId21"/>
    <p:sldId id="270" r:id="rId22"/>
    <p:sldId id="271" r:id="rId23"/>
    <p:sldId id="3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89A75-A98E-42F0-9A78-3BCC462880D0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F3F626-4FBA-4506-98CD-F61D69E304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19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D7304-1F2A-4614-8E71-CD7A605CE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F17EF-D70A-442D-9A4F-88F180BB0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71FAC-2D46-4E63-8AA1-0707457BA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D7E2-C733-40B6-A6F3-A720DCF4F036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5DF19-BA7B-4693-B080-7D94B9A50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07ED4-6125-4770-BE72-5936C9DE3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20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82E01-4AE7-48CC-B502-23DF3B462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53E82-1A4E-4F9A-B945-02262BB02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FABFF-D7B7-447A-93F2-32161D1A6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FB9B8-BCD9-43FE-8AF3-195CA45AE685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58222-5A9B-4D3D-807C-4867153DC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B96BC-7D81-4AFB-91B2-DB81C0C2C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5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1FD32-42B8-4B24-A9D0-CF75E7D5E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E519F-B9FE-41CF-B6A1-770AB26BC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A19D1-A44B-4A66-9CD8-1DF2E1D94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9D19-106A-4499-9727-2B31E774348D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4D372-AD58-4357-9456-E6B0D5DE2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C19B5-BC2D-4C4A-AC2F-ACD1640F9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79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94D92-0261-4746-83E2-7F77D657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8760-934F-47CB-AEEB-8BD0108F1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0B5ED-AD48-4F8F-A737-692D40BFC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27C44-F3FD-4022-A72D-CA548AA28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A9E52-2109-40CE-B2F2-E36C9B552C66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B077A-605D-4ACF-87A5-7CE0CE92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D473A-BE31-4003-8CD9-453A093C3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4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89B68-C121-475A-85E6-E7BD756C6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FA03F-CEE0-4453-BA6A-34C753A86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B4F88-55BA-4776-9546-BA2EB2250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677228-9BC2-4329-9A0B-548E768AF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80A8B-9A66-4ED7-82FD-7142ACF3EC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05E16-03A4-40BB-9E35-5F4589BB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9F971-56A0-4DC5-B3E7-9A8F37A6B53F}" type="datetime1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B686E7-C909-46D3-BE4E-0634DB6D1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CC0BD0-B551-46E4-BDD0-33AB85AE2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27C1B-EA85-4A23-B813-E1B578B4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C1412-EC13-4D46-8056-1B1BCCF93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3D5A1-09E2-4F93-B4AB-1C6E314DEAB6}" type="datetime1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07EC0D-4895-4F22-B061-043208E2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C7334-E4A7-4732-89B5-843D6BA1E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7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CC1E1-22BD-4E67-9038-878226BB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50F3-82F7-4234-A186-D196A7EE6B79}" type="datetime1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883A2-3B8D-4565-8D56-EC9B1DC48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5609C-398A-4C72-8BF2-9543B31F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44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15A3A-D60F-4FC3-9539-B4FE1D51E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B1C65-42BB-47AB-A6B6-A0C7B9D7A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4F4A5B-CAE0-4416-B574-D8269CDC2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15B3F-6C4D-42F1-B26C-98E59585A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F1EC4-8ED1-4BB8-B060-C2A003F5A51D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E5589-70A0-41C6-831F-C0E20C70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9FF7E-86F2-40E0-84EA-0E4910B14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61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80F5D-CAAC-4A9D-8769-E6E5B0E7E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96A9E1-6542-4C8E-B39E-09931E2830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8FE72-C0EF-4EA4-B628-D962D9F4D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FAC82-0959-422E-AA0A-F4BA81E18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93219-FBE0-4DCC-8A99-B724E648F494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3D359-AA71-4BA4-8F03-66B0376F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3D723-26BA-4048-BD27-871E1381A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9970-2F37-40AE-8222-FF0825917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27B39-A60A-49C4-A635-77049412F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37761-2AA4-4040-BE2E-C8D43727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72741-CA29-4A70-A754-7E0A6ADC1296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C014C-6EBC-4ED8-A227-7AD4FFDE6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29FC1-1BEB-4BFF-B012-48A0FA08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6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A86964-D5DD-4F3F-92A9-DBCCF84EB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45D57-9A7B-432F-B019-A1BF13AD3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8E548-A1B9-481A-8A7A-3A833125E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6860B-59F3-494C-A58A-245E03C34823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70962-BD2E-4173-A9F1-92A73737C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F668F-5F84-469C-B342-43A1BA227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59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51EB89-DC87-4161-8ACA-2B6A97CA4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C075A-68BE-44D8-B4B2-2FBD1CBE5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99FE9-06E5-4BE7-A521-9C0F47EF4C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B281C-4150-47EE-B851-9460313F76FA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F19F4-7D66-4A92-B146-6ACF0EDA0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1096C-11B5-4FF7-B928-FBD447233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0BDE5-C590-4B36-90EB-F135E088B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7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7123D-AB4E-4078-BA90-76AA637FF6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B111F5-41ED-43A6-9CB4-D8883B8DA9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Slide #1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52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09B5-EA56-4E7A-B3AA-ADEEC62C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5123B-8FD2-48B6-AC79-9E72CCA04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705213" cy="4180892"/>
          </a:xfrm>
        </p:spPr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 A temporary endeavor with a clear start &amp; end.</a:t>
            </a:r>
          </a:p>
          <a:p>
            <a:r>
              <a:rPr lang="en-US" dirty="0"/>
              <a:t>Creates a </a:t>
            </a:r>
            <a:r>
              <a:rPr lang="en-US" b="1" dirty="0"/>
              <a:t>unique product, service, or result</a:t>
            </a:r>
            <a:r>
              <a:rPr lang="en-US" dirty="0"/>
              <a:t>.</a:t>
            </a:r>
          </a:p>
          <a:p>
            <a:r>
              <a:rPr lang="en-US" dirty="0"/>
              <a:t>Managed under </a:t>
            </a:r>
            <a:r>
              <a:rPr lang="en-US" b="1" dirty="0"/>
              <a:t>scope, time, cost, and quality constraints</a:t>
            </a:r>
            <a:r>
              <a:rPr lang="en-US" dirty="0"/>
              <a:t>.</a:t>
            </a:r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3D637F54-5046-405A-8F33-A4E068A5C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774" y="1392572"/>
            <a:ext cx="3859635" cy="385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36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2D0C0-1FFF-4396-A34E-9ABC90032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A6EC1-EEE7-42B6-9C02-B00F83FE6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Projects have a start and an end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Start may be unclear as ideas evolve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End must be clearly defined</a:t>
            </a:r>
          </a:p>
          <a:p>
            <a:r>
              <a:rPr lang="en-US" altLang="en-US" b="1" dirty="0">
                <a:latin typeface="Arial" panose="020B0604020202020204" pitchFamily="34" charset="0"/>
              </a:rPr>
              <a:t>Projects deliver unique outcomes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Tangible (e.g., software)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Intangible (e.g., guidelines)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57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12A06-5447-4D96-9CC8-1D2652F81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vs.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24339-CEC0-4ED7-AF1F-59F9C6899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Projects:</a:t>
            </a:r>
            <a:r>
              <a:rPr lang="en-US" dirty="0"/>
              <a:t> Temporary, unique, goal-oriented</a:t>
            </a:r>
          </a:p>
          <a:p>
            <a:r>
              <a:rPr lang="en-US" b="1" dirty="0"/>
              <a:t>Operations:</a:t>
            </a:r>
            <a:r>
              <a:rPr lang="en-US" dirty="0"/>
              <a:t> Ongoing, repetitive, sustain existing systems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Project → Develop a new mobile app </a:t>
            </a:r>
          </a:p>
          <a:p>
            <a:pPr lvl="1"/>
            <a:r>
              <a:rPr lang="en-US" dirty="0"/>
              <a:t>Operation → Maintain university IT servers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58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2FC12-1BBF-4447-9670-339E96407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IT Project?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24C4F-9F8B-4848-8C32-D3F68AE84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Involves technology-based solutions.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Software development</a:t>
            </a:r>
          </a:p>
          <a:p>
            <a:pPr lvl="1"/>
            <a:r>
              <a:rPr lang="en-US" dirty="0"/>
              <a:t>Cloud migration</a:t>
            </a:r>
          </a:p>
          <a:p>
            <a:pPr lvl="1"/>
            <a:r>
              <a:rPr lang="en-US" dirty="0"/>
              <a:t>Cybersecurity implementation</a:t>
            </a:r>
          </a:p>
          <a:p>
            <a:pPr lvl="1"/>
            <a:r>
              <a:rPr lang="en-US" dirty="0"/>
              <a:t>ERP/CRM deployment</a:t>
            </a:r>
          </a:p>
          <a:p>
            <a:r>
              <a:rPr lang="en-US" dirty="0"/>
              <a:t>Typically </a:t>
            </a:r>
            <a:r>
              <a:rPr lang="en-US" b="1" dirty="0"/>
              <a:t>complex, high-risk, and dynamic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58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B276695-F870-465F-90E5-FEE74C7DBC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Project Agreement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FFEE0D1-4723-4B71-A0A3-BB82CD5434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94374" y="1571625"/>
            <a:ext cx="9180018" cy="4921250"/>
          </a:xfrm>
          <a:noFill/>
          <a:ln/>
        </p:spPr>
        <p:txBody>
          <a:bodyPr>
            <a:normAutofit lnSpcReduction="10000"/>
          </a:bodyPr>
          <a:lstStyle/>
          <a:p>
            <a:r>
              <a:rPr lang="en-US" altLang="en-US" dirty="0"/>
              <a:t>Document written for a client that defines:</a:t>
            </a:r>
          </a:p>
          <a:p>
            <a:pPr lvl="1"/>
            <a:r>
              <a:rPr lang="en-US" altLang="en-US" dirty="0"/>
              <a:t>the scope, duration, cost and deliverables for the project. </a:t>
            </a:r>
          </a:p>
          <a:p>
            <a:pPr lvl="1"/>
            <a:r>
              <a:rPr lang="en-US" altLang="en-US" dirty="0"/>
              <a:t>the exact items, quantities, delivery dates, delivery location.</a:t>
            </a:r>
          </a:p>
          <a:p>
            <a:r>
              <a:rPr lang="en-US" altLang="en-US" dirty="0"/>
              <a:t>Can be a contract, a statement of work, </a:t>
            </a:r>
            <a:r>
              <a:rPr lang="en-US" altLang="en-US" dirty="0" smtClean="0"/>
              <a:t>or a </a:t>
            </a:r>
            <a:r>
              <a:rPr lang="en-US" altLang="en-US" dirty="0"/>
              <a:t>business </a:t>
            </a:r>
            <a:r>
              <a:rPr lang="en-US" altLang="en-US" dirty="0" smtClean="0"/>
              <a:t>plan.</a:t>
            </a:r>
          </a:p>
          <a:p>
            <a:pPr algn="just"/>
            <a:r>
              <a:rPr lang="en-US" altLang="en-US" b="1" dirty="0" smtClean="0"/>
              <a:t>Client: </a:t>
            </a:r>
            <a:r>
              <a:rPr lang="en-US" altLang="en-US" dirty="0" smtClean="0"/>
              <a:t>Individual or organization that specifies the requirements and accepts the project deliverables.</a:t>
            </a:r>
          </a:p>
          <a:p>
            <a:r>
              <a:rPr lang="en-US" altLang="en-US" dirty="0" smtClean="0"/>
              <a:t>Deliverables </a:t>
            </a:r>
            <a:r>
              <a:rPr lang="en-US" altLang="en-US" dirty="0"/>
              <a:t>(= Work Products that will be delivered to the client):</a:t>
            </a:r>
          </a:p>
          <a:p>
            <a:pPr lvl="1"/>
            <a:r>
              <a:rPr lang="en-US" altLang="en-US" dirty="0"/>
              <a:t>Documents</a:t>
            </a:r>
          </a:p>
          <a:p>
            <a:pPr lvl="1"/>
            <a:r>
              <a:rPr lang="en-US" altLang="en-US" dirty="0"/>
              <a:t>Demonstrations of function</a:t>
            </a:r>
          </a:p>
          <a:p>
            <a:pPr lvl="1"/>
            <a:r>
              <a:rPr lang="en-US" altLang="en-US" dirty="0"/>
              <a:t>Demonstration of nonfunctional requirements</a:t>
            </a:r>
          </a:p>
          <a:p>
            <a:pPr lvl="1"/>
            <a:r>
              <a:rPr lang="en-US" altLang="en-US" dirty="0"/>
              <a:t>Demonstrations of subsystems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14ECF-7435-4967-ABB2-A4D631CB4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is a project successful?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4C003-8DC5-4CB0-800E-0980DDA4B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7331977" cy="4457730"/>
          </a:xfrm>
        </p:spPr>
        <p:txBody>
          <a:bodyPr/>
          <a:lstStyle/>
          <a:p>
            <a:r>
              <a:rPr lang="en-US" dirty="0"/>
              <a:t>The traditional view on project success consists of three parts and is also called the iron triangle or triple-constraint:</a:t>
            </a:r>
          </a:p>
          <a:p>
            <a:pPr lvl="1"/>
            <a:r>
              <a:rPr lang="en-US" dirty="0"/>
              <a:t>The project scope is well-defined</a:t>
            </a:r>
          </a:p>
          <a:p>
            <a:pPr lvl="1"/>
            <a:r>
              <a:rPr lang="en-US" dirty="0"/>
              <a:t>The project is executed on time.</a:t>
            </a:r>
          </a:p>
          <a:p>
            <a:pPr lvl="1"/>
            <a:r>
              <a:rPr lang="en-US" dirty="0"/>
              <a:t>The project is executed within budget.</a:t>
            </a:r>
          </a:p>
          <a:p>
            <a:pPr lvl="1"/>
            <a:r>
              <a:rPr lang="en-US" dirty="0"/>
              <a:t>The project produces an outcome of high quality. </a:t>
            </a:r>
          </a:p>
          <a:p>
            <a:endParaRPr lang="en-US" dirty="0"/>
          </a:p>
        </p:txBody>
      </p:sp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2E2FAE39-9D6A-4AA1-BC4D-6AC426FBA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0177" y="1499182"/>
            <a:ext cx="3859635" cy="385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11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47079-B640-420C-8885-F4F2A4EF7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Project Management?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ADEF1-B8CF-41D9-A634-41E8B2B70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application of knowledge, skills, tools, and techniques to meet project requirements.</a:t>
            </a:r>
          </a:p>
          <a:p>
            <a:r>
              <a:rPr lang="en-US" dirty="0"/>
              <a:t>Deliver unique outcomes </a:t>
            </a:r>
            <a:r>
              <a:rPr lang="en-US" b="1" dirty="0"/>
              <a:t>on time, within budget, and with desired quality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Goal:</a:t>
            </a:r>
            <a:r>
              <a:rPr lang="en-US" dirty="0"/>
              <a:t> Balance the </a:t>
            </a:r>
            <a:r>
              <a:rPr lang="en-US" b="1" dirty="0"/>
              <a:t>iron triangle</a:t>
            </a:r>
            <a:r>
              <a:rPr lang="en-US" dirty="0"/>
              <a:t> (Scope–Time–Cost) while ensuring quality and stakeholder satisfaction.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61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9ED3C8FA-7E24-4F2F-A569-FDD88A049B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0175" y="438150"/>
            <a:ext cx="9949343" cy="70485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Project  Management Activities</a:t>
            </a:r>
            <a:br>
              <a:rPr lang="en-US" altLang="en-US" dirty="0"/>
            </a:br>
            <a:r>
              <a:rPr lang="en-US" altLang="en-US" dirty="0"/>
              <a:t>(continued on next slide)</a:t>
            </a:r>
          </a:p>
        </p:txBody>
      </p:sp>
      <p:grpSp>
        <p:nvGrpSpPr>
          <p:cNvPr id="147464" name="Group 8">
            <a:extLst>
              <a:ext uri="{FF2B5EF4-FFF2-40B4-BE49-F238E27FC236}">
                <a16:creationId xmlns:a16="http://schemas.microsoft.com/office/drawing/2014/main" id="{14E53C3D-D1F9-4F7D-8F9D-15AAB1591FF7}"/>
              </a:ext>
            </a:extLst>
          </p:cNvPr>
          <p:cNvGrpSpPr>
            <a:grpSpLocks/>
          </p:cNvGrpSpPr>
          <p:nvPr/>
        </p:nvGrpSpPr>
        <p:grpSpPr bwMode="auto">
          <a:xfrm>
            <a:off x="1909764" y="1600201"/>
            <a:ext cx="8485187" cy="4697413"/>
            <a:chOff x="243" y="472"/>
            <a:chExt cx="5345" cy="2959"/>
          </a:xfrm>
        </p:grpSpPr>
        <p:sp>
          <p:nvSpPr>
            <p:cNvPr id="147465" name="Rectangle 9">
              <a:extLst>
                <a:ext uri="{FF2B5EF4-FFF2-40B4-BE49-F238E27FC236}">
                  <a16:creationId xmlns:a16="http://schemas.microsoft.com/office/drawing/2014/main" id="{10443AA1-0EE6-4A6F-AA4C-FB96854E5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8" y="2689"/>
              <a:ext cx="419" cy="56"/>
            </a:xfrm>
            <a:prstGeom prst="rect">
              <a:avLst/>
            </a:prstGeom>
            <a:solidFill>
              <a:schemeClr val="tx1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466" name="Line 10">
              <a:extLst>
                <a:ext uri="{FF2B5EF4-FFF2-40B4-BE49-F238E27FC236}">
                  <a16:creationId xmlns:a16="http://schemas.microsoft.com/office/drawing/2014/main" id="{21AD674F-A3E8-4FEC-967E-AB688A75C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4" y="1905"/>
              <a:ext cx="1" cy="14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67" name="Freeform 11">
              <a:extLst>
                <a:ext uri="{FF2B5EF4-FFF2-40B4-BE49-F238E27FC236}">
                  <a16:creationId xmlns:a16="http://schemas.microsoft.com/office/drawing/2014/main" id="{FD9B75D0-AE43-430F-82CF-1470D2C5F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2" y="1905"/>
              <a:ext cx="84" cy="140"/>
            </a:xfrm>
            <a:custGeom>
              <a:avLst/>
              <a:gdLst>
                <a:gd name="T0" fmla="*/ 84 w 84"/>
                <a:gd name="T1" fmla="*/ 0 h 140"/>
                <a:gd name="T2" fmla="*/ 42 w 84"/>
                <a:gd name="T3" fmla="*/ 140 h 140"/>
                <a:gd name="T4" fmla="*/ 0 w 84"/>
                <a:gd name="T5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140">
                  <a:moveTo>
                    <a:pt x="84" y="0"/>
                  </a:moveTo>
                  <a:lnTo>
                    <a:pt x="42" y="14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68" name="Freeform 12">
              <a:extLst>
                <a:ext uri="{FF2B5EF4-FFF2-40B4-BE49-F238E27FC236}">
                  <a16:creationId xmlns:a16="http://schemas.microsoft.com/office/drawing/2014/main" id="{83659839-5808-48BE-AE35-DA2955448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1737"/>
              <a:ext cx="854" cy="168"/>
            </a:xfrm>
            <a:custGeom>
              <a:avLst/>
              <a:gdLst>
                <a:gd name="T0" fmla="*/ 854 w 854"/>
                <a:gd name="T1" fmla="*/ 0 h 168"/>
                <a:gd name="T2" fmla="*/ 854 w 854"/>
                <a:gd name="T3" fmla="*/ 140 h 168"/>
                <a:gd name="T4" fmla="*/ 0 w 854"/>
                <a:gd name="T5" fmla="*/ 140 h 168"/>
                <a:gd name="T6" fmla="*/ 0 w 854"/>
                <a:gd name="T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54" h="168">
                  <a:moveTo>
                    <a:pt x="854" y="0"/>
                  </a:moveTo>
                  <a:lnTo>
                    <a:pt x="854" y="140"/>
                  </a:lnTo>
                  <a:lnTo>
                    <a:pt x="0" y="140"/>
                  </a:lnTo>
                  <a:lnTo>
                    <a:pt x="0" y="168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69" name="Freeform 13">
              <a:extLst>
                <a:ext uri="{FF2B5EF4-FFF2-40B4-BE49-F238E27FC236}">
                  <a16:creationId xmlns:a16="http://schemas.microsoft.com/office/drawing/2014/main" id="{75680907-35B5-41C1-A709-50CF7E273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" y="1905"/>
              <a:ext cx="70" cy="140"/>
            </a:xfrm>
            <a:custGeom>
              <a:avLst/>
              <a:gdLst>
                <a:gd name="T0" fmla="*/ 70 w 70"/>
                <a:gd name="T1" fmla="*/ 0 h 140"/>
                <a:gd name="T2" fmla="*/ 42 w 70"/>
                <a:gd name="T3" fmla="*/ 140 h 140"/>
                <a:gd name="T4" fmla="*/ 0 w 70"/>
                <a:gd name="T5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0" h="140">
                  <a:moveTo>
                    <a:pt x="70" y="0"/>
                  </a:moveTo>
                  <a:lnTo>
                    <a:pt x="42" y="14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70" name="Freeform 14">
              <a:extLst>
                <a:ext uri="{FF2B5EF4-FFF2-40B4-BE49-F238E27FC236}">
                  <a16:creationId xmlns:a16="http://schemas.microsoft.com/office/drawing/2014/main" id="{6EF4CAEE-EAC4-44BD-A5E5-A966544FB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737"/>
              <a:ext cx="854" cy="168"/>
            </a:xfrm>
            <a:custGeom>
              <a:avLst/>
              <a:gdLst>
                <a:gd name="T0" fmla="*/ 0 w 854"/>
                <a:gd name="T1" fmla="*/ 0 h 168"/>
                <a:gd name="T2" fmla="*/ 0 w 854"/>
                <a:gd name="T3" fmla="*/ 140 h 168"/>
                <a:gd name="T4" fmla="*/ 854 w 854"/>
                <a:gd name="T5" fmla="*/ 140 h 168"/>
                <a:gd name="T6" fmla="*/ 854 w 854"/>
                <a:gd name="T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54" h="168">
                  <a:moveTo>
                    <a:pt x="0" y="0"/>
                  </a:moveTo>
                  <a:lnTo>
                    <a:pt x="0" y="140"/>
                  </a:lnTo>
                  <a:lnTo>
                    <a:pt x="854" y="140"/>
                  </a:lnTo>
                  <a:lnTo>
                    <a:pt x="854" y="168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71" name="Line 15">
              <a:extLst>
                <a:ext uri="{FF2B5EF4-FFF2-40B4-BE49-F238E27FC236}">
                  <a16:creationId xmlns:a16="http://schemas.microsoft.com/office/drawing/2014/main" id="{6062DA65-2B37-4A30-B28E-C9A3E8D135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" y="1905"/>
              <a:ext cx="1" cy="14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72" name="Freeform 16">
              <a:extLst>
                <a:ext uri="{FF2B5EF4-FFF2-40B4-BE49-F238E27FC236}">
                  <a16:creationId xmlns:a16="http://schemas.microsoft.com/office/drawing/2014/main" id="{7E41FFBC-19A9-4E6A-87F6-B2E7DFE4F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" y="2535"/>
              <a:ext cx="84" cy="140"/>
            </a:xfrm>
            <a:custGeom>
              <a:avLst/>
              <a:gdLst>
                <a:gd name="T0" fmla="*/ 84 w 84"/>
                <a:gd name="T1" fmla="*/ 0 h 140"/>
                <a:gd name="T2" fmla="*/ 42 w 84"/>
                <a:gd name="T3" fmla="*/ 140 h 140"/>
                <a:gd name="T4" fmla="*/ 0 w 84"/>
                <a:gd name="T5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140">
                  <a:moveTo>
                    <a:pt x="84" y="0"/>
                  </a:moveTo>
                  <a:lnTo>
                    <a:pt x="42" y="14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73" name="Freeform 17">
              <a:extLst>
                <a:ext uri="{FF2B5EF4-FFF2-40B4-BE49-F238E27FC236}">
                  <a16:creationId xmlns:a16="http://schemas.microsoft.com/office/drawing/2014/main" id="{E598B26A-455A-4E69-9CA8-2763AD48F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6" y="2367"/>
              <a:ext cx="826" cy="168"/>
            </a:xfrm>
            <a:custGeom>
              <a:avLst/>
              <a:gdLst>
                <a:gd name="T0" fmla="*/ 826 w 826"/>
                <a:gd name="T1" fmla="*/ 168 h 168"/>
                <a:gd name="T2" fmla="*/ 826 w 826"/>
                <a:gd name="T3" fmla="*/ 126 h 168"/>
                <a:gd name="T4" fmla="*/ 0 w 826"/>
                <a:gd name="T5" fmla="*/ 126 h 168"/>
                <a:gd name="T6" fmla="*/ 0 w 826"/>
                <a:gd name="T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6" h="168">
                  <a:moveTo>
                    <a:pt x="826" y="168"/>
                  </a:moveTo>
                  <a:lnTo>
                    <a:pt x="826" y="126"/>
                  </a:lnTo>
                  <a:lnTo>
                    <a:pt x="0" y="126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74" name="Line 18">
              <a:extLst>
                <a:ext uri="{FF2B5EF4-FFF2-40B4-BE49-F238E27FC236}">
                  <a16:creationId xmlns:a16="http://schemas.microsoft.com/office/drawing/2014/main" id="{56E9B6A1-B1ED-4086-874C-5D44CFE9CF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2" y="2535"/>
              <a:ext cx="1" cy="14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75" name="Line 19">
              <a:extLst>
                <a:ext uri="{FF2B5EF4-FFF2-40B4-BE49-F238E27FC236}">
                  <a16:creationId xmlns:a16="http://schemas.microsoft.com/office/drawing/2014/main" id="{82E0D3E2-4062-438C-941E-7858611EE5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7" y="2535"/>
              <a:ext cx="1" cy="14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76" name="Freeform 20">
              <a:extLst>
                <a:ext uri="{FF2B5EF4-FFF2-40B4-BE49-F238E27FC236}">
                  <a16:creationId xmlns:a16="http://schemas.microsoft.com/office/drawing/2014/main" id="{CBDB218C-6349-4395-81CC-F9E9CA726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" y="2535"/>
              <a:ext cx="83" cy="140"/>
            </a:xfrm>
            <a:custGeom>
              <a:avLst/>
              <a:gdLst>
                <a:gd name="T0" fmla="*/ 83 w 83"/>
                <a:gd name="T1" fmla="*/ 0 h 140"/>
                <a:gd name="T2" fmla="*/ 41 w 83"/>
                <a:gd name="T3" fmla="*/ 140 h 140"/>
                <a:gd name="T4" fmla="*/ 0 w 83"/>
                <a:gd name="T5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3" h="140">
                  <a:moveTo>
                    <a:pt x="83" y="0"/>
                  </a:moveTo>
                  <a:lnTo>
                    <a:pt x="41" y="14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77" name="Freeform 21">
              <a:extLst>
                <a:ext uri="{FF2B5EF4-FFF2-40B4-BE49-F238E27FC236}">
                  <a16:creationId xmlns:a16="http://schemas.microsoft.com/office/drawing/2014/main" id="{98BF72AF-E63E-47CD-99A4-E12DD19D4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2367"/>
              <a:ext cx="938" cy="168"/>
            </a:xfrm>
            <a:custGeom>
              <a:avLst/>
              <a:gdLst>
                <a:gd name="T0" fmla="*/ 0 w 938"/>
                <a:gd name="T1" fmla="*/ 168 h 168"/>
                <a:gd name="T2" fmla="*/ 0 w 938"/>
                <a:gd name="T3" fmla="*/ 70 h 168"/>
                <a:gd name="T4" fmla="*/ 938 w 938"/>
                <a:gd name="T5" fmla="*/ 70 h 168"/>
                <a:gd name="T6" fmla="*/ 938 w 938"/>
                <a:gd name="T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8" h="168">
                  <a:moveTo>
                    <a:pt x="0" y="168"/>
                  </a:moveTo>
                  <a:lnTo>
                    <a:pt x="0" y="70"/>
                  </a:lnTo>
                  <a:lnTo>
                    <a:pt x="938" y="70"/>
                  </a:lnTo>
                  <a:lnTo>
                    <a:pt x="938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78" name="Line 22">
              <a:extLst>
                <a:ext uri="{FF2B5EF4-FFF2-40B4-BE49-F238E27FC236}">
                  <a16:creationId xmlns:a16="http://schemas.microsoft.com/office/drawing/2014/main" id="{C2BD6D00-2526-4E68-8A38-B358B6EB2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7" y="2899"/>
              <a:ext cx="1" cy="14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79" name="Freeform 23">
              <a:extLst>
                <a:ext uri="{FF2B5EF4-FFF2-40B4-BE49-F238E27FC236}">
                  <a16:creationId xmlns:a16="http://schemas.microsoft.com/office/drawing/2014/main" id="{A6E46EEE-ADBE-4809-B305-E554ACB7D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" y="2899"/>
              <a:ext cx="83" cy="140"/>
            </a:xfrm>
            <a:custGeom>
              <a:avLst/>
              <a:gdLst>
                <a:gd name="T0" fmla="*/ 83 w 83"/>
                <a:gd name="T1" fmla="*/ 0 h 140"/>
                <a:gd name="T2" fmla="*/ 41 w 83"/>
                <a:gd name="T3" fmla="*/ 140 h 140"/>
                <a:gd name="T4" fmla="*/ 0 w 83"/>
                <a:gd name="T5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3" h="140">
                  <a:moveTo>
                    <a:pt x="83" y="0"/>
                  </a:moveTo>
                  <a:lnTo>
                    <a:pt x="41" y="14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80" name="Line 24">
              <a:extLst>
                <a:ext uri="{FF2B5EF4-FFF2-40B4-BE49-F238E27FC236}">
                  <a16:creationId xmlns:a16="http://schemas.microsoft.com/office/drawing/2014/main" id="{E4FC8CE3-A83D-4127-ABC0-DEB16EBEF3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7" y="2731"/>
              <a:ext cx="1" cy="16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81" name="Line 25">
              <a:extLst>
                <a:ext uri="{FF2B5EF4-FFF2-40B4-BE49-F238E27FC236}">
                  <a16:creationId xmlns:a16="http://schemas.microsoft.com/office/drawing/2014/main" id="{5381C93B-CC0B-46D3-A129-A18A23010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7" y="1262"/>
              <a:ext cx="1" cy="14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82" name="Freeform 26">
              <a:extLst>
                <a:ext uri="{FF2B5EF4-FFF2-40B4-BE49-F238E27FC236}">
                  <a16:creationId xmlns:a16="http://schemas.microsoft.com/office/drawing/2014/main" id="{A02CD71D-39CF-409A-8797-133725ABC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" y="1262"/>
              <a:ext cx="83" cy="140"/>
            </a:xfrm>
            <a:custGeom>
              <a:avLst/>
              <a:gdLst>
                <a:gd name="T0" fmla="*/ 83 w 83"/>
                <a:gd name="T1" fmla="*/ 0 h 140"/>
                <a:gd name="T2" fmla="*/ 41 w 83"/>
                <a:gd name="T3" fmla="*/ 140 h 140"/>
                <a:gd name="T4" fmla="*/ 0 w 83"/>
                <a:gd name="T5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3" h="140">
                  <a:moveTo>
                    <a:pt x="83" y="0"/>
                  </a:moveTo>
                  <a:lnTo>
                    <a:pt x="41" y="14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83" name="Line 27">
              <a:extLst>
                <a:ext uri="{FF2B5EF4-FFF2-40B4-BE49-F238E27FC236}">
                  <a16:creationId xmlns:a16="http://schemas.microsoft.com/office/drawing/2014/main" id="{0ADBA89A-0830-46E7-B563-185E332800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7" y="1108"/>
              <a:ext cx="1" cy="15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84" name="Line 28">
              <a:extLst>
                <a:ext uri="{FF2B5EF4-FFF2-40B4-BE49-F238E27FC236}">
                  <a16:creationId xmlns:a16="http://schemas.microsoft.com/office/drawing/2014/main" id="{9B89825A-05BD-4953-9E97-00264A19D0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1" y="1276"/>
              <a:ext cx="1" cy="12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85" name="Freeform 29">
              <a:extLst>
                <a:ext uri="{FF2B5EF4-FFF2-40B4-BE49-F238E27FC236}">
                  <a16:creationId xmlns:a16="http://schemas.microsoft.com/office/drawing/2014/main" id="{D3B12919-C423-479A-9265-E4DDFB333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9" y="1276"/>
              <a:ext cx="70" cy="126"/>
            </a:xfrm>
            <a:custGeom>
              <a:avLst/>
              <a:gdLst>
                <a:gd name="T0" fmla="*/ 70 w 70"/>
                <a:gd name="T1" fmla="*/ 0 h 126"/>
                <a:gd name="T2" fmla="*/ 42 w 70"/>
                <a:gd name="T3" fmla="*/ 126 h 126"/>
                <a:gd name="T4" fmla="*/ 0 w 70"/>
                <a:gd name="T5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0" h="126">
                  <a:moveTo>
                    <a:pt x="70" y="0"/>
                  </a:moveTo>
                  <a:lnTo>
                    <a:pt x="42" y="126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86" name="Freeform 30">
              <a:extLst>
                <a:ext uri="{FF2B5EF4-FFF2-40B4-BE49-F238E27FC236}">
                  <a16:creationId xmlns:a16="http://schemas.microsoft.com/office/drawing/2014/main" id="{C0D52D03-6C0B-4790-BBA3-349C2579E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1094"/>
              <a:ext cx="1736" cy="182"/>
            </a:xfrm>
            <a:custGeom>
              <a:avLst/>
              <a:gdLst>
                <a:gd name="T0" fmla="*/ 0 w 1736"/>
                <a:gd name="T1" fmla="*/ 0 h 182"/>
                <a:gd name="T2" fmla="*/ 0 w 1736"/>
                <a:gd name="T3" fmla="*/ 154 h 182"/>
                <a:gd name="T4" fmla="*/ 1736 w 1736"/>
                <a:gd name="T5" fmla="*/ 154 h 182"/>
                <a:gd name="T6" fmla="*/ 1736 w 1736"/>
                <a:gd name="T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36" h="182">
                  <a:moveTo>
                    <a:pt x="0" y="0"/>
                  </a:moveTo>
                  <a:lnTo>
                    <a:pt x="0" y="154"/>
                  </a:lnTo>
                  <a:lnTo>
                    <a:pt x="1736" y="154"/>
                  </a:lnTo>
                  <a:lnTo>
                    <a:pt x="1736" y="182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87" name="Rectangle 31">
              <a:extLst>
                <a:ext uri="{FF2B5EF4-FFF2-40B4-BE49-F238E27FC236}">
                  <a16:creationId xmlns:a16="http://schemas.microsoft.com/office/drawing/2014/main" id="{E9820E3C-AE0B-4626-8C79-6DE776742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" y="730"/>
              <a:ext cx="5345" cy="2701"/>
            </a:xfrm>
            <a:prstGeom prst="rect">
              <a:avLst/>
            </a:prstGeom>
            <a:noFill/>
            <a:ln w="444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88" name="Rectangle 32">
              <a:extLst>
                <a:ext uri="{FF2B5EF4-FFF2-40B4-BE49-F238E27FC236}">
                  <a16:creationId xmlns:a16="http://schemas.microsoft.com/office/drawing/2014/main" id="{A2A14FCD-615D-485C-B07B-E291DF2D6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" y="562"/>
              <a:ext cx="67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Initiation</a:t>
              </a:r>
              <a:endParaRPr lang="en-US" altLang="en-US" sz="2400"/>
            </a:p>
          </p:txBody>
        </p:sp>
        <p:sp>
          <p:nvSpPr>
            <p:cNvPr id="147489" name="Freeform 33">
              <a:extLst>
                <a:ext uri="{FF2B5EF4-FFF2-40B4-BE49-F238E27FC236}">
                  <a16:creationId xmlns:a16="http://schemas.microsoft.com/office/drawing/2014/main" id="{E343F92C-7907-447E-AD09-F203465E0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" y="472"/>
              <a:ext cx="154" cy="238"/>
            </a:xfrm>
            <a:custGeom>
              <a:avLst/>
              <a:gdLst>
                <a:gd name="T0" fmla="*/ 0 w 154"/>
                <a:gd name="T1" fmla="*/ 224 h 238"/>
                <a:gd name="T2" fmla="*/ 28 w 154"/>
                <a:gd name="T3" fmla="*/ 238 h 238"/>
                <a:gd name="T4" fmla="*/ 154 w 154"/>
                <a:gd name="T5" fmla="*/ 28 h 238"/>
                <a:gd name="T6" fmla="*/ 140 w 154"/>
                <a:gd name="T7" fmla="*/ 0 h 238"/>
                <a:gd name="T8" fmla="*/ 140 w 154"/>
                <a:gd name="T9" fmla="*/ 0 h 238"/>
                <a:gd name="T10" fmla="*/ 126 w 154"/>
                <a:gd name="T11" fmla="*/ 14 h 238"/>
                <a:gd name="T12" fmla="*/ 0 w 154"/>
                <a:gd name="T13" fmla="*/ 22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4" h="238">
                  <a:moveTo>
                    <a:pt x="0" y="224"/>
                  </a:moveTo>
                  <a:lnTo>
                    <a:pt x="28" y="238"/>
                  </a:lnTo>
                  <a:lnTo>
                    <a:pt x="154" y="28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26" y="14"/>
                  </a:lnTo>
                  <a:lnTo>
                    <a:pt x="0" y="2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90" name="Freeform 34">
              <a:extLst>
                <a:ext uri="{FF2B5EF4-FFF2-40B4-BE49-F238E27FC236}">
                  <a16:creationId xmlns:a16="http://schemas.microsoft.com/office/drawing/2014/main" id="{3E230651-3179-4FB8-97B8-4C962D269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" y="472"/>
              <a:ext cx="1273" cy="28"/>
            </a:xfrm>
            <a:custGeom>
              <a:avLst/>
              <a:gdLst>
                <a:gd name="T0" fmla="*/ 0 w 1273"/>
                <a:gd name="T1" fmla="*/ 0 h 28"/>
                <a:gd name="T2" fmla="*/ 0 w 1273"/>
                <a:gd name="T3" fmla="*/ 28 h 28"/>
                <a:gd name="T4" fmla="*/ 1259 w 1273"/>
                <a:gd name="T5" fmla="*/ 28 h 28"/>
                <a:gd name="T6" fmla="*/ 1273 w 1273"/>
                <a:gd name="T7" fmla="*/ 14 h 28"/>
                <a:gd name="T8" fmla="*/ 1273 w 1273"/>
                <a:gd name="T9" fmla="*/ 0 h 28"/>
                <a:gd name="T10" fmla="*/ 1259 w 1273"/>
                <a:gd name="T11" fmla="*/ 0 h 28"/>
                <a:gd name="T12" fmla="*/ 0 w 1273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3" h="28">
                  <a:moveTo>
                    <a:pt x="0" y="0"/>
                  </a:moveTo>
                  <a:lnTo>
                    <a:pt x="0" y="28"/>
                  </a:lnTo>
                  <a:lnTo>
                    <a:pt x="1259" y="28"/>
                  </a:lnTo>
                  <a:lnTo>
                    <a:pt x="1273" y="14"/>
                  </a:lnTo>
                  <a:lnTo>
                    <a:pt x="1273" y="0"/>
                  </a:lnTo>
                  <a:lnTo>
                    <a:pt x="12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91" name="Freeform 35">
              <a:extLst>
                <a:ext uri="{FF2B5EF4-FFF2-40B4-BE49-F238E27FC236}">
                  <a16:creationId xmlns:a16="http://schemas.microsoft.com/office/drawing/2014/main" id="{D4C03AD6-71D1-41D5-9216-C654E9976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486"/>
              <a:ext cx="154" cy="224"/>
            </a:xfrm>
            <a:custGeom>
              <a:avLst/>
              <a:gdLst>
                <a:gd name="T0" fmla="*/ 28 w 154"/>
                <a:gd name="T1" fmla="*/ 0 h 224"/>
                <a:gd name="T2" fmla="*/ 0 w 154"/>
                <a:gd name="T3" fmla="*/ 14 h 224"/>
                <a:gd name="T4" fmla="*/ 112 w 154"/>
                <a:gd name="T5" fmla="*/ 224 h 224"/>
                <a:gd name="T6" fmla="*/ 126 w 154"/>
                <a:gd name="T7" fmla="*/ 224 h 224"/>
                <a:gd name="T8" fmla="*/ 154 w 154"/>
                <a:gd name="T9" fmla="*/ 224 h 224"/>
                <a:gd name="T10" fmla="*/ 140 w 154"/>
                <a:gd name="T11" fmla="*/ 210 h 224"/>
                <a:gd name="T12" fmla="*/ 28 w 154"/>
                <a:gd name="T1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4" h="224">
                  <a:moveTo>
                    <a:pt x="28" y="0"/>
                  </a:moveTo>
                  <a:lnTo>
                    <a:pt x="0" y="14"/>
                  </a:lnTo>
                  <a:lnTo>
                    <a:pt x="112" y="224"/>
                  </a:lnTo>
                  <a:lnTo>
                    <a:pt x="126" y="224"/>
                  </a:lnTo>
                  <a:lnTo>
                    <a:pt x="154" y="224"/>
                  </a:lnTo>
                  <a:lnTo>
                    <a:pt x="140" y="21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92" name="Line 36">
              <a:extLst>
                <a:ext uri="{FF2B5EF4-FFF2-40B4-BE49-F238E27FC236}">
                  <a16:creationId xmlns:a16="http://schemas.microsoft.com/office/drawing/2014/main" id="{2406949B-E4BB-430E-B29C-C205C66EC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5" y="2521"/>
              <a:ext cx="1" cy="15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93" name="Freeform 37">
              <a:extLst>
                <a:ext uri="{FF2B5EF4-FFF2-40B4-BE49-F238E27FC236}">
                  <a16:creationId xmlns:a16="http://schemas.microsoft.com/office/drawing/2014/main" id="{2ED318FA-F5A7-455E-9121-B8DFBD78E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2521"/>
              <a:ext cx="84" cy="154"/>
            </a:xfrm>
            <a:custGeom>
              <a:avLst/>
              <a:gdLst>
                <a:gd name="T0" fmla="*/ 84 w 84"/>
                <a:gd name="T1" fmla="*/ 0 h 154"/>
                <a:gd name="T2" fmla="*/ 42 w 84"/>
                <a:gd name="T3" fmla="*/ 154 h 154"/>
                <a:gd name="T4" fmla="*/ 0 w 84"/>
                <a:gd name="T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154">
                  <a:moveTo>
                    <a:pt x="84" y="0"/>
                  </a:moveTo>
                  <a:lnTo>
                    <a:pt x="42" y="154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494" name="Freeform 38">
              <a:extLst>
                <a:ext uri="{FF2B5EF4-FFF2-40B4-BE49-F238E27FC236}">
                  <a16:creationId xmlns:a16="http://schemas.microsoft.com/office/drawing/2014/main" id="{A6582AA0-5392-41F9-98FF-209A63FE6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1737"/>
              <a:ext cx="1666" cy="784"/>
            </a:xfrm>
            <a:custGeom>
              <a:avLst/>
              <a:gdLst>
                <a:gd name="T0" fmla="*/ 0 w 1666"/>
                <a:gd name="T1" fmla="*/ 784 h 784"/>
                <a:gd name="T2" fmla="*/ 0 w 1666"/>
                <a:gd name="T3" fmla="*/ 756 h 784"/>
                <a:gd name="T4" fmla="*/ 1666 w 1666"/>
                <a:gd name="T5" fmla="*/ 756 h 784"/>
                <a:gd name="T6" fmla="*/ 1666 w 1666"/>
                <a:gd name="T7" fmla="*/ 0 h 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66" h="784">
                  <a:moveTo>
                    <a:pt x="0" y="784"/>
                  </a:moveTo>
                  <a:lnTo>
                    <a:pt x="0" y="756"/>
                  </a:lnTo>
                  <a:lnTo>
                    <a:pt x="1666" y="756"/>
                  </a:lnTo>
                  <a:lnTo>
                    <a:pt x="1666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7495" name="Group 39">
              <a:extLst>
                <a:ext uri="{FF2B5EF4-FFF2-40B4-BE49-F238E27FC236}">
                  <a16:creationId xmlns:a16="http://schemas.microsoft.com/office/drawing/2014/main" id="{3C90088C-289D-465F-90EA-D3A38726C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6" y="3053"/>
              <a:ext cx="1623" cy="336"/>
              <a:chOff x="2076" y="3053"/>
              <a:chExt cx="1623" cy="336"/>
            </a:xfrm>
          </p:grpSpPr>
          <p:sp>
            <p:nvSpPr>
              <p:cNvPr id="147496" name="AutoShape 40">
                <a:extLst>
                  <a:ext uri="{FF2B5EF4-FFF2-40B4-BE49-F238E27FC236}">
                    <a16:creationId xmlns:a16="http://schemas.microsoft.com/office/drawing/2014/main" id="{19EDB6F8-11BE-4270-85E1-0C98583A47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6" y="3053"/>
                <a:ext cx="1623" cy="336"/>
              </a:xfrm>
              <a:prstGeom prst="roundRect">
                <a:avLst>
                  <a:gd name="adj" fmla="val 45833"/>
                </a:avLst>
              </a:prstGeom>
              <a:solidFill>
                <a:schemeClr val="bg1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497" name="Rectangle 41">
                <a:extLst>
                  <a:ext uri="{FF2B5EF4-FFF2-40B4-BE49-F238E27FC236}">
                    <a16:creationId xmlns:a16="http://schemas.microsoft.com/office/drawing/2014/main" id="{D6D0969A-6DD4-410F-B981-34C7598B5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3154"/>
                <a:ext cx="10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Project kickoff</a:t>
                </a:r>
                <a:endParaRPr lang="en-US" altLang="en-US" sz="2400"/>
              </a:p>
            </p:txBody>
          </p:sp>
        </p:grpSp>
        <p:grpSp>
          <p:nvGrpSpPr>
            <p:cNvPr id="147498" name="Group 42">
              <a:extLst>
                <a:ext uri="{FF2B5EF4-FFF2-40B4-BE49-F238E27FC236}">
                  <a16:creationId xmlns:a16="http://schemas.microsoft.com/office/drawing/2014/main" id="{E3DD8612-05C3-4006-9266-E669E84F0D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8" y="2059"/>
              <a:ext cx="1624" cy="322"/>
              <a:chOff x="1138" y="2059"/>
              <a:chExt cx="1624" cy="322"/>
            </a:xfrm>
          </p:grpSpPr>
          <p:sp>
            <p:nvSpPr>
              <p:cNvPr id="147499" name="AutoShape 43">
                <a:extLst>
                  <a:ext uri="{FF2B5EF4-FFF2-40B4-BE49-F238E27FC236}">
                    <a16:creationId xmlns:a16="http://schemas.microsoft.com/office/drawing/2014/main" id="{74924750-27D7-470D-ACA2-267BB3D16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8" y="2059"/>
                <a:ext cx="1624" cy="322"/>
              </a:xfrm>
              <a:prstGeom prst="roundRect">
                <a:avLst>
                  <a:gd name="adj" fmla="val 47824"/>
                </a:avLst>
              </a:prstGeom>
              <a:solidFill>
                <a:schemeClr val="bg1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500" name="Rectangle 44">
                <a:extLst>
                  <a:ext uri="{FF2B5EF4-FFF2-40B4-BE49-F238E27FC236}">
                    <a16:creationId xmlns:a16="http://schemas.microsoft.com/office/drawing/2014/main" id="{D9BC8640-329C-4B06-BA55-92A2A9BA78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" y="2153"/>
                <a:ext cx="94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Team formation</a:t>
                </a:r>
                <a:endParaRPr lang="en-US" altLang="en-US" sz="2400"/>
              </a:p>
            </p:txBody>
          </p:sp>
        </p:grpSp>
        <p:grpSp>
          <p:nvGrpSpPr>
            <p:cNvPr id="147501" name="Group 45">
              <a:extLst>
                <a:ext uri="{FF2B5EF4-FFF2-40B4-BE49-F238E27FC236}">
                  <a16:creationId xmlns:a16="http://schemas.microsoft.com/office/drawing/2014/main" id="{8CFF0CF5-78D4-4812-B62F-CB27849C5F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3" y="2059"/>
              <a:ext cx="1638" cy="322"/>
              <a:chOff x="3013" y="2059"/>
              <a:chExt cx="1638" cy="322"/>
            </a:xfrm>
          </p:grpSpPr>
          <p:sp>
            <p:nvSpPr>
              <p:cNvPr id="147502" name="AutoShape 46">
                <a:extLst>
                  <a:ext uri="{FF2B5EF4-FFF2-40B4-BE49-F238E27FC236}">
                    <a16:creationId xmlns:a16="http://schemas.microsoft.com/office/drawing/2014/main" id="{61A53076-93EF-4435-A8D1-93B86E1300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3" y="2059"/>
                <a:ext cx="1638" cy="322"/>
              </a:xfrm>
              <a:prstGeom prst="roundRect">
                <a:avLst>
                  <a:gd name="adj" fmla="val 47824"/>
                </a:avLst>
              </a:prstGeom>
              <a:solidFill>
                <a:schemeClr val="bg1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7503" name="Group 47">
                <a:extLst>
                  <a:ext uri="{FF2B5EF4-FFF2-40B4-BE49-F238E27FC236}">
                    <a16:creationId xmlns:a16="http://schemas.microsoft.com/office/drawing/2014/main" id="{494A71B9-D419-4B25-919F-BED0632F1B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3" y="2097"/>
                <a:ext cx="1353" cy="248"/>
                <a:chOff x="3157" y="2122"/>
                <a:chExt cx="1353" cy="248"/>
              </a:xfrm>
            </p:grpSpPr>
            <p:sp>
              <p:nvSpPr>
                <p:cNvPr id="147504" name="Rectangle 48">
                  <a:extLst>
                    <a:ext uri="{FF2B5EF4-FFF2-40B4-BE49-F238E27FC236}">
                      <a16:creationId xmlns:a16="http://schemas.microsoft.com/office/drawing/2014/main" id="{206F496A-EAC9-41F9-BB6D-BED5988B9B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94" y="2122"/>
                  <a:ext cx="880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en-US" sz="1400">
                      <a:solidFill>
                        <a:srgbClr val="000000"/>
                      </a:solidFill>
                      <a:latin typeface="Courier" charset="0"/>
                    </a:rPr>
                    <a:t>Communication</a:t>
                  </a:r>
                  <a:endParaRPr lang="en-US" altLang="en-US" sz="2400"/>
                </a:p>
              </p:txBody>
            </p:sp>
            <p:sp>
              <p:nvSpPr>
                <p:cNvPr id="147505" name="Rectangle 49">
                  <a:extLst>
                    <a:ext uri="{FF2B5EF4-FFF2-40B4-BE49-F238E27FC236}">
                      <a16:creationId xmlns:a16="http://schemas.microsoft.com/office/drawing/2014/main" id="{03B034A8-C80C-4F92-A046-B0951384B8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7" y="2234"/>
                  <a:ext cx="1353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en-US" sz="1400">
                      <a:solidFill>
                        <a:srgbClr val="000000"/>
                      </a:solidFill>
                      <a:latin typeface="Courier" charset="0"/>
                    </a:rPr>
                    <a:t>infrastructure setup</a:t>
                  </a:r>
                  <a:endParaRPr lang="en-US" altLang="en-US" sz="2400"/>
                </a:p>
              </p:txBody>
            </p:sp>
          </p:grpSp>
        </p:grpSp>
        <p:grpSp>
          <p:nvGrpSpPr>
            <p:cNvPr id="147506" name="Group 50">
              <a:extLst>
                <a:ext uri="{FF2B5EF4-FFF2-40B4-BE49-F238E27FC236}">
                  <a16:creationId xmlns:a16="http://schemas.microsoft.com/office/drawing/2014/main" id="{76774C68-7921-4569-950A-E9C3B28742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6" y="786"/>
              <a:ext cx="1623" cy="322"/>
              <a:chOff x="2076" y="786"/>
              <a:chExt cx="1623" cy="322"/>
            </a:xfrm>
          </p:grpSpPr>
          <p:sp>
            <p:nvSpPr>
              <p:cNvPr id="147507" name="AutoShape 51">
                <a:extLst>
                  <a:ext uri="{FF2B5EF4-FFF2-40B4-BE49-F238E27FC236}">
                    <a16:creationId xmlns:a16="http://schemas.microsoft.com/office/drawing/2014/main" id="{209BA2D8-2FA0-4123-9FB0-C954541B13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6" y="786"/>
                <a:ext cx="1623" cy="322"/>
              </a:xfrm>
              <a:prstGeom prst="roundRect">
                <a:avLst>
                  <a:gd name="adj" fmla="val 47824"/>
                </a:avLst>
              </a:prstGeom>
              <a:solidFill>
                <a:schemeClr val="bg1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7508" name="Group 52">
                <a:extLst>
                  <a:ext uri="{FF2B5EF4-FFF2-40B4-BE49-F238E27FC236}">
                    <a16:creationId xmlns:a16="http://schemas.microsoft.com/office/drawing/2014/main" id="{51F2A66D-6A34-43CF-88B1-20FDF00C95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93" y="824"/>
                <a:ext cx="1150" cy="248"/>
                <a:chOff x="2317" y="848"/>
                <a:chExt cx="1150" cy="248"/>
              </a:xfrm>
            </p:grpSpPr>
            <p:sp>
              <p:nvSpPr>
                <p:cNvPr id="147509" name="Rectangle 53">
                  <a:extLst>
                    <a:ext uri="{FF2B5EF4-FFF2-40B4-BE49-F238E27FC236}">
                      <a16:creationId xmlns:a16="http://schemas.microsoft.com/office/drawing/2014/main" id="{0D650150-2607-49C5-A1E5-1144CDFD5F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7" y="848"/>
                  <a:ext cx="1150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en-US" sz="1400">
                      <a:solidFill>
                        <a:srgbClr val="000000"/>
                      </a:solidFill>
                      <a:latin typeface="Courier" charset="0"/>
                    </a:rPr>
                    <a:t>Problem statement</a:t>
                  </a:r>
                  <a:endParaRPr lang="en-US" altLang="en-US" sz="2400"/>
                </a:p>
              </p:txBody>
            </p:sp>
            <p:sp>
              <p:nvSpPr>
                <p:cNvPr id="147510" name="Rectangle 54">
                  <a:extLst>
                    <a:ext uri="{FF2B5EF4-FFF2-40B4-BE49-F238E27FC236}">
                      <a16:creationId xmlns:a16="http://schemas.microsoft.com/office/drawing/2014/main" id="{73A1C987-1FEE-459B-B24C-A1D584AB6A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8" y="960"/>
                  <a:ext cx="677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en-US" sz="1400">
                      <a:solidFill>
                        <a:srgbClr val="000000"/>
                      </a:solidFill>
                      <a:latin typeface="Courier" charset="0"/>
                    </a:rPr>
                    <a:t>definition</a:t>
                  </a:r>
                  <a:endParaRPr lang="en-US" altLang="en-US" sz="2400"/>
                </a:p>
              </p:txBody>
            </p:sp>
          </p:grpSp>
        </p:grpSp>
        <p:grpSp>
          <p:nvGrpSpPr>
            <p:cNvPr id="147511" name="Group 55">
              <a:extLst>
                <a:ext uri="{FF2B5EF4-FFF2-40B4-BE49-F238E27FC236}">
                  <a16:creationId xmlns:a16="http://schemas.microsoft.com/office/drawing/2014/main" id="{8901B4EA-9E1E-4CF5-8561-D9457A52CF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9" y="1416"/>
              <a:ext cx="1637" cy="335"/>
              <a:chOff x="3909" y="1416"/>
              <a:chExt cx="1637" cy="335"/>
            </a:xfrm>
          </p:grpSpPr>
          <p:sp>
            <p:nvSpPr>
              <p:cNvPr id="147512" name="AutoShape 56">
                <a:extLst>
                  <a:ext uri="{FF2B5EF4-FFF2-40B4-BE49-F238E27FC236}">
                    <a16:creationId xmlns:a16="http://schemas.microsoft.com/office/drawing/2014/main" id="{D7BA9F09-F501-4F70-B391-D0DC3E671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9" y="1416"/>
                <a:ext cx="1637" cy="335"/>
              </a:xfrm>
              <a:prstGeom prst="roundRect">
                <a:avLst>
                  <a:gd name="adj" fmla="val 45972"/>
                </a:avLst>
              </a:prstGeom>
              <a:solidFill>
                <a:schemeClr val="bg1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7513" name="Group 57">
                <a:extLst>
                  <a:ext uri="{FF2B5EF4-FFF2-40B4-BE49-F238E27FC236}">
                    <a16:creationId xmlns:a16="http://schemas.microsoft.com/office/drawing/2014/main" id="{7B30EA8C-015B-4731-8321-A3DD746F8D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8" y="1461"/>
                <a:ext cx="1218" cy="248"/>
                <a:chOff x="4120" y="1478"/>
                <a:chExt cx="1218" cy="248"/>
              </a:xfrm>
            </p:grpSpPr>
            <p:sp>
              <p:nvSpPr>
                <p:cNvPr id="147514" name="Rectangle 58">
                  <a:extLst>
                    <a:ext uri="{FF2B5EF4-FFF2-40B4-BE49-F238E27FC236}">
                      <a16:creationId xmlns:a16="http://schemas.microsoft.com/office/drawing/2014/main" id="{288024C1-C6EF-4D43-9D7B-10A304105F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20" y="1478"/>
                  <a:ext cx="1218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en-US" sz="1400">
                      <a:solidFill>
                        <a:srgbClr val="000000"/>
                      </a:solidFill>
                      <a:latin typeface="Courier" charset="0"/>
                    </a:rPr>
                    <a:t>Initial milestones</a:t>
                  </a:r>
                  <a:endParaRPr lang="en-US" altLang="en-US" sz="2400"/>
                </a:p>
              </p:txBody>
            </p:sp>
            <p:sp>
              <p:nvSpPr>
                <p:cNvPr id="147515" name="Rectangle 59">
                  <a:extLst>
                    <a:ext uri="{FF2B5EF4-FFF2-40B4-BE49-F238E27FC236}">
                      <a16:creationId xmlns:a16="http://schemas.microsoft.com/office/drawing/2014/main" id="{B8A82454-279B-4FC8-B025-666ADCA89B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55" y="1590"/>
                  <a:ext cx="541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en-US" sz="1400">
                      <a:solidFill>
                        <a:srgbClr val="000000"/>
                      </a:solidFill>
                      <a:latin typeface="Courier" charset="0"/>
                    </a:rPr>
                    <a:t>planning</a:t>
                  </a:r>
                  <a:endParaRPr lang="en-US" altLang="en-US" sz="2400"/>
                </a:p>
              </p:txBody>
            </p:sp>
          </p:grpSp>
        </p:grpSp>
        <p:grpSp>
          <p:nvGrpSpPr>
            <p:cNvPr id="147516" name="Group 60">
              <a:extLst>
                <a:ext uri="{FF2B5EF4-FFF2-40B4-BE49-F238E27FC236}">
                  <a16:creationId xmlns:a16="http://schemas.microsoft.com/office/drawing/2014/main" id="{BEF5C521-7482-4ABA-AB98-9E71CEB919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6" y="1416"/>
              <a:ext cx="1623" cy="335"/>
              <a:chOff x="2076" y="1416"/>
              <a:chExt cx="1623" cy="335"/>
            </a:xfrm>
          </p:grpSpPr>
          <p:sp>
            <p:nvSpPr>
              <p:cNvPr id="147517" name="AutoShape 61">
                <a:extLst>
                  <a:ext uri="{FF2B5EF4-FFF2-40B4-BE49-F238E27FC236}">
                    <a16:creationId xmlns:a16="http://schemas.microsoft.com/office/drawing/2014/main" id="{A9658594-E7D7-4730-9F2F-722D8BAC2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6" y="1416"/>
                <a:ext cx="1623" cy="335"/>
              </a:xfrm>
              <a:prstGeom prst="roundRect">
                <a:avLst>
                  <a:gd name="adj" fmla="val 45972"/>
                </a:avLst>
              </a:prstGeom>
              <a:solidFill>
                <a:schemeClr val="bg1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7518" name="Group 62">
                <a:extLst>
                  <a:ext uri="{FF2B5EF4-FFF2-40B4-BE49-F238E27FC236}">
                    <a16:creationId xmlns:a16="http://schemas.microsoft.com/office/drawing/2014/main" id="{B4415A54-67FA-48B7-A77A-9EDA2B06CF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93" y="1461"/>
                <a:ext cx="1150" cy="248"/>
                <a:chOff x="2317" y="1478"/>
                <a:chExt cx="1150" cy="248"/>
              </a:xfrm>
            </p:grpSpPr>
            <p:sp>
              <p:nvSpPr>
                <p:cNvPr id="147519" name="Rectangle 63">
                  <a:extLst>
                    <a:ext uri="{FF2B5EF4-FFF2-40B4-BE49-F238E27FC236}">
                      <a16:creationId xmlns:a16="http://schemas.microsoft.com/office/drawing/2014/main" id="{2BEBEBDD-81D0-4616-BE20-FD553702FB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7" y="1478"/>
                  <a:ext cx="1150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en-US" sz="1400">
                      <a:solidFill>
                        <a:srgbClr val="000000"/>
                      </a:solidFill>
                      <a:latin typeface="Courier" charset="0"/>
                    </a:rPr>
                    <a:t>Initial top-level</a:t>
                  </a:r>
                  <a:endParaRPr lang="en-US" altLang="en-US" sz="2400"/>
                </a:p>
              </p:txBody>
            </p:sp>
            <p:sp>
              <p:nvSpPr>
                <p:cNvPr id="147520" name="Rectangle 64">
                  <a:extLst>
                    <a:ext uri="{FF2B5EF4-FFF2-40B4-BE49-F238E27FC236}">
                      <a16:creationId xmlns:a16="http://schemas.microsoft.com/office/drawing/2014/main" id="{6AC53F23-D362-4C68-8FA2-9F8ECBF39F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7" y="1590"/>
                  <a:ext cx="406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en-US" sz="1400">
                      <a:solidFill>
                        <a:srgbClr val="000000"/>
                      </a:solidFill>
                      <a:latin typeface="Courier" charset="0"/>
                    </a:rPr>
                    <a:t>design</a:t>
                  </a:r>
                  <a:endParaRPr lang="en-US" altLang="en-US" sz="2400"/>
                </a:p>
              </p:txBody>
            </p:sp>
          </p:grpSp>
        </p:grp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796" name="Group 4">
            <a:extLst>
              <a:ext uri="{FF2B5EF4-FFF2-40B4-BE49-F238E27FC236}">
                <a16:creationId xmlns:a16="http://schemas.microsoft.com/office/drawing/2014/main" id="{3EB5E4BA-6A07-46E8-982B-39A4F95AAEA9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136526"/>
            <a:ext cx="8526462" cy="6264275"/>
            <a:chOff x="249" y="66"/>
            <a:chExt cx="5371" cy="3946"/>
          </a:xfrm>
        </p:grpSpPr>
        <p:sp>
          <p:nvSpPr>
            <p:cNvPr id="161797" name="Rectangle 5">
              <a:extLst>
                <a:ext uri="{FF2B5EF4-FFF2-40B4-BE49-F238E27FC236}">
                  <a16:creationId xmlns:a16="http://schemas.microsoft.com/office/drawing/2014/main" id="{C385C520-87E4-4AE5-87C8-181A3690B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0" y="1791"/>
              <a:ext cx="419" cy="70"/>
            </a:xfrm>
            <a:prstGeom prst="rect">
              <a:avLst/>
            </a:prstGeom>
            <a:solidFill>
              <a:schemeClr val="tx1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798" name="Rectangle 6">
              <a:extLst>
                <a:ext uri="{FF2B5EF4-FFF2-40B4-BE49-F238E27FC236}">
                  <a16:creationId xmlns:a16="http://schemas.microsoft.com/office/drawing/2014/main" id="{8E32D5E5-D21D-40A8-A453-C38D0AD9F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0" y="3232"/>
              <a:ext cx="419" cy="56"/>
            </a:xfrm>
            <a:prstGeom prst="rect">
              <a:avLst/>
            </a:prstGeom>
            <a:solidFill>
              <a:schemeClr val="tx1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799" name="Rectangle 7">
              <a:extLst>
                <a:ext uri="{FF2B5EF4-FFF2-40B4-BE49-F238E27FC236}">
                  <a16:creationId xmlns:a16="http://schemas.microsoft.com/office/drawing/2014/main" id="{76DC8F1C-454F-4791-9243-57509E818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0" y="797"/>
              <a:ext cx="419" cy="56"/>
            </a:xfrm>
            <a:prstGeom prst="rect">
              <a:avLst/>
            </a:prstGeom>
            <a:solidFill>
              <a:schemeClr val="tx1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800" name="Line 8">
              <a:extLst>
                <a:ext uri="{FF2B5EF4-FFF2-40B4-BE49-F238E27FC236}">
                  <a16:creationId xmlns:a16="http://schemas.microsoft.com/office/drawing/2014/main" id="{572A20D8-3B94-4B7A-878E-3DDB8218D1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9" y="1791"/>
              <a:ext cx="1" cy="21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01" name="Freeform 9">
              <a:extLst>
                <a:ext uri="{FF2B5EF4-FFF2-40B4-BE49-F238E27FC236}">
                  <a16:creationId xmlns:a16="http://schemas.microsoft.com/office/drawing/2014/main" id="{3ED366CC-9A8B-4736-9FEE-0122C761C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2799"/>
              <a:ext cx="223" cy="112"/>
            </a:xfrm>
            <a:custGeom>
              <a:avLst/>
              <a:gdLst>
                <a:gd name="T0" fmla="*/ 0 w 223"/>
                <a:gd name="T1" fmla="*/ 56 h 112"/>
                <a:gd name="T2" fmla="*/ 111 w 223"/>
                <a:gd name="T3" fmla="*/ 0 h 112"/>
                <a:gd name="T4" fmla="*/ 223 w 223"/>
                <a:gd name="T5" fmla="*/ 56 h 112"/>
                <a:gd name="T6" fmla="*/ 111 w 223"/>
                <a:gd name="T7" fmla="*/ 112 h 112"/>
                <a:gd name="T8" fmla="*/ 0 w 223"/>
                <a:gd name="T9" fmla="*/ 5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3" h="112">
                  <a:moveTo>
                    <a:pt x="0" y="56"/>
                  </a:moveTo>
                  <a:lnTo>
                    <a:pt x="111" y="0"/>
                  </a:lnTo>
                  <a:lnTo>
                    <a:pt x="223" y="56"/>
                  </a:lnTo>
                  <a:lnTo>
                    <a:pt x="111" y="112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1802" name="Group 10">
              <a:extLst>
                <a:ext uri="{FF2B5EF4-FFF2-40B4-BE49-F238E27FC236}">
                  <a16:creationId xmlns:a16="http://schemas.microsoft.com/office/drawing/2014/main" id="{DE08DFD4-F730-426F-9FC8-4DE05A266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" y="3596"/>
              <a:ext cx="1637" cy="336"/>
              <a:chOff x="387" y="3596"/>
              <a:chExt cx="1637" cy="336"/>
            </a:xfrm>
          </p:grpSpPr>
          <p:sp>
            <p:nvSpPr>
              <p:cNvPr id="161803" name="AutoShape 11">
                <a:extLst>
                  <a:ext uri="{FF2B5EF4-FFF2-40B4-BE49-F238E27FC236}">
                    <a16:creationId xmlns:a16="http://schemas.microsoft.com/office/drawing/2014/main" id="{21CBC94E-4F46-4D1B-82A1-BFCD044DCD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" y="3596"/>
                <a:ext cx="1637" cy="336"/>
              </a:xfrm>
              <a:prstGeom prst="roundRect">
                <a:avLst>
                  <a:gd name="adj" fmla="val 45833"/>
                </a:avLst>
              </a:prstGeom>
              <a:solidFill>
                <a:schemeClr val="bg1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804" name="Rectangle 12">
                <a:extLst>
                  <a:ext uri="{FF2B5EF4-FFF2-40B4-BE49-F238E27FC236}">
                    <a16:creationId xmlns:a16="http://schemas.microsoft.com/office/drawing/2014/main" id="{DE75D60D-D2D3-4DA1-8CC0-E24258BA0A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4" y="3697"/>
                <a:ext cx="812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Installation</a:t>
                </a:r>
                <a:endParaRPr lang="en-US" altLang="en-US" sz="2400"/>
              </a:p>
            </p:txBody>
          </p:sp>
        </p:grpSp>
        <p:sp>
          <p:nvSpPr>
            <p:cNvPr id="161805" name="Line 13">
              <a:extLst>
                <a:ext uri="{FF2B5EF4-FFF2-40B4-BE49-F238E27FC236}">
                  <a16:creationId xmlns:a16="http://schemas.microsoft.com/office/drawing/2014/main" id="{EF8379A7-6072-4C47-ACF6-C2BFB9F251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6" y="1021"/>
              <a:ext cx="1" cy="12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06" name="Freeform 14">
              <a:extLst>
                <a:ext uri="{FF2B5EF4-FFF2-40B4-BE49-F238E27FC236}">
                  <a16:creationId xmlns:a16="http://schemas.microsoft.com/office/drawing/2014/main" id="{8A7EB426-24F1-4F61-9DCD-D56EAA9BC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1021"/>
              <a:ext cx="84" cy="126"/>
            </a:xfrm>
            <a:custGeom>
              <a:avLst/>
              <a:gdLst>
                <a:gd name="T0" fmla="*/ 84 w 84"/>
                <a:gd name="T1" fmla="*/ 0 h 126"/>
                <a:gd name="T2" fmla="*/ 42 w 84"/>
                <a:gd name="T3" fmla="*/ 126 h 126"/>
                <a:gd name="T4" fmla="*/ 0 w 84"/>
                <a:gd name="T5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126">
                  <a:moveTo>
                    <a:pt x="84" y="0"/>
                  </a:moveTo>
                  <a:lnTo>
                    <a:pt x="42" y="126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07" name="Freeform 15">
              <a:extLst>
                <a:ext uri="{FF2B5EF4-FFF2-40B4-BE49-F238E27FC236}">
                  <a16:creationId xmlns:a16="http://schemas.microsoft.com/office/drawing/2014/main" id="{192F20BF-A77A-4122-8AB6-40C10F1FB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6" y="853"/>
              <a:ext cx="854" cy="168"/>
            </a:xfrm>
            <a:custGeom>
              <a:avLst/>
              <a:gdLst>
                <a:gd name="T0" fmla="*/ 854 w 854"/>
                <a:gd name="T1" fmla="*/ 0 h 168"/>
                <a:gd name="T2" fmla="*/ 854 w 854"/>
                <a:gd name="T3" fmla="*/ 140 h 168"/>
                <a:gd name="T4" fmla="*/ 0 w 854"/>
                <a:gd name="T5" fmla="*/ 140 h 168"/>
                <a:gd name="T6" fmla="*/ 0 w 854"/>
                <a:gd name="T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54" h="168">
                  <a:moveTo>
                    <a:pt x="854" y="0"/>
                  </a:moveTo>
                  <a:lnTo>
                    <a:pt x="854" y="140"/>
                  </a:lnTo>
                  <a:lnTo>
                    <a:pt x="0" y="140"/>
                  </a:lnTo>
                  <a:lnTo>
                    <a:pt x="0" y="168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08" name="Freeform 16">
              <a:extLst>
                <a:ext uri="{FF2B5EF4-FFF2-40B4-BE49-F238E27FC236}">
                  <a16:creationId xmlns:a16="http://schemas.microsoft.com/office/drawing/2014/main" id="{D33A8AAC-EB4D-4A4A-9208-A226FD6F4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5" y="1007"/>
              <a:ext cx="84" cy="140"/>
            </a:xfrm>
            <a:custGeom>
              <a:avLst/>
              <a:gdLst>
                <a:gd name="T0" fmla="*/ 84 w 84"/>
                <a:gd name="T1" fmla="*/ 0 h 140"/>
                <a:gd name="T2" fmla="*/ 42 w 84"/>
                <a:gd name="T3" fmla="*/ 140 h 140"/>
                <a:gd name="T4" fmla="*/ 0 w 84"/>
                <a:gd name="T5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140">
                  <a:moveTo>
                    <a:pt x="84" y="0"/>
                  </a:moveTo>
                  <a:lnTo>
                    <a:pt x="42" y="14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09" name="Freeform 17">
              <a:extLst>
                <a:ext uri="{FF2B5EF4-FFF2-40B4-BE49-F238E27FC236}">
                  <a16:creationId xmlns:a16="http://schemas.microsoft.com/office/drawing/2014/main" id="{F9F6576A-5933-48AD-B31F-7319CEC35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" y="797"/>
              <a:ext cx="938" cy="196"/>
            </a:xfrm>
            <a:custGeom>
              <a:avLst/>
              <a:gdLst>
                <a:gd name="T0" fmla="*/ 0 w 938"/>
                <a:gd name="T1" fmla="*/ 0 h 196"/>
                <a:gd name="T2" fmla="*/ 0 w 938"/>
                <a:gd name="T3" fmla="*/ 168 h 196"/>
                <a:gd name="T4" fmla="*/ 938 w 938"/>
                <a:gd name="T5" fmla="*/ 168 h 196"/>
                <a:gd name="T6" fmla="*/ 938 w 938"/>
                <a:gd name="T7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8" h="196">
                  <a:moveTo>
                    <a:pt x="0" y="0"/>
                  </a:moveTo>
                  <a:lnTo>
                    <a:pt x="0" y="168"/>
                  </a:lnTo>
                  <a:lnTo>
                    <a:pt x="938" y="168"/>
                  </a:lnTo>
                  <a:lnTo>
                    <a:pt x="938" y="196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10" name="Line 18">
              <a:extLst>
                <a:ext uri="{FF2B5EF4-FFF2-40B4-BE49-F238E27FC236}">
                  <a16:creationId xmlns:a16="http://schemas.microsoft.com/office/drawing/2014/main" id="{610FB184-29E8-4AFA-AB90-66F250BA7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" y="993"/>
              <a:ext cx="1" cy="15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11" name="Line 19">
              <a:extLst>
                <a:ext uri="{FF2B5EF4-FFF2-40B4-BE49-F238E27FC236}">
                  <a16:creationId xmlns:a16="http://schemas.microsoft.com/office/drawing/2014/main" id="{6FBB1DF2-BE76-477C-9DA0-BA84AA210E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1" y="1637"/>
              <a:ext cx="1" cy="14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12" name="Freeform 20">
              <a:extLst>
                <a:ext uri="{FF2B5EF4-FFF2-40B4-BE49-F238E27FC236}">
                  <a16:creationId xmlns:a16="http://schemas.microsoft.com/office/drawing/2014/main" id="{3FBA196A-B62B-40D8-ADE6-E24665825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9" y="1637"/>
              <a:ext cx="84" cy="140"/>
            </a:xfrm>
            <a:custGeom>
              <a:avLst/>
              <a:gdLst>
                <a:gd name="T0" fmla="*/ 84 w 84"/>
                <a:gd name="T1" fmla="*/ 0 h 140"/>
                <a:gd name="T2" fmla="*/ 42 w 84"/>
                <a:gd name="T3" fmla="*/ 140 h 140"/>
                <a:gd name="T4" fmla="*/ 0 w 84"/>
                <a:gd name="T5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140">
                  <a:moveTo>
                    <a:pt x="84" y="0"/>
                  </a:moveTo>
                  <a:lnTo>
                    <a:pt x="42" y="14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13" name="Freeform 21">
              <a:extLst>
                <a:ext uri="{FF2B5EF4-FFF2-40B4-BE49-F238E27FC236}">
                  <a16:creationId xmlns:a16="http://schemas.microsoft.com/office/drawing/2014/main" id="{64E0CB79-F6CD-45A3-9E71-156283960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1" y="1469"/>
              <a:ext cx="826" cy="168"/>
            </a:xfrm>
            <a:custGeom>
              <a:avLst/>
              <a:gdLst>
                <a:gd name="T0" fmla="*/ 0 w 826"/>
                <a:gd name="T1" fmla="*/ 168 h 168"/>
                <a:gd name="T2" fmla="*/ 0 w 826"/>
                <a:gd name="T3" fmla="*/ 112 h 168"/>
                <a:gd name="T4" fmla="*/ 826 w 826"/>
                <a:gd name="T5" fmla="*/ 112 h 168"/>
                <a:gd name="T6" fmla="*/ 826 w 826"/>
                <a:gd name="T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6" h="168">
                  <a:moveTo>
                    <a:pt x="0" y="168"/>
                  </a:moveTo>
                  <a:lnTo>
                    <a:pt x="0" y="112"/>
                  </a:lnTo>
                  <a:lnTo>
                    <a:pt x="826" y="112"/>
                  </a:lnTo>
                  <a:lnTo>
                    <a:pt x="826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14" name="Freeform 22">
              <a:extLst>
                <a:ext uri="{FF2B5EF4-FFF2-40B4-BE49-F238E27FC236}">
                  <a16:creationId xmlns:a16="http://schemas.microsoft.com/office/drawing/2014/main" id="{D1AAF037-EF91-4322-A691-EEDCA24C7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630"/>
              <a:ext cx="83" cy="153"/>
            </a:xfrm>
            <a:custGeom>
              <a:avLst/>
              <a:gdLst>
                <a:gd name="T0" fmla="*/ 83 w 83"/>
                <a:gd name="T1" fmla="*/ 0 h 153"/>
                <a:gd name="T2" fmla="*/ 41 w 83"/>
                <a:gd name="T3" fmla="*/ 153 h 153"/>
                <a:gd name="T4" fmla="*/ 0 w 83"/>
                <a:gd name="T5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3" h="153">
                  <a:moveTo>
                    <a:pt x="83" y="0"/>
                  </a:moveTo>
                  <a:lnTo>
                    <a:pt x="41" y="153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15" name="Line 23">
              <a:extLst>
                <a:ext uri="{FF2B5EF4-FFF2-40B4-BE49-F238E27FC236}">
                  <a16:creationId xmlns:a16="http://schemas.microsoft.com/office/drawing/2014/main" id="{87BEF799-905C-4352-A377-67A99DECD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9" y="630"/>
              <a:ext cx="1" cy="15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16" name="Line 24">
              <a:extLst>
                <a:ext uri="{FF2B5EF4-FFF2-40B4-BE49-F238E27FC236}">
                  <a16:creationId xmlns:a16="http://schemas.microsoft.com/office/drawing/2014/main" id="{F39002F7-F6EB-47A8-8636-6665273F5E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9" y="402"/>
              <a:ext cx="1" cy="22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17" name="Line 25">
              <a:extLst>
                <a:ext uri="{FF2B5EF4-FFF2-40B4-BE49-F238E27FC236}">
                  <a16:creationId xmlns:a16="http://schemas.microsoft.com/office/drawing/2014/main" id="{7D10D84C-1A5F-472B-BCED-0F46F50C14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9" y="2001"/>
              <a:ext cx="1" cy="15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18" name="Freeform 26">
              <a:extLst>
                <a:ext uri="{FF2B5EF4-FFF2-40B4-BE49-F238E27FC236}">
                  <a16:creationId xmlns:a16="http://schemas.microsoft.com/office/drawing/2014/main" id="{35A92900-0F1B-498D-B0B7-70B8F5B46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001"/>
              <a:ext cx="83" cy="154"/>
            </a:xfrm>
            <a:custGeom>
              <a:avLst/>
              <a:gdLst>
                <a:gd name="T0" fmla="*/ 83 w 83"/>
                <a:gd name="T1" fmla="*/ 0 h 154"/>
                <a:gd name="T2" fmla="*/ 41 w 83"/>
                <a:gd name="T3" fmla="*/ 154 h 154"/>
                <a:gd name="T4" fmla="*/ 0 w 83"/>
                <a:gd name="T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3" h="154">
                  <a:moveTo>
                    <a:pt x="83" y="0"/>
                  </a:moveTo>
                  <a:lnTo>
                    <a:pt x="41" y="154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19" name="Line 27">
              <a:extLst>
                <a:ext uri="{FF2B5EF4-FFF2-40B4-BE49-F238E27FC236}">
                  <a16:creationId xmlns:a16="http://schemas.microsoft.com/office/drawing/2014/main" id="{5CFE7CAF-B076-40F9-8AA3-02244210C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9" y="2631"/>
              <a:ext cx="1" cy="15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20" name="Freeform 28">
              <a:extLst>
                <a:ext uri="{FF2B5EF4-FFF2-40B4-BE49-F238E27FC236}">
                  <a16:creationId xmlns:a16="http://schemas.microsoft.com/office/drawing/2014/main" id="{D225022F-ED5C-4E55-AC45-703AB732D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645"/>
              <a:ext cx="83" cy="140"/>
            </a:xfrm>
            <a:custGeom>
              <a:avLst/>
              <a:gdLst>
                <a:gd name="T0" fmla="*/ 83 w 83"/>
                <a:gd name="T1" fmla="*/ 0 h 140"/>
                <a:gd name="T2" fmla="*/ 41 w 83"/>
                <a:gd name="T3" fmla="*/ 140 h 140"/>
                <a:gd name="T4" fmla="*/ 0 w 83"/>
                <a:gd name="T5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3" h="140">
                  <a:moveTo>
                    <a:pt x="83" y="0"/>
                  </a:moveTo>
                  <a:lnTo>
                    <a:pt x="41" y="14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21" name="Line 29">
              <a:extLst>
                <a:ext uri="{FF2B5EF4-FFF2-40B4-BE49-F238E27FC236}">
                  <a16:creationId xmlns:a16="http://schemas.microsoft.com/office/drawing/2014/main" id="{9AA98FA7-0E53-4EC1-8BE7-7EFC38B00F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9" y="2477"/>
              <a:ext cx="1" cy="15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22" name="Line 30">
              <a:extLst>
                <a:ext uri="{FF2B5EF4-FFF2-40B4-BE49-F238E27FC236}">
                  <a16:creationId xmlns:a16="http://schemas.microsoft.com/office/drawing/2014/main" id="{FC56FAFE-F964-448A-917B-2BD29B3B9C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9" y="3078"/>
              <a:ext cx="1" cy="14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23" name="Freeform 31">
              <a:extLst>
                <a:ext uri="{FF2B5EF4-FFF2-40B4-BE49-F238E27FC236}">
                  <a16:creationId xmlns:a16="http://schemas.microsoft.com/office/drawing/2014/main" id="{46E9778B-CE77-4F8C-AEA9-D48E753CD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3078"/>
              <a:ext cx="83" cy="140"/>
            </a:xfrm>
            <a:custGeom>
              <a:avLst/>
              <a:gdLst>
                <a:gd name="T0" fmla="*/ 83 w 83"/>
                <a:gd name="T1" fmla="*/ 0 h 140"/>
                <a:gd name="T2" fmla="*/ 41 w 83"/>
                <a:gd name="T3" fmla="*/ 140 h 140"/>
                <a:gd name="T4" fmla="*/ 0 w 83"/>
                <a:gd name="T5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3" h="140">
                  <a:moveTo>
                    <a:pt x="83" y="0"/>
                  </a:moveTo>
                  <a:lnTo>
                    <a:pt x="41" y="14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24" name="Line 32">
              <a:extLst>
                <a:ext uri="{FF2B5EF4-FFF2-40B4-BE49-F238E27FC236}">
                  <a16:creationId xmlns:a16="http://schemas.microsoft.com/office/drawing/2014/main" id="{AA07B014-574E-4FD7-938B-340F1468D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9" y="2911"/>
              <a:ext cx="1" cy="16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25" name="Line 33">
              <a:extLst>
                <a:ext uri="{FF2B5EF4-FFF2-40B4-BE49-F238E27FC236}">
                  <a16:creationId xmlns:a16="http://schemas.microsoft.com/office/drawing/2014/main" id="{C4E0D654-3145-44D3-AC9C-A469CD4A1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9" y="3442"/>
              <a:ext cx="1" cy="14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26" name="Freeform 34">
              <a:extLst>
                <a:ext uri="{FF2B5EF4-FFF2-40B4-BE49-F238E27FC236}">
                  <a16:creationId xmlns:a16="http://schemas.microsoft.com/office/drawing/2014/main" id="{0CF772FE-2FD5-413C-BEC8-F084B047E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3442"/>
              <a:ext cx="83" cy="140"/>
            </a:xfrm>
            <a:custGeom>
              <a:avLst/>
              <a:gdLst>
                <a:gd name="T0" fmla="*/ 83 w 83"/>
                <a:gd name="T1" fmla="*/ 0 h 140"/>
                <a:gd name="T2" fmla="*/ 41 w 83"/>
                <a:gd name="T3" fmla="*/ 140 h 140"/>
                <a:gd name="T4" fmla="*/ 0 w 83"/>
                <a:gd name="T5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3" h="140">
                  <a:moveTo>
                    <a:pt x="83" y="0"/>
                  </a:moveTo>
                  <a:lnTo>
                    <a:pt x="41" y="14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27" name="Line 35">
              <a:extLst>
                <a:ext uri="{FF2B5EF4-FFF2-40B4-BE49-F238E27FC236}">
                  <a16:creationId xmlns:a16="http://schemas.microsoft.com/office/drawing/2014/main" id="{FFF7B810-E209-4637-A93E-129C5437C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9" y="3232"/>
              <a:ext cx="1" cy="21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28" name="Line 36">
              <a:extLst>
                <a:ext uri="{FF2B5EF4-FFF2-40B4-BE49-F238E27FC236}">
                  <a16:creationId xmlns:a16="http://schemas.microsoft.com/office/drawing/2014/main" id="{4D20709E-B2A0-4822-A0B5-2A8A661BEE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3" y="3078"/>
              <a:ext cx="1" cy="14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29" name="Freeform 37">
              <a:extLst>
                <a:ext uri="{FF2B5EF4-FFF2-40B4-BE49-F238E27FC236}">
                  <a16:creationId xmlns:a16="http://schemas.microsoft.com/office/drawing/2014/main" id="{09292CCD-5775-44AC-ADC3-B8BEB4F2E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1" y="3078"/>
              <a:ext cx="84" cy="140"/>
            </a:xfrm>
            <a:custGeom>
              <a:avLst/>
              <a:gdLst>
                <a:gd name="T0" fmla="*/ 84 w 84"/>
                <a:gd name="T1" fmla="*/ 0 h 140"/>
                <a:gd name="T2" fmla="*/ 42 w 84"/>
                <a:gd name="T3" fmla="*/ 140 h 140"/>
                <a:gd name="T4" fmla="*/ 0 w 84"/>
                <a:gd name="T5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140">
                  <a:moveTo>
                    <a:pt x="84" y="0"/>
                  </a:moveTo>
                  <a:lnTo>
                    <a:pt x="42" y="14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30" name="Freeform 38">
              <a:extLst>
                <a:ext uri="{FF2B5EF4-FFF2-40B4-BE49-F238E27FC236}">
                  <a16:creationId xmlns:a16="http://schemas.microsoft.com/office/drawing/2014/main" id="{D78C0137-6A2C-42CA-BE56-D6F53B72A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3" y="2477"/>
              <a:ext cx="1680" cy="601"/>
            </a:xfrm>
            <a:custGeom>
              <a:avLst/>
              <a:gdLst>
                <a:gd name="T0" fmla="*/ 1680 w 1680"/>
                <a:gd name="T1" fmla="*/ 0 h 601"/>
                <a:gd name="T2" fmla="*/ 1680 w 1680"/>
                <a:gd name="T3" fmla="*/ 336 h 601"/>
                <a:gd name="T4" fmla="*/ 0 w 1680"/>
                <a:gd name="T5" fmla="*/ 336 h 601"/>
                <a:gd name="T6" fmla="*/ 0 w 1680"/>
                <a:gd name="T7" fmla="*/ 601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80" h="601">
                  <a:moveTo>
                    <a:pt x="1680" y="0"/>
                  </a:moveTo>
                  <a:lnTo>
                    <a:pt x="1680" y="336"/>
                  </a:lnTo>
                  <a:lnTo>
                    <a:pt x="0" y="336"/>
                  </a:lnTo>
                  <a:lnTo>
                    <a:pt x="0" y="601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31" name="Freeform 39">
              <a:extLst>
                <a:ext uri="{FF2B5EF4-FFF2-40B4-BE49-F238E27FC236}">
                  <a16:creationId xmlns:a16="http://schemas.microsoft.com/office/drawing/2014/main" id="{6B7A3E95-24C7-4A63-9035-7DD1EB7AF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1" y="2001"/>
              <a:ext cx="84" cy="154"/>
            </a:xfrm>
            <a:custGeom>
              <a:avLst/>
              <a:gdLst>
                <a:gd name="T0" fmla="*/ 84 w 84"/>
                <a:gd name="T1" fmla="*/ 0 h 154"/>
                <a:gd name="T2" fmla="*/ 42 w 84"/>
                <a:gd name="T3" fmla="*/ 154 h 154"/>
                <a:gd name="T4" fmla="*/ 0 w 84"/>
                <a:gd name="T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154">
                  <a:moveTo>
                    <a:pt x="84" y="0"/>
                  </a:moveTo>
                  <a:lnTo>
                    <a:pt x="42" y="154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32" name="Freeform 40">
              <a:extLst>
                <a:ext uri="{FF2B5EF4-FFF2-40B4-BE49-F238E27FC236}">
                  <a16:creationId xmlns:a16="http://schemas.microsoft.com/office/drawing/2014/main" id="{79B9D1B2-6A08-45BB-9B4F-408D3EDD3F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1" y="839"/>
              <a:ext cx="1722" cy="1162"/>
            </a:xfrm>
            <a:custGeom>
              <a:avLst/>
              <a:gdLst>
                <a:gd name="T0" fmla="*/ 0 w 1722"/>
                <a:gd name="T1" fmla="*/ 0 h 1162"/>
                <a:gd name="T2" fmla="*/ 0 w 1722"/>
                <a:gd name="T3" fmla="*/ 98 h 1162"/>
                <a:gd name="T4" fmla="*/ 1722 w 1722"/>
                <a:gd name="T5" fmla="*/ 98 h 1162"/>
                <a:gd name="T6" fmla="*/ 1722 w 1722"/>
                <a:gd name="T7" fmla="*/ 1162 h 1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22" h="1162">
                  <a:moveTo>
                    <a:pt x="0" y="0"/>
                  </a:moveTo>
                  <a:lnTo>
                    <a:pt x="0" y="98"/>
                  </a:lnTo>
                  <a:lnTo>
                    <a:pt x="1722" y="98"/>
                  </a:lnTo>
                  <a:lnTo>
                    <a:pt x="1722" y="1162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33" name="Line 41">
              <a:extLst>
                <a:ext uri="{FF2B5EF4-FFF2-40B4-BE49-F238E27FC236}">
                  <a16:creationId xmlns:a16="http://schemas.microsoft.com/office/drawing/2014/main" id="{D931C0E7-42DE-485E-ACCE-8FDC68D3C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" y="2001"/>
              <a:ext cx="1" cy="15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34" name="Rectangle 42">
              <a:extLst>
                <a:ext uri="{FF2B5EF4-FFF2-40B4-BE49-F238E27FC236}">
                  <a16:creationId xmlns:a16="http://schemas.microsoft.com/office/drawing/2014/main" id="{5F94B396-2036-4533-A58D-15900F582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" y="504"/>
              <a:ext cx="5345" cy="2546"/>
            </a:xfrm>
            <a:prstGeom prst="rect">
              <a:avLst/>
            </a:prstGeom>
            <a:noFill/>
            <a:ln w="444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35" name="Rectangle 43">
              <a:extLst>
                <a:ext uri="{FF2B5EF4-FFF2-40B4-BE49-F238E27FC236}">
                  <a16:creationId xmlns:a16="http://schemas.microsoft.com/office/drawing/2014/main" id="{006C938B-F6CD-4E8F-BDA8-ADD707812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" y="370"/>
              <a:ext cx="81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Steady state</a:t>
              </a:r>
              <a:endParaRPr lang="en-US" altLang="en-US" sz="2400"/>
            </a:p>
          </p:txBody>
        </p:sp>
        <p:grpSp>
          <p:nvGrpSpPr>
            <p:cNvPr id="161836" name="Group 44">
              <a:extLst>
                <a:ext uri="{FF2B5EF4-FFF2-40B4-BE49-F238E27FC236}">
                  <a16:creationId xmlns:a16="http://schemas.microsoft.com/office/drawing/2014/main" id="{FA48C4BF-B369-4B4C-B91D-715A6B9007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" y="280"/>
              <a:ext cx="1539" cy="238"/>
              <a:chOff x="289" y="280"/>
              <a:chExt cx="1539" cy="238"/>
            </a:xfrm>
          </p:grpSpPr>
          <p:sp>
            <p:nvSpPr>
              <p:cNvPr id="161837" name="Freeform 45">
                <a:extLst>
                  <a:ext uri="{FF2B5EF4-FFF2-40B4-BE49-F238E27FC236}">
                    <a16:creationId xmlns:a16="http://schemas.microsoft.com/office/drawing/2014/main" id="{F0AD6553-91E0-4A3E-9CCE-4326F64BD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" y="280"/>
                <a:ext cx="154" cy="238"/>
              </a:xfrm>
              <a:custGeom>
                <a:avLst/>
                <a:gdLst>
                  <a:gd name="T0" fmla="*/ 0 w 154"/>
                  <a:gd name="T1" fmla="*/ 224 h 238"/>
                  <a:gd name="T2" fmla="*/ 28 w 154"/>
                  <a:gd name="T3" fmla="*/ 238 h 238"/>
                  <a:gd name="T4" fmla="*/ 154 w 154"/>
                  <a:gd name="T5" fmla="*/ 28 h 238"/>
                  <a:gd name="T6" fmla="*/ 140 w 154"/>
                  <a:gd name="T7" fmla="*/ 0 h 238"/>
                  <a:gd name="T8" fmla="*/ 140 w 154"/>
                  <a:gd name="T9" fmla="*/ 0 h 238"/>
                  <a:gd name="T10" fmla="*/ 126 w 154"/>
                  <a:gd name="T11" fmla="*/ 14 h 238"/>
                  <a:gd name="T12" fmla="*/ 0 w 154"/>
                  <a:gd name="T13" fmla="*/ 22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4" h="238">
                    <a:moveTo>
                      <a:pt x="0" y="224"/>
                    </a:moveTo>
                    <a:lnTo>
                      <a:pt x="28" y="238"/>
                    </a:lnTo>
                    <a:lnTo>
                      <a:pt x="154" y="28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26" y="14"/>
                    </a:lnTo>
                    <a:lnTo>
                      <a:pt x="0" y="2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838" name="Freeform 46">
                <a:extLst>
                  <a:ext uri="{FF2B5EF4-FFF2-40B4-BE49-F238E27FC236}">
                    <a16:creationId xmlns:a16="http://schemas.microsoft.com/office/drawing/2014/main" id="{2E0268C2-4B6C-4E08-B5C4-B7A6EFE607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" y="280"/>
                <a:ext cx="1273" cy="28"/>
              </a:xfrm>
              <a:custGeom>
                <a:avLst/>
                <a:gdLst>
                  <a:gd name="T0" fmla="*/ 0 w 1273"/>
                  <a:gd name="T1" fmla="*/ 0 h 28"/>
                  <a:gd name="T2" fmla="*/ 0 w 1273"/>
                  <a:gd name="T3" fmla="*/ 28 h 28"/>
                  <a:gd name="T4" fmla="*/ 1259 w 1273"/>
                  <a:gd name="T5" fmla="*/ 28 h 28"/>
                  <a:gd name="T6" fmla="*/ 1273 w 1273"/>
                  <a:gd name="T7" fmla="*/ 14 h 28"/>
                  <a:gd name="T8" fmla="*/ 1273 w 1273"/>
                  <a:gd name="T9" fmla="*/ 0 h 28"/>
                  <a:gd name="T10" fmla="*/ 1259 w 1273"/>
                  <a:gd name="T11" fmla="*/ 0 h 28"/>
                  <a:gd name="T12" fmla="*/ 0 w 1273"/>
                  <a:gd name="T13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3" h="28">
                    <a:moveTo>
                      <a:pt x="0" y="0"/>
                    </a:moveTo>
                    <a:lnTo>
                      <a:pt x="0" y="28"/>
                    </a:lnTo>
                    <a:lnTo>
                      <a:pt x="1259" y="28"/>
                    </a:lnTo>
                    <a:lnTo>
                      <a:pt x="1273" y="14"/>
                    </a:lnTo>
                    <a:lnTo>
                      <a:pt x="1273" y="0"/>
                    </a:lnTo>
                    <a:lnTo>
                      <a:pt x="125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839" name="Freeform 47">
                <a:extLst>
                  <a:ext uri="{FF2B5EF4-FFF2-40B4-BE49-F238E27FC236}">
                    <a16:creationId xmlns:a16="http://schemas.microsoft.com/office/drawing/2014/main" id="{FA9D89E1-817C-488D-AC43-4EFBCFEE13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4" y="294"/>
                <a:ext cx="154" cy="224"/>
              </a:xfrm>
              <a:custGeom>
                <a:avLst/>
                <a:gdLst>
                  <a:gd name="T0" fmla="*/ 28 w 154"/>
                  <a:gd name="T1" fmla="*/ 0 h 224"/>
                  <a:gd name="T2" fmla="*/ 0 w 154"/>
                  <a:gd name="T3" fmla="*/ 14 h 224"/>
                  <a:gd name="T4" fmla="*/ 112 w 154"/>
                  <a:gd name="T5" fmla="*/ 224 h 224"/>
                  <a:gd name="T6" fmla="*/ 126 w 154"/>
                  <a:gd name="T7" fmla="*/ 224 h 224"/>
                  <a:gd name="T8" fmla="*/ 154 w 154"/>
                  <a:gd name="T9" fmla="*/ 224 h 224"/>
                  <a:gd name="T10" fmla="*/ 140 w 154"/>
                  <a:gd name="T11" fmla="*/ 210 h 224"/>
                  <a:gd name="T12" fmla="*/ 28 w 154"/>
                  <a:gd name="T13" fmla="*/ 0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4" h="224">
                    <a:moveTo>
                      <a:pt x="28" y="0"/>
                    </a:moveTo>
                    <a:lnTo>
                      <a:pt x="0" y="14"/>
                    </a:lnTo>
                    <a:lnTo>
                      <a:pt x="112" y="224"/>
                    </a:lnTo>
                    <a:lnTo>
                      <a:pt x="126" y="224"/>
                    </a:lnTo>
                    <a:lnTo>
                      <a:pt x="154" y="224"/>
                    </a:lnTo>
                    <a:lnTo>
                      <a:pt x="140" y="21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1840" name="Freeform 48">
              <a:extLst>
                <a:ext uri="{FF2B5EF4-FFF2-40B4-BE49-F238E27FC236}">
                  <a16:creationId xmlns:a16="http://schemas.microsoft.com/office/drawing/2014/main" id="{95519441-4FE7-485C-9949-3E99A297E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" y="490"/>
              <a:ext cx="1525" cy="28"/>
            </a:xfrm>
            <a:custGeom>
              <a:avLst/>
              <a:gdLst>
                <a:gd name="T0" fmla="*/ 1525 w 1525"/>
                <a:gd name="T1" fmla="*/ 28 h 28"/>
                <a:gd name="T2" fmla="*/ 1525 w 1525"/>
                <a:gd name="T3" fmla="*/ 0 h 28"/>
                <a:gd name="T4" fmla="*/ 28 w 1525"/>
                <a:gd name="T5" fmla="*/ 0 h 28"/>
                <a:gd name="T6" fmla="*/ 14 w 1525"/>
                <a:gd name="T7" fmla="*/ 14 h 28"/>
                <a:gd name="T8" fmla="*/ 0 w 1525"/>
                <a:gd name="T9" fmla="*/ 28 h 28"/>
                <a:gd name="T10" fmla="*/ 28 w 1525"/>
                <a:gd name="T11" fmla="*/ 28 h 28"/>
                <a:gd name="T12" fmla="*/ 1525 w 1525"/>
                <a:gd name="T1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5" h="28">
                  <a:moveTo>
                    <a:pt x="1525" y="28"/>
                  </a:moveTo>
                  <a:lnTo>
                    <a:pt x="1525" y="0"/>
                  </a:lnTo>
                  <a:lnTo>
                    <a:pt x="28" y="0"/>
                  </a:lnTo>
                  <a:lnTo>
                    <a:pt x="14" y="14"/>
                  </a:lnTo>
                  <a:lnTo>
                    <a:pt x="0" y="28"/>
                  </a:lnTo>
                  <a:lnTo>
                    <a:pt x="28" y="28"/>
                  </a:lnTo>
                  <a:lnTo>
                    <a:pt x="1525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41" name="Rectangle 49">
              <a:extLst>
                <a:ext uri="{FF2B5EF4-FFF2-40B4-BE49-F238E27FC236}">
                  <a16:creationId xmlns:a16="http://schemas.microsoft.com/office/drawing/2014/main" id="{A99B41E2-B1A6-43E4-B596-C846417AE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" y="3046"/>
              <a:ext cx="5345" cy="966"/>
            </a:xfrm>
            <a:prstGeom prst="rect">
              <a:avLst/>
            </a:prstGeom>
            <a:noFill/>
            <a:ln w="444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42" name="Rectangle 50">
              <a:extLst>
                <a:ext uri="{FF2B5EF4-FFF2-40B4-BE49-F238E27FC236}">
                  <a16:creationId xmlns:a16="http://schemas.microsoft.com/office/drawing/2014/main" id="{14B3FFCD-631C-4233-A001-897AF9899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" y="2865"/>
              <a:ext cx="74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Termination</a:t>
              </a:r>
              <a:endParaRPr lang="en-US" altLang="en-US" sz="2400"/>
            </a:p>
          </p:txBody>
        </p:sp>
        <p:sp>
          <p:nvSpPr>
            <p:cNvPr id="161843" name="Freeform 51">
              <a:extLst>
                <a:ext uri="{FF2B5EF4-FFF2-40B4-BE49-F238E27FC236}">
                  <a16:creationId xmlns:a16="http://schemas.microsoft.com/office/drawing/2014/main" id="{24E124CF-11BA-4F86-AA5D-899DC9719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" y="2799"/>
              <a:ext cx="168" cy="251"/>
            </a:xfrm>
            <a:custGeom>
              <a:avLst/>
              <a:gdLst>
                <a:gd name="T0" fmla="*/ 0 w 168"/>
                <a:gd name="T1" fmla="*/ 237 h 251"/>
                <a:gd name="T2" fmla="*/ 28 w 168"/>
                <a:gd name="T3" fmla="*/ 251 h 251"/>
                <a:gd name="T4" fmla="*/ 168 w 168"/>
                <a:gd name="T5" fmla="*/ 28 h 251"/>
                <a:gd name="T6" fmla="*/ 154 w 168"/>
                <a:gd name="T7" fmla="*/ 0 h 251"/>
                <a:gd name="T8" fmla="*/ 154 w 168"/>
                <a:gd name="T9" fmla="*/ 0 h 251"/>
                <a:gd name="T10" fmla="*/ 140 w 168"/>
                <a:gd name="T11" fmla="*/ 14 h 251"/>
                <a:gd name="T12" fmla="*/ 0 w 168"/>
                <a:gd name="T13" fmla="*/ 237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8" h="251">
                  <a:moveTo>
                    <a:pt x="0" y="237"/>
                  </a:moveTo>
                  <a:lnTo>
                    <a:pt x="28" y="251"/>
                  </a:lnTo>
                  <a:lnTo>
                    <a:pt x="168" y="28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40" y="14"/>
                  </a:lnTo>
                  <a:lnTo>
                    <a:pt x="0" y="2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44" name="Freeform 52">
              <a:extLst>
                <a:ext uri="{FF2B5EF4-FFF2-40B4-BE49-F238E27FC236}">
                  <a16:creationId xmlns:a16="http://schemas.microsoft.com/office/drawing/2014/main" id="{C62154F8-1DDC-4CEE-90C2-D031D0DFB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" y="2799"/>
              <a:ext cx="1259" cy="28"/>
            </a:xfrm>
            <a:custGeom>
              <a:avLst/>
              <a:gdLst>
                <a:gd name="T0" fmla="*/ 0 w 1259"/>
                <a:gd name="T1" fmla="*/ 0 h 28"/>
                <a:gd name="T2" fmla="*/ 0 w 1259"/>
                <a:gd name="T3" fmla="*/ 28 h 28"/>
                <a:gd name="T4" fmla="*/ 1245 w 1259"/>
                <a:gd name="T5" fmla="*/ 28 h 28"/>
                <a:gd name="T6" fmla="*/ 1259 w 1259"/>
                <a:gd name="T7" fmla="*/ 14 h 28"/>
                <a:gd name="T8" fmla="*/ 1259 w 1259"/>
                <a:gd name="T9" fmla="*/ 0 h 28"/>
                <a:gd name="T10" fmla="*/ 1245 w 1259"/>
                <a:gd name="T11" fmla="*/ 0 h 28"/>
                <a:gd name="T12" fmla="*/ 0 w 125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9" h="28">
                  <a:moveTo>
                    <a:pt x="0" y="0"/>
                  </a:moveTo>
                  <a:lnTo>
                    <a:pt x="0" y="28"/>
                  </a:lnTo>
                  <a:lnTo>
                    <a:pt x="1245" y="28"/>
                  </a:lnTo>
                  <a:lnTo>
                    <a:pt x="1259" y="14"/>
                  </a:lnTo>
                  <a:lnTo>
                    <a:pt x="1259" y="0"/>
                  </a:lnTo>
                  <a:lnTo>
                    <a:pt x="12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45" name="Freeform 53">
              <a:extLst>
                <a:ext uri="{FF2B5EF4-FFF2-40B4-BE49-F238E27FC236}">
                  <a16:creationId xmlns:a16="http://schemas.microsoft.com/office/drawing/2014/main" id="{D40C7614-5122-4FCB-8421-6512027378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2813"/>
              <a:ext cx="154" cy="237"/>
            </a:xfrm>
            <a:custGeom>
              <a:avLst/>
              <a:gdLst>
                <a:gd name="T0" fmla="*/ 28 w 154"/>
                <a:gd name="T1" fmla="*/ 0 h 237"/>
                <a:gd name="T2" fmla="*/ 0 w 154"/>
                <a:gd name="T3" fmla="*/ 14 h 237"/>
                <a:gd name="T4" fmla="*/ 112 w 154"/>
                <a:gd name="T5" fmla="*/ 237 h 237"/>
                <a:gd name="T6" fmla="*/ 126 w 154"/>
                <a:gd name="T7" fmla="*/ 237 h 237"/>
                <a:gd name="T8" fmla="*/ 154 w 154"/>
                <a:gd name="T9" fmla="*/ 237 h 237"/>
                <a:gd name="T10" fmla="*/ 140 w 154"/>
                <a:gd name="T11" fmla="*/ 223 h 237"/>
                <a:gd name="T12" fmla="*/ 28 w 154"/>
                <a:gd name="T13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4" h="237">
                  <a:moveTo>
                    <a:pt x="28" y="0"/>
                  </a:moveTo>
                  <a:lnTo>
                    <a:pt x="0" y="14"/>
                  </a:lnTo>
                  <a:lnTo>
                    <a:pt x="112" y="237"/>
                  </a:lnTo>
                  <a:lnTo>
                    <a:pt x="126" y="237"/>
                  </a:lnTo>
                  <a:lnTo>
                    <a:pt x="154" y="237"/>
                  </a:lnTo>
                  <a:lnTo>
                    <a:pt x="140" y="223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46" name="Freeform 54">
              <a:extLst>
                <a:ext uri="{FF2B5EF4-FFF2-40B4-BE49-F238E27FC236}">
                  <a16:creationId xmlns:a16="http://schemas.microsoft.com/office/drawing/2014/main" id="{5625DE10-F33A-49C9-9161-C63743642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" y="3022"/>
              <a:ext cx="1525" cy="28"/>
            </a:xfrm>
            <a:custGeom>
              <a:avLst/>
              <a:gdLst>
                <a:gd name="T0" fmla="*/ 1525 w 1525"/>
                <a:gd name="T1" fmla="*/ 28 h 28"/>
                <a:gd name="T2" fmla="*/ 1525 w 1525"/>
                <a:gd name="T3" fmla="*/ 0 h 28"/>
                <a:gd name="T4" fmla="*/ 28 w 1525"/>
                <a:gd name="T5" fmla="*/ 0 h 28"/>
                <a:gd name="T6" fmla="*/ 14 w 1525"/>
                <a:gd name="T7" fmla="*/ 14 h 28"/>
                <a:gd name="T8" fmla="*/ 0 w 1525"/>
                <a:gd name="T9" fmla="*/ 28 h 28"/>
                <a:gd name="T10" fmla="*/ 28 w 1525"/>
                <a:gd name="T11" fmla="*/ 28 h 28"/>
                <a:gd name="T12" fmla="*/ 1525 w 1525"/>
                <a:gd name="T1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5" h="28">
                  <a:moveTo>
                    <a:pt x="1525" y="28"/>
                  </a:moveTo>
                  <a:lnTo>
                    <a:pt x="1525" y="0"/>
                  </a:lnTo>
                  <a:lnTo>
                    <a:pt x="28" y="0"/>
                  </a:lnTo>
                  <a:lnTo>
                    <a:pt x="14" y="14"/>
                  </a:lnTo>
                  <a:lnTo>
                    <a:pt x="0" y="28"/>
                  </a:lnTo>
                  <a:lnTo>
                    <a:pt x="28" y="28"/>
                  </a:lnTo>
                  <a:lnTo>
                    <a:pt x="1525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47" name="Freeform 55">
              <a:extLst>
                <a:ext uri="{FF2B5EF4-FFF2-40B4-BE49-F238E27FC236}">
                  <a16:creationId xmlns:a16="http://schemas.microsoft.com/office/drawing/2014/main" id="{02921EFB-FB4B-43FA-84B2-AA1C8D49E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6" y="644"/>
              <a:ext cx="84" cy="139"/>
            </a:xfrm>
            <a:custGeom>
              <a:avLst/>
              <a:gdLst>
                <a:gd name="T0" fmla="*/ 84 w 84"/>
                <a:gd name="T1" fmla="*/ 0 h 139"/>
                <a:gd name="T2" fmla="*/ 42 w 84"/>
                <a:gd name="T3" fmla="*/ 139 h 139"/>
                <a:gd name="T4" fmla="*/ 0 w 84"/>
                <a:gd name="T5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139">
                  <a:moveTo>
                    <a:pt x="84" y="0"/>
                  </a:moveTo>
                  <a:lnTo>
                    <a:pt x="42" y="139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48" name="Freeform 56">
              <a:extLst>
                <a:ext uri="{FF2B5EF4-FFF2-40B4-BE49-F238E27FC236}">
                  <a16:creationId xmlns:a16="http://schemas.microsoft.com/office/drawing/2014/main" id="{4CD026F2-4C22-4C20-B940-ABFF2A434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" y="588"/>
              <a:ext cx="1722" cy="2267"/>
            </a:xfrm>
            <a:custGeom>
              <a:avLst/>
              <a:gdLst>
                <a:gd name="T0" fmla="*/ 1708 w 1722"/>
                <a:gd name="T1" fmla="*/ 2267 h 2267"/>
                <a:gd name="T2" fmla="*/ 854 w 1722"/>
                <a:gd name="T3" fmla="*/ 2267 h 2267"/>
                <a:gd name="T4" fmla="*/ 854 w 1722"/>
                <a:gd name="T5" fmla="*/ 1861 h 2267"/>
                <a:gd name="T6" fmla="*/ 0 w 1722"/>
                <a:gd name="T7" fmla="*/ 1861 h 2267"/>
                <a:gd name="T8" fmla="*/ 0 w 1722"/>
                <a:gd name="T9" fmla="*/ 0 h 2267"/>
                <a:gd name="T10" fmla="*/ 1722 w 1722"/>
                <a:gd name="T11" fmla="*/ 0 h 2267"/>
                <a:gd name="T12" fmla="*/ 1722 w 1722"/>
                <a:gd name="T13" fmla="*/ 56 h 2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22" h="2267">
                  <a:moveTo>
                    <a:pt x="1708" y="2267"/>
                  </a:moveTo>
                  <a:lnTo>
                    <a:pt x="854" y="2267"/>
                  </a:lnTo>
                  <a:lnTo>
                    <a:pt x="854" y="1861"/>
                  </a:lnTo>
                  <a:lnTo>
                    <a:pt x="0" y="1861"/>
                  </a:lnTo>
                  <a:lnTo>
                    <a:pt x="0" y="0"/>
                  </a:lnTo>
                  <a:lnTo>
                    <a:pt x="1722" y="0"/>
                  </a:lnTo>
                  <a:lnTo>
                    <a:pt x="1722" y="56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49" name="Line 57">
              <a:extLst>
                <a:ext uri="{FF2B5EF4-FFF2-40B4-BE49-F238E27FC236}">
                  <a16:creationId xmlns:a16="http://schemas.microsoft.com/office/drawing/2014/main" id="{DD8E7988-5A2F-48A5-93D3-C1B6ED801F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8" y="644"/>
              <a:ext cx="1" cy="13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1850" name="Group 58">
              <a:extLst>
                <a:ext uri="{FF2B5EF4-FFF2-40B4-BE49-F238E27FC236}">
                  <a16:creationId xmlns:a16="http://schemas.microsoft.com/office/drawing/2014/main" id="{1C9044CB-195F-4EE5-B0D7-EB55A95701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8" y="3596"/>
              <a:ext cx="1623" cy="336"/>
              <a:chOff x="2108" y="3596"/>
              <a:chExt cx="1623" cy="336"/>
            </a:xfrm>
          </p:grpSpPr>
          <p:sp>
            <p:nvSpPr>
              <p:cNvPr id="161851" name="AutoShape 59">
                <a:extLst>
                  <a:ext uri="{FF2B5EF4-FFF2-40B4-BE49-F238E27FC236}">
                    <a16:creationId xmlns:a16="http://schemas.microsoft.com/office/drawing/2014/main" id="{30985E20-A881-4AD9-AC13-C55A03763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8" y="3596"/>
                <a:ext cx="1623" cy="336"/>
              </a:xfrm>
              <a:prstGeom prst="roundRect">
                <a:avLst>
                  <a:gd name="adj" fmla="val 45833"/>
                </a:avLst>
              </a:prstGeom>
              <a:solidFill>
                <a:schemeClr val="bg1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852" name="Rectangle 60">
                <a:extLst>
                  <a:ext uri="{FF2B5EF4-FFF2-40B4-BE49-F238E27FC236}">
                    <a16:creationId xmlns:a16="http://schemas.microsoft.com/office/drawing/2014/main" id="{D5F1CF66-48F5-43B2-A132-CD59A5AA9D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2" y="3697"/>
                <a:ext cx="1488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Client acceptance test</a:t>
                </a:r>
                <a:endParaRPr lang="en-US" altLang="en-US" sz="2400"/>
              </a:p>
            </p:txBody>
          </p:sp>
        </p:grpSp>
        <p:grpSp>
          <p:nvGrpSpPr>
            <p:cNvPr id="161853" name="Group 61">
              <a:extLst>
                <a:ext uri="{FF2B5EF4-FFF2-40B4-BE49-F238E27FC236}">
                  <a16:creationId xmlns:a16="http://schemas.microsoft.com/office/drawing/2014/main" id="{18EEE820-E67F-45F7-A317-907AFFE39E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7" y="3596"/>
              <a:ext cx="1637" cy="336"/>
              <a:chOff x="3857" y="3596"/>
              <a:chExt cx="1637" cy="336"/>
            </a:xfrm>
          </p:grpSpPr>
          <p:sp>
            <p:nvSpPr>
              <p:cNvPr id="161854" name="AutoShape 62">
                <a:extLst>
                  <a:ext uri="{FF2B5EF4-FFF2-40B4-BE49-F238E27FC236}">
                    <a16:creationId xmlns:a16="http://schemas.microsoft.com/office/drawing/2014/main" id="{1A5EF6B8-EA8D-4B40-A629-02122969A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7" y="3596"/>
                <a:ext cx="1637" cy="336"/>
              </a:xfrm>
              <a:prstGeom prst="roundRect">
                <a:avLst>
                  <a:gd name="adj" fmla="val 45833"/>
                </a:avLst>
              </a:prstGeom>
              <a:solidFill>
                <a:schemeClr val="bg1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855" name="Rectangle 63">
                <a:extLst>
                  <a:ext uri="{FF2B5EF4-FFF2-40B4-BE49-F238E27FC236}">
                    <a16:creationId xmlns:a16="http://schemas.microsoft.com/office/drawing/2014/main" id="{8FB43605-369E-47A3-8CC8-3394CC407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1" y="3697"/>
                <a:ext cx="67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Postmortem</a:t>
                </a:r>
                <a:endParaRPr lang="en-US" altLang="en-US" sz="2400"/>
              </a:p>
            </p:txBody>
          </p:sp>
        </p:grpSp>
        <p:sp>
          <p:nvSpPr>
            <p:cNvPr id="161856" name="Line 64">
              <a:extLst>
                <a:ext uri="{FF2B5EF4-FFF2-40B4-BE49-F238E27FC236}">
                  <a16:creationId xmlns:a16="http://schemas.microsoft.com/office/drawing/2014/main" id="{15FB0FA9-EE98-472B-ABE2-AD5FADD75D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4" y="3456"/>
              <a:ext cx="1" cy="12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57" name="Freeform 65">
              <a:extLst>
                <a:ext uri="{FF2B5EF4-FFF2-40B4-BE49-F238E27FC236}">
                  <a16:creationId xmlns:a16="http://schemas.microsoft.com/office/drawing/2014/main" id="{CCB5D358-9055-44BE-BD9E-E4DAB4A95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2" y="3456"/>
              <a:ext cx="70" cy="126"/>
            </a:xfrm>
            <a:custGeom>
              <a:avLst/>
              <a:gdLst>
                <a:gd name="T0" fmla="*/ 70 w 70"/>
                <a:gd name="T1" fmla="*/ 0 h 126"/>
                <a:gd name="T2" fmla="*/ 42 w 70"/>
                <a:gd name="T3" fmla="*/ 126 h 126"/>
                <a:gd name="T4" fmla="*/ 0 w 70"/>
                <a:gd name="T5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0" h="126">
                  <a:moveTo>
                    <a:pt x="70" y="0"/>
                  </a:moveTo>
                  <a:lnTo>
                    <a:pt x="42" y="126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58" name="Freeform 66">
              <a:extLst>
                <a:ext uri="{FF2B5EF4-FFF2-40B4-BE49-F238E27FC236}">
                  <a16:creationId xmlns:a16="http://schemas.microsoft.com/office/drawing/2014/main" id="{A472A486-24A0-4376-9AE2-C2518D5D1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3274"/>
              <a:ext cx="1596" cy="182"/>
            </a:xfrm>
            <a:custGeom>
              <a:avLst/>
              <a:gdLst>
                <a:gd name="T0" fmla="*/ 1596 w 1596"/>
                <a:gd name="T1" fmla="*/ 0 h 182"/>
                <a:gd name="T2" fmla="*/ 1596 w 1596"/>
                <a:gd name="T3" fmla="*/ 154 h 182"/>
                <a:gd name="T4" fmla="*/ 0 w 1596"/>
                <a:gd name="T5" fmla="*/ 154 h 182"/>
                <a:gd name="T6" fmla="*/ 0 w 1596"/>
                <a:gd name="T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96" h="182">
                  <a:moveTo>
                    <a:pt x="1596" y="0"/>
                  </a:moveTo>
                  <a:lnTo>
                    <a:pt x="1596" y="154"/>
                  </a:lnTo>
                  <a:lnTo>
                    <a:pt x="0" y="154"/>
                  </a:lnTo>
                  <a:lnTo>
                    <a:pt x="0" y="182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59" name="Freeform 67">
              <a:extLst>
                <a:ext uri="{FF2B5EF4-FFF2-40B4-BE49-F238E27FC236}">
                  <a16:creationId xmlns:a16="http://schemas.microsoft.com/office/drawing/2014/main" id="{69D3AE32-9CC9-499D-9EE6-FD0A08E5F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1" y="3456"/>
              <a:ext cx="70" cy="126"/>
            </a:xfrm>
            <a:custGeom>
              <a:avLst/>
              <a:gdLst>
                <a:gd name="T0" fmla="*/ 70 w 70"/>
                <a:gd name="T1" fmla="*/ 0 h 126"/>
                <a:gd name="T2" fmla="*/ 28 w 70"/>
                <a:gd name="T3" fmla="*/ 126 h 126"/>
                <a:gd name="T4" fmla="*/ 0 w 70"/>
                <a:gd name="T5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0" h="126">
                  <a:moveTo>
                    <a:pt x="70" y="0"/>
                  </a:moveTo>
                  <a:lnTo>
                    <a:pt x="28" y="126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60" name="Freeform 68">
              <a:extLst>
                <a:ext uri="{FF2B5EF4-FFF2-40B4-BE49-F238E27FC236}">
                  <a16:creationId xmlns:a16="http://schemas.microsoft.com/office/drawing/2014/main" id="{6870081A-AE7D-4BA1-AE16-D5D66A8BAA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3" y="3274"/>
              <a:ext cx="1596" cy="182"/>
            </a:xfrm>
            <a:custGeom>
              <a:avLst/>
              <a:gdLst>
                <a:gd name="T0" fmla="*/ 0 w 1596"/>
                <a:gd name="T1" fmla="*/ 0 h 182"/>
                <a:gd name="T2" fmla="*/ 0 w 1596"/>
                <a:gd name="T3" fmla="*/ 154 h 182"/>
                <a:gd name="T4" fmla="*/ 1596 w 1596"/>
                <a:gd name="T5" fmla="*/ 154 h 182"/>
                <a:gd name="T6" fmla="*/ 1596 w 1596"/>
                <a:gd name="T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96" h="182">
                  <a:moveTo>
                    <a:pt x="0" y="0"/>
                  </a:moveTo>
                  <a:lnTo>
                    <a:pt x="0" y="154"/>
                  </a:lnTo>
                  <a:lnTo>
                    <a:pt x="1596" y="154"/>
                  </a:lnTo>
                  <a:lnTo>
                    <a:pt x="1596" y="182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61" name="Line 69">
              <a:extLst>
                <a:ext uri="{FF2B5EF4-FFF2-40B4-BE49-F238E27FC236}">
                  <a16:creationId xmlns:a16="http://schemas.microsoft.com/office/drawing/2014/main" id="{976FBDA9-A73B-492B-84E9-3F6D6413C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9" y="3456"/>
              <a:ext cx="1" cy="12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62" name="Line 70">
              <a:extLst>
                <a:ext uri="{FF2B5EF4-FFF2-40B4-BE49-F238E27FC236}">
                  <a16:creationId xmlns:a16="http://schemas.microsoft.com/office/drawing/2014/main" id="{1FB4B2EF-4482-44E2-B78A-D3ECFCBFD6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4" y="1637"/>
              <a:ext cx="1" cy="14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63" name="Freeform 71">
              <a:extLst>
                <a:ext uri="{FF2B5EF4-FFF2-40B4-BE49-F238E27FC236}">
                  <a16:creationId xmlns:a16="http://schemas.microsoft.com/office/drawing/2014/main" id="{C6553EE5-4169-484E-BDF5-EE319B131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1637"/>
              <a:ext cx="84" cy="140"/>
            </a:xfrm>
            <a:custGeom>
              <a:avLst/>
              <a:gdLst>
                <a:gd name="T0" fmla="*/ 84 w 84"/>
                <a:gd name="T1" fmla="*/ 0 h 140"/>
                <a:gd name="T2" fmla="*/ 42 w 84"/>
                <a:gd name="T3" fmla="*/ 140 h 140"/>
                <a:gd name="T4" fmla="*/ 0 w 84"/>
                <a:gd name="T5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140">
                  <a:moveTo>
                    <a:pt x="84" y="0"/>
                  </a:moveTo>
                  <a:lnTo>
                    <a:pt x="42" y="14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64" name="Freeform 72">
              <a:extLst>
                <a:ext uri="{FF2B5EF4-FFF2-40B4-BE49-F238E27FC236}">
                  <a16:creationId xmlns:a16="http://schemas.microsoft.com/office/drawing/2014/main" id="{D115C676-AE05-49F0-8259-E81EFA532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1469"/>
              <a:ext cx="826" cy="168"/>
            </a:xfrm>
            <a:custGeom>
              <a:avLst/>
              <a:gdLst>
                <a:gd name="T0" fmla="*/ 826 w 826"/>
                <a:gd name="T1" fmla="*/ 168 h 168"/>
                <a:gd name="T2" fmla="*/ 826 w 826"/>
                <a:gd name="T3" fmla="*/ 112 h 168"/>
                <a:gd name="T4" fmla="*/ 0 w 826"/>
                <a:gd name="T5" fmla="*/ 112 h 168"/>
                <a:gd name="T6" fmla="*/ 0 w 826"/>
                <a:gd name="T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6" h="168">
                  <a:moveTo>
                    <a:pt x="826" y="168"/>
                  </a:moveTo>
                  <a:lnTo>
                    <a:pt x="826" y="112"/>
                  </a:lnTo>
                  <a:lnTo>
                    <a:pt x="0" y="112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1865" name="Group 73">
              <a:extLst>
                <a:ext uri="{FF2B5EF4-FFF2-40B4-BE49-F238E27FC236}">
                  <a16:creationId xmlns:a16="http://schemas.microsoft.com/office/drawing/2014/main" id="{F2924141-C705-45A9-BAA7-772E5AD6CA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1" y="2169"/>
              <a:ext cx="1637" cy="322"/>
              <a:chOff x="3941" y="2169"/>
              <a:chExt cx="1637" cy="322"/>
            </a:xfrm>
          </p:grpSpPr>
          <p:sp>
            <p:nvSpPr>
              <p:cNvPr id="161866" name="AutoShape 74">
                <a:extLst>
                  <a:ext uri="{FF2B5EF4-FFF2-40B4-BE49-F238E27FC236}">
                    <a16:creationId xmlns:a16="http://schemas.microsoft.com/office/drawing/2014/main" id="{DDA40F89-EA3D-439D-9A7B-93A33C8831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1" y="2169"/>
                <a:ext cx="1637" cy="322"/>
              </a:xfrm>
              <a:prstGeom prst="roundRect">
                <a:avLst>
                  <a:gd name="adj" fmla="val 47824"/>
                </a:avLst>
              </a:prstGeom>
              <a:solidFill>
                <a:schemeClr val="bg1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867" name="Rectangle 75">
                <a:extLst>
                  <a:ext uri="{FF2B5EF4-FFF2-40B4-BE49-F238E27FC236}">
                    <a16:creationId xmlns:a16="http://schemas.microsoft.com/office/drawing/2014/main" id="{03B04B9B-D03E-410A-838F-28E17EBE8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0" y="2263"/>
                <a:ext cx="1150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Project agreement</a:t>
                </a:r>
                <a:endParaRPr lang="en-US" altLang="en-US" sz="2400"/>
              </a:p>
            </p:txBody>
          </p:sp>
        </p:grpSp>
        <p:grpSp>
          <p:nvGrpSpPr>
            <p:cNvPr id="161868" name="Group 76">
              <a:extLst>
                <a:ext uri="{FF2B5EF4-FFF2-40B4-BE49-F238E27FC236}">
                  <a16:creationId xmlns:a16="http://schemas.microsoft.com/office/drawing/2014/main" id="{541F7041-B004-4FE9-87D0-2A0C68A582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8" y="2169"/>
              <a:ext cx="1623" cy="322"/>
              <a:chOff x="2108" y="2169"/>
              <a:chExt cx="1623" cy="322"/>
            </a:xfrm>
          </p:grpSpPr>
          <p:sp>
            <p:nvSpPr>
              <p:cNvPr id="161869" name="AutoShape 77">
                <a:extLst>
                  <a:ext uri="{FF2B5EF4-FFF2-40B4-BE49-F238E27FC236}">
                    <a16:creationId xmlns:a16="http://schemas.microsoft.com/office/drawing/2014/main" id="{8CF8A0DE-DA4C-4FAE-818E-D5AF30A68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8" y="2169"/>
                <a:ext cx="1623" cy="322"/>
              </a:xfrm>
              <a:prstGeom prst="roundRect">
                <a:avLst>
                  <a:gd name="adj" fmla="val 47824"/>
                </a:avLst>
              </a:prstGeom>
              <a:solidFill>
                <a:schemeClr val="bg1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870" name="Rectangle 78">
                <a:extLst>
                  <a:ext uri="{FF2B5EF4-FFF2-40B4-BE49-F238E27FC236}">
                    <a16:creationId xmlns:a16="http://schemas.microsoft.com/office/drawing/2014/main" id="{369E1F3B-5217-4C16-ADE9-2A4B887F36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2263"/>
                <a:ext cx="1218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Project replanning</a:t>
                </a:r>
                <a:endParaRPr lang="en-US" altLang="en-US" sz="2400"/>
              </a:p>
            </p:txBody>
          </p:sp>
        </p:grpSp>
        <p:grpSp>
          <p:nvGrpSpPr>
            <p:cNvPr id="161871" name="Group 79">
              <a:extLst>
                <a:ext uri="{FF2B5EF4-FFF2-40B4-BE49-F238E27FC236}">
                  <a16:creationId xmlns:a16="http://schemas.microsoft.com/office/drawing/2014/main" id="{0056DD3D-44BF-4819-B7C3-461534E7B8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70" y="1161"/>
              <a:ext cx="1624" cy="322"/>
              <a:chOff x="1170" y="1161"/>
              <a:chExt cx="1624" cy="322"/>
            </a:xfrm>
          </p:grpSpPr>
          <p:sp>
            <p:nvSpPr>
              <p:cNvPr id="161872" name="AutoShape 80">
                <a:extLst>
                  <a:ext uri="{FF2B5EF4-FFF2-40B4-BE49-F238E27FC236}">
                    <a16:creationId xmlns:a16="http://schemas.microsoft.com/office/drawing/2014/main" id="{471F060D-0443-4A8F-A51E-9F66A58D31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0" y="1161"/>
                <a:ext cx="1624" cy="322"/>
              </a:xfrm>
              <a:prstGeom prst="roundRect">
                <a:avLst>
                  <a:gd name="adj" fmla="val 47824"/>
                </a:avLst>
              </a:prstGeom>
              <a:solidFill>
                <a:schemeClr val="bg1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873" name="Rectangle 81">
                <a:extLst>
                  <a:ext uri="{FF2B5EF4-FFF2-40B4-BE49-F238E27FC236}">
                    <a16:creationId xmlns:a16="http://schemas.microsoft.com/office/drawing/2014/main" id="{3BA99C10-AC8B-4D78-BD2E-C46D261A49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2" y="1255"/>
                <a:ext cx="1150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Status monitoring</a:t>
                </a:r>
                <a:endParaRPr lang="en-US" altLang="en-US" sz="2400"/>
              </a:p>
            </p:txBody>
          </p:sp>
        </p:grpSp>
        <p:grpSp>
          <p:nvGrpSpPr>
            <p:cNvPr id="161874" name="Group 82">
              <a:extLst>
                <a:ext uri="{FF2B5EF4-FFF2-40B4-BE49-F238E27FC236}">
                  <a16:creationId xmlns:a16="http://schemas.microsoft.com/office/drawing/2014/main" id="{A8B49CDB-EDF1-4969-8EC4-1C053F6A9C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5" y="1161"/>
              <a:ext cx="1638" cy="322"/>
              <a:chOff x="3045" y="1161"/>
              <a:chExt cx="1638" cy="322"/>
            </a:xfrm>
          </p:grpSpPr>
          <p:sp>
            <p:nvSpPr>
              <p:cNvPr id="161875" name="AutoShape 83">
                <a:extLst>
                  <a:ext uri="{FF2B5EF4-FFF2-40B4-BE49-F238E27FC236}">
                    <a16:creationId xmlns:a16="http://schemas.microsoft.com/office/drawing/2014/main" id="{BDBED939-070D-4E48-B2DA-A8273E668A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1161"/>
                <a:ext cx="1638" cy="322"/>
              </a:xfrm>
              <a:prstGeom prst="roundRect">
                <a:avLst>
                  <a:gd name="adj" fmla="val 47824"/>
                </a:avLst>
              </a:prstGeom>
              <a:solidFill>
                <a:schemeClr val="bg1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876" name="Rectangle 84">
                <a:extLst>
                  <a:ext uri="{FF2B5EF4-FFF2-40B4-BE49-F238E27FC236}">
                    <a16:creationId xmlns:a16="http://schemas.microsoft.com/office/drawing/2014/main" id="{C87403B4-9FB3-48CF-8FA8-CF49E76164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1" y="1255"/>
                <a:ext cx="10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Risk management</a:t>
                </a:r>
                <a:endParaRPr lang="en-US" altLang="en-US" sz="2400"/>
              </a:p>
            </p:txBody>
          </p:sp>
        </p:grpSp>
        <p:grpSp>
          <p:nvGrpSpPr>
            <p:cNvPr id="161877" name="Group 85">
              <a:extLst>
                <a:ext uri="{FF2B5EF4-FFF2-40B4-BE49-F238E27FC236}">
                  <a16:creationId xmlns:a16="http://schemas.microsoft.com/office/drawing/2014/main" id="{2922FC31-D674-4E3F-91C2-A7B82D172E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8" y="66"/>
              <a:ext cx="1623" cy="336"/>
              <a:chOff x="2108" y="66"/>
              <a:chExt cx="1623" cy="336"/>
            </a:xfrm>
          </p:grpSpPr>
          <p:sp>
            <p:nvSpPr>
              <p:cNvPr id="161878" name="AutoShape 86">
                <a:extLst>
                  <a:ext uri="{FF2B5EF4-FFF2-40B4-BE49-F238E27FC236}">
                    <a16:creationId xmlns:a16="http://schemas.microsoft.com/office/drawing/2014/main" id="{CD8A0024-F3F9-4405-BF14-6B2C44CBCA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8" y="66"/>
                <a:ext cx="1623" cy="336"/>
              </a:xfrm>
              <a:prstGeom prst="roundRect">
                <a:avLst>
                  <a:gd name="adj" fmla="val 45833"/>
                </a:avLst>
              </a:prstGeom>
              <a:solidFill>
                <a:schemeClr val="bg1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879" name="Rectangle 87">
                <a:extLst>
                  <a:ext uri="{FF2B5EF4-FFF2-40B4-BE49-F238E27FC236}">
                    <a16:creationId xmlns:a16="http://schemas.microsoft.com/office/drawing/2014/main" id="{F2F8FC4B-E14E-402C-ADA8-7612A05A2D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7" y="167"/>
                <a:ext cx="10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Project kickoff</a:t>
                </a:r>
                <a:endParaRPr lang="en-US" altLang="en-US" sz="2400"/>
              </a:p>
            </p:txBody>
          </p:sp>
        </p:grp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02796-0DD1-410C-BB85-F2E6B58EF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Management Methodologies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8992D-CC10-44AC-B3D3-2BEA385D2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frameworks, </a:t>
            </a:r>
            <a:r>
              <a:rPr lang="en-US" dirty="0" smtClean="0"/>
              <a:t>standards, </a:t>
            </a:r>
            <a:r>
              <a:rPr lang="en-US" dirty="0"/>
              <a:t>and methodologies with respect to project management have been established. For example: </a:t>
            </a:r>
          </a:p>
          <a:p>
            <a:pPr lvl="1"/>
            <a:r>
              <a:rPr lang="en-US" dirty="0"/>
              <a:t>PMBOK</a:t>
            </a:r>
          </a:p>
          <a:p>
            <a:pPr lvl="1"/>
            <a:r>
              <a:rPr lang="en-US" dirty="0" smtClean="0"/>
              <a:t>Prince2</a:t>
            </a:r>
            <a:endParaRPr lang="en-US" dirty="0"/>
          </a:p>
          <a:p>
            <a:pPr lvl="1"/>
            <a:r>
              <a:rPr lang="en-US" dirty="0"/>
              <a:t>Agile Project </a:t>
            </a:r>
            <a:r>
              <a:rPr lang="en-US" dirty="0" smtClean="0"/>
              <a:t>Management</a:t>
            </a:r>
          </a:p>
          <a:p>
            <a:pPr lvl="1"/>
            <a:r>
              <a:rPr lang="en-US" dirty="0" smtClean="0"/>
              <a:t>Waterfall</a:t>
            </a:r>
          </a:p>
          <a:p>
            <a:pPr lvl="1"/>
            <a:r>
              <a:rPr lang="en-US" dirty="0" smtClean="0"/>
              <a:t>Scrum</a:t>
            </a:r>
          </a:p>
          <a:p>
            <a:pPr lvl="1"/>
            <a:r>
              <a:rPr lang="en-US" dirty="0" smtClean="0"/>
              <a:t>Kanban</a:t>
            </a:r>
          </a:p>
          <a:p>
            <a:pPr lvl="1"/>
            <a:r>
              <a:rPr lang="en-US" dirty="0"/>
              <a:t>Six Sigma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26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59022-976D-4AF8-B088-5126908CA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PMBOK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9ABFD-C264-4857-A3E2-83CF3AD70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Full Name: </a:t>
            </a:r>
            <a:r>
              <a:rPr lang="en-US" dirty="0"/>
              <a:t>Project Management Body of Knowledge (PMBOK)</a:t>
            </a:r>
          </a:p>
          <a:p>
            <a:r>
              <a:rPr lang="en-US" b="1" dirty="0"/>
              <a:t>Publisher: </a:t>
            </a:r>
            <a:r>
              <a:rPr lang="en-US" dirty="0"/>
              <a:t>Project Management Institute (PMI)</a:t>
            </a:r>
          </a:p>
          <a:p>
            <a:r>
              <a:rPr lang="en-US" b="1" dirty="0"/>
              <a:t>Recognized by: </a:t>
            </a:r>
            <a:r>
              <a:rPr lang="en-US" dirty="0"/>
              <a:t>ANSI, IEEE, </a:t>
            </a:r>
            <a:r>
              <a:rPr lang="en-US" b="1" dirty="0"/>
              <a:t>Popular in USA</a:t>
            </a:r>
          </a:p>
          <a:p>
            <a:r>
              <a:rPr lang="en-US" b="1" dirty="0"/>
              <a:t>Defines 47 processes </a:t>
            </a:r>
            <a:r>
              <a:rPr lang="en-US" dirty="0"/>
              <a:t>→ tools &amp; techniques to achieve project results</a:t>
            </a:r>
          </a:p>
          <a:p>
            <a:pPr lvl="1"/>
            <a:r>
              <a:rPr lang="en-US" dirty="0"/>
              <a:t>Organized into 5 Process Groups: 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Initiating, 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Planning, 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Executing, 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Monitoring &amp; Controlling, 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Closing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05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B579F-14EB-44F7-8CD2-2C2BDB3B6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PMBOK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EDDB1-A4E3-4930-AC92-9D4F89E55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Additionally, PMBOK also organizes these 47 processes into 10 Knowledge Areas:</a:t>
            </a:r>
          </a:p>
          <a:p>
            <a:pPr lvl="1"/>
            <a:r>
              <a:rPr lang="en-US" dirty="0"/>
              <a:t>Project Integration Management</a:t>
            </a:r>
          </a:p>
          <a:p>
            <a:pPr lvl="1"/>
            <a:r>
              <a:rPr lang="en-US" dirty="0"/>
              <a:t>Project Scope management</a:t>
            </a:r>
          </a:p>
          <a:p>
            <a:pPr lvl="1"/>
            <a:r>
              <a:rPr lang="en-US" dirty="0"/>
              <a:t>Project Schedule Management</a:t>
            </a:r>
          </a:p>
          <a:p>
            <a:pPr lvl="1"/>
            <a:r>
              <a:rPr lang="en-US" dirty="0"/>
              <a:t>Project Cost Management</a:t>
            </a:r>
          </a:p>
          <a:p>
            <a:pPr lvl="1"/>
            <a:r>
              <a:rPr lang="en-US" dirty="0"/>
              <a:t>Project Quality Management</a:t>
            </a:r>
          </a:p>
          <a:p>
            <a:pPr lvl="1"/>
            <a:r>
              <a:rPr lang="en-US" dirty="0"/>
              <a:t>Project Resource Management</a:t>
            </a:r>
          </a:p>
          <a:p>
            <a:pPr lvl="1"/>
            <a:r>
              <a:rPr lang="en-US" dirty="0"/>
              <a:t>Project Communications Management</a:t>
            </a:r>
          </a:p>
          <a:p>
            <a:pPr lvl="1"/>
            <a:r>
              <a:rPr lang="en-US" dirty="0"/>
              <a:t>Project Risk Management</a:t>
            </a:r>
          </a:p>
          <a:p>
            <a:pPr lvl="1"/>
            <a:r>
              <a:rPr lang="en-US" dirty="0"/>
              <a:t>Project Procurement Management</a:t>
            </a:r>
          </a:p>
          <a:p>
            <a:pPr lvl="1"/>
            <a:r>
              <a:rPr lang="en-US" dirty="0"/>
              <a:t>Project Stakeholder Management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5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61E5D-C884-4A15-ABF7-D0FDC2CA3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Prince2 Overview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BBA40A-4F4F-4CE5-9296-52E0D7C81B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40944"/>
            <a:ext cx="1005071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Name: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Controlled Environments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Origin: UK Government (Information Systems Projects)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 in: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UK, EU, Australia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41 activities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grouped into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 processes: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Starting Up a Project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Initiating a Project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Directing a Project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Controlling a Project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Product Delivery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6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a Stage Boundary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7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Closing a 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20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62A8-794C-48D1-A62C-1A0178C12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Project Management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A97E7E-6205-416B-AF15-758BEA729E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54526"/>
            <a:ext cx="9681594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Origin: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Agile Software Development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Waterfall approach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less structured, flexible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Agile Manifesto →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Core Values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Values focus on: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People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&amp; communication 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Collaboration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clients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Responding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change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FF0000"/>
                </a:solidFill>
              </a:rPr>
              <a:t>Welcome changes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FF0000"/>
                </a:solidFill>
              </a:rPr>
              <a:t>Simplicity and sustainable development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FF0000"/>
                </a:solidFill>
              </a:rPr>
              <a:t>Continuous reflection &amp; adjustment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FF0000"/>
                </a:solidFill>
              </a:rPr>
              <a:t>Early &amp; continuous delivery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369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 </a:t>
            </a:r>
            <a:r>
              <a:rPr lang="en-US" dirty="0" smtClean="0"/>
              <a:t>Project </a:t>
            </a:r>
            <a:r>
              <a:rPr lang="en-US" dirty="0"/>
              <a:t>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b="1" dirty="0"/>
              <a:t>visual project management method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/>
              <a:t>Work items are represented by </a:t>
            </a:r>
            <a:r>
              <a:rPr lang="en-US" b="1" dirty="0"/>
              <a:t>cards</a:t>
            </a:r>
            <a:r>
              <a:rPr lang="en-US" dirty="0"/>
              <a:t> (tasks</a:t>
            </a:r>
            <a:r>
              <a:rPr lang="en-US" dirty="0" smtClean="0"/>
              <a:t>).</a:t>
            </a:r>
          </a:p>
          <a:p>
            <a:pPr lvl="1"/>
            <a:r>
              <a:rPr lang="en-US" dirty="0"/>
              <a:t>A typical </a:t>
            </a:r>
            <a:r>
              <a:rPr lang="en-US" b="1" dirty="0"/>
              <a:t>Kanban board</a:t>
            </a:r>
            <a:r>
              <a:rPr lang="en-US" dirty="0"/>
              <a:t> has </a:t>
            </a:r>
            <a:r>
              <a:rPr lang="en-US" dirty="0" smtClean="0"/>
              <a:t>columns</a:t>
            </a:r>
          </a:p>
          <a:p>
            <a:pPr lvl="2"/>
            <a:r>
              <a:rPr lang="en-US" dirty="0"/>
              <a:t>To Do → In Progress → Review/Testing → </a:t>
            </a:r>
            <a:r>
              <a:rPr lang="en-US" dirty="0" smtClean="0"/>
              <a:t>Done</a:t>
            </a:r>
          </a:p>
          <a:p>
            <a:pPr marL="914400" lvl="2" indent="0">
              <a:buNone/>
            </a:pPr>
            <a:endParaRPr lang="en-US" dirty="0" smtClean="0"/>
          </a:p>
          <a:p>
            <a:r>
              <a:rPr lang="en-US" b="1" dirty="0"/>
              <a:t>Advantages of Kanban</a:t>
            </a:r>
          </a:p>
          <a:p>
            <a:pPr lvl="1"/>
            <a:r>
              <a:rPr lang="en-US" b="1" dirty="0"/>
              <a:t>Transparency</a:t>
            </a:r>
            <a:r>
              <a:rPr lang="en-US" dirty="0"/>
              <a:t> → Everyone can see what’s being worked on.</a:t>
            </a:r>
          </a:p>
          <a:p>
            <a:pPr lvl="1"/>
            <a:r>
              <a:rPr lang="en-US" b="1" dirty="0"/>
              <a:t>Flexibility</a:t>
            </a:r>
            <a:r>
              <a:rPr lang="en-US" dirty="0"/>
              <a:t> → Easy to reprioritize tasks.</a:t>
            </a:r>
          </a:p>
          <a:p>
            <a:pPr lvl="1"/>
            <a:r>
              <a:rPr lang="en-US" b="1" dirty="0"/>
              <a:t>Efficiency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b="1" dirty="0" smtClean="0"/>
              <a:t>Continuous </a:t>
            </a:r>
            <a:r>
              <a:rPr lang="en-US" b="1" dirty="0"/>
              <a:t>delivery</a:t>
            </a:r>
            <a:r>
              <a:rPr lang="en-US" dirty="0"/>
              <a:t> → Work is released as soon as it’s ready, not in big batches.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674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Kanban Board (Software Team)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7153605"/>
              </p:ext>
            </p:extLst>
          </p:nvPr>
        </p:nvGraphicFramePr>
        <p:xfrm>
          <a:off x="983410" y="2415396"/>
          <a:ext cx="10222303" cy="2408858"/>
        </p:xfrm>
        <a:graphic>
          <a:graphicData uri="http://schemas.openxmlformats.org/drawingml/2006/table">
            <a:tbl>
              <a:tblPr/>
              <a:tblGrid>
                <a:gridCol w="2592079">
                  <a:extLst>
                    <a:ext uri="{9D8B030D-6E8A-4147-A177-3AD203B41FA5}">
                      <a16:colId xmlns:a16="http://schemas.microsoft.com/office/drawing/2014/main" val="330216630"/>
                    </a:ext>
                  </a:extLst>
                </a:gridCol>
                <a:gridCol w="2592079">
                  <a:extLst>
                    <a:ext uri="{9D8B030D-6E8A-4147-A177-3AD203B41FA5}">
                      <a16:colId xmlns:a16="http://schemas.microsoft.com/office/drawing/2014/main" val="725044927"/>
                    </a:ext>
                  </a:extLst>
                </a:gridCol>
                <a:gridCol w="2592079">
                  <a:extLst>
                    <a:ext uri="{9D8B030D-6E8A-4147-A177-3AD203B41FA5}">
                      <a16:colId xmlns:a16="http://schemas.microsoft.com/office/drawing/2014/main" val="2866124540"/>
                    </a:ext>
                  </a:extLst>
                </a:gridCol>
                <a:gridCol w="2446066">
                  <a:extLst>
                    <a:ext uri="{9D8B030D-6E8A-4147-A177-3AD203B41FA5}">
                      <a16:colId xmlns:a16="http://schemas.microsoft.com/office/drawing/2014/main" val="1725432807"/>
                    </a:ext>
                  </a:extLst>
                </a:gridCol>
              </a:tblGrid>
              <a:tr h="53530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To 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In Progress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4354349"/>
                  </a:ext>
                </a:extLst>
              </a:tr>
              <a:tr h="936778">
                <a:tc>
                  <a:txBody>
                    <a:bodyPr/>
                    <a:lstStyle/>
                    <a:p>
                      <a:r>
                        <a:rPr lang="en-US" dirty="0"/>
                        <a:t>Task 1: Fix login bug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Task 4: Develop checkout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Task 5: Test payment gateway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Task 2: Update homepage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4771795"/>
                  </a:ext>
                </a:extLst>
              </a:tr>
              <a:tr h="936778">
                <a:tc>
                  <a:txBody>
                    <a:bodyPr/>
                    <a:lstStyle/>
                    <a:p>
                      <a:r>
                        <a:rPr lang="en-US"/>
                        <a:t>Task 3: Add user profile 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Task 6: Write documentation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Task 7: Deploy v1.2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664224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02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Agile framework that delivers value in </a:t>
            </a:r>
            <a:r>
              <a:rPr lang="en-US" b="1" dirty="0"/>
              <a:t>short, time-boxed iterations (Sprints)</a:t>
            </a:r>
            <a:r>
              <a:rPr lang="en-US" dirty="0"/>
              <a:t> of 2–4 weeks</a:t>
            </a:r>
            <a:r>
              <a:rPr lang="en-US" dirty="0" smtClean="0"/>
              <a:t>.</a:t>
            </a:r>
          </a:p>
          <a:p>
            <a:r>
              <a:rPr lang="en-US" b="1" dirty="0"/>
              <a:t>Key Roles:</a:t>
            </a:r>
            <a:endParaRPr lang="en-US" dirty="0"/>
          </a:p>
          <a:p>
            <a:pPr lvl="1"/>
            <a:r>
              <a:rPr lang="en-US" b="1" dirty="0"/>
              <a:t>Product Owner</a:t>
            </a:r>
            <a:r>
              <a:rPr lang="en-US" dirty="0"/>
              <a:t> – Represents the customer/business. Manages backlog &amp; priorities</a:t>
            </a:r>
          </a:p>
          <a:p>
            <a:pPr lvl="1"/>
            <a:r>
              <a:rPr lang="en-US" b="1" dirty="0"/>
              <a:t>Scrum Master</a:t>
            </a:r>
            <a:r>
              <a:rPr lang="en-US" dirty="0"/>
              <a:t> – A facilitator/coach for the team. Ensures Scrum principles are followed.</a:t>
            </a:r>
          </a:p>
          <a:p>
            <a:pPr lvl="1"/>
            <a:r>
              <a:rPr lang="en-US" b="1" dirty="0"/>
              <a:t>Development Team</a:t>
            </a:r>
            <a:r>
              <a:rPr lang="en-US" dirty="0"/>
              <a:t> – Cross-functional members (developers, testers, designers, etc</a:t>
            </a:r>
            <a:r>
              <a:rPr lang="en-US" dirty="0" smtClean="0"/>
              <a:t>.). </a:t>
            </a:r>
            <a:r>
              <a:rPr lang="en-US" dirty="0"/>
              <a:t>Self-organizing, delivers work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0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Scrum Events (Ceremonies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Scrum </a:t>
            </a:r>
            <a:r>
              <a:rPr lang="en-US" dirty="0"/>
              <a:t>has a fixed cycle of events:</a:t>
            </a:r>
          </a:p>
          <a:p>
            <a:r>
              <a:rPr lang="en-US" b="1" dirty="0"/>
              <a:t>Sprint Planning</a:t>
            </a:r>
            <a:r>
              <a:rPr lang="en-US" dirty="0"/>
              <a:t> – Decide what to work on in the upcoming sprint.</a:t>
            </a:r>
          </a:p>
          <a:p>
            <a:r>
              <a:rPr lang="en-US" b="1" dirty="0"/>
              <a:t>Daily Scrum (Stand-up Meeting)</a:t>
            </a:r>
            <a:r>
              <a:rPr lang="en-US" dirty="0"/>
              <a:t> – 15-minute daily check-in to track progress.</a:t>
            </a:r>
          </a:p>
          <a:p>
            <a:pPr lvl="1"/>
            <a:r>
              <a:rPr lang="en-US" dirty="0"/>
              <a:t>Each member answers:</a:t>
            </a:r>
          </a:p>
          <a:p>
            <a:pPr lvl="2"/>
            <a:r>
              <a:rPr lang="en-US" dirty="0"/>
              <a:t>What did I do yesterday?</a:t>
            </a:r>
          </a:p>
          <a:p>
            <a:pPr lvl="2"/>
            <a:r>
              <a:rPr lang="en-US" dirty="0"/>
              <a:t>What will I do today?</a:t>
            </a:r>
          </a:p>
          <a:p>
            <a:pPr lvl="2"/>
            <a:r>
              <a:rPr lang="en-US" dirty="0"/>
              <a:t>Any blockers?</a:t>
            </a:r>
          </a:p>
          <a:p>
            <a:r>
              <a:rPr lang="en-US" b="1" dirty="0"/>
              <a:t>Sprint Review</a:t>
            </a:r>
            <a:r>
              <a:rPr lang="en-US" dirty="0"/>
              <a:t> – Present completed work to stakeholders for feedback.</a:t>
            </a:r>
          </a:p>
          <a:p>
            <a:r>
              <a:rPr lang="en-US" b="1" dirty="0"/>
              <a:t>Sprint Retrospective</a:t>
            </a:r>
            <a:r>
              <a:rPr lang="en-US" dirty="0"/>
              <a:t> – Team reflects on what went well, what to improve, and adjusts for the next sprint.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343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D08B3-827A-4278-99E6-A6F051718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an IT Project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D0B30-98F0-4C4E-BF03-7FCF6FD9A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Responsibilities:</a:t>
            </a:r>
          </a:p>
          <a:p>
            <a:pPr lvl="1"/>
            <a:r>
              <a:rPr lang="en-US" dirty="0"/>
              <a:t>Plan, execute &amp; deliver IT projects</a:t>
            </a:r>
          </a:p>
          <a:p>
            <a:pPr lvl="1"/>
            <a:r>
              <a:rPr lang="en-US" dirty="0"/>
              <a:t>Balance scope, time, cost </a:t>
            </a:r>
          </a:p>
          <a:p>
            <a:pPr lvl="1"/>
            <a:r>
              <a:rPr lang="en-US" dirty="0"/>
              <a:t>Lead cross-functional teams </a:t>
            </a:r>
          </a:p>
          <a:p>
            <a:pPr lvl="1"/>
            <a:r>
              <a:rPr lang="en-US" dirty="0"/>
              <a:t>Mitigate IT-specific risks </a:t>
            </a:r>
          </a:p>
          <a:p>
            <a:pPr lvl="1"/>
            <a:r>
              <a:rPr lang="en-US" dirty="0"/>
              <a:t>Ensure compliance &amp; quality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95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E609F-57FD-4822-A8FB-873094023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Challenges in IT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A0DAD-609F-4C82-87B3-8881CD9BE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Scope creep (changing requirements)</a:t>
            </a:r>
          </a:p>
          <a:p>
            <a:r>
              <a:rPr lang="en-US" dirty="0"/>
              <a:t>Rapid tech changes</a:t>
            </a:r>
          </a:p>
          <a:p>
            <a:r>
              <a:rPr lang="en-US" dirty="0"/>
              <a:t>Budget &amp; timeline overruns</a:t>
            </a:r>
          </a:p>
          <a:p>
            <a:r>
              <a:rPr lang="en-US" dirty="0"/>
              <a:t>Stakeholder conflicts</a:t>
            </a:r>
          </a:p>
          <a:p>
            <a:r>
              <a:rPr lang="en-US" dirty="0"/>
              <a:t>Integration with legacy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927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E3BEC-0DA9-4602-B668-9BAD53603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 dirty="0">
                <a:solidFill>
                  <a:srgbClr val="FF0000"/>
                </a:solidFill>
              </a:rPr>
              <a:t>Laws of Project Management !!!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44954-92EC-49DD-A071-A0E4DEFD1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Projects progress quickly until they are 90% complete. Then they remain at 90% complete forever.</a:t>
            </a:r>
          </a:p>
          <a:p>
            <a:r>
              <a:rPr lang="en-US" altLang="en-US" dirty="0"/>
              <a:t>When things are going well, something will go wrong. When things just can’t get worse, they will. When things appear to be going better, you have overlooked something.</a:t>
            </a:r>
          </a:p>
          <a:p>
            <a:r>
              <a:rPr lang="en-US" altLang="en-US" dirty="0"/>
              <a:t>If project content is allowed to change freely, the rate of change will exceed the rate of progress.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068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Assignment – Class 1: Introduction to Project </a:t>
            </a:r>
            <a:r>
              <a:rPr lang="en-US" b="1" dirty="0" smtClean="0"/>
              <a:t>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Instructions: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Choose </a:t>
            </a:r>
            <a:r>
              <a:rPr lang="en-US" b="1" dirty="0"/>
              <a:t>one real-life project</a:t>
            </a:r>
            <a:r>
              <a:rPr lang="en-US" dirty="0"/>
              <a:t> (personal, academic, or professional). Examples:</a:t>
            </a:r>
          </a:p>
          <a:p>
            <a:pPr lvl="1"/>
            <a:r>
              <a:rPr lang="en-US" dirty="0"/>
              <a:t>Developing a mobile app</a:t>
            </a:r>
          </a:p>
          <a:p>
            <a:pPr lvl="1"/>
            <a:r>
              <a:rPr lang="en-US" dirty="0"/>
              <a:t>Organizing a cultural program</a:t>
            </a:r>
          </a:p>
          <a:p>
            <a:pPr lvl="1"/>
            <a:r>
              <a:rPr lang="en-US" dirty="0"/>
              <a:t>Building a website</a:t>
            </a:r>
          </a:p>
          <a:p>
            <a:pPr lvl="1"/>
            <a:r>
              <a:rPr lang="en-US" dirty="0"/>
              <a:t>Planning a family trip</a:t>
            </a:r>
          </a:p>
          <a:p>
            <a:r>
              <a:rPr lang="en-US" b="1" dirty="0"/>
              <a:t>Tasks:</a:t>
            </a:r>
            <a:endParaRPr lang="en-US" dirty="0"/>
          </a:p>
          <a:p>
            <a:r>
              <a:rPr lang="en-US" b="1" dirty="0"/>
              <a:t>Identify the Goal</a:t>
            </a:r>
            <a:endParaRPr lang="en-US" dirty="0"/>
          </a:p>
          <a:p>
            <a:pPr lvl="1"/>
            <a:r>
              <a:rPr lang="en-US" dirty="0"/>
              <a:t>Clearly state the main objective of the project.</a:t>
            </a:r>
          </a:p>
          <a:p>
            <a:r>
              <a:rPr lang="en-US" b="1" dirty="0"/>
              <a:t>Identify Stakeholders</a:t>
            </a:r>
            <a:endParaRPr lang="en-US" dirty="0"/>
          </a:p>
          <a:p>
            <a:pPr lvl="1"/>
            <a:r>
              <a:rPr lang="en-US" dirty="0"/>
              <a:t>List at least 3–5 stakeholders (individuals/groups involved or affected).</a:t>
            </a:r>
          </a:p>
          <a:p>
            <a:pPr lvl="1"/>
            <a:r>
              <a:rPr lang="en-US" dirty="0"/>
              <a:t>Mention their role or interest in the project.</a:t>
            </a:r>
          </a:p>
          <a:p>
            <a:r>
              <a:rPr lang="en-US" b="1" dirty="0"/>
              <a:t>Identify Constraints (Iron Triangle)</a:t>
            </a:r>
            <a:endParaRPr lang="en-US" dirty="0"/>
          </a:p>
          <a:p>
            <a:pPr lvl="1"/>
            <a:r>
              <a:rPr lang="en-US" b="1" dirty="0"/>
              <a:t>Scope</a:t>
            </a:r>
            <a:r>
              <a:rPr lang="en-US" dirty="0"/>
              <a:t>: What will be delivered?</a:t>
            </a:r>
          </a:p>
          <a:p>
            <a:pPr lvl="1"/>
            <a:r>
              <a:rPr lang="en-US" b="1" dirty="0"/>
              <a:t>Time</a:t>
            </a:r>
            <a:r>
              <a:rPr lang="en-US" dirty="0"/>
              <a:t>: Estimated duration/deadlines.</a:t>
            </a:r>
          </a:p>
          <a:p>
            <a:pPr lvl="1"/>
            <a:r>
              <a:rPr lang="en-US" b="1" dirty="0"/>
              <a:t>Cost</a:t>
            </a:r>
            <a:r>
              <a:rPr lang="en-US" dirty="0"/>
              <a:t>: Budget/resources required.</a:t>
            </a:r>
          </a:p>
          <a:p>
            <a:pPr lvl="1"/>
            <a:r>
              <a:rPr lang="en-US" dirty="0"/>
              <a:t>(Also mention </a:t>
            </a:r>
            <a:r>
              <a:rPr lang="en-US" b="1" dirty="0"/>
              <a:t>Quality</a:t>
            </a:r>
            <a:r>
              <a:rPr lang="en-US" dirty="0"/>
              <a:t> as the “fourth constraint”).</a:t>
            </a:r>
          </a:p>
          <a:p>
            <a:r>
              <a:rPr lang="en-US" b="1" dirty="0"/>
              <a:t>Reflection</a:t>
            </a:r>
            <a:endParaRPr lang="en-US" dirty="0"/>
          </a:p>
          <a:p>
            <a:pPr lvl="1"/>
            <a:r>
              <a:rPr lang="en-US" dirty="0"/>
              <a:t>Write briefly (5–6 lines) about why managing these elements is important for project success.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DE5-C590-4B36-90EB-F135E088B7B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63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1074</Words>
  <Application>Microsoft Office PowerPoint</Application>
  <PresentationFormat>Widescreen</PresentationFormat>
  <Paragraphs>228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Courier</vt:lpstr>
      <vt:lpstr>Office Theme</vt:lpstr>
      <vt:lpstr>Project Management</vt:lpstr>
      <vt:lpstr>What is a Project?</vt:lpstr>
      <vt:lpstr>What is a Project?</vt:lpstr>
      <vt:lpstr>Project vs. Operations</vt:lpstr>
      <vt:lpstr>What is an IT Project?</vt:lpstr>
      <vt:lpstr>Project Agreement</vt:lpstr>
      <vt:lpstr>When is a project successful?</vt:lpstr>
      <vt:lpstr>What is Project Management?</vt:lpstr>
      <vt:lpstr>Project  Management Activities (continued on next slide)</vt:lpstr>
      <vt:lpstr>PowerPoint Presentation</vt:lpstr>
      <vt:lpstr>Project Management Methodologies</vt:lpstr>
      <vt:lpstr>PMBOK Overview</vt:lpstr>
      <vt:lpstr>PMBOK Overview</vt:lpstr>
      <vt:lpstr>Prince2 Overview</vt:lpstr>
      <vt:lpstr>Agile Project Management Overview</vt:lpstr>
      <vt:lpstr>Kanban Project Management</vt:lpstr>
      <vt:lpstr>Example of Kanban Board (Software Team)</vt:lpstr>
      <vt:lpstr>Scrum Method</vt:lpstr>
      <vt:lpstr>Scrum Events (Ceremonies)</vt:lpstr>
      <vt:lpstr>Role of an IT Project Manager</vt:lpstr>
      <vt:lpstr>Common Challenges in IT Projects</vt:lpstr>
      <vt:lpstr>Laws of Project Management !!!</vt:lpstr>
      <vt:lpstr>Assignment – Class 1: Introduction to Project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</dc:title>
  <dc:creator>User</dc:creator>
  <cp:lastModifiedBy>Windows User</cp:lastModifiedBy>
  <cp:revision>20</cp:revision>
  <dcterms:created xsi:type="dcterms:W3CDTF">2025-09-13T16:03:23Z</dcterms:created>
  <dcterms:modified xsi:type="dcterms:W3CDTF">2025-09-14T12:23:55Z</dcterms:modified>
</cp:coreProperties>
</file>