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83" r:id="rId5"/>
    <p:sldId id="284" r:id="rId6"/>
    <p:sldId id="296" r:id="rId7"/>
    <p:sldId id="285" r:id="rId8"/>
    <p:sldId id="287" r:id="rId9"/>
    <p:sldId id="286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7" r:id="rId19"/>
    <p:sldId id="29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83"/>
            <p14:sldId id="284"/>
            <p14:sldId id="296"/>
            <p14:sldId id="285"/>
            <p14:sldId id="287"/>
            <p14:sldId id="286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7"/>
            <p14:sldId id="298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41" autoAdjust="0"/>
  </p:normalViewPr>
  <p:slideViewPr>
    <p:cSldViewPr snapToGrid="0">
      <p:cViewPr varScale="1">
        <p:scale>
          <a:sx n="104" d="100"/>
          <a:sy n="104" d="100"/>
        </p:scale>
        <p:origin x="144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BB5F91B-8872-4D99-A55F-020D38DE0E16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DD7DB8D-6FA7-4975-9F91-08BCBFFFDE97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rike.com/blog/smart-goal-setting-how-to-write-your-team-s-smart-goal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931" y="2699550"/>
            <a:ext cx="6877119" cy="640080"/>
          </a:xfrm>
        </p:spPr>
        <p:txBody>
          <a:bodyPr/>
          <a:lstStyle/>
          <a:p>
            <a:pPr algn="ctr"/>
            <a:r>
              <a:rPr lang="en-US" dirty="0"/>
              <a:t>Project Initiation &amp; Planning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08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Charter &amp; Statement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5" y="1435607"/>
            <a:ext cx="6646309" cy="4706401"/>
          </a:xfrm>
        </p:spPr>
        <p:txBody>
          <a:bodyPr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project charter is a document that outlines the primary project objectives and assigns roles and responsibilities</a:t>
            </a:r>
            <a:r>
              <a:rPr lang="en-US" sz="18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 The</a:t>
            </a:r>
            <a:r>
              <a:rPr lang="en-US" sz="1800" dirty="0"/>
              <a:t> project </a:t>
            </a:r>
            <a:r>
              <a:rPr lang="en-US" sz="1800" dirty="0" smtClean="0"/>
              <a:t>charter</a:t>
            </a:r>
            <a:r>
              <a:rPr lang="en-US" sz="1800" dirty="0"/>
              <a:t> helps the involved project managers and the stakeholders understand what the given project is supposed to accomplish. </a:t>
            </a:r>
            <a:endParaRPr lang="en-US" sz="1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It </a:t>
            </a:r>
            <a:r>
              <a:rPr lang="en-US" sz="1800" dirty="0"/>
              <a:t>defines the project's scope, offers deadlines and milestones, and provides information on identified risks and the budget.</a:t>
            </a:r>
            <a:r>
              <a:rPr lang="en-US" dirty="0"/>
              <a:t> 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document remains with you throughout the project's life cycle. You’ll be referring to it throughout, whether at meetings or to assist with scope management. The charter acts as a </a:t>
            </a:r>
            <a:r>
              <a:rPr lang="en-US" sz="1800" dirty="0" smtClean="0"/>
              <a:t>roadmap.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 </a:t>
            </a:r>
            <a:r>
              <a:rPr lang="en-US" sz="1800" dirty="0" smtClean="0"/>
              <a:t>project manager</a:t>
            </a:r>
            <a:r>
              <a:rPr lang="en-US" sz="1800" dirty="0"/>
              <a:t> typically writes the project </a:t>
            </a:r>
            <a:r>
              <a:rPr lang="en-US" sz="1800" dirty="0" smtClean="0"/>
              <a:t>charter, </a:t>
            </a:r>
            <a:r>
              <a:rPr lang="en-US" sz="1800" dirty="0"/>
              <a:t>however, it requires collaboration with different stakeholders to be a success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64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Charter &amp; Statement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18726" y="2246491"/>
            <a:ext cx="4722618" cy="461150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u="sng" dirty="0"/>
              <a:t>Statement of </a:t>
            </a:r>
            <a:r>
              <a:rPr lang="en-US" sz="1600" b="1" u="sng" dirty="0" smtClean="0"/>
              <a:t>Work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 detailed </a:t>
            </a:r>
            <a:r>
              <a:rPr lang="en-US" sz="1600" b="1" u="sng" dirty="0">
                <a:solidFill>
                  <a:srgbClr val="C00000"/>
                </a:solidFill>
              </a:rPr>
              <a:t>contract-style document </a:t>
            </a:r>
            <a:r>
              <a:rPr lang="en-US" sz="1600" dirty="0"/>
              <a:t>that describes exactly what work will be performed and how deliverables will be </a:t>
            </a:r>
            <a:r>
              <a:rPr lang="en-US" sz="1600" dirty="0" smtClean="0"/>
              <a:t>produced.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SoW</a:t>
            </a:r>
            <a:r>
              <a:rPr lang="en-US" sz="1600" dirty="0"/>
              <a:t> is a purely technical document prepared by the vendor, outlining the technical solution and the services </a:t>
            </a:r>
            <a:r>
              <a:rPr lang="en-US" sz="1600" dirty="0" smtClean="0"/>
              <a:t>the </a:t>
            </a:r>
            <a:r>
              <a:rPr lang="en-US" sz="1600" dirty="0"/>
              <a:t>vendor is going to build or provide in a project</a:t>
            </a:r>
            <a:r>
              <a:rPr lang="en-US" sz="1600" dirty="0" smtClean="0"/>
              <a:t>.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 smtClean="0"/>
              <a:t>SoW</a:t>
            </a:r>
            <a:r>
              <a:rPr lang="en-US" sz="1600" dirty="0" smtClean="0"/>
              <a:t> is used externally by the company.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14394" y="1171676"/>
            <a:ext cx="5429983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 b="1" u="sng" dirty="0" smtClean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u="sng" dirty="0" smtClean="0"/>
              <a:t>Differences between Project Charter and </a:t>
            </a:r>
            <a:r>
              <a:rPr lang="en-US" sz="1600" b="1" u="sng" dirty="0" err="1" smtClean="0"/>
              <a:t>SoW</a:t>
            </a:r>
            <a:endParaRPr lang="en-US" sz="1600" b="1" u="sng" dirty="0" smtClean="0"/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155951"/>
              </p:ext>
            </p:extLst>
          </p:nvPr>
        </p:nvGraphicFramePr>
        <p:xfrm>
          <a:off x="6081517" y="2179011"/>
          <a:ext cx="5574723" cy="28046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>
                  <a:extLst>
                    <a:ext uri="{9D8B030D-6E8A-4147-A177-3AD203B41FA5}">
                      <a16:colId xmlns:a16="http://schemas.microsoft.com/office/drawing/2014/main" val="4128887696"/>
                    </a:ext>
                  </a:extLst>
                </a:gridCol>
                <a:gridCol w="2161309">
                  <a:extLst>
                    <a:ext uri="{9D8B030D-6E8A-4147-A177-3AD203B41FA5}">
                      <a16:colId xmlns:a16="http://schemas.microsoft.com/office/drawing/2014/main" val="453610717"/>
                    </a:ext>
                  </a:extLst>
                </a:gridCol>
                <a:gridCol w="2225964">
                  <a:extLst>
                    <a:ext uri="{9D8B030D-6E8A-4147-A177-3AD203B41FA5}">
                      <a16:colId xmlns:a16="http://schemas.microsoft.com/office/drawing/2014/main" val="1755564423"/>
                    </a:ext>
                  </a:extLst>
                </a:gridCol>
              </a:tblGrid>
              <a:tr h="3224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u="sng" dirty="0">
                          <a:effectLst/>
                        </a:rPr>
                        <a:t>Aspect</a:t>
                      </a:r>
                      <a:endParaRPr lang="en-US" sz="12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u="sng">
                          <a:effectLst/>
                        </a:rPr>
                        <a:t>Project Charter</a:t>
                      </a:r>
                      <a:endParaRPr lang="en-US" sz="1200" b="1" u="sng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u="sng" dirty="0">
                          <a:effectLst/>
                        </a:rPr>
                        <a:t>Statement of Work (SOW)</a:t>
                      </a:r>
                      <a:endParaRPr lang="en-US" sz="12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extLst>
                  <a:ext uri="{0D108BD9-81ED-4DB2-BD59-A6C34878D82A}">
                    <a16:rowId xmlns:a16="http://schemas.microsoft.com/office/drawing/2014/main" val="3403095320"/>
                  </a:ext>
                </a:extLst>
              </a:tr>
              <a:tr h="5159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Level of Detail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High-level, summary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Very detailed, technical, and contractual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extLst>
                  <a:ext uri="{0D108BD9-81ED-4DB2-BD59-A6C34878D82A}">
                    <a16:rowId xmlns:a16="http://schemas.microsoft.com/office/drawing/2014/main" val="2418478208"/>
                  </a:ext>
                </a:extLst>
              </a:tr>
              <a:tr h="4195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Prepared by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Project sponsor/initiator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Client (buyer) or jointly with the vendor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extLst>
                  <a:ext uri="{0D108BD9-81ED-4DB2-BD59-A6C34878D82A}">
                    <a16:rowId xmlns:a16="http://schemas.microsoft.com/office/drawing/2014/main" val="1933536336"/>
                  </a:ext>
                </a:extLst>
              </a:tr>
              <a:tr h="6130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Focus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Why the project is done, who is involved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What will be delivered, how, when, and under what conditions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extLst>
                  <a:ext uri="{0D108BD9-81ED-4DB2-BD59-A6C34878D82A}">
                    <a16:rowId xmlns:a16="http://schemas.microsoft.com/office/drawing/2014/main" val="2296460692"/>
                  </a:ext>
                </a:extLst>
              </a:tr>
              <a:tr h="5000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Formality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Internal project authorization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Often contractual (can be legally binding)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extLst>
                  <a:ext uri="{0D108BD9-81ED-4DB2-BD59-A6C34878D82A}">
                    <a16:rowId xmlns:a16="http://schemas.microsoft.com/office/drawing/2014/main" val="3057768054"/>
                  </a:ext>
                </a:extLst>
              </a:tr>
              <a:tr h="4195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Timing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Created at project initiation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Created before execution or contracting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47" marR="32547" marT="16023" marB="16023" anchor="ctr"/>
                </a:tc>
                <a:extLst>
                  <a:ext uri="{0D108BD9-81ED-4DB2-BD59-A6C34878D82A}">
                    <a16:rowId xmlns:a16="http://schemas.microsoft.com/office/drawing/2014/main" val="1568945976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 descr="Statement of work template tit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914" y="5149316"/>
            <a:ext cx="4731538" cy="125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67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9683842" cy="64008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Write a Project Charter: Key Elements of a Project </a:t>
            </a:r>
            <a:r>
              <a:rPr lang="en-US" dirty="0" smtClean="0"/>
              <a:t>Charter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5" y="1435607"/>
            <a:ext cx="5274709" cy="4878929"/>
          </a:xfrm>
        </p:spPr>
        <p:txBody>
          <a:bodyPr>
            <a:normAutofit/>
          </a:bodyPr>
          <a:lstStyle/>
          <a:p>
            <a:r>
              <a:rPr lang="en-US" sz="1800" dirty="0"/>
              <a:t>The project charter typically documents the following parts of the project:</a:t>
            </a:r>
          </a:p>
          <a:p>
            <a:pPr marL="400050" lvl="1" indent="-1714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State the Project Information</a:t>
            </a:r>
          </a:p>
          <a:p>
            <a:pPr marL="400050" lvl="1" indent="-1714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Project </a:t>
            </a:r>
            <a:r>
              <a:rPr lang="en-US" sz="1800" dirty="0"/>
              <a:t>objectives and constraints </a:t>
            </a:r>
            <a:endParaRPr lang="en-US" sz="1800" dirty="0" smtClean="0"/>
          </a:p>
          <a:p>
            <a:pPr marL="400050" lvl="1" indent="-1714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Key stakeholders</a:t>
            </a:r>
          </a:p>
          <a:p>
            <a:pPr marL="400050" lvl="1" indent="-1714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Risks identified</a:t>
            </a:r>
          </a:p>
          <a:p>
            <a:pPr marL="400050" lvl="1" indent="-1714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Benefits </a:t>
            </a:r>
            <a:r>
              <a:rPr lang="en-US" sz="1800" dirty="0"/>
              <a:t>of the </a:t>
            </a:r>
            <a:r>
              <a:rPr lang="en-US" sz="1800" dirty="0" smtClean="0"/>
              <a:t>project</a:t>
            </a:r>
          </a:p>
          <a:p>
            <a:pPr marL="400050" lvl="1" indent="-1714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General </a:t>
            </a:r>
            <a:r>
              <a:rPr lang="en-US" sz="1800" dirty="0"/>
              <a:t>overview of the </a:t>
            </a:r>
            <a:r>
              <a:rPr lang="en-US" sz="1800" dirty="0" smtClean="0"/>
              <a:t>budget</a:t>
            </a:r>
          </a:p>
          <a:p>
            <a:pPr marL="400050" lvl="1" indent="-1714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Success </a:t>
            </a:r>
            <a:r>
              <a:rPr lang="en-US" sz="1800" dirty="0"/>
              <a:t>metrics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40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State the Project </a:t>
            </a:r>
            <a:r>
              <a:rPr lang="en-US" b="1" dirty="0" smtClean="0"/>
              <a:t>Information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5" y="1435608"/>
            <a:ext cx="4808881" cy="4922060"/>
          </a:xfrm>
        </p:spPr>
        <p:txBody>
          <a:bodyPr>
            <a:normAutofit/>
          </a:bodyPr>
          <a:lstStyle/>
          <a:p>
            <a:r>
              <a:rPr lang="en-US" sz="1900" dirty="0"/>
              <a:t>This first section in your project charter is where you’ll include your project’s general information, such </a:t>
            </a:r>
            <a:r>
              <a:rPr lang="en-US" sz="1900" dirty="0" smtClean="0"/>
              <a:t>as:</a:t>
            </a:r>
          </a:p>
          <a:p>
            <a:pPr marL="400050" lvl="1" indent="-171450">
              <a:lnSpc>
                <a:spcPct val="110000"/>
              </a:lnSpc>
              <a:spcAft>
                <a:spcPts val="600"/>
              </a:spcAft>
            </a:pPr>
            <a:r>
              <a:rPr lang="en-US" sz="1600" dirty="0"/>
              <a:t>N</a:t>
            </a:r>
            <a:r>
              <a:rPr lang="en-US" sz="1600" dirty="0" smtClean="0"/>
              <a:t>ame</a:t>
            </a:r>
            <a:r>
              <a:rPr lang="en-US" sz="1600" dirty="0"/>
              <a:t>, </a:t>
            </a:r>
            <a:endParaRPr lang="en-US" sz="1600" dirty="0" smtClean="0"/>
          </a:p>
          <a:p>
            <a:pPr marL="400050" lvl="1" indent="-171450">
              <a:lnSpc>
                <a:spcPct val="110000"/>
              </a:lnSpc>
              <a:spcAft>
                <a:spcPts val="600"/>
              </a:spcAft>
            </a:pPr>
            <a:r>
              <a:rPr lang="en-US" sz="1600" dirty="0" smtClean="0"/>
              <a:t>Description</a:t>
            </a:r>
          </a:p>
          <a:p>
            <a:pPr marL="400050" lvl="1" indent="-171450">
              <a:lnSpc>
                <a:spcPct val="110000"/>
              </a:lnSpc>
              <a:spcAft>
                <a:spcPts val="600"/>
              </a:spcAft>
            </a:pPr>
            <a:r>
              <a:rPr lang="en-US" sz="1600" dirty="0"/>
              <a:t>P</a:t>
            </a:r>
            <a:r>
              <a:rPr lang="en-US" sz="1600" dirty="0" smtClean="0"/>
              <a:t>roject sponsor </a:t>
            </a:r>
          </a:p>
          <a:p>
            <a:pPr marL="400050" lvl="1" indent="-171450">
              <a:lnSpc>
                <a:spcPct val="110000"/>
              </a:lnSpc>
              <a:spcAft>
                <a:spcPts val="600"/>
              </a:spcAft>
            </a:pPr>
            <a:r>
              <a:rPr lang="en-US" sz="1600" dirty="0" smtClean="0"/>
              <a:t>Project manager </a:t>
            </a:r>
          </a:p>
          <a:p>
            <a:pPr marL="400050" lvl="1" indent="-171450">
              <a:lnSpc>
                <a:spcPct val="110000"/>
              </a:lnSpc>
              <a:spcAft>
                <a:spcPts val="600"/>
              </a:spcAft>
            </a:pPr>
            <a:r>
              <a:rPr lang="en-US" sz="1600" dirty="0" smtClean="0"/>
              <a:t>Team members, </a:t>
            </a:r>
            <a:r>
              <a:rPr lang="en-US" sz="1600" dirty="0"/>
              <a:t>and </a:t>
            </a:r>
            <a:endParaRPr lang="en-US" sz="1600" dirty="0" smtClean="0"/>
          </a:p>
          <a:p>
            <a:pPr marL="400050" lvl="1" indent="-171450">
              <a:lnSpc>
                <a:spcPct val="110000"/>
              </a:lnSpc>
              <a:spcAft>
                <a:spcPts val="600"/>
              </a:spcAft>
            </a:pPr>
            <a:r>
              <a:rPr lang="en-US" sz="1600" dirty="0" smtClean="0"/>
              <a:t>Stakeholders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257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objectives and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846053"/>
            <a:ext cx="4863778" cy="4443912"/>
          </a:xfrm>
          <a:ln w="63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u="sng" dirty="0" smtClean="0"/>
              <a:t>Outline the main </a:t>
            </a:r>
            <a:r>
              <a:rPr lang="en-US" sz="1600" b="1" u="sng" dirty="0"/>
              <a:t>objectives </a:t>
            </a:r>
            <a:r>
              <a:rPr lang="en-US" sz="1600" b="1" u="sng" dirty="0" smtClean="0"/>
              <a:t>of </a:t>
            </a:r>
            <a:r>
              <a:rPr lang="en-US" sz="1600" b="1" u="sng" dirty="0"/>
              <a:t>the project. </a:t>
            </a:r>
            <a:r>
              <a:rPr lang="en-US" sz="1600" dirty="0" smtClean="0"/>
              <a:t>These </a:t>
            </a:r>
            <a:r>
              <a:rPr lang="en-US" sz="1600" dirty="0"/>
              <a:t>objectives should be </a:t>
            </a:r>
            <a:r>
              <a:rPr lang="en-US" sz="1600" dirty="0">
                <a:hlinkClick r:id="rId2"/>
              </a:rPr>
              <a:t>SMART</a:t>
            </a:r>
            <a:r>
              <a:rPr lang="en-US" sz="1600" dirty="0"/>
              <a:t>: </a:t>
            </a:r>
            <a:endParaRPr lang="en-US" sz="1600" dirty="0" smtClean="0"/>
          </a:p>
          <a:p>
            <a:pPr marL="400050" lvl="1" indent="-1714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 smtClean="0"/>
              <a:t>Specific </a:t>
            </a:r>
          </a:p>
          <a:p>
            <a:pPr marL="400050" lvl="1" indent="-1714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 smtClean="0"/>
              <a:t>Measurable</a:t>
            </a:r>
            <a:endParaRPr lang="en-US" sz="1600" dirty="0" smtClean="0"/>
          </a:p>
          <a:p>
            <a:pPr marL="400050" lvl="1" indent="-1714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 smtClean="0"/>
              <a:t>Achievable </a:t>
            </a:r>
            <a:endParaRPr lang="en-US" sz="1600" dirty="0" smtClean="0"/>
          </a:p>
          <a:p>
            <a:pPr marL="400050" lvl="1" indent="-1714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 smtClean="0"/>
              <a:t>Realistic</a:t>
            </a:r>
            <a:r>
              <a:rPr lang="en-US" sz="1600" dirty="0" smtClean="0"/>
              <a:t>, and</a:t>
            </a:r>
            <a:r>
              <a:rPr lang="en-US" sz="1600" dirty="0" smtClean="0"/>
              <a:t> </a:t>
            </a:r>
            <a:endParaRPr lang="en-US" sz="1600" dirty="0" smtClean="0"/>
          </a:p>
          <a:p>
            <a:pPr marL="400050" lvl="1" indent="-1714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T</a:t>
            </a:r>
            <a:r>
              <a:rPr lang="en-US" sz="1600" dirty="0" smtClean="0"/>
              <a:t>ime-bound</a:t>
            </a:r>
            <a:r>
              <a:rPr lang="en-US" sz="1600" dirty="0"/>
              <a:t>. </a:t>
            </a:r>
            <a:endParaRPr lang="en-US" sz="1600" dirty="0" smtClean="0"/>
          </a:p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04784" y="1557190"/>
            <a:ext cx="4965939" cy="4646762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u="sng" dirty="0" smtClean="0"/>
              <a:t>Identify the constraints: </a:t>
            </a:r>
          </a:p>
          <a:p>
            <a:pPr marL="400050" lvl="1" indent="-171450">
              <a:lnSpc>
                <a:spcPct val="120000"/>
              </a:lnSpc>
              <a:spcAft>
                <a:spcPts val="600"/>
              </a:spcAft>
            </a:pPr>
            <a:r>
              <a:rPr lang="en-US" sz="1600" b="1" dirty="0" smtClean="0"/>
              <a:t>Budget:</a:t>
            </a:r>
            <a:r>
              <a:rPr lang="en-US" sz="1600" dirty="0" smtClean="0"/>
              <a:t> Limited financial resources</a:t>
            </a:r>
          </a:p>
          <a:p>
            <a:pPr marL="400050" lvl="1" indent="-171450">
              <a:lnSpc>
                <a:spcPct val="120000"/>
              </a:lnSpc>
              <a:spcAft>
                <a:spcPts val="600"/>
              </a:spcAft>
            </a:pPr>
            <a:r>
              <a:rPr lang="en-US" sz="1600" b="1" dirty="0" smtClean="0"/>
              <a:t>Time:</a:t>
            </a:r>
            <a:r>
              <a:rPr lang="en-US" sz="1600" dirty="0" smtClean="0"/>
              <a:t> Deadlines and milestones</a:t>
            </a:r>
          </a:p>
          <a:p>
            <a:pPr marL="400050" lvl="1" indent="-171450">
              <a:lnSpc>
                <a:spcPct val="120000"/>
              </a:lnSpc>
              <a:spcAft>
                <a:spcPts val="600"/>
              </a:spcAft>
            </a:pPr>
            <a:r>
              <a:rPr lang="en-US" sz="1600" b="1" dirty="0" smtClean="0"/>
              <a:t>Resources:</a:t>
            </a:r>
            <a:r>
              <a:rPr lang="en-US" sz="1600" dirty="0" smtClean="0"/>
              <a:t> Availability of skilled team members, tools, or technology</a:t>
            </a:r>
          </a:p>
          <a:p>
            <a:pPr marL="400050" lvl="1" indent="-171450">
              <a:lnSpc>
                <a:spcPct val="120000"/>
              </a:lnSpc>
              <a:spcAft>
                <a:spcPts val="600"/>
              </a:spcAft>
            </a:pPr>
            <a:r>
              <a:rPr lang="en-US" sz="1600" b="1" dirty="0" smtClean="0"/>
              <a:t>Stakeholder Requirements:</a:t>
            </a:r>
            <a:r>
              <a:rPr lang="en-US" sz="1600" dirty="0" smtClean="0"/>
              <a:t> Changing or conflicting expectations</a:t>
            </a:r>
          </a:p>
          <a:p>
            <a:pPr marL="400050" lvl="1" indent="-171450">
              <a:lnSpc>
                <a:spcPct val="120000"/>
              </a:lnSpc>
              <a:spcAft>
                <a:spcPts val="600"/>
              </a:spcAft>
            </a:pPr>
            <a:r>
              <a:rPr lang="en-US" sz="1600" b="1" dirty="0" smtClean="0"/>
              <a:t>Scope Limitations:</a:t>
            </a:r>
            <a:r>
              <a:rPr lang="en-US" sz="1600" dirty="0" smtClean="0"/>
              <a:t> Boundaries of what is included/excluded</a:t>
            </a:r>
          </a:p>
          <a:p>
            <a:pPr marL="400050" lvl="1" indent="-171450">
              <a:lnSpc>
                <a:spcPct val="120000"/>
              </a:lnSpc>
              <a:spcAft>
                <a:spcPts val="600"/>
              </a:spcAft>
            </a:pPr>
            <a:r>
              <a:rPr lang="en-US" sz="1600" b="1" dirty="0" smtClean="0"/>
              <a:t>Regulatory/Compliance Issues:</a:t>
            </a:r>
            <a:r>
              <a:rPr lang="en-US" sz="1600" dirty="0" smtClean="0"/>
              <a:t> Legal and policy constraints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16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Timeline &amp; Milestones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0"/>
          </p:nvPr>
        </p:nvSpPr>
        <p:spPr bwMode="auto">
          <a:xfrm>
            <a:off x="539751" y="1486039"/>
            <a:ext cx="6692322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Define Start &amp; End Dates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Establish official project kickoff date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Set project completion deadline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Identify Key Milestones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Major deliverables and checkpoints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Examples: Requirements finalized, Prototype completed, 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Testing phase start, Go-live 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Breakdown Activities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Divide the project into phases and tasks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Assign estimated durations for each task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Create a Timeline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Gantt charts or milestone charts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Show dependencies between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Dynamic Tracking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Input timeline into project management software (e.g., MS Project, Jira, Trello)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Update progress in real-time to monitor delays and bottlenecks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Project timeline templ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964" y="1403929"/>
            <a:ext cx="5512665" cy="340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917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</a:t>
            </a:r>
            <a:r>
              <a:rPr lang="en-US" b="1" dirty="0" smtClean="0"/>
              <a:t>stakeholders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5547268" cy="4660392"/>
          </a:xfrm>
        </p:spPr>
        <p:txBody>
          <a:bodyPr>
            <a:normAutofit lnSpcReduction="10000"/>
          </a:bodyPr>
          <a:lstStyle/>
          <a:p>
            <a:r>
              <a:rPr lang="en-US" sz="1400" b="1" dirty="0"/>
              <a:t>Identifying </a:t>
            </a:r>
            <a:r>
              <a:rPr lang="en-US" sz="1400" b="1" dirty="0" smtClean="0"/>
              <a:t>Stakeholders: </a:t>
            </a:r>
            <a:r>
              <a:rPr lang="en-US" sz="1400" dirty="0"/>
              <a:t>Anyone who is affected by, involved in, or can influence the project’s success</a:t>
            </a:r>
            <a:r>
              <a:rPr lang="en-US" sz="1400" dirty="0" smtClean="0"/>
              <a:t>.</a:t>
            </a:r>
          </a:p>
          <a:p>
            <a:r>
              <a:rPr lang="en-US" sz="1400" b="1" dirty="0" smtClean="0"/>
              <a:t>List </a:t>
            </a:r>
            <a:r>
              <a:rPr lang="en-US" sz="1400" b="1" dirty="0"/>
              <a:t>All Stakeholders:</a:t>
            </a:r>
            <a:endParaRPr lang="en-US" sz="14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Internal</a:t>
            </a:r>
            <a:r>
              <a:rPr lang="en-US" sz="1400" dirty="0"/>
              <a:t>: Project sponsor, project manager, development team, testers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External</a:t>
            </a:r>
            <a:r>
              <a:rPr lang="en-US" sz="1400" dirty="0"/>
              <a:t>: Customers, vendors, regulators, end-users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Define Roles &amp; Responsibilities:</a:t>
            </a:r>
            <a:endParaRPr lang="en-US" sz="14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Sponsor: Provides funding &amp; overall support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Project Manager: Oversees execution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Team Members: Deliver tasks &amp; outputs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End-users: Provide requirements &amp; feedback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Identify Needs from Stakeholders:</a:t>
            </a:r>
            <a:endParaRPr lang="en-US" sz="14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Approvals, resources, requirements, expertise, feedback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Maintain Contact Information:</a:t>
            </a:r>
            <a:endParaRPr lang="en-US" sz="14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Emails, phone numbers, communication channels (Slack, Teams, etc.)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84" y="1435608"/>
            <a:ext cx="4950836" cy="404225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674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 Key Project </a:t>
            </a:r>
            <a:r>
              <a:rPr lang="en-US" dirty="0" smtClean="0"/>
              <a:t>Risks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5" y="1435607"/>
            <a:ext cx="6397014" cy="4845119"/>
          </a:xfrm>
        </p:spPr>
        <p:txBody>
          <a:bodyPr>
            <a:normAutofit/>
          </a:bodyPr>
          <a:lstStyle/>
          <a:p>
            <a:pPr marL="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b="1" u="sng" dirty="0" smtClean="0"/>
              <a:t>Types of Risks: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 smtClean="0"/>
              <a:t>Technical </a:t>
            </a:r>
            <a:r>
              <a:rPr lang="en-US" sz="1600" b="1" dirty="0"/>
              <a:t>Risks:</a:t>
            </a:r>
            <a:r>
              <a:rPr lang="en-US" sz="1600" dirty="0"/>
              <a:t> System failures, integration issues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Resource Risks:</a:t>
            </a:r>
            <a:r>
              <a:rPr lang="en-US" sz="1600" dirty="0"/>
              <a:t> Limited staff, skill shortages, budget cuts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Schedule Risks:</a:t>
            </a:r>
            <a:r>
              <a:rPr lang="en-US" sz="1600" dirty="0"/>
              <a:t> Delays, scope creep, unrealistic deadlines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Stakeholder Risks:</a:t>
            </a:r>
            <a:r>
              <a:rPr lang="en-US" sz="1600" dirty="0"/>
              <a:t> Changing requirements, low engagement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External Risks:</a:t>
            </a:r>
            <a:r>
              <a:rPr lang="en-US" sz="1600" dirty="0"/>
              <a:t> Regulatory changes, vendor delays, market shifts</a:t>
            </a:r>
          </a:p>
          <a:p>
            <a:r>
              <a:rPr lang="en-US" sz="1700" b="1" u="sng" dirty="0"/>
              <a:t>Risk Management </a:t>
            </a:r>
            <a:r>
              <a:rPr lang="en-US" sz="1700" b="1" u="sng" dirty="0" smtClean="0"/>
              <a:t>Plan : 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 smtClean="0"/>
              <a:t>Identify</a:t>
            </a:r>
            <a:r>
              <a:rPr lang="en-US" sz="1600" b="1" dirty="0"/>
              <a:t>:</a:t>
            </a:r>
            <a:r>
              <a:rPr lang="en-US" sz="1600" dirty="0"/>
              <a:t> List potential risks </a:t>
            </a:r>
            <a:r>
              <a:rPr lang="en-US" sz="1600" dirty="0" smtClean="0"/>
              <a:t>early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Analyze:</a:t>
            </a:r>
            <a:r>
              <a:rPr lang="en-US" sz="1600" dirty="0"/>
              <a:t> Assess probability and </a:t>
            </a:r>
            <a:r>
              <a:rPr lang="en-US" sz="1600" dirty="0" smtClean="0"/>
              <a:t>impact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Respond:</a:t>
            </a:r>
            <a:r>
              <a:rPr lang="en-US" sz="1600" dirty="0"/>
              <a:t> Avoid, mitigate, transfer, or accept </a:t>
            </a:r>
            <a:r>
              <a:rPr lang="en-US" sz="1600" dirty="0" smtClean="0"/>
              <a:t>risk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Monitor:</a:t>
            </a:r>
            <a:r>
              <a:rPr lang="en-US" sz="1600" dirty="0"/>
              <a:t> Continuously track risks and </a:t>
            </a:r>
            <a:r>
              <a:rPr lang="en-US" sz="1600" dirty="0" smtClean="0"/>
              <a:t>update the  </a:t>
            </a:r>
            <a:r>
              <a:rPr lang="en-US" sz="1600" dirty="0"/>
              <a:t>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842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Benefits of the </a:t>
            </a:r>
            <a:r>
              <a:rPr lang="en-US" b="1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5870540" cy="4604974"/>
          </a:xfrm>
        </p:spPr>
        <p:txBody>
          <a:bodyPr/>
          <a:lstStyle/>
          <a:p>
            <a:r>
              <a:rPr lang="en-US" sz="1600" dirty="0"/>
              <a:t>Consider and describe how the project will positively impact: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Stakeholders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 smtClean="0"/>
              <a:t>Customers</a:t>
            </a:r>
            <a:r>
              <a:rPr lang="en-US" sz="1600" dirty="0"/>
              <a:t>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End users</a:t>
            </a:r>
          </a:p>
          <a:p>
            <a:r>
              <a:rPr lang="en-US" sz="1600" dirty="0"/>
              <a:t>Be as specific as possible, as it’s important to keep the benefits in mind as you work through the project to prioritize </a:t>
            </a:r>
            <a:r>
              <a:rPr lang="en-US" sz="1600" dirty="0" smtClean="0"/>
              <a:t>effectively</a:t>
            </a:r>
            <a:endParaRPr lang="en-US" sz="1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987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General overview of the </a:t>
            </a:r>
            <a:r>
              <a:rPr lang="en-US" b="1" dirty="0" smtClean="0"/>
              <a:t>budget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5" y="1435607"/>
            <a:ext cx="7219050" cy="4734284"/>
          </a:xfrm>
        </p:spPr>
        <p:txBody>
          <a:bodyPr>
            <a:noAutofit/>
          </a:bodyPr>
          <a:lstStyle/>
          <a:p>
            <a:r>
              <a:rPr lang="en-US" sz="1400" dirty="0" smtClean="0"/>
              <a:t>According </a:t>
            </a:r>
            <a:r>
              <a:rPr lang="en-US" sz="1400" dirty="0"/>
              <a:t>to </a:t>
            </a:r>
            <a:r>
              <a:rPr lang="en-US" sz="1400" dirty="0" smtClean="0"/>
              <a:t>PMI, </a:t>
            </a:r>
            <a:r>
              <a:rPr lang="en-US" sz="1400" b="1" dirty="0"/>
              <a:t>Project management costs 7–11%</a:t>
            </a:r>
            <a:r>
              <a:rPr lang="en-US" sz="1400" dirty="0"/>
              <a:t> of </a:t>
            </a:r>
            <a:r>
              <a:rPr lang="en-US" sz="1400" dirty="0" smtClean="0"/>
              <a:t>the total </a:t>
            </a:r>
            <a:r>
              <a:rPr lang="en-US" sz="1400" dirty="0"/>
              <a:t>project </a:t>
            </a:r>
            <a:r>
              <a:rPr lang="en-US" sz="1400" dirty="0" smtClean="0"/>
              <a:t>budget</a:t>
            </a:r>
          </a:p>
          <a:p>
            <a:r>
              <a:rPr lang="en-US" sz="1400" b="1" u="sng" dirty="0"/>
              <a:t>High-Level Financial Overview</a:t>
            </a:r>
          </a:p>
          <a:p>
            <a:r>
              <a:rPr lang="en-US" sz="1400" b="1" dirty="0" smtClean="0"/>
              <a:t>	Available </a:t>
            </a:r>
            <a:r>
              <a:rPr lang="en-US" sz="1400" b="1" dirty="0"/>
              <a:t>Funds:</a:t>
            </a:r>
            <a:r>
              <a:rPr lang="en-US" sz="1400" dirty="0"/>
              <a:t> Total approved budget</a:t>
            </a:r>
          </a:p>
          <a:p>
            <a:r>
              <a:rPr lang="en-US" sz="1400" b="1" dirty="0"/>
              <a:t>Anticipated Costs Breakdown:</a:t>
            </a:r>
            <a:endParaRPr lang="en-US" sz="1400" dirty="0"/>
          </a:p>
          <a:p>
            <a:pPr lvl="2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Project Management (7–11%)</a:t>
            </a:r>
            <a:r>
              <a:rPr lang="en-US" sz="1400" dirty="0"/>
              <a:t> – planning, monitoring, reporting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Human Resources</a:t>
            </a:r>
            <a:r>
              <a:rPr lang="en-US" sz="1400" dirty="0"/>
              <a:t> – salaries, training, consultants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Technology &amp; Tools</a:t>
            </a:r>
            <a:r>
              <a:rPr lang="en-US" sz="1400" dirty="0"/>
              <a:t> – software licenses, </a:t>
            </a:r>
            <a:r>
              <a:rPr lang="en-US" sz="1400" dirty="0" smtClean="0"/>
              <a:t>hardware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 smtClean="0"/>
              <a:t>Operations</a:t>
            </a:r>
            <a:r>
              <a:rPr lang="en-US" sz="1400" dirty="0" smtClean="0"/>
              <a:t> </a:t>
            </a:r>
            <a:r>
              <a:rPr lang="en-US" sz="1400" dirty="0"/>
              <a:t>– facilities, utilities, travel, communication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Quality Assurance &amp; Testing</a:t>
            </a:r>
            <a:r>
              <a:rPr lang="en-US" sz="1400" dirty="0"/>
              <a:t> – validation, audits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Risk Reserves</a:t>
            </a:r>
            <a:r>
              <a:rPr lang="en-US" sz="1400" dirty="0"/>
              <a:t> – contingency funds for unforeseen </a:t>
            </a:r>
            <a:r>
              <a:rPr lang="en-US" sz="1400" dirty="0" smtClean="0"/>
              <a:t>issues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446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5" y="1435607"/>
            <a:ext cx="8318178" cy="5140684"/>
          </a:xfrm>
        </p:spPr>
        <p:txBody>
          <a:bodyPr>
            <a:normAutofit lnSpcReduction="10000"/>
          </a:bodyPr>
          <a:lstStyle/>
          <a:p>
            <a:pPr marL="400050" lvl="1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 smtClean="0"/>
              <a:t>Success metrics provide </a:t>
            </a:r>
            <a:r>
              <a:rPr lang="en-US" sz="1400" dirty="0"/>
              <a:t>measurable targets for project </a:t>
            </a:r>
            <a:r>
              <a:rPr lang="en-US" sz="1400" dirty="0" smtClean="0"/>
              <a:t>outcomes</a:t>
            </a:r>
          </a:p>
          <a:p>
            <a:pPr marL="400050" lvl="1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Support performance monitoring and </a:t>
            </a:r>
            <a:r>
              <a:rPr lang="en-US" sz="1400" dirty="0" smtClean="0"/>
              <a:t>evaluation</a:t>
            </a:r>
          </a:p>
          <a:p>
            <a:r>
              <a:rPr lang="en-US" sz="1400" b="1" dirty="0" smtClean="0"/>
              <a:t>Key </a:t>
            </a:r>
            <a:r>
              <a:rPr lang="en-US" sz="1400" b="1" dirty="0"/>
              <a:t>Performance Indicators (KPIs):</a:t>
            </a:r>
            <a:endParaRPr lang="en-US" sz="1400" dirty="0"/>
          </a:p>
          <a:p>
            <a:pPr marL="400050" lvl="1" indent="-1714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On-time delivery of milestones</a:t>
            </a:r>
          </a:p>
          <a:p>
            <a:pPr marL="400050" lvl="1" indent="-1714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Staying within budget limits</a:t>
            </a:r>
          </a:p>
          <a:p>
            <a:pPr marL="400050" lvl="1" indent="-1714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Meeting quality standards (e.g., defect rates, compliance levels)</a:t>
            </a:r>
          </a:p>
          <a:p>
            <a:pPr marL="400050" lvl="1" indent="-1714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Customer/end-user satisfaction levels</a:t>
            </a:r>
          </a:p>
          <a:p>
            <a:pPr marL="400050" lvl="1" indent="-1714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Stakeholder engagement and </a:t>
            </a:r>
            <a:r>
              <a:rPr lang="en-US" sz="1400" dirty="0" smtClean="0"/>
              <a:t>approval</a:t>
            </a:r>
          </a:p>
          <a:p>
            <a:r>
              <a:rPr lang="en-US" sz="1400" b="1" dirty="0"/>
              <a:t>Other Metrics:</a:t>
            </a:r>
            <a:endParaRPr lang="en-US" sz="1400" dirty="0"/>
          </a:p>
          <a:p>
            <a:pPr lvl="2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Team productivity and efficiency</a:t>
            </a:r>
          </a:p>
          <a:p>
            <a:pPr lvl="2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Risk management effectiveness (resolved vs. open risks)</a:t>
            </a:r>
          </a:p>
          <a:p>
            <a:pPr lvl="2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ROI </a:t>
            </a:r>
            <a:r>
              <a:rPr lang="en-US" sz="1400" dirty="0"/>
              <a:t>(Return on Investment</a:t>
            </a:r>
            <a:r>
              <a:rPr lang="en-US" sz="1400" dirty="0" smtClean="0"/>
              <a:t>) </a:t>
            </a:r>
            <a:r>
              <a:rPr lang="en-US" sz="1400" dirty="0" smtClean="0"/>
              <a:t>or the business </a:t>
            </a:r>
            <a:r>
              <a:rPr lang="en-US" sz="1400" dirty="0"/>
              <a:t>value </a:t>
            </a:r>
            <a:r>
              <a:rPr lang="en-US" sz="1400" dirty="0" smtClean="0"/>
              <a:t>achieved</a:t>
            </a:r>
            <a:endParaRPr lang="en-US" sz="1400" dirty="0"/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00050" lvl="1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226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Sample Project Charter for Website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053789" y="1670485"/>
            <a:ext cx="5159156" cy="4826648"/>
          </a:xfrm>
          <a:ln>
            <a:solidFill>
              <a:schemeClr val="tx1"/>
            </a:solidFill>
            <a:prstDash val="sysDash"/>
          </a:ln>
        </p:spPr>
        <p:txBody>
          <a:bodyPr/>
          <a:lstStyle/>
          <a:p>
            <a:r>
              <a:rPr lang="en-US" b="1" dirty="0"/>
              <a:t>Deliverables: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Fully functional website with modern UI/UX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Content migration from old website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Documentation &amp; training for content management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Final project </a:t>
            </a:r>
            <a:r>
              <a:rPr lang="en-US" dirty="0" smtClean="0"/>
              <a:t>report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r>
              <a:rPr lang="en-US" b="1" dirty="0"/>
              <a:t>High-Level Timeline &amp; Milestones: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Requirements Gathering: Month 1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Design &amp; Prototyping: Month 1–2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Development &amp; CMS Setup: Month 2–3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Testing &amp; QA: Month 3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Deployment &amp; Training: Month 4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r>
              <a:rPr lang="en-US" b="1" dirty="0"/>
              <a:t>Estimated Budget:</a:t>
            </a:r>
          </a:p>
          <a:p>
            <a:r>
              <a:rPr lang="en-US" dirty="0"/>
              <a:t>Total: $40,000 (design, development, content migration, testing, training, contingency)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90480" y="1708079"/>
            <a:ext cx="5159156" cy="482664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Project Title:</a:t>
            </a:r>
            <a:r>
              <a:rPr lang="en-US" dirty="0"/>
              <a:t> University Website </a:t>
            </a:r>
            <a:r>
              <a:rPr lang="en-US" dirty="0" smtClean="0"/>
              <a:t>Redesign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/>
              <a:t>Project Purpose: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Redesign and develop the university website to improve user experience, accessibility, and responsiveness, while modernizing content management for staff</a:t>
            </a:r>
            <a:r>
              <a:rPr lang="en-US" dirty="0" smtClean="0"/>
              <a:t>.</a:t>
            </a:r>
          </a:p>
          <a:p>
            <a:r>
              <a:rPr lang="en-US" b="1" dirty="0"/>
              <a:t>Project Objectives (SMART):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Specific:</a:t>
            </a:r>
            <a:r>
              <a:rPr lang="en-US" dirty="0"/>
              <a:t> Develop a responsive, accessible, and user-friendly website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Measurable:</a:t>
            </a:r>
            <a:r>
              <a:rPr lang="en-US" dirty="0"/>
              <a:t> Achieve 95% user satisfaction in usability surveys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Achievable:</a:t>
            </a:r>
            <a:r>
              <a:rPr lang="en-US" dirty="0"/>
              <a:t> Utilize existing IT team and CMS platform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Relevant:</a:t>
            </a:r>
            <a:r>
              <a:rPr lang="en-US" dirty="0"/>
              <a:t> Supports university branding and digital presence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Time-bound:</a:t>
            </a:r>
            <a:r>
              <a:rPr lang="en-US" dirty="0"/>
              <a:t> Complete redesign within 4 </a:t>
            </a:r>
            <a:r>
              <a:rPr lang="en-US" dirty="0" smtClean="0"/>
              <a:t>months</a:t>
            </a:r>
            <a:endParaRPr lang="en-US" dirty="0"/>
          </a:p>
          <a:p>
            <a:r>
              <a:rPr lang="en-US" b="1" dirty="0"/>
              <a:t>Scope: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In Scope:</a:t>
            </a:r>
            <a:r>
              <a:rPr lang="en-US" dirty="0"/>
              <a:t> Homepage redesign, faculty pages, news &amp; events, student portal integration, content migration, responsive design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Out of Scope:</a:t>
            </a:r>
            <a:r>
              <a:rPr lang="en-US" dirty="0"/>
              <a:t> Third-party portal integration beyond the student portal, internal HR systems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921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9472538" cy="640080"/>
          </a:xfrm>
        </p:spPr>
        <p:txBody>
          <a:bodyPr>
            <a:normAutofit/>
          </a:bodyPr>
          <a:lstStyle/>
          <a:p>
            <a:r>
              <a:rPr lang="en-US" dirty="0"/>
              <a:t>Sample Project Charter for Website </a:t>
            </a:r>
            <a:r>
              <a:rPr lang="en-US" dirty="0" smtClean="0"/>
              <a:t>Development (cont..)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201570" y="1522704"/>
            <a:ext cx="5159156" cy="4826648"/>
          </a:xfrm>
          <a:ln>
            <a:solidFill>
              <a:schemeClr val="tx1"/>
            </a:solidFill>
            <a:prstDash val="dash"/>
          </a:ln>
        </p:spPr>
        <p:txBody>
          <a:bodyPr>
            <a:normAutofit lnSpcReduction="10000"/>
          </a:bodyPr>
          <a:lstStyle/>
          <a:p>
            <a:pPr marL="400050" lvl="1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b="1" u="sng" dirty="0"/>
          </a:p>
          <a:p>
            <a:r>
              <a:rPr lang="en-US" b="1" dirty="0"/>
              <a:t>Assumptions: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Content will be provided on time by department heads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Hosting and domain services will be maintained during </a:t>
            </a:r>
            <a:r>
              <a:rPr lang="en-US" dirty="0" smtClean="0"/>
              <a:t>project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Success Metrics:</a:t>
            </a:r>
          </a:p>
          <a:p>
            <a:pPr marL="400050" lvl="1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95% user satisfaction in usability surveys</a:t>
            </a:r>
          </a:p>
          <a:p>
            <a:pPr marL="400050" lvl="1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Completion of website within project timeline and budget</a:t>
            </a:r>
          </a:p>
          <a:p>
            <a:pPr marL="400050" lvl="1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Zero critical defects at deployment</a:t>
            </a:r>
          </a:p>
          <a:p>
            <a:pPr marL="400050" lvl="1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At least 90% content migrated correctly</a:t>
            </a:r>
          </a:p>
          <a:p>
            <a:pPr marL="400050" lvl="1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Positive stakeholder feedback </a:t>
            </a:r>
            <a:r>
              <a:rPr lang="en-US" dirty="0" smtClean="0"/>
              <a:t>post-launch</a:t>
            </a:r>
          </a:p>
          <a:p>
            <a:pPr marL="400050" lvl="1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 smtClean="0"/>
          </a:p>
          <a:p>
            <a:r>
              <a:rPr lang="en-US" b="1" dirty="0"/>
              <a:t>Approval Signatures: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Project Sponsor: _____________________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Project Manager: _____________________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Date: _____________________</a:t>
            </a:r>
          </a:p>
          <a:p>
            <a:pPr marL="400050" lvl="1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 smtClean="0"/>
          </a:p>
          <a:p>
            <a:pPr marL="400050" lvl="1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400050" lvl="1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00050" lvl="1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b="1" u="sng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92080" y="1430988"/>
            <a:ext cx="5159156" cy="482664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 dirty="0"/>
              <a:t>Project Team Members &amp; </a:t>
            </a:r>
            <a:r>
              <a:rPr lang="en-US" b="1" u="sng" dirty="0" smtClean="0"/>
              <a:t>Roles: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/>
              <a:t>Project </a:t>
            </a:r>
            <a:r>
              <a:rPr lang="en-US" b="1" dirty="0"/>
              <a:t>Manager:</a:t>
            </a:r>
            <a:r>
              <a:rPr lang="en-US" dirty="0"/>
              <a:t> Web Project Lead – oversees execution, scheduling, and </a:t>
            </a:r>
            <a:r>
              <a:rPr lang="en-US" dirty="0" smtClean="0"/>
              <a:t>resources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Lead Developer:</a:t>
            </a:r>
            <a:r>
              <a:rPr lang="en-US" dirty="0"/>
              <a:t> Senior web developer – supervises coding and </a:t>
            </a:r>
            <a:r>
              <a:rPr lang="en-US" dirty="0" smtClean="0"/>
              <a:t>integration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Front-end Developers:</a:t>
            </a:r>
            <a:r>
              <a:rPr lang="en-US" dirty="0"/>
              <a:t> 2 members – build UI and responsive </a:t>
            </a:r>
            <a:r>
              <a:rPr lang="en-US" dirty="0" smtClean="0"/>
              <a:t>design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Back-end Developers:</a:t>
            </a:r>
            <a:r>
              <a:rPr lang="en-US" dirty="0"/>
              <a:t> 2 members – implement server-side </a:t>
            </a:r>
            <a:r>
              <a:rPr lang="en-US" dirty="0" smtClean="0"/>
              <a:t>functionality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UI/UX Designer:</a:t>
            </a:r>
            <a:r>
              <a:rPr lang="en-US" dirty="0"/>
              <a:t> 1 member – create design mockups and </a:t>
            </a:r>
            <a:r>
              <a:rPr lang="en-US" dirty="0" smtClean="0"/>
              <a:t>prototypes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QA/Testers:</a:t>
            </a:r>
            <a:r>
              <a:rPr lang="en-US" dirty="0"/>
              <a:t> 2 members – functional, performance, and accessibility </a:t>
            </a:r>
            <a:r>
              <a:rPr lang="en-US" dirty="0" smtClean="0"/>
              <a:t>testing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Content Specialist:</a:t>
            </a:r>
            <a:r>
              <a:rPr lang="en-US" dirty="0"/>
              <a:t> 1 member – content migration and </a:t>
            </a:r>
            <a:r>
              <a:rPr lang="en-US" dirty="0" smtClean="0"/>
              <a:t>review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Support Staff:</a:t>
            </a:r>
            <a:r>
              <a:rPr lang="en-US" dirty="0"/>
              <a:t> 1 member – documentation, training, and </a:t>
            </a:r>
            <a:r>
              <a:rPr lang="en-US" dirty="0" smtClean="0"/>
              <a:t>coordination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End-users:</a:t>
            </a:r>
            <a:r>
              <a:rPr lang="en-US" dirty="0"/>
              <a:t> Students, faculty, staff – provide feedback and accept deliverables</a:t>
            </a:r>
          </a:p>
          <a:p>
            <a:r>
              <a:rPr lang="en-US" b="1" u="sng" dirty="0"/>
              <a:t>Constraints:</a:t>
            </a:r>
          </a:p>
          <a:p>
            <a:pPr marL="400050" lvl="1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Budget limited to $40,000</a:t>
            </a:r>
          </a:p>
          <a:p>
            <a:pPr marL="400050" lvl="1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Completion within 4 months</a:t>
            </a:r>
          </a:p>
          <a:p>
            <a:pPr marL="400050" lvl="1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Limited availability of senior web designers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728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Quizzes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10581086" cy="3977640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vendor is contracted to supply and install solar panels for a university campus. The document includes site details, technical specifications of the panels, warranty information, and payment terms.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dirty="0"/>
              <a:t>new software project has just been approved. The sponsor has asked for a document that identifies the project manager, objectives, high-level scope, and success criteria. Which document is this</a:t>
            </a:r>
            <a:r>
              <a:rPr lang="en-US" dirty="0" smtClean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Your team is preparing a contract with an external vendor. The vendor wants clear details on project deliverables, payment terms, schedule, and acceptance conditions. Which document is required</a:t>
            </a:r>
            <a:r>
              <a:rPr lang="en-US" dirty="0" smtClean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government agency is launching a new project to digitize land records. The project sponsor requests a document that states the project’s purpose, names the project manager, and lists the major stakeholders</a:t>
            </a:r>
            <a:r>
              <a:rPr lang="en-US" dirty="0" smtClean="0"/>
              <a:t>. </a:t>
            </a:r>
            <a:r>
              <a:rPr lang="en-US" dirty="0"/>
              <a:t>Which document is required?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Before project execution, the steering committee wants to see a document that shows who the sponsor is, what problem the project will solve, and the estimated high-level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956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5" y="1435608"/>
            <a:ext cx="7154396" cy="4651156"/>
          </a:xfrm>
        </p:spPr>
        <p:txBody>
          <a:bodyPr>
            <a:normAutofit lnSpcReduction="10000"/>
          </a:bodyPr>
          <a:lstStyle/>
          <a:p>
            <a:r>
              <a:rPr lang="en-US" sz="1400" b="1" dirty="0"/>
              <a:t>Jira</a:t>
            </a:r>
            <a:r>
              <a:rPr lang="en-US" sz="1400" dirty="0"/>
              <a:t> is a popular project management and issue-tracking </a:t>
            </a:r>
            <a:r>
              <a:rPr lang="en-US" sz="1400" dirty="0" smtClean="0"/>
              <a:t>tool. </a:t>
            </a:r>
            <a:r>
              <a:rPr lang="en-US" sz="1400" dirty="0"/>
              <a:t>It is widely used in software development, especially in Agile environments, to plan, track, and manage projects efficiently</a:t>
            </a:r>
            <a:r>
              <a:rPr lang="en-US" sz="1400" dirty="0" smtClean="0"/>
              <a:t>.</a:t>
            </a:r>
            <a:endParaRPr lang="en-US" sz="1400" b="1" dirty="0"/>
          </a:p>
          <a:p>
            <a:r>
              <a:rPr lang="en-US" sz="1400" b="1" dirty="0" smtClean="0"/>
              <a:t>Task </a:t>
            </a:r>
            <a:r>
              <a:rPr lang="en-US" sz="1400" b="1" dirty="0"/>
              <a:t>1: </a:t>
            </a:r>
            <a:r>
              <a:rPr lang="en-US" sz="1400" dirty="0"/>
              <a:t>Explore </a:t>
            </a:r>
            <a:r>
              <a:rPr lang="en-US" sz="1600" b="1" u="sng" dirty="0"/>
              <a:t>Jira </a:t>
            </a:r>
            <a:r>
              <a:rPr lang="en-US" sz="1400" dirty="0" smtClean="0"/>
              <a:t>Basics</a:t>
            </a:r>
          </a:p>
          <a:p>
            <a:r>
              <a:rPr lang="en-US" sz="1400" b="1" dirty="0"/>
              <a:t>Task 2: </a:t>
            </a:r>
            <a:r>
              <a:rPr lang="en-US" sz="1400" dirty="0"/>
              <a:t>Create a Sample </a:t>
            </a:r>
            <a:r>
              <a:rPr lang="en-US" sz="1400" dirty="0" smtClean="0"/>
              <a:t>Project</a:t>
            </a:r>
          </a:p>
          <a:p>
            <a:pPr marL="4000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Create a new project (Scrum or Kanban</a:t>
            </a:r>
            <a:r>
              <a:rPr lang="en-US" sz="1400" dirty="0" smtClean="0"/>
              <a:t>).</a:t>
            </a:r>
            <a:endParaRPr lang="en-US" sz="1400" dirty="0"/>
          </a:p>
          <a:p>
            <a:pPr marL="4000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Add at least 5 tasks/issues, assigning them to team members (can be fictional</a:t>
            </a:r>
            <a:r>
              <a:rPr lang="en-US" sz="1400" dirty="0" smtClean="0"/>
              <a:t>).</a:t>
            </a:r>
            <a:endParaRPr lang="en-US" sz="1400" dirty="0"/>
          </a:p>
          <a:p>
            <a:pPr marL="4000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Set priorities (High, Medium, Low) and due dates</a:t>
            </a:r>
            <a:r>
              <a:rPr lang="en-US" sz="1400" dirty="0" smtClean="0"/>
              <a:t>.</a:t>
            </a:r>
            <a:endParaRPr lang="en-US" sz="1400" dirty="0"/>
          </a:p>
          <a:p>
            <a:pPr marL="400050" lvl="1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Add descriptions for each task, defining acceptance criteria</a:t>
            </a:r>
            <a:r>
              <a:rPr lang="en-US" sz="1400" dirty="0" smtClean="0"/>
              <a:t>.</a:t>
            </a:r>
          </a:p>
          <a:p>
            <a:r>
              <a:rPr lang="en-US" sz="1400" b="1" dirty="0"/>
              <a:t>Task 3: </a:t>
            </a:r>
            <a:r>
              <a:rPr lang="en-US" sz="1400" dirty="0"/>
              <a:t>Organize and Track </a:t>
            </a:r>
            <a:r>
              <a:rPr lang="en-US" sz="1400" dirty="0" smtClean="0"/>
              <a:t>Work</a:t>
            </a: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Create a sprint (if Scrum) or organize tasks on a Kanban board.</a:t>
            </a: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Move tasks through stages (To Do → In Progress → Done).</a:t>
            </a: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Monitor progress using Jira reports (</a:t>
            </a:r>
            <a:r>
              <a:rPr lang="en-US" sz="1400" dirty="0" err="1"/>
              <a:t>Burndown</a:t>
            </a:r>
            <a:r>
              <a:rPr lang="en-US" sz="1400" dirty="0"/>
              <a:t> chart, Sprint report, etc.).</a:t>
            </a:r>
            <a:endParaRPr lang="en-US" sz="1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1263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0072C5-DDE0-4258-BA7A-4D4B80DFA63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0</TotalTime>
  <Words>1495</Words>
  <Application>Microsoft Office PowerPoint</Application>
  <PresentationFormat>Widescreen</PresentationFormat>
  <Paragraphs>233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Segoe UI</vt:lpstr>
      <vt:lpstr>Segoe UI Light</vt:lpstr>
      <vt:lpstr>Times New Roman</vt:lpstr>
      <vt:lpstr>WelcomeDoc</vt:lpstr>
      <vt:lpstr>Project Initiation &amp; Planning</vt:lpstr>
      <vt:lpstr>Project Charter &amp; Statement of Work</vt:lpstr>
      <vt:lpstr>Project Charter &amp; Statement of Work</vt:lpstr>
      <vt:lpstr>How to Write a Project Charter: Key Elements of a Project Charter</vt:lpstr>
      <vt:lpstr>State the Project Information</vt:lpstr>
      <vt:lpstr>Project objectives and constraints</vt:lpstr>
      <vt:lpstr>Project Timeline &amp; Milestones</vt:lpstr>
      <vt:lpstr>Key stakeholders</vt:lpstr>
      <vt:lpstr>Log Key Project Risks</vt:lpstr>
      <vt:lpstr>Benefits of the project</vt:lpstr>
      <vt:lpstr>General overview of the budget</vt:lpstr>
      <vt:lpstr>Success Metrics</vt:lpstr>
      <vt:lpstr>Sample Project Charter for Website Development</vt:lpstr>
      <vt:lpstr>Sample Project Charter for Website Development (cont..)</vt:lpstr>
      <vt:lpstr>Quizzes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2025-09-17T07:56:22Z</dcterms:created>
  <dcterms:modified xsi:type="dcterms:W3CDTF">2025-09-17T14:00:15Z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