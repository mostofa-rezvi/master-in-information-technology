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  <p:sldMasterId id="2147483661" r:id="rId2"/>
  </p:sldMasterIdLst>
  <p:notesMasterIdLst>
    <p:notesMasterId r:id="rId22"/>
  </p:notesMasterIdLst>
  <p:sldIdLst>
    <p:sldId id="256" r:id="rId3"/>
    <p:sldId id="259" r:id="rId4"/>
    <p:sldId id="261" r:id="rId5"/>
    <p:sldId id="262" r:id="rId6"/>
    <p:sldId id="263" r:id="rId7"/>
    <p:sldId id="267" r:id="rId8"/>
    <p:sldId id="268" r:id="rId9"/>
    <p:sldId id="269" r:id="rId10"/>
    <p:sldId id="270" r:id="rId11"/>
    <p:sldId id="271" r:id="rId12"/>
    <p:sldId id="274" r:id="rId13"/>
    <p:sldId id="275" r:id="rId14"/>
    <p:sldId id="276" r:id="rId15"/>
    <p:sldId id="277" r:id="rId16"/>
    <p:sldId id="278" r:id="rId17"/>
    <p:sldId id="280" r:id="rId18"/>
    <p:sldId id="282" r:id="rId19"/>
    <p:sldId id="292" r:id="rId20"/>
    <p:sldId id="296" r:id="rId21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9" roundtripDataSignature="AMtx7mglielP0sJG0Hklf5QgIGBS3dGn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69524DB-FC22-4248-89E8-BD6EB30A82DC}">
  <a:tblStyle styleId="{B69524DB-FC22-4248-89E8-BD6EB30A82DC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728F19E-96FB-4007-AD1D-E6BBE63C8810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F0F4"/>
          </a:solidFill>
        </a:fill>
      </a:tcStyle>
    </a:wholeTbl>
    <a:band1H>
      <a:tcTxStyle/>
      <a:tcStyle>
        <a:tcBdr/>
        <a:fill>
          <a:solidFill>
            <a:srgbClr val="CCDFE8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CDFE8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FF13EDF-5C4B-4975-ADE1-44F280FE81C6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0B68772-85F3-41A4-AA7F-DE915835CD8A}" styleName="Table_3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dk1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170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51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50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3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49" Type="http://customschemas.google.com/relationships/presentationmetadata" Target="meta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52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3" name="Google Shape;183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 sz="1200" b="1">
              <a:solidFill>
                <a:schemeClr val="dk2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84" name="Google Shape;184;p1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99" name="Google Shape;399;p2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27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3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4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3"/>
          <p:cNvSpPr/>
          <p:nvPr/>
        </p:nvSpPr>
        <p:spPr>
          <a:xfrm>
            <a:off x="0" y="4664075"/>
            <a:ext cx="9150350" cy="0"/>
          </a:xfrm>
          <a:prstGeom prst="rtTriangle">
            <a:avLst/>
          </a:prstGeom>
          <a:gradFill>
            <a:gsLst>
              <a:gs pos="0">
                <a:srgbClr val="007795"/>
              </a:gs>
              <a:gs pos="55000">
                <a:srgbClr val="47BBE0"/>
              </a:gs>
              <a:gs pos="100000">
                <a:srgbClr val="007795"/>
              </a:gs>
            </a:gsLst>
            <a:lin ang="3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" name="Google Shape;21;p43"/>
          <p:cNvGrpSpPr/>
          <p:nvPr/>
        </p:nvGrpSpPr>
        <p:grpSpPr>
          <a:xfrm>
            <a:off x="-3175" y="4953000"/>
            <a:ext cx="9147175" cy="1911350"/>
            <a:chOff x="-3765" y="4832896"/>
            <a:chExt cx="9147765" cy="2032192"/>
          </a:xfrm>
        </p:grpSpPr>
        <p:sp>
          <p:nvSpPr>
            <p:cNvPr id="22" name="Google Shape;22;p43"/>
            <p:cNvSpPr/>
            <p:nvPr/>
          </p:nvSpPr>
          <p:spPr>
            <a:xfrm>
              <a:off x="1687032" y="4832896"/>
              <a:ext cx="7456968" cy="518176"/>
            </a:xfrm>
            <a:custGeom>
              <a:avLst/>
              <a:gdLst/>
              <a:ahLst/>
              <a:cxnLst/>
              <a:rect l="l" t="t" r="r" b="b"/>
              <a:pathLst>
                <a:path w="4697" h="367" extrusionOk="0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rgbClr val="9CCADC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43"/>
            <p:cNvSpPr/>
            <p:nvPr/>
          </p:nvSpPr>
          <p:spPr>
            <a:xfrm>
              <a:off x="35926" y="5135025"/>
              <a:ext cx="9108074" cy="838869"/>
            </a:xfrm>
            <a:custGeom>
              <a:avLst/>
              <a:gdLst/>
              <a:ahLst/>
              <a:cxnLst/>
              <a:rect l="l" t="t" r="r" b="b"/>
              <a:pathLst>
                <a:path w="5760" h="528" extrusionOk="0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43"/>
            <p:cNvSpPr/>
            <p:nvPr/>
          </p:nvSpPr>
          <p:spPr>
            <a:xfrm>
              <a:off x="0" y="4883888"/>
              <a:ext cx="9144000" cy="1981200"/>
            </a:xfrm>
            <a:custGeom>
              <a:avLst/>
              <a:gdLst/>
              <a:ahLst/>
              <a:cxnLst/>
              <a:rect l="l" t="t" r="r" b="b"/>
              <a:pathLst>
                <a:path w="5760" h="1248" extrusionOk="0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 amt="50000"/>
              </a:blip>
              <a:tile tx="0" ty="0" sx="50000" sy="50000" flip="none" algn="t"/>
            </a:blip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" name="Google Shape;25;p43"/>
            <p:cNvCxnSpPr/>
            <p:nvPr/>
          </p:nvCxnSpPr>
          <p:spPr>
            <a:xfrm>
              <a:off x="-3765" y="4880373"/>
              <a:ext cx="9147765" cy="839943"/>
            </a:xfrm>
            <a:prstGeom prst="straightConnector1">
              <a:avLst/>
            </a:prstGeom>
            <a:noFill/>
            <a:ln w="12050" cap="flat" cmpd="sng">
              <a:solidFill>
                <a:srgbClr val="93C5D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6" name="Google Shape;26;p43"/>
          <p:cNvSpPr txBox="1"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4800" b="1"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3"/>
          <p:cNvSpPr txBox="1"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R="64008" lvl="0" algn="r">
              <a:spcBef>
                <a:spcPts val="400"/>
              </a:spcBef>
              <a:spcAft>
                <a:spcPts val="0"/>
              </a:spcAft>
              <a:buSzPts val="1836"/>
              <a:buNone/>
              <a:defRPr>
                <a:solidFill>
                  <a:schemeClr val="dk2"/>
                </a:solidFill>
              </a:defRPr>
            </a:lvl1pPr>
            <a:lvl2pPr lvl="1" algn="ctr">
              <a:spcBef>
                <a:spcPts val="325"/>
              </a:spcBef>
              <a:spcAft>
                <a:spcPts val="0"/>
              </a:spcAft>
              <a:buSzPts val="1800"/>
              <a:buNone/>
              <a:defRPr/>
            </a:lvl2pPr>
            <a:lvl3pPr lvl="2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3pPr>
            <a:lvl4pPr lvl="3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4pPr>
            <a:lvl5pPr lvl="4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3"/>
          <p:cNvSpPr txBox="1">
            <a:spLocks noGrp="1"/>
          </p:cNvSpPr>
          <p:nvPr>
            <p:ph type="dt" idx="10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3"/>
          <p:cNvSpPr txBox="1">
            <a:spLocks noGrp="1"/>
          </p:cNvSpPr>
          <p:nvPr>
            <p:ph type="ftr" idx="11"/>
          </p:nvPr>
        </p:nvSpPr>
        <p:spPr>
          <a:xfrm>
            <a:off x="4379913" y="6408738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E7F0F4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3"/>
          <p:cNvSpPr txBox="1">
            <a:spLocks noGrp="1"/>
          </p:cNvSpPr>
          <p:nvPr>
            <p:ph type="sldNum" idx="12"/>
          </p:nvPr>
        </p:nvSpPr>
        <p:spPr>
          <a:xfrm>
            <a:off x="8647113" y="6408738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4"/>
          <p:cNvSpPr txBox="1"/>
          <p:nvPr/>
        </p:nvSpPr>
        <p:spPr>
          <a:xfrm>
            <a:off x="5486400" y="6492875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2016</a:t>
            </a:r>
            <a:endParaRPr/>
          </a:p>
        </p:txBody>
      </p:sp>
      <p:sp>
        <p:nvSpPr>
          <p:cNvPr id="33" name="Google Shape;33;p44"/>
          <p:cNvSpPr txBox="1">
            <a:spLocks noGrp="1"/>
          </p:cNvSpPr>
          <p:nvPr>
            <p:ph type="body" idx="1"/>
          </p:nvPr>
        </p:nvSpPr>
        <p:spPr>
          <a:xfrm>
            <a:off x="457200" y="1481138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6324" algn="l">
              <a:spcBef>
                <a:spcPts val="400"/>
              </a:spcBef>
              <a:spcAft>
                <a:spcPts val="0"/>
              </a:spcAft>
              <a:buSzPts val="1224"/>
              <a:buChar char="🞂"/>
              <a:defRPr/>
            </a:lvl1pPr>
            <a:lvl2pPr marL="914400" lvl="1" indent="-342900" algn="l">
              <a:spcBef>
                <a:spcPts val="325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429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marL="3657600" lvl="7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marL="4114800" lvl="8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34" name="Google Shape;34;p4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4"/>
          <p:cNvSpPr txBox="1">
            <a:spLocks noGrp="1"/>
          </p:cNvSpPr>
          <p:nvPr>
            <p:ph type="ftr" idx="11"/>
          </p:nvPr>
        </p:nvSpPr>
        <p:spPr>
          <a:xfrm>
            <a:off x="0" y="6400800"/>
            <a:ext cx="2590800" cy="457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4"/>
          <p:cNvSpPr txBox="1">
            <a:spLocks noGrp="1"/>
          </p:cNvSpPr>
          <p:nvPr>
            <p:ph type="sldNum" idx="12"/>
          </p:nvPr>
        </p:nvSpPr>
        <p:spPr>
          <a:xfrm>
            <a:off x="8588375" y="6492875"/>
            <a:ext cx="5556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5"/>
          <p:cNvSpPr txBox="1">
            <a:spLocks noGrp="1"/>
          </p:cNvSpPr>
          <p:nvPr>
            <p:ph type="dt" idx="10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5"/>
          <p:cNvSpPr txBox="1">
            <a:spLocks noGrp="1"/>
          </p:cNvSpPr>
          <p:nvPr>
            <p:ph type="ftr" idx="11"/>
          </p:nvPr>
        </p:nvSpPr>
        <p:spPr>
          <a:xfrm>
            <a:off x="4379913" y="6408738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5"/>
          <p:cNvSpPr txBox="1">
            <a:spLocks noGrp="1"/>
          </p:cNvSpPr>
          <p:nvPr>
            <p:ph type="sldNum" idx="12"/>
          </p:nvPr>
        </p:nvSpPr>
        <p:spPr>
          <a:xfrm>
            <a:off x="8647113" y="6408738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" name="Google Shape;42;p45"/>
          <p:cNvSpPr txBox="1">
            <a:spLocks noGrp="1"/>
          </p:cNvSpPr>
          <p:nvPr>
            <p:ph type="body" idx="1"/>
          </p:nvPr>
        </p:nvSpPr>
        <p:spPr>
          <a:xfrm>
            <a:off x="533400" y="1752600"/>
            <a:ext cx="42672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6324" algn="l">
              <a:spcBef>
                <a:spcPts val="400"/>
              </a:spcBef>
              <a:spcAft>
                <a:spcPts val="0"/>
              </a:spcAft>
              <a:buSzPts val="1224"/>
              <a:buChar char="🞂"/>
              <a:defRPr/>
            </a:lvl1pPr>
            <a:lvl2pPr marL="914400" lvl="1" indent="-342900" algn="l">
              <a:spcBef>
                <a:spcPts val="325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429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marL="3657600" lvl="7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marL="4114800" lvl="8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43" name="Google Shape;43;p45"/>
          <p:cNvSpPr txBox="1">
            <a:spLocks noGrp="1"/>
          </p:cNvSpPr>
          <p:nvPr>
            <p:ph type="body" idx="2"/>
          </p:nvPr>
        </p:nvSpPr>
        <p:spPr>
          <a:xfrm>
            <a:off x="5181600" y="1752600"/>
            <a:ext cx="37338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6324" algn="l">
              <a:spcBef>
                <a:spcPts val="400"/>
              </a:spcBef>
              <a:spcAft>
                <a:spcPts val="0"/>
              </a:spcAft>
              <a:buSzPts val="1224"/>
              <a:buChar char="🞂"/>
              <a:defRPr/>
            </a:lvl1pPr>
            <a:lvl2pPr marL="914400" lvl="1" indent="-342900" algn="l">
              <a:spcBef>
                <a:spcPts val="325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429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marL="3657600" lvl="7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marL="4114800" lvl="8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gradFill>
          <a:gsLst>
            <a:gs pos="0">
              <a:srgbClr val="B1B1B1"/>
            </a:gs>
            <a:gs pos="40000">
              <a:srgbClr val="9E9E9E"/>
            </a:gs>
            <a:gs pos="100000">
              <a:schemeClr val="dk1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6"/>
          <p:cNvSpPr/>
          <p:nvPr/>
        </p:nvSpPr>
        <p:spPr>
          <a:xfrm>
            <a:off x="3636963" y="3005138"/>
            <a:ext cx="182562" cy="228600"/>
          </a:xfrm>
          <a:prstGeom prst="chevron">
            <a:avLst>
              <a:gd name="adj" fmla="val 50000"/>
            </a:avLst>
          </a:prstGeom>
          <a:gradFill>
            <a:gsLst>
              <a:gs pos="0">
                <a:srgbClr val="1488A5"/>
              </a:gs>
              <a:gs pos="72000">
                <a:srgbClr val="4DB7DA"/>
              </a:gs>
              <a:gs pos="100000">
                <a:srgbClr val="7CC2DD"/>
              </a:gs>
            </a:gsLst>
            <a:lin ang="16200000" scaled="0"/>
          </a:gradFill>
          <a:ln w="9525" cap="rnd" cmpd="sng">
            <a:solidFill>
              <a:srgbClr val="20768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46"/>
          <p:cNvSpPr/>
          <p:nvPr/>
        </p:nvSpPr>
        <p:spPr>
          <a:xfrm>
            <a:off x="3449638" y="3005138"/>
            <a:ext cx="184150" cy="228600"/>
          </a:xfrm>
          <a:prstGeom prst="chevron">
            <a:avLst>
              <a:gd name="adj" fmla="val 50000"/>
            </a:avLst>
          </a:prstGeom>
          <a:gradFill>
            <a:gsLst>
              <a:gs pos="0">
                <a:srgbClr val="1488A5"/>
              </a:gs>
              <a:gs pos="72000">
                <a:srgbClr val="4DB7DA"/>
              </a:gs>
              <a:gs pos="100000">
                <a:srgbClr val="7CC2DD"/>
              </a:gs>
            </a:gsLst>
            <a:lin ang="16200000" scaled="0"/>
          </a:gradFill>
          <a:ln w="9525" cap="rnd" cmpd="sng">
            <a:solidFill>
              <a:srgbClr val="20768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46"/>
          <p:cNvSpPr txBox="1"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Arial"/>
              <a:buNone/>
              <a:defRPr sz="4800" b="1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46"/>
          <p:cNvSpPr txBox="1"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1564"/>
              <a:buNone/>
              <a:defRPr sz="23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325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spcBef>
                <a:spcPts val="3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marL="3657600" lvl="7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marL="4114800" lvl="8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46"/>
          <p:cNvSpPr txBox="1">
            <a:spLocks noGrp="1"/>
          </p:cNvSpPr>
          <p:nvPr>
            <p:ph type="dt" idx="10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46"/>
          <p:cNvSpPr txBox="1">
            <a:spLocks noGrp="1"/>
          </p:cNvSpPr>
          <p:nvPr>
            <p:ph type="ftr" idx="11"/>
          </p:nvPr>
        </p:nvSpPr>
        <p:spPr>
          <a:xfrm>
            <a:off x="4379913" y="6408738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6"/>
          <p:cNvSpPr txBox="1">
            <a:spLocks noGrp="1"/>
          </p:cNvSpPr>
          <p:nvPr>
            <p:ph type="sldNum" idx="12"/>
          </p:nvPr>
        </p:nvSpPr>
        <p:spPr>
          <a:xfrm>
            <a:off x="8647113" y="6408738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bg>
      <p:bgPr>
        <a:gradFill>
          <a:gsLst>
            <a:gs pos="0">
              <a:srgbClr val="B1B1B1"/>
            </a:gs>
            <a:gs pos="40000">
              <a:srgbClr val="9E9E9E"/>
            </a:gs>
            <a:gs pos="100000">
              <a:schemeClr val="dk1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7"/>
          <p:cNvSpPr txBox="1">
            <a:spLocks noGrp="1"/>
          </p:cNvSpPr>
          <p:nvPr>
            <p:ph type="body" idx="1"/>
          </p:nvPr>
        </p:nvSpPr>
        <p:spPr>
          <a:xfrm>
            <a:off x="457200" y="1481328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9504" algn="l">
              <a:spcBef>
                <a:spcPts val="400"/>
              </a:spcBef>
              <a:spcAft>
                <a:spcPts val="0"/>
              </a:spcAft>
              <a:buSzPts val="1904"/>
              <a:buChar char="🞂"/>
              <a:defRPr sz="2800"/>
            </a:lvl1pPr>
            <a:lvl2pPr marL="914400" lvl="1" indent="-381000" algn="l">
              <a:spcBef>
                <a:spcPts val="325"/>
              </a:spcBef>
              <a:spcAft>
                <a:spcPts val="0"/>
              </a:spcAft>
              <a:buSzPts val="2400"/>
              <a:buChar char="◦"/>
              <a:defRPr sz="2400"/>
            </a:lvl2pPr>
            <a:lvl3pPr marL="1371600" lvl="2" indent="-355600" algn="l">
              <a:spcBef>
                <a:spcPts val="350"/>
              </a:spcBef>
              <a:spcAft>
                <a:spcPts val="0"/>
              </a:spcAft>
              <a:buSzPts val="2000"/>
              <a:buChar char="●"/>
              <a:defRPr sz="2000"/>
            </a:lvl3pPr>
            <a:lvl4pPr marL="1828800" lvl="3" indent="-3429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 sz="1800"/>
            </a:lvl5pPr>
            <a:lvl6pPr marL="2743200" lvl="5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marL="3657600" lvl="7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marL="4114800" lvl="8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47"/>
          <p:cNvSpPr txBox="1">
            <a:spLocks noGrp="1"/>
          </p:cNvSpPr>
          <p:nvPr>
            <p:ph type="body" idx="2"/>
          </p:nvPr>
        </p:nvSpPr>
        <p:spPr>
          <a:xfrm>
            <a:off x="4648200" y="1481328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9504" algn="l">
              <a:spcBef>
                <a:spcPts val="400"/>
              </a:spcBef>
              <a:spcAft>
                <a:spcPts val="0"/>
              </a:spcAft>
              <a:buSzPts val="1904"/>
              <a:buChar char="🞂"/>
              <a:defRPr sz="2800"/>
            </a:lvl1pPr>
            <a:lvl2pPr marL="914400" lvl="1" indent="-381000" algn="l">
              <a:spcBef>
                <a:spcPts val="325"/>
              </a:spcBef>
              <a:spcAft>
                <a:spcPts val="0"/>
              </a:spcAft>
              <a:buSzPts val="2400"/>
              <a:buChar char="◦"/>
              <a:defRPr sz="2400"/>
            </a:lvl2pPr>
            <a:lvl3pPr marL="1371600" lvl="2" indent="-355600" algn="l">
              <a:spcBef>
                <a:spcPts val="350"/>
              </a:spcBef>
              <a:spcAft>
                <a:spcPts val="0"/>
              </a:spcAft>
              <a:buSzPts val="2000"/>
              <a:buChar char="●"/>
              <a:defRPr sz="2000"/>
            </a:lvl3pPr>
            <a:lvl4pPr marL="1828800" lvl="3" indent="-3429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 sz="1800"/>
            </a:lvl5pPr>
            <a:lvl6pPr marL="2743200" lvl="5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marL="3657600" lvl="7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marL="4114800" lvl="8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4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7"/>
          <p:cNvSpPr txBox="1">
            <a:spLocks noGrp="1"/>
          </p:cNvSpPr>
          <p:nvPr>
            <p:ph type="dt" idx="10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47"/>
          <p:cNvSpPr txBox="1">
            <a:spLocks noGrp="1"/>
          </p:cNvSpPr>
          <p:nvPr>
            <p:ph type="ftr" idx="11"/>
          </p:nvPr>
        </p:nvSpPr>
        <p:spPr>
          <a:xfrm>
            <a:off x="4379913" y="6408738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47"/>
          <p:cNvSpPr txBox="1">
            <a:spLocks noGrp="1"/>
          </p:cNvSpPr>
          <p:nvPr>
            <p:ph type="sldNum" idx="12"/>
          </p:nvPr>
        </p:nvSpPr>
        <p:spPr>
          <a:xfrm>
            <a:off x="8647113" y="6408738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mparison" type="twoTxTwoObj">
  <p:cSld name="TWO_OBJECTS_WITH_TEXT">
    <p:bg>
      <p:bgPr>
        <a:blipFill rotWithShape="1">
          <a:blip r:embed="rId2">
            <a:alphaModFix/>
          </a:blip>
          <a:tile tx="0" ty="0" sx="50000" sy="50000" flip="none" algn="tl"/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8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48"/>
          <p:cNvSpPr txBox="1"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prstGeom prst="rect">
            <a:avLst/>
          </a:prstGeom>
          <a:solidFill>
            <a:schemeClr val="accent1"/>
          </a:solidFill>
          <a:ln w="96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1632"/>
              <a:buNone/>
              <a:defRPr sz="2400" b="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325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35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35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marL="3657600" lvl="7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marL="4114800" lvl="8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62" name="Google Shape;62;p48"/>
          <p:cNvSpPr txBox="1">
            <a:spLocks noGrp="1"/>
          </p:cNvSpPr>
          <p:nvPr>
            <p:ph type="body" idx="2"/>
          </p:nvPr>
        </p:nvSpPr>
        <p:spPr>
          <a:xfrm>
            <a:off x="4645026" y="5410200"/>
            <a:ext cx="4041775" cy="762000"/>
          </a:xfrm>
          <a:prstGeom prst="rect">
            <a:avLst/>
          </a:prstGeom>
          <a:solidFill>
            <a:schemeClr val="accent1"/>
          </a:solidFill>
          <a:ln w="96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1632"/>
              <a:buNone/>
              <a:defRPr sz="2400" b="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325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35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35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marL="3657600" lvl="7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marL="4114800" lvl="8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63" name="Google Shape;63;p48"/>
          <p:cNvSpPr txBox="1">
            <a:spLocks noGrp="1"/>
          </p:cNvSpPr>
          <p:nvPr>
            <p:ph type="body" idx="3"/>
          </p:nvPr>
        </p:nvSpPr>
        <p:spPr>
          <a:xfrm>
            <a:off x="457200" y="1444294"/>
            <a:ext cx="4040188" cy="3941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2232" algn="l">
              <a:spcBef>
                <a:spcPts val="400"/>
              </a:spcBef>
              <a:spcAft>
                <a:spcPts val="0"/>
              </a:spcAft>
              <a:buSzPts val="1632"/>
              <a:buChar char="🞂"/>
              <a:defRPr sz="2400"/>
            </a:lvl1pPr>
            <a:lvl2pPr marL="914400" lvl="1" indent="-355600" algn="l">
              <a:spcBef>
                <a:spcPts val="325"/>
              </a:spcBef>
              <a:spcAft>
                <a:spcPts val="0"/>
              </a:spcAft>
              <a:buSzPts val="2000"/>
              <a:buChar char="◦"/>
              <a:defRPr sz="2000"/>
            </a:lvl2pPr>
            <a:lvl3pPr marL="1371600" lvl="2" indent="-3429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 sz="1800"/>
            </a:lvl3pPr>
            <a:lvl4pPr marL="1828800" lvl="3" indent="-330200" algn="l">
              <a:spcBef>
                <a:spcPts val="35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spcBef>
                <a:spcPts val="350"/>
              </a:spcBef>
              <a:spcAft>
                <a:spcPts val="0"/>
              </a:spcAft>
              <a:buSzPts val="1600"/>
              <a:buChar char="●"/>
              <a:defRPr sz="1600"/>
            </a:lvl5pPr>
            <a:lvl6pPr marL="2743200" lvl="5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marL="3657600" lvl="7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marL="4114800" lvl="8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48"/>
          <p:cNvSpPr txBox="1">
            <a:spLocks noGrp="1"/>
          </p:cNvSpPr>
          <p:nvPr>
            <p:ph type="body" idx="4"/>
          </p:nvPr>
        </p:nvSpPr>
        <p:spPr>
          <a:xfrm>
            <a:off x="4645025" y="1444294"/>
            <a:ext cx="4041775" cy="3941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2232" algn="l">
              <a:spcBef>
                <a:spcPts val="0"/>
              </a:spcBef>
              <a:spcAft>
                <a:spcPts val="0"/>
              </a:spcAft>
              <a:buSzPts val="1632"/>
              <a:buChar char="🞂"/>
              <a:defRPr sz="2400"/>
            </a:lvl1pPr>
            <a:lvl2pPr marL="914400" lvl="1" indent="-355600" algn="l">
              <a:spcBef>
                <a:spcPts val="325"/>
              </a:spcBef>
              <a:spcAft>
                <a:spcPts val="0"/>
              </a:spcAft>
              <a:buSzPts val="2000"/>
              <a:buChar char="◦"/>
              <a:defRPr sz="2000"/>
            </a:lvl2pPr>
            <a:lvl3pPr marL="1371600" lvl="2" indent="-3429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 sz="1800"/>
            </a:lvl3pPr>
            <a:lvl4pPr marL="1828800" lvl="3" indent="-330200" algn="l">
              <a:spcBef>
                <a:spcPts val="35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spcBef>
                <a:spcPts val="350"/>
              </a:spcBef>
              <a:spcAft>
                <a:spcPts val="0"/>
              </a:spcAft>
              <a:buSzPts val="1600"/>
              <a:buChar char="●"/>
              <a:defRPr sz="1600"/>
            </a:lvl5pPr>
            <a:lvl6pPr marL="2743200" lvl="5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marL="3657600" lvl="7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marL="4114800" lvl="8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65" name="Google Shape;65;p48"/>
          <p:cNvSpPr txBox="1">
            <a:spLocks noGrp="1"/>
          </p:cNvSpPr>
          <p:nvPr>
            <p:ph type="dt" idx="10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48"/>
          <p:cNvSpPr txBox="1">
            <a:spLocks noGrp="1"/>
          </p:cNvSpPr>
          <p:nvPr>
            <p:ph type="ftr" idx="11"/>
          </p:nvPr>
        </p:nvSpPr>
        <p:spPr>
          <a:xfrm>
            <a:off x="4379913" y="6408738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48"/>
          <p:cNvSpPr txBox="1">
            <a:spLocks noGrp="1"/>
          </p:cNvSpPr>
          <p:nvPr>
            <p:ph type="sldNum" idx="12"/>
          </p:nvPr>
        </p:nvSpPr>
        <p:spPr>
          <a:xfrm>
            <a:off x="8647113" y="6408738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gradFill>
          <a:gsLst>
            <a:gs pos="0">
              <a:srgbClr val="B1B1B1"/>
            </a:gs>
            <a:gs pos="40000">
              <a:srgbClr val="9E9E9E"/>
            </a:gs>
            <a:gs pos="100000">
              <a:schemeClr val="dk1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9"/>
          <p:cNvSpPr txBox="1">
            <a:spLocks noGrp="1"/>
          </p:cNvSpPr>
          <p:nvPr>
            <p:ph type="dt" idx="10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49"/>
          <p:cNvSpPr txBox="1">
            <a:spLocks noGrp="1"/>
          </p:cNvSpPr>
          <p:nvPr>
            <p:ph type="ftr" idx="11"/>
          </p:nvPr>
        </p:nvSpPr>
        <p:spPr>
          <a:xfrm>
            <a:off x="4379913" y="6408738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49"/>
          <p:cNvSpPr txBox="1">
            <a:spLocks noGrp="1"/>
          </p:cNvSpPr>
          <p:nvPr>
            <p:ph type="sldNum" idx="12"/>
          </p:nvPr>
        </p:nvSpPr>
        <p:spPr>
          <a:xfrm>
            <a:off x="8647113" y="6408738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0"/>
          <p:cNvSpPr txBox="1">
            <a:spLocks noGrp="1"/>
          </p:cNvSpPr>
          <p:nvPr>
            <p:ph type="dt" idx="10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50"/>
          <p:cNvSpPr txBox="1">
            <a:spLocks noGrp="1"/>
          </p:cNvSpPr>
          <p:nvPr>
            <p:ph type="ftr" idx="11"/>
          </p:nvPr>
        </p:nvSpPr>
        <p:spPr>
          <a:xfrm>
            <a:off x="4379913" y="6408738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50"/>
          <p:cNvSpPr txBox="1">
            <a:spLocks noGrp="1"/>
          </p:cNvSpPr>
          <p:nvPr>
            <p:ph type="sldNum" idx="12"/>
          </p:nvPr>
        </p:nvSpPr>
        <p:spPr>
          <a:xfrm>
            <a:off x="8647113" y="6408738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bg>
      <p:bgPr>
        <a:blipFill rotWithShape="1">
          <a:blip r:embed="rId2">
            <a:alphaModFix/>
          </a:blip>
          <a:tile tx="0" ty="0" sx="50000" sy="50000" flip="none" algn="tl"/>
        </a:blip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1"/>
          <p:cNvSpPr txBox="1"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Arial"/>
              <a:buNone/>
              <a:defRPr sz="2500" b="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51"/>
          <p:cNvSpPr txBox="1">
            <a:spLocks noGrp="1"/>
          </p:cNvSpPr>
          <p:nvPr>
            <p:ph type="body" idx="1"/>
          </p:nvPr>
        </p:nvSpPr>
        <p:spPr>
          <a:xfrm>
            <a:off x="4419600" y="5355102"/>
            <a:ext cx="397459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r">
              <a:spcBef>
                <a:spcPts val="400"/>
              </a:spcBef>
              <a:spcAft>
                <a:spcPts val="0"/>
              </a:spcAft>
              <a:buSzPts val="1088"/>
              <a:buNone/>
              <a:defRPr sz="1600"/>
            </a:lvl1pPr>
            <a:lvl2pPr marL="914400" lvl="1" indent="-228600" algn="l">
              <a:spcBef>
                <a:spcPts val="325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3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35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35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marL="3657600" lvl="7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marL="4114800" lvl="8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80" name="Google Shape;80;p51"/>
          <p:cNvSpPr txBox="1">
            <a:spLocks noGrp="1"/>
          </p:cNvSpPr>
          <p:nvPr>
            <p:ph type="body" idx="2"/>
          </p:nvPr>
        </p:nvSpPr>
        <p:spPr>
          <a:xfrm>
            <a:off x="914400" y="274320"/>
            <a:ext cx="7479792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6776" algn="l">
              <a:spcBef>
                <a:spcPts val="400"/>
              </a:spcBef>
              <a:spcAft>
                <a:spcPts val="0"/>
              </a:spcAft>
              <a:buSzPts val="2176"/>
              <a:buChar char="🞂"/>
              <a:defRPr sz="3200"/>
            </a:lvl1pPr>
            <a:lvl2pPr marL="914400" lvl="1" indent="-406400" algn="l">
              <a:spcBef>
                <a:spcPts val="325"/>
              </a:spcBef>
              <a:spcAft>
                <a:spcPts val="0"/>
              </a:spcAft>
              <a:buSzPts val="2800"/>
              <a:buChar char="◦"/>
              <a:defRPr sz="2800"/>
            </a:lvl2pPr>
            <a:lvl3pPr marL="1371600" lvl="2" indent="-381000" algn="l">
              <a:spcBef>
                <a:spcPts val="350"/>
              </a:spcBef>
              <a:spcAft>
                <a:spcPts val="0"/>
              </a:spcAft>
              <a:buSzPts val="2400"/>
              <a:buChar char="●"/>
              <a:defRPr sz="2400"/>
            </a:lvl3pPr>
            <a:lvl4pPr marL="1828800" lvl="3" indent="-355600" algn="l">
              <a:spcBef>
                <a:spcPts val="35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algn="l">
              <a:spcBef>
                <a:spcPts val="350"/>
              </a:spcBef>
              <a:spcAft>
                <a:spcPts val="0"/>
              </a:spcAft>
              <a:buSzPts val="2000"/>
              <a:buChar char="●"/>
              <a:defRPr sz="2000"/>
            </a:lvl5pPr>
            <a:lvl6pPr marL="2743200" lvl="5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marL="3657600" lvl="7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marL="4114800" lvl="8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81" name="Google Shape;81;p51"/>
          <p:cNvSpPr txBox="1">
            <a:spLocks noGrp="1"/>
          </p:cNvSpPr>
          <p:nvPr>
            <p:ph type="dt" idx="10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51"/>
          <p:cNvSpPr txBox="1">
            <a:spLocks noGrp="1"/>
          </p:cNvSpPr>
          <p:nvPr>
            <p:ph type="ftr" idx="11"/>
          </p:nvPr>
        </p:nvSpPr>
        <p:spPr>
          <a:xfrm>
            <a:off x="4379913" y="6408738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1"/>
          <p:cNvSpPr txBox="1">
            <a:spLocks noGrp="1"/>
          </p:cNvSpPr>
          <p:nvPr>
            <p:ph type="sldNum" idx="12"/>
          </p:nvPr>
        </p:nvSpPr>
        <p:spPr>
          <a:xfrm>
            <a:off x="8647113" y="6408738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bg>
      <p:bgPr>
        <a:gradFill>
          <a:gsLst>
            <a:gs pos="0">
              <a:srgbClr val="B1B1B1"/>
            </a:gs>
            <a:gs pos="40000">
              <a:srgbClr val="9E9E9E"/>
            </a:gs>
            <a:gs pos="100000">
              <a:schemeClr val="dk1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2"/>
          <p:cNvSpPr/>
          <p:nvPr/>
        </p:nvSpPr>
        <p:spPr>
          <a:xfrm>
            <a:off x="715963" y="5002213"/>
            <a:ext cx="3802062" cy="1443037"/>
          </a:xfrm>
          <a:custGeom>
            <a:avLst/>
            <a:gdLst/>
            <a:ahLst/>
            <a:cxnLst/>
            <a:rect l="l" t="t" r="r" b="b"/>
            <a:pathLst>
              <a:path w="5760" h="528" extrusionOk="0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rgbClr val="9CCADC">
              <a:alpha val="4000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52"/>
          <p:cNvSpPr/>
          <p:nvPr/>
        </p:nvSpPr>
        <p:spPr>
          <a:xfrm>
            <a:off x="-53975" y="5784850"/>
            <a:ext cx="3802063" cy="838200"/>
          </a:xfrm>
          <a:custGeom>
            <a:avLst/>
            <a:gdLst/>
            <a:ahLst/>
            <a:cxnLst/>
            <a:rect l="l" t="t" r="r" b="b"/>
            <a:pathLst>
              <a:path w="5760" h="528" extrusionOk="0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52"/>
          <p:cNvSpPr/>
          <p:nvPr/>
        </p:nvSpPr>
        <p:spPr>
          <a:xfrm>
            <a:off x="-6042" y="5791253"/>
            <a:ext cx="3402314" cy="1080868"/>
          </a:xfrm>
          <a:prstGeom prst="rtTriangle">
            <a:avLst/>
          </a:prstGeom>
          <a:blipFill rotWithShape="1">
            <a:blip r:embed="rId2">
              <a:alphaModFix amt="50000"/>
            </a:blip>
            <a:tile tx="0" ty="0" sx="50000" sy="50000" flip="none" algn="t"/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8" name="Google Shape;88;p52"/>
          <p:cNvCxnSpPr/>
          <p:nvPr/>
        </p:nvCxnSpPr>
        <p:spPr>
          <a:xfrm>
            <a:off x="-9237" y="5787738"/>
            <a:ext cx="3405509" cy="1084383"/>
          </a:xfrm>
          <a:prstGeom prst="straightConnector1">
            <a:avLst/>
          </a:prstGeom>
          <a:noFill/>
          <a:ln w="12050" cap="flat" cmpd="sng">
            <a:solidFill>
              <a:srgbClr val="93C5D8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9" name="Google Shape;89;p52"/>
          <p:cNvSpPr/>
          <p:nvPr/>
        </p:nvSpPr>
        <p:spPr>
          <a:xfrm>
            <a:off x="8664575" y="4987925"/>
            <a:ext cx="182563" cy="228600"/>
          </a:xfrm>
          <a:prstGeom prst="chevron">
            <a:avLst>
              <a:gd name="adj" fmla="val 50000"/>
            </a:avLst>
          </a:prstGeom>
          <a:gradFill>
            <a:gsLst>
              <a:gs pos="0">
                <a:srgbClr val="1488A5"/>
              </a:gs>
              <a:gs pos="72000">
                <a:srgbClr val="4DB7DA"/>
              </a:gs>
              <a:gs pos="100000">
                <a:srgbClr val="7CC2DD"/>
              </a:gs>
            </a:gsLst>
            <a:lin ang="16200000" scaled="0"/>
          </a:gradFill>
          <a:ln w="9525" cap="rnd" cmpd="sng">
            <a:solidFill>
              <a:srgbClr val="20768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52"/>
          <p:cNvSpPr/>
          <p:nvPr/>
        </p:nvSpPr>
        <p:spPr>
          <a:xfrm>
            <a:off x="8477250" y="4987925"/>
            <a:ext cx="182563" cy="228600"/>
          </a:xfrm>
          <a:prstGeom prst="chevron">
            <a:avLst>
              <a:gd name="adj" fmla="val 50000"/>
            </a:avLst>
          </a:prstGeom>
          <a:gradFill>
            <a:gsLst>
              <a:gs pos="0">
                <a:srgbClr val="1488A5"/>
              </a:gs>
              <a:gs pos="72000">
                <a:srgbClr val="4DB7DA"/>
              </a:gs>
              <a:gs pos="100000">
                <a:srgbClr val="7CC2DD"/>
              </a:gs>
            </a:gsLst>
            <a:lin ang="16200000" scaled="0"/>
          </a:gradFill>
          <a:ln w="9525" cap="rnd" cmpd="sng">
            <a:solidFill>
              <a:srgbClr val="20768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52"/>
          <p:cNvSpPr txBox="1">
            <a:spLocks noGrp="1"/>
          </p:cNvSpPr>
          <p:nvPr>
            <p:ph type="body" idx="1"/>
          </p:nvPr>
        </p:nvSpPr>
        <p:spPr>
          <a:xfrm>
            <a:off x="1141232" y="5443402"/>
            <a:ext cx="7162800" cy="648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marR="18288" lvl="0" indent="-228600" algn="r">
              <a:spcBef>
                <a:spcPts val="400"/>
              </a:spcBef>
              <a:spcAft>
                <a:spcPts val="0"/>
              </a:spcAft>
              <a:buSzPts val="952"/>
              <a:buNone/>
              <a:defRPr sz="1400"/>
            </a:lvl1pPr>
            <a:lvl2pPr marL="914400" lvl="1" indent="-304800" algn="l">
              <a:spcBef>
                <a:spcPts val="325"/>
              </a:spcBef>
              <a:spcAft>
                <a:spcPts val="0"/>
              </a:spcAft>
              <a:buSzPts val="1200"/>
              <a:buChar char="◦"/>
              <a:defRPr sz="1200"/>
            </a:lvl2pPr>
            <a:lvl3pPr marL="1371600" lvl="2" indent="-292100" algn="l">
              <a:spcBef>
                <a:spcPts val="350"/>
              </a:spcBef>
              <a:spcAft>
                <a:spcPts val="0"/>
              </a:spcAft>
              <a:buSzPts val="1000"/>
              <a:buChar char="●"/>
              <a:defRPr sz="1000"/>
            </a:lvl3pPr>
            <a:lvl4pPr marL="1828800" lvl="3" indent="-285750" algn="l">
              <a:spcBef>
                <a:spcPts val="350"/>
              </a:spcBef>
              <a:spcAft>
                <a:spcPts val="0"/>
              </a:spcAft>
              <a:buSzPts val="900"/>
              <a:buChar char="●"/>
              <a:defRPr sz="900"/>
            </a:lvl4pPr>
            <a:lvl5pPr marL="2286000" lvl="4" indent="-285750" algn="l">
              <a:spcBef>
                <a:spcPts val="350"/>
              </a:spcBef>
              <a:spcAft>
                <a:spcPts val="0"/>
              </a:spcAft>
              <a:buSzPts val="900"/>
              <a:buChar char="●"/>
              <a:defRPr sz="900"/>
            </a:lvl5pPr>
            <a:lvl6pPr marL="2743200" lvl="5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marL="3657600" lvl="7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marL="4114800" lvl="8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52"/>
          <p:cNvSpPr>
            <a:spLocks noGrp="1"/>
          </p:cNvSpPr>
          <p:nvPr>
            <p:ph type="pic" idx="2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52"/>
          <p:cNvSpPr txBox="1"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rial"/>
              <a:buNone/>
              <a:defRPr sz="3000" b="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52"/>
          <p:cNvSpPr txBox="1">
            <a:spLocks noGrp="1"/>
          </p:cNvSpPr>
          <p:nvPr>
            <p:ph type="dt" idx="10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52"/>
          <p:cNvSpPr txBox="1">
            <a:spLocks noGrp="1"/>
          </p:cNvSpPr>
          <p:nvPr>
            <p:ph type="ftr" idx="11"/>
          </p:nvPr>
        </p:nvSpPr>
        <p:spPr>
          <a:xfrm>
            <a:off x="4379913" y="6408738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52"/>
          <p:cNvSpPr txBox="1">
            <a:spLocks noGrp="1"/>
          </p:cNvSpPr>
          <p:nvPr>
            <p:ph type="sldNum" idx="12"/>
          </p:nvPr>
        </p:nvSpPr>
        <p:spPr>
          <a:xfrm>
            <a:off x="8647113" y="6408738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53"/>
          <p:cNvSpPr txBox="1">
            <a:spLocks noGrp="1"/>
          </p:cNvSpPr>
          <p:nvPr>
            <p:ph type="body" idx="1"/>
          </p:nvPr>
        </p:nvSpPr>
        <p:spPr>
          <a:xfrm rot="5400000">
            <a:off x="2378965" y="-440435"/>
            <a:ext cx="4386071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6324" algn="l">
              <a:spcBef>
                <a:spcPts val="400"/>
              </a:spcBef>
              <a:spcAft>
                <a:spcPts val="0"/>
              </a:spcAft>
              <a:buSzPts val="1224"/>
              <a:buChar char="🞂"/>
              <a:defRPr/>
            </a:lvl1pPr>
            <a:lvl2pPr marL="914400" lvl="1" indent="-342900" algn="l">
              <a:spcBef>
                <a:spcPts val="325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429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marL="3657600" lvl="7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marL="4114800" lvl="8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100" name="Google Shape;100;p53"/>
          <p:cNvSpPr txBox="1">
            <a:spLocks noGrp="1"/>
          </p:cNvSpPr>
          <p:nvPr>
            <p:ph type="dt" idx="10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53"/>
          <p:cNvSpPr txBox="1">
            <a:spLocks noGrp="1"/>
          </p:cNvSpPr>
          <p:nvPr>
            <p:ph type="ftr" idx="11"/>
          </p:nvPr>
        </p:nvSpPr>
        <p:spPr>
          <a:xfrm>
            <a:off x="4379913" y="6408738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53"/>
          <p:cNvSpPr txBox="1">
            <a:spLocks noGrp="1"/>
          </p:cNvSpPr>
          <p:nvPr>
            <p:ph type="sldNum" idx="12"/>
          </p:nvPr>
        </p:nvSpPr>
        <p:spPr>
          <a:xfrm>
            <a:off x="8647113" y="6408738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4"/>
          <p:cNvSpPr txBox="1">
            <a:spLocks noGrp="1"/>
          </p:cNvSpPr>
          <p:nvPr>
            <p:ph type="title"/>
          </p:nvPr>
        </p:nvSpPr>
        <p:spPr>
          <a:xfrm rot="5400000">
            <a:off x="4936367" y="2182286"/>
            <a:ext cx="5592761" cy="1777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54"/>
          <p:cNvSpPr txBox="1">
            <a:spLocks noGrp="1"/>
          </p:cNvSpPr>
          <p:nvPr>
            <p:ph type="body" idx="1"/>
          </p:nvPr>
        </p:nvSpPr>
        <p:spPr>
          <a:xfrm rot="5400000">
            <a:off x="823120" y="-91279"/>
            <a:ext cx="5592760" cy="6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6324" algn="l">
              <a:spcBef>
                <a:spcPts val="400"/>
              </a:spcBef>
              <a:spcAft>
                <a:spcPts val="0"/>
              </a:spcAft>
              <a:buSzPts val="1224"/>
              <a:buChar char="🞂"/>
              <a:defRPr/>
            </a:lvl1pPr>
            <a:lvl2pPr marL="914400" lvl="1" indent="-342900" algn="l">
              <a:spcBef>
                <a:spcPts val="325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429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marL="3657600" lvl="7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marL="4114800" lvl="8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106" name="Google Shape;106;p54"/>
          <p:cNvSpPr txBox="1">
            <a:spLocks noGrp="1"/>
          </p:cNvSpPr>
          <p:nvPr>
            <p:ph type="dt" idx="10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54"/>
          <p:cNvSpPr txBox="1">
            <a:spLocks noGrp="1"/>
          </p:cNvSpPr>
          <p:nvPr>
            <p:ph type="ftr" idx="11"/>
          </p:nvPr>
        </p:nvSpPr>
        <p:spPr>
          <a:xfrm>
            <a:off x="4379913" y="6408738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54"/>
          <p:cNvSpPr txBox="1">
            <a:spLocks noGrp="1"/>
          </p:cNvSpPr>
          <p:nvPr>
            <p:ph type="sldNum" idx="12"/>
          </p:nvPr>
        </p:nvSpPr>
        <p:spPr>
          <a:xfrm>
            <a:off x="8647113" y="6408738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6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56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5" name="Google Shape;115;p5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6" name="Google Shape;116;p5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7" name="Google Shape;117;p5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5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1" name="Google Shape;121;p5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2" name="Google Shape;122;p5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3" name="Google Shape;123;p5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8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58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7" name="Google Shape;127;p5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8" name="Google Shape;128;p5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9" name="Google Shape;129;p5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5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33" name="Google Shape;133;p59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34" name="Google Shape;134;p5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5" name="Google Shape;135;p5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6" name="Google Shape;136;p5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60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40" name="Google Shape;140;p60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41" name="Google Shape;141;p60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42" name="Google Shape;142;p60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43" name="Google Shape;143;p6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4" name="Google Shape;144;p6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5" name="Google Shape;145;p6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6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9" name="Google Shape;149;p6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0" name="Google Shape;150;p6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3" name="Google Shape;153;p6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4" name="Google Shape;154;p6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3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63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58" name="Google Shape;158;p63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59" name="Google Shape;159;p6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0" name="Google Shape;160;p6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1" name="Google Shape;161;p6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4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64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65" name="Google Shape;165;p64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66" name="Google Shape;166;p6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7" name="Google Shape;167;p6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8" name="Google Shape;168;p6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65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2" name="Google Shape;172;p6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3" name="Google Shape;173;p6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4" name="Google Shape;174;p6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6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66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8" name="Google Shape;178;p6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9" name="Google Shape;179;p6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0" name="Google Shape;180;p6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2"/>
          <p:cNvSpPr/>
          <p:nvPr/>
        </p:nvSpPr>
        <p:spPr>
          <a:xfrm>
            <a:off x="715963" y="5002213"/>
            <a:ext cx="3802062" cy="1443037"/>
          </a:xfrm>
          <a:custGeom>
            <a:avLst/>
            <a:gdLst/>
            <a:ahLst/>
            <a:cxnLst/>
            <a:rect l="l" t="t" r="r" b="b"/>
            <a:pathLst>
              <a:path w="5760" h="528" extrusionOk="0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rgbClr val="9CCADC">
              <a:alpha val="4000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42"/>
          <p:cNvSpPr/>
          <p:nvPr/>
        </p:nvSpPr>
        <p:spPr>
          <a:xfrm>
            <a:off x="-53975" y="5784850"/>
            <a:ext cx="3802063" cy="838200"/>
          </a:xfrm>
          <a:custGeom>
            <a:avLst/>
            <a:gdLst/>
            <a:ahLst/>
            <a:cxnLst/>
            <a:rect l="l" t="t" r="r" b="b"/>
            <a:pathLst>
              <a:path w="5760" h="528" extrusionOk="0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42"/>
          <p:cNvSpPr/>
          <p:nvPr/>
        </p:nvSpPr>
        <p:spPr>
          <a:xfrm>
            <a:off x="-6042" y="5791253"/>
            <a:ext cx="3402314" cy="1080868"/>
          </a:xfrm>
          <a:prstGeom prst="rtTriangle">
            <a:avLst/>
          </a:prstGeom>
          <a:blipFill rotWithShape="1">
            <a:blip r:embed="rId14">
              <a:alphaModFix amt="50000"/>
            </a:blip>
            <a:tile tx="0" ty="0" sx="50000" sy="50000" flip="none" algn="t"/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" name="Google Shape;13;p42"/>
          <p:cNvCxnSpPr/>
          <p:nvPr/>
        </p:nvCxnSpPr>
        <p:spPr>
          <a:xfrm>
            <a:off x="-9237" y="5787738"/>
            <a:ext cx="3405509" cy="1084383"/>
          </a:xfrm>
          <a:prstGeom prst="straightConnector1">
            <a:avLst/>
          </a:prstGeom>
          <a:noFill/>
          <a:ln w="12050" cap="flat" cmpd="sng">
            <a:solidFill>
              <a:srgbClr val="93C5D8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" name="Google Shape;14;p4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1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1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1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1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1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100" b="1" i="0" u="none" strike="noStrike" cap="non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100" b="1" i="0" u="none" strike="noStrike" cap="non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100" b="1" i="0" u="none" strike="noStrike" cap="non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100" b="1" i="0" u="none" strike="noStrike" cap="non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endParaRPr/>
          </a:p>
        </p:txBody>
      </p:sp>
      <p:sp>
        <p:nvSpPr>
          <p:cNvPr id="15" name="Google Shape;15;p42"/>
          <p:cNvSpPr txBox="1">
            <a:spLocks noGrp="1"/>
          </p:cNvSpPr>
          <p:nvPr>
            <p:ph type="body" idx="1"/>
          </p:nvPr>
        </p:nvSpPr>
        <p:spPr>
          <a:xfrm>
            <a:off x="457200" y="1481138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45186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74650" algn="l" rtl="0">
              <a:spcBef>
                <a:spcPts val="325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Verdana"/>
              <a:buChar char="◦"/>
              <a:defRPr sz="2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61950" algn="l" rtl="0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●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9250" algn="l" rtl="0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●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0200" algn="l" rtl="0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0200" algn="l" rtl="0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42"/>
          <p:cNvSpPr txBox="1">
            <a:spLocks noGrp="1"/>
          </p:cNvSpPr>
          <p:nvPr>
            <p:ph type="dt" idx="10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42"/>
          <p:cNvSpPr txBox="1">
            <a:spLocks noGrp="1"/>
          </p:cNvSpPr>
          <p:nvPr>
            <p:ph type="ftr" idx="11"/>
          </p:nvPr>
        </p:nvSpPr>
        <p:spPr>
          <a:xfrm>
            <a:off x="4379913" y="6408738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42"/>
          <p:cNvSpPr txBox="1">
            <a:spLocks noGrp="1"/>
          </p:cNvSpPr>
          <p:nvPr>
            <p:ph type="sldNum" idx="12"/>
          </p:nvPr>
        </p:nvSpPr>
        <p:spPr>
          <a:xfrm>
            <a:off x="8647113" y="6408738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1" name="Google Shape;111;p5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"/>
          <p:cNvSpPr txBox="1">
            <a:spLocks noGrp="1"/>
          </p:cNvSpPr>
          <p:nvPr>
            <p:ph type="ctrTitle"/>
          </p:nvPr>
        </p:nvSpPr>
        <p:spPr>
          <a:xfrm>
            <a:off x="0" y="762001"/>
            <a:ext cx="91440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dirty="0">
                <a:latin typeface="Arial Rounded"/>
                <a:ea typeface="Arial Rounded"/>
                <a:cs typeface="Arial Rounded"/>
                <a:sym typeface="Arial Rounded"/>
              </a:rPr>
              <a:t>Project Cost Management </a:t>
            </a:r>
            <a:endParaRPr b="1" dirty="0">
              <a:latin typeface="Arial Rounded"/>
              <a:ea typeface="Arial Rounded"/>
              <a:cs typeface="Arial Rounded"/>
              <a:sym typeface="Arial Rounde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Importance of Project Cost Management</a:t>
            </a:r>
            <a:endParaRPr/>
          </a:p>
        </p:txBody>
      </p:sp>
      <p:sp>
        <p:nvSpPr>
          <p:cNvPr id="212" name="Google Shape;212;p4"/>
          <p:cNvSpPr txBox="1">
            <a:spLocks noGrp="1"/>
          </p:cNvSpPr>
          <p:nvPr>
            <p:ph type="body" idx="1"/>
          </p:nvPr>
        </p:nvSpPr>
        <p:spPr>
          <a:xfrm>
            <a:off x="457200" y="1828800"/>
            <a:ext cx="8534400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65125" lvl="0" indent="-255587" algn="l" rtl="0">
              <a:spcBef>
                <a:spcPts val="0"/>
              </a:spcBef>
              <a:spcAft>
                <a:spcPts val="0"/>
              </a:spcAft>
              <a:buSzPts val="1836"/>
              <a:buChar char="🞂"/>
            </a:pPr>
            <a:r>
              <a:rPr lang="en-US"/>
              <a:t>IT projects have a poor track record for meeting budget goals</a:t>
            </a:r>
            <a:endParaRPr/>
          </a:p>
          <a:p>
            <a:pPr marL="365125" lvl="0" indent="-255587" algn="l" rtl="0">
              <a:spcBef>
                <a:spcPts val="400"/>
              </a:spcBef>
              <a:spcAft>
                <a:spcPts val="0"/>
              </a:spcAft>
              <a:buSzPts val="1836"/>
              <a:buChar char="🞂"/>
            </a:pPr>
            <a:r>
              <a:rPr lang="en-US"/>
              <a:t>A cost </a:t>
            </a:r>
            <a:r>
              <a:rPr lang="en-US" b="1"/>
              <a:t>overrun</a:t>
            </a:r>
            <a:r>
              <a:rPr lang="en-US"/>
              <a:t> is the additional percentage or dollar amount by which actual costs exceed estimates </a:t>
            </a:r>
            <a:endParaRPr/>
          </a:p>
          <a:p>
            <a:pPr marL="365125" lvl="0" indent="-255587" algn="l" rtl="0">
              <a:spcBef>
                <a:spcPts val="400"/>
              </a:spcBef>
              <a:spcAft>
                <a:spcPts val="0"/>
              </a:spcAft>
              <a:buSzPts val="1836"/>
              <a:buChar char="🞂"/>
            </a:pPr>
            <a:r>
              <a:rPr lang="en-US"/>
              <a:t>A 2011 Harvard Business Review study reported an average cost overrun of 27 percent. The most important finding was the discovery of a large number of gigantic overages or “black swans”</a:t>
            </a:r>
            <a:endParaRPr/>
          </a:p>
        </p:txBody>
      </p:sp>
      <p:sp>
        <p:nvSpPr>
          <p:cNvPr id="213" name="Google Shape;213;p4"/>
          <p:cNvSpPr txBox="1">
            <a:spLocks noGrp="1"/>
          </p:cNvSpPr>
          <p:nvPr>
            <p:ph type="ftr" idx="11"/>
          </p:nvPr>
        </p:nvSpPr>
        <p:spPr>
          <a:xfrm>
            <a:off x="0" y="6400801"/>
            <a:ext cx="259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Information Technology Project Management, Eighth Edition</a:t>
            </a:r>
            <a:endParaRPr/>
          </a:p>
        </p:txBody>
      </p:sp>
      <p:sp>
        <p:nvSpPr>
          <p:cNvPr id="214" name="Google Shape;214;p4"/>
          <p:cNvSpPr txBox="1">
            <a:spLocks noGrp="1"/>
          </p:cNvSpPr>
          <p:nvPr>
            <p:ph type="sldNum" idx="12"/>
          </p:nvPr>
        </p:nvSpPr>
        <p:spPr>
          <a:xfrm>
            <a:off x="8588375" y="6492875"/>
            <a:ext cx="5556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73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Cost and Project Cost Management?</a:t>
            </a:r>
            <a:endParaRPr/>
          </a:p>
        </p:txBody>
      </p:sp>
      <p:sp>
        <p:nvSpPr>
          <p:cNvPr id="228" name="Google Shape;228;p6"/>
          <p:cNvSpPr txBox="1">
            <a:spLocks noGrp="1"/>
          </p:cNvSpPr>
          <p:nvPr>
            <p:ph type="body" idx="1"/>
          </p:nvPr>
        </p:nvSpPr>
        <p:spPr>
          <a:xfrm>
            <a:off x="457200" y="1533525"/>
            <a:ext cx="8458200" cy="37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65125" lvl="0" indent="-255587" algn="l" rtl="0">
              <a:spcBef>
                <a:spcPts val="0"/>
              </a:spcBef>
              <a:spcAft>
                <a:spcPts val="0"/>
              </a:spcAft>
              <a:buSzPts val="1836"/>
              <a:buChar char="🞂"/>
            </a:pPr>
            <a:r>
              <a:rPr lang="en-US" b="1"/>
              <a:t>Cost</a:t>
            </a:r>
            <a:r>
              <a:rPr lang="en-US"/>
              <a:t> is a resource sacrificed or foregone to achieve a specific objective or something given up in exchange</a:t>
            </a:r>
            <a:endParaRPr/>
          </a:p>
          <a:p>
            <a:pPr marL="365125" lvl="0" indent="-255587" algn="l" rtl="0">
              <a:spcBef>
                <a:spcPts val="400"/>
              </a:spcBef>
              <a:spcAft>
                <a:spcPts val="0"/>
              </a:spcAft>
              <a:buSzPts val="1836"/>
              <a:buChar char="🞂"/>
            </a:pPr>
            <a:r>
              <a:rPr lang="en-US"/>
              <a:t>Costs are usually measured in monetary units like dollars</a:t>
            </a:r>
            <a:endParaRPr/>
          </a:p>
          <a:p>
            <a:pPr marL="365125" lvl="0" indent="-255587" algn="l" rtl="0">
              <a:spcBef>
                <a:spcPts val="400"/>
              </a:spcBef>
              <a:spcAft>
                <a:spcPts val="0"/>
              </a:spcAft>
              <a:buSzPts val="1836"/>
              <a:buChar char="🞂"/>
            </a:pPr>
            <a:r>
              <a:rPr lang="en-US" b="1"/>
              <a:t>Project cost management </a:t>
            </a:r>
            <a:r>
              <a:rPr lang="en-US"/>
              <a:t>includes the processes required to ensure that the project is completed within an approved budget</a:t>
            </a:r>
            <a:endParaRPr/>
          </a:p>
        </p:txBody>
      </p:sp>
      <p:sp>
        <p:nvSpPr>
          <p:cNvPr id="229" name="Google Shape;229;p6"/>
          <p:cNvSpPr txBox="1">
            <a:spLocks noGrp="1"/>
          </p:cNvSpPr>
          <p:nvPr>
            <p:ph type="ftr" idx="11"/>
          </p:nvPr>
        </p:nvSpPr>
        <p:spPr>
          <a:xfrm>
            <a:off x="0" y="6400801"/>
            <a:ext cx="259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Information Technology Project Management, Eighth Edition</a:t>
            </a:r>
            <a:endParaRPr/>
          </a:p>
        </p:txBody>
      </p:sp>
      <p:sp>
        <p:nvSpPr>
          <p:cNvPr id="230" name="Google Shape;230;p6"/>
          <p:cNvSpPr txBox="1">
            <a:spLocks noGrp="1"/>
          </p:cNvSpPr>
          <p:nvPr>
            <p:ph type="sldNum" idx="12"/>
          </p:nvPr>
        </p:nvSpPr>
        <p:spPr>
          <a:xfrm>
            <a:off x="8588375" y="6492875"/>
            <a:ext cx="5556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7"/>
          <p:cNvSpPr txBox="1">
            <a:spLocks noGrp="1"/>
          </p:cNvSpPr>
          <p:nvPr>
            <p:ph type="title"/>
          </p:nvPr>
        </p:nvSpPr>
        <p:spPr>
          <a:xfrm>
            <a:off x="228600" y="0"/>
            <a:ext cx="8915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Project Cost Management Processes</a:t>
            </a:r>
            <a:endParaRPr/>
          </a:p>
        </p:txBody>
      </p:sp>
      <p:sp>
        <p:nvSpPr>
          <p:cNvPr id="236" name="Google Shape;236;p7"/>
          <p:cNvSpPr txBox="1">
            <a:spLocks noGrp="1"/>
          </p:cNvSpPr>
          <p:nvPr>
            <p:ph type="body" idx="1"/>
          </p:nvPr>
        </p:nvSpPr>
        <p:spPr>
          <a:xfrm>
            <a:off x="228600" y="990600"/>
            <a:ext cx="83820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65125" lvl="0" indent="-255587" algn="l" rtl="0">
              <a:spcBef>
                <a:spcPts val="0"/>
              </a:spcBef>
              <a:spcAft>
                <a:spcPts val="0"/>
              </a:spcAft>
              <a:buSzPts val="1836"/>
              <a:buChar char="🞂"/>
            </a:pPr>
            <a:r>
              <a:rPr lang="en-US" b="1"/>
              <a:t>Planning cost management </a:t>
            </a:r>
            <a:r>
              <a:rPr lang="en-US"/>
              <a:t>:determining the policies, procedures, and documentation that will be used for planning, executing, and controlling project cost.</a:t>
            </a:r>
            <a:endParaRPr/>
          </a:p>
          <a:p>
            <a:pPr marL="365125" lvl="0" indent="-255587" algn="l" rtl="0">
              <a:spcBef>
                <a:spcPts val="400"/>
              </a:spcBef>
              <a:spcAft>
                <a:spcPts val="0"/>
              </a:spcAft>
              <a:buSzPts val="1836"/>
              <a:buChar char="🞂"/>
            </a:pPr>
            <a:r>
              <a:rPr lang="en-US" b="1"/>
              <a:t>Estimating costs:</a:t>
            </a:r>
            <a:r>
              <a:rPr lang="en-US"/>
              <a:t> developing an approximation or estimate of the costs of the resources needed to complete a project</a:t>
            </a:r>
            <a:endParaRPr/>
          </a:p>
          <a:p>
            <a:pPr marL="365125" lvl="0" indent="-255587" algn="l" rtl="0">
              <a:spcBef>
                <a:spcPts val="400"/>
              </a:spcBef>
              <a:spcAft>
                <a:spcPts val="0"/>
              </a:spcAft>
              <a:buSzPts val="1836"/>
              <a:buChar char="🞂"/>
            </a:pPr>
            <a:r>
              <a:rPr lang="en-US" b="1"/>
              <a:t>Determining the budget:</a:t>
            </a:r>
            <a:r>
              <a:rPr lang="en-US"/>
              <a:t> allocating the overall cost estimate to individual work items to establish a baseline for measuring performance</a:t>
            </a:r>
            <a:endParaRPr/>
          </a:p>
          <a:p>
            <a:pPr marL="365125" lvl="0" indent="-255587" algn="l" rtl="0">
              <a:spcBef>
                <a:spcPts val="400"/>
              </a:spcBef>
              <a:spcAft>
                <a:spcPts val="0"/>
              </a:spcAft>
              <a:buSzPts val="1836"/>
              <a:buChar char="🞂"/>
            </a:pPr>
            <a:r>
              <a:rPr lang="en-US" b="1"/>
              <a:t>Controlling costs:</a:t>
            </a:r>
            <a:r>
              <a:rPr lang="en-US"/>
              <a:t> controlling changes to the project budget</a:t>
            </a:r>
            <a:endParaRPr/>
          </a:p>
        </p:txBody>
      </p:sp>
      <p:sp>
        <p:nvSpPr>
          <p:cNvPr id="237" name="Google Shape;237;p7"/>
          <p:cNvSpPr txBox="1">
            <a:spLocks noGrp="1"/>
          </p:cNvSpPr>
          <p:nvPr>
            <p:ph type="ftr" idx="11"/>
          </p:nvPr>
        </p:nvSpPr>
        <p:spPr>
          <a:xfrm>
            <a:off x="0" y="6400801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Information Technology Project Management, Eighth Edition</a:t>
            </a:r>
            <a:endParaRPr/>
          </a:p>
        </p:txBody>
      </p:sp>
      <p:sp>
        <p:nvSpPr>
          <p:cNvPr id="238" name="Google Shape;238;p7"/>
          <p:cNvSpPr txBox="1">
            <a:spLocks noGrp="1"/>
          </p:cNvSpPr>
          <p:nvPr>
            <p:ph type="sldNum" idx="12"/>
          </p:nvPr>
        </p:nvSpPr>
        <p:spPr>
          <a:xfrm>
            <a:off x="8588375" y="6492875"/>
            <a:ext cx="5556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"/>
          <p:cNvSpPr txBox="1"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Figure 7-1. Project Cost Management Summary</a:t>
            </a:r>
            <a:endParaRPr/>
          </a:p>
        </p:txBody>
      </p:sp>
      <p:sp>
        <p:nvSpPr>
          <p:cNvPr id="244" name="Google Shape;244;p8"/>
          <p:cNvSpPr txBox="1">
            <a:spLocks noGrp="1"/>
          </p:cNvSpPr>
          <p:nvPr>
            <p:ph type="body" idx="1"/>
          </p:nvPr>
        </p:nvSpPr>
        <p:spPr>
          <a:xfrm>
            <a:off x="457200" y="2105025"/>
            <a:ext cx="8229600" cy="3700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20713" lvl="1" indent="-228600" algn="l" rtl="0">
              <a:spcBef>
                <a:spcPts val="0"/>
              </a:spcBef>
              <a:spcAft>
                <a:spcPts val="0"/>
              </a:spcAft>
              <a:buSzPts val="1050"/>
              <a:buChar char="◦"/>
            </a:pPr>
            <a:r>
              <a:rPr lang="en-US" sz="1050" b="1"/>
              <a:t>Planning </a:t>
            </a:r>
            <a:endParaRPr sz="1050" b="1"/>
          </a:p>
          <a:p>
            <a:pPr marL="858838" lvl="2" indent="-228600" algn="l" rtl="0">
              <a:spcBef>
                <a:spcPts val="350"/>
              </a:spcBef>
              <a:spcAft>
                <a:spcPts val="0"/>
              </a:spcAft>
              <a:buSzPts val="1050"/>
              <a:buChar char="●"/>
            </a:pPr>
            <a:r>
              <a:rPr lang="en-US" sz="1050"/>
              <a:t>Process</a:t>
            </a:r>
            <a:endParaRPr/>
          </a:p>
          <a:p>
            <a:pPr marL="1143000" lvl="3" indent="-228600" algn="l" rtl="0">
              <a:spcBef>
                <a:spcPts val="350"/>
              </a:spcBef>
              <a:spcAft>
                <a:spcPts val="0"/>
              </a:spcAft>
              <a:buSzPts val="1050"/>
              <a:buChar char="●"/>
            </a:pPr>
            <a:r>
              <a:rPr lang="en-US" sz="1050"/>
              <a:t>Plan cost management </a:t>
            </a:r>
            <a:endParaRPr/>
          </a:p>
          <a:p>
            <a:pPr marL="858838" lvl="2" indent="-228600" algn="l" rtl="0">
              <a:spcBef>
                <a:spcPts val="350"/>
              </a:spcBef>
              <a:spcAft>
                <a:spcPts val="0"/>
              </a:spcAft>
              <a:buSzPts val="1050"/>
              <a:buChar char="●"/>
            </a:pPr>
            <a:r>
              <a:rPr lang="en-US" sz="1050"/>
              <a:t>Outputs </a:t>
            </a:r>
            <a:endParaRPr/>
          </a:p>
          <a:p>
            <a:pPr marL="1143000" lvl="3" indent="-228600" algn="l" rtl="0">
              <a:spcBef>
                <a:spcPts val="350"/>
              </a:spcBef>
              <a:spcAft>
                <a:spcPts val="0"/>
              </a:spcAft>
              <a:buSzPts val="1050"/>
              <a:buChar char="●"/>
            </a:pPr>
            <a:r>
              <a:rPr lang="en-US" sz="1050"/>
              <a:t>Cost management pan </a:t>
            </a:r>
            <a:endParaRPr/>
          </a:p>
          <a:p>
            <a:pPr marL="858838" lvl="2" indent="-228600" algn="l" rtl="0">
              <a:spcBef>
                <a:spcPts val="350"/>
              </a:spcBef>
              <a:spcAft>
                <a:spcPts val="0"/>
              </a:spcAft>
              <a:buSzPts val="1050"/>
              <a:buChar char="●"/>
            </a:pPr>
            <a:r>
              <a:rPr lang="en-US" sz="1050"/>
              <a:t>Process </a:t>
            </a:r>
            <a:endParaRPr/>
          </a:p>
          <a:p>
            <a:pPr marL="1143000" lvl="3" indent="-228600" algn="l" rtl="0">
              <a:spcBef>
                <a:spcPts val="350"/>
              </a:spcBef>
              <a:spcAft>
                <a:spcPts val="0"/>
              </a:spcAft>
              <a:buSzPts val="1050"/>
              <a:buChar char="●"/>
            </a:pPr>
            <a:r>
              <a:rPr lang="en-US" sz="1050" b="1"/>
              <a:t>Estimate costs</a:t>
            </a:r>
            <a:endParaRPr/>
          </a:p>
          <a:p>
            <a:pPr marL="858838" lvl="2" indent="-228600" algn="l" rtl="0">
              <a:spcBef>
                <a:spcPts val="350"/>
              </a:spcBef>
              <a:spcAft>
                <a:spcPts val="0"/>
              </a:spcAft>
              <a:buSzPts val="1050"/>
              <a:buChar char="●"/>
            </a:pPr>
            <a:r>
              <a:rPr lang="en-US" sz="1050"/>
              <a:t>Outputs</a:t>
            </a:r>
            <a:endParaRPr/>
          </a:p>
          <a:p>
            <a:pPr marL="1143000" lvl="3" indent="-228600" algn="l" rtl="0">
              <a:spcBef>
                <a:spcPts val="350"/>
              </a:spcBef>
              <a:spcAft>
                <a:spcPts val="0"/>
              </a:spcAft>
              <a:buSzPts val="1050"/>
              <a:buChar char="●"/>
            </a:pPr>
            <a:r>
              <a:rPr lang="en-US" sz="1050"/>
              <a:t>Activity costs estimates</a:t>
            </a:r>
            <a:endParaRPr/>
          </a:p>
          <a:p>
            <a:pPr marL="1143000" lvl="3" indent="-228600" algn="l" rtl="0">
              <a:spcBef>
                <a:spcPts val="350"/>
              </a:spcBef>
              <a:spcAft>
                <a:spcPts val="0"/>
              </a:spcAft>
              <a:buSzPts val="1050"/>
              <a:buChar char="●"/>
            </a:pPr>
            <a:r>
              <a:rPr lang="en-US" sz="1050"/>
              <a:t>basis of estimates</a:t>
            </a:r>
            <a:endParaRPr/>
          </a:p>
          <a:p>
            <a:pPr marL="1143000" lvl="3" indent="-228600" algn="l" rtl="0">
              <a:spcBef>
                <a:spcPts val="350"/>
              </a:spcBef>
              <a:spcAft>
                <a:spcPts val="0"/>
              </a:spcAft>
              <a:buSzPts val="1050"/>
              <a:buChar char="●"/>
            </a:pPr>
            <a:r>
              <a:rPr lang="en-US" sz="1050"/>
              <a:t> project documents updates </a:t>
            </a:r>
            <a:endParaRPr/>
          </a:p>
          <a:p>
            <a:pPr marL="858838" lvl="2" indent="-228600" algn="l" rtl="0">
              <a:spcBef>
                <a:spcPts val="350"/>
              </a:spcBef>
              <a:spcAft>
                <a:spcPts val="0"/>
              </a:spcAft>
              <a:buSzPts val="1050"/>
              <a:buChar char="●"/>
            </a:pPr>
            <a:r>
              <a:rPr lang="en-US" sz="1050"/>
              <a:t>Process </a:t>
            </a:r>
            <a:endParaRPr/>
          </a:p>
          <a:p>
            <a:pPr marL="1143000" lvl="3" indent="-228600" algn="l" rtl="0">
              <a:spcBef>
                <a:spcPts val="350"/>
              </a:spcBef>
              <a:spcAft>
                <a:spcPts val="0"/>
              </a:spcAft>
              <a:buSzPts val="1050"/>
              <a:buChar char="●"/>
            </a:pPr>
            <a:r>
              <a:rPr lang="en-US" sz="1050" b="1"/>
              <a:t>Determine budget</a:t>
            </a:r>
            <a:endParaRPr/>
          </a:p>
          <a:p>
            <a:pPr marL="858838" lvl="2" indent="-228600" algn="l" rtl="0">
              <a:spcBef>
                <a:spcPts val="350"/>
              </a:spcBef>
              <a:spcAft>
                <a:spcPts val="0"/>
              </a:spcAft>
              <a:buSzPts val="1050"/>
              <a:buChar char="●"/>
            </a:pPr>
            <a:r>
              <a:rPr lang="en-US" sz="1050"/>
              <a:t>Outputs</a:t>
            </a:r>
            <a:endParaRPr/>
          </a:p>
          <a:p>
            <a:pPr marL="1143000" lvl="3" indent="-228600" algn="l" rtl="0">
              <a:spcBef>
                <a:spcPts val="350"/>
              </a:spcBef>
              <a:spcAft>
                <a:spcPts val="0"/>
              </a:spcAft>
              <a:buSzPts val="1050"/>
              <a:buChar char="●"/>
            </a:pPr>
            <a:r>
              <a:rPr lang="en-US" sz="1050"/>
              <a:t>Cost baseline</a:t>
            </a:r>
            <a:endParaRPr/>
          </a:p>
          <a:p>
            <a:pPr marL="1143000" lvl="3" indent="-228600" algn="l" rtl="0">
              <a:spcBef>
                <a:spcPts val="350"/>
              </a:spcBef>
              <a:spcAft>
                <a:spcPts val="0"/>
              </a:spcAft>
              <a:buSzPts val="1050"/>
              <a:buChar char="●"/>
            </a:pPr>
            <a:r>
              <a:rPr lang="en-US" sz="1050"/>
              <a:t>Project funding requirements</a:t>
            </a:r>
            <a:endParaRPr/>
          </a:p>
          <a:p>
            <a:pPr marL="1143000" lvl="3" indent="-228600" algn="l" rtl="0">
              <a:spcBef>
                <a:spcPts val="350"/>
              </a:spcBef>
              <a:spcAft>
                <a:spcPts val="0"/>
              </a:spcAft>
              <a:buSzPts val="1050"/>
              <a:buChar char="●"/>
            </a:pPr>
            <a:r>
              <a:rPr lang="en-US" sz="1050"/>
              <a:t>Project documents updates </a:t>
            </a:r>
            <a:endParaRPr/>
          </a:p>
          <a:p>
            <a:pPr marL="620713" lvl="1" indent="-228600" algn="l" rtl="0">
              <a:spcBef>
                <a:spcPts val="325"/>
              </a:spcBef>
              <a:spcAft>
                <a:spcPts val="0"/>
              </a:spcAft>
              <a:buSzPts val="1050"/>
              <a:buChar char="◦"/>
            </a:pPr>
            <a:r>
              <a:rPr lang="en-US" sz="1050" b="1"/>
              <a:t>Monitoring and Controlling </a:t>
            </a:r>
            <a:endParaRPr/>
          </a:p>
          <a:p>
            <a:pPr marL="858838" lvl="2" indent="-228600" algn="l" rtl="0">
              <a:spcBef>
                <a:spcPts val="350"/>
              </a:spcBef>
              <a:spcAft>
                <a:spcPts val="0"/>
              </a:spcAft>
              <a:buSzPts val="1050"/>
              <a:buChar char="●"/>
            </a:pPr>
            <a:r>
              <a:rPr lang="en-US" sz="1050"/>
              <a:t>Process </a:t>
            </a:r>
            <a:endParaRPr/>
          </a:p>
          <a:p>
            <a:pPr marL="1143000" lvl="3" indent="-228600" algn="l" rtl="0">
              <a:spcBef>
                <a:spcPts val="350"/>
              </a:spcBef>
              <a:spcAft>
                <a:spcPts val="0"/>
              </a:spcAft>
              <a:buSzPts val="1050"/>
              <a:buChar char="●"/>
            </a:pPr>
            <a:r>
              <a:rPr lang="en-US" sz="1050" b="1"/>
              <a:t>Control costs </a:t>
            </a:r>
            <a:endParaRPr/>
          </a:p>
          <a:p>
            <a:pPr marL="858838" lvl="2" indent="-228600" algn="l" rtl="0">
              <a:spcBef>
                <a:spcPts val="350"/>
              </a:spcBef>
              <a:spcAft>
                <a:spcPts val="0"/>
              </a:spcAft>
              <a:buSzPts val="1050"/>
              <a:buChar char="●"/>
            </a:pPr>
            <a:r>
              <a:rPr lang="en-US" sz="1050"/>
              <a:t>Outputs </a:t>
            </a:r>
            <a:endParaRPr/>
          </a:p>
          <a:p>
            <a:pPr marL="1143000" lvl="3" indent="-228600" algn="l" rtl="0">
              <a:spcBef>
                <a:spcPts val="350"/>
              </a:spcBef>
              <a:spcAft>
                <a:spcPts val="0"/>
              </a:spcAft>
              <a:buSzPts val="1050"/>
              <a:buChar char="●"/>
            </a:pPr>
            <a:r>
              <a:rPr lang="en-US" sz="1050"/>
              <a:t>Work performance information</a:t>
            </a:r>
            <a:endParaRPr/>
          </a:p>
          <a:p>
            <a:pPr marL="1143000" lvl="3" indent="-228600" algn="l" rtl="0">
              <a:spcBef>
                <a:spcPts val="350"/>
              </a:spcBef>
              <a:spcAft>
                <a:spcPts val="0"/>
              </a:spcAft>
              <a:buSzPts val="1050"/>
              <a:buChar char="●"/>
            </a:pPr>
            <a:r>
              <a:rPr lang="en-US" sz="1050"/>
              <a:t>Cost forecasts</a:t>
            </a:r>
            <a:endParaRPr/>
          </a:p>
          <a:p>
            <a:pPr marL="1143000" lvl="3" indent="-228600" algn="l" rtl="0">
              <a:spcBef>
                <a:spcPts val="350"/>
              </a:spcBef>
              <a:spcAft>
                <a:spcPts val="0"/>
              </a:spcAft>
              <a:buSzPts val="1050"/>
              <a:buChar char="●"/>
            </a:pPr>
            <a:r>
              <a:rPr lang="en-US" sz="1050"/>
              <a:t>Change requests </a:t>
            </a:r>
            <a:endParaRPr/>
          </a:p>
          <a:p>
            <a:pPr marL="1143000" lvl="3" indent="-228600" algn="l" rtl="0">
              <a:spcBef>
                <a:spcPts val="350"/>
              </a:spcBef>
              <a:spcAft>
                <a:spcPts val="0"/>
              </a:spcAft>
              <a:buSzPts val="1050"/>
              <a:buChar char="●"/>
            </a:pPr>
            <a:r>
              <a:rPr lang="en-US" sz="1050"/>
              <a:t>Project management plan updates</a:t>
            </a:r>
            <a:endParaRPr/>
          </a:p>
          <a:p>
            <a:pPr marL="1143000" lvl="3" indent="-228600" algn="l" rtl="0">
              <a:spcBef>
                <a:spcPts val="350"/>
              </a:spcBef>
              <a:spcAft>
                <a:spcPts val="0"/>
              </a:spcAft>
              <a:buSzPts val="1050"/>
              <a:buChar char="●"/>
            </a:pPr>
            <a:r>
              <a:rPr lang="en-US" sz="1050"/>
              <a:t>Project documents updates </a:t>
            </a:r>
            <a:endParaRPr/>
          </a:p>
          <a:p>
            <a:pPr marL="1143000" lvl="3" indent="-228600" algn="l" rtl="0">
              <a:spcBef>
                <a:spcPts val="350"/>
              </a:spcBef>
              <a:spcAft>
                <a:spcPts val="0"/>
              </a:spcAft>
              <a:buSzPts val="1050"/>
              <a:buChar char="●"/>
            </a:pPr>
            <a:r>
              <a:rPr lang="en-US" sz="1050"/>
              <a:t>Organizational process assets updates</a:t>
            </a:r>
            <a:endParaRPr/>
          </a:p>
          <a:p>
            <a:pPr marL="365125" lvl="0" indent="-255587" algn="l" rtl="0">
              <a:spcBef>
                <a:spcPts val="400"/>
              </a:spcBef>
              <a:spcAft>
                <a:spcPts val="0"/>
              </a:spcAft>
              <a:buSzPts val="714"/>
              <a:buChar char="🞂"/>
            </a:pPr>
            <a:r>
              <a:rPr lang="en-US" sz="1050" b="1"/>
              <a:t>Project Finish</a:t>
            </a:r>
            <a:endParaRPr sz="500" b="1"/>
          </a:p>
        </p:txBody>
      </p:sp>
      <p:pic>
        <p:nvPicPr>
          <p:cNvPr id="245" name="Google Shape;245;p8" descr="A screenshot of a diagram list showing the process of project start to project finish. Arrows between steps increase in length as the steps proceed.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7507" y="1324662"/>
            <a:ext cx="8408987" cy="4999938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8"/>
          <p:cNvSpPr txBox="1">
            <a:spLocks noGrp="1"/>
          </p:cNvSpPr>
          <p:nvPr>
            <p:ph type="ftr" idx="11"/>
          </p:nvPr>
        </p:nvSpPr>
        <p:spPr>
          <a:xfrm>
            <a:off x="0" y="6417577"/>
            <a:ext cx="2590800" cy="440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Information Technology Project Management, Eighth Edition</a:t>
            </a:r>
            <a:endParaRPr/>
          </a:p>
        </p:txBody>
      </p:sp>
      <p:sp>
        <p:nvSpPr>
          <p:cNvPr id="247" name="Google Shape;247;p8"/>
          <p:cNvSpPr txBox="1">
            <a:spLocks noGrp="1"/>
          </p:cNvSpPr>
          <p:nvPr>
            <p:ph type="sldNum" idx="12"/>
          </p:nvPr>
        </p:nvSpPr>
        <p:spPr>
          <a:xfrm>
            <a:off x="8588375" y="6492875"/>
            <a:ext cx="5556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2"/>
          <p:cNvSpPr txBox="1">
            <a:spLocks noGrp="1"/>
          </p:cNvSpPr>
          <p:nvPr>
            <p:ph type="title"/>
          </p:nvPr>
        </p:nvSpPr>
        <p:spPr>
          <a:xfrm>
            <a:off x="381000" y="274638"/>
            <a:ext cx="8305800" cy="563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Types of Costs and Benefits</a:t>
            </a:r>
            <a:endParaRPr/>
          </a:p>
        </p:txBody>
      </p:sp>
      <p:sp>
        <p:nvSpPr>
          <p:cNvPr id="277" name="Google Shape;277;p12"/>
          <p:cNvSpPr txBox="1">
            <a:spLocks noGrp="1"/>
          </p:cNvSpPr>
          <p:nvPr>
            <p:ph type="body" idx="1"/>
          </p:nvPr>
        </p:nvSpPr>
        <p:spPr>
          <a:xfrm>
            <a:off x="304800" y="990600"/>
            <a:ext cx="83058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65125" lvl="0" indent="-25558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36"/>
              <a:buChar char="🞂"/>
            </a:pPr>
            <a:r>
              <a:rPr lang="en-US" b="1"/>
              <a:t>Tangible costs</a:t>
            </a:r>
            <a:r>
              <a:rPr lang="en-US"/>
              <a:t> or </a:t>
            </a:r>
            <a:r>
              <a:rPr lang="en-US" b="1"/>
              <a:t>benefits</a:t>
            </a:r>
            <a:r>
              <a:rPr lang="en-US"/>
              <a:t> are those costs or benefits that an organization can easily measure in dollars </a:t>
            </a:r>
            <a:endParaRPr/>
          </a:p>
          <a:p>
            <a:pPr marL="365125" lvl="0" indent="-255587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36"/>
              <a:buChar char="🞂"/>
            </a:pPr>
            <a:r>
              <a:rPr lang="en-US" b="1"/>
              <a:t>Intangible costs</a:t>
            </a:r>
            <a:r>
              <a:rPr lang="en-US"/>
              <a:t> or </a:t>
            </a:r>
            <a:r>
              <a:rPr lang="en-US" b="1"/>
              <a:t>benefits</a:t>
            </a:r>
            <a:r>
              <a:rPr lang="en-US"/>
              <a:t> are costs or benefits that are difficult to measure in monetary terms</a:t>
            </a:r>
            <a:endParaRPr/>
          </a:p>
          <a:p>
            <a:pPr marL="365125" lvl="0" indent="-255587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36"/>
              <a:buChar char="🞂"/>
            </a:pPr>
            <a:r>
              <a:rPr lang="en-US" b="1"/>
              <a:t>Direct costs</a:t>
            </a:r>
            <a:r>
              <a:rPr lang="en-US"/>
              <a:t> are costs that can be directly related to producing the products and services of the project </a:t>
            </a:r>
            <a:endParaRPr/>
          </a:p>
          <a:p>
            <a:pPr marL="365125" lvl="0" indent="-255587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36"/>
              <a:buChar char="🞂"/>
            </a:pPr>
            <a:r>
              <a:rPr lang="en-US" b="1"/>
              <a:t>Indirect costs</a:t>
            </a:r>
            <a:r>
              <a:rPr lang="en-US"/>
              <a:t> are costs that are not directly related to the products or services of the project, but are indirectly related to performing the project</a:t>
            </a:r>
            <a:endParaRPr/>
          </a:p>
          <a:p>
            <a:pPr marL="365125" lvl="0" indent="-255587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36"/>
              <a:buChar char="🞂"/>
            </a:pPr>
            <a:r>
              <a:rPr lang="en-US" b="1"/>
              <a:t>Sunk cost </a:t>
            </a:r>
            <a:r>
              <a:rPr lang="en-US"/>
              <a:t>is money that has been spent in the past; when deciding what projects to invest in or continue, you should </a:t>
            </a:r>
            <a:r>
              <a:rPr lang="en-US" i="1"/>
              <a:t>not</a:t>
            </a:r>
            <a:r>
              <a:rPr lang="en-US"/>
              <a:t> include sunk costs</a:t>
            </a:r>
            <a:endParaRPr/>
          </a:p>
        </p:txBody>
      </p:sp>
      <p:sp>
        <p:nvSpPr>
          <p:cNvPr id="278" name="Google Shape;278;p12"/>
          <p:cNvSpPr txBox="1">
            <a:spLocks noGrp="1"/>
          </p:cNvSpPr>
          <p:nvPr>
            <p:ph type="ftr" idx="11"/>
          </p:nvPr>
        </p:nvSpPr>
        <p:spPr>
          <a:xfrm>
            <a:off x="0" y="6400801"/>
            <a:ext cx="259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Information Technology Project Management, Eighth Edition</a:t>
            </a:r>
            <a:endParaRPr/>
          </a:p>
        </p:txBody>
      </p:sp>
      <p:sp>
        <p:nvSpPr>
          <p:cNvPr id="279" name="Google Shape;279;p12"/>
          <p:cNvSpPr txBox="1">
            <a:spLocks noGrp="1"/>
          </p:cNvSpPr>
          <p:nvPr>
            <p:ph type="sldNum" idx="12"/>
          </p:nvPr>
        </p:nvSpPr>
        <p:spPr>
          <a:xfrm>
            <a:off x="8588375" y="6492875"/>
            <a:ext cx="5556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3"/>
          <p:cNvSpPr txBox="1">
            <a:spLocks noGrp="1"/>
          </p:cNvSpPr>
          <p:nvPr>
            <p:ph type="title"/>
          </p:nvPr>
        </p:nvSpPr>
        <p:spPr>
          <a:xfrm>
            <a:off x="381000" y="274638"/>
            <a:ext cx="8610600" cy="71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More Basic Principles of Cost Management</a:t>
            </a:r>
            <a:endParaRPr/>
          </a:p>
        </p:txBody>
      </p:sp>
      <p:sp>
        <p:nvSpPr>
          <p:cNvPr id="285" name="Google Shape;285;p13"/>
          <p:cNvSpPr txBox="1">
            <a:spLocks noGrp="1"/>
          </p:cNvSpPr>
          <p:nvPr>
            <p:ph type="body" idx="1"/>
          </p:nvPr>
        </p:nvSpPr>
        <p:spPr>
          <a:xfrm>
            <a:off x="457200" y="12954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65125" lvl="0" indent="-25558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36"/>
              <a:buChar char="🞂"/>
            </a:pPr>
            <a:r>
              <a:rPr lang="en-US" b="1"/>
              <a:t>Learning curve theory</a:t>
            </a:r>
            <a:r>
              <a:rPr lang="en-US"/>
              <a:t> states that when many items are produced repetitively, the unit cost of those items decreases in a regular pattern as more units are produced</a:t>
            </a:r>
            <a:endParaRPr/>
          </a:p>
          <a:p>
            <a:pPr marL="365125" lvl="0" indent="-255587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36"/>
              <a:buChar char="🞂"/>
            </a:pPr>
            <a:r>
              <a:rPr lang="en-US" b="1"/>
              <a:t>Reserves</a:t>
            </a:r>
            <a:r>
              <a:rPr lang="en-US"/>
              <a:t> are dollars included in a cost estimate to mitigate cost risk by allowing for future situations that are difficult to predict</a:t>
            </a:r>
            <a:endParaRPr/>
          </a:p>
          <a:p>
            <a:pPr marL="620713" lvl="1" indent="-228600" algn="l" rtl="0">
              <a:lnSpc>
                <a:spcPct val="80000"/>
              </a:lnSpc>
              <a:spcBef>
                <a:spcPts val="325"/>
              </a:spcBef>
              <a:spcAft>
                <a:spcPts val="0"/>
              </a:spcAft>
              <a:buSzPts val="2300"/>
              <a:buChar char="◦"/>
            </a:pPr>
            <a:r>
              <a:rPr lang="en-US" b="1"/>
              <a:t>Contingency reserves</a:t>
            </a:r>
            <a:r>
              <a:rPr lang="en-US"/>
              <a:t> allow for future situations that may be partially planned for (sometimes called </a:t>
            </a:r>
            <a:r>
              <a:rPr lang="en-US" b="1"/>
              <a:t>known unknowns</a:t>
            </a:r>
            <a:r>
              <a:rPr lang="en-US"/>
              <a:t>) and are included in the project cost baseline</a:t>
            </a:r>
            <a:endParaRPr/>
          </a:p>
          <a:p>
            <a:pPr marL="620713" lvl="1" indent="-228600" algn="l" rtl="0">
              <a:lnSpc>
                <a:spcPct val="80000"/>
              </a:lnSpc>
              <a:spcBef>
                <a:spcPts val="325"/>
              </a:spcBef>
              <a:spcAft>
                <a:spcPts val="0"/>
              </a:spcAft>
              <a:buSzPts val="2300"/>
              <a:buChar char="◦"/>
            </a:pPr>
            <a:r>
              <a:rPr lang="en-US" b="1"/>
              <a:t>Management reserves</a:t>
            </a:r>
            <a:r>
              <a:rPr lang="en-US"/>
              <a:t> allow for future situations that are unpredictable (sometimes called </a:t>
            </a:r>
            <a:r>
              <a:rPr lang="en-US" b="1"/>
              <a:t>unknown unknowns</a:t>
            </a:r>
            <a:r>
              <a:rPr lang="en-US"/>
              <a:t> </a:t>
            </a:r>
            <a:endParaRPr/>
          </a:p>
        </p:txBody>
      </p:sp>
      <p:sp>
        <p:nvSpPr>
          <p:cNvPr id="286" name="Google Shape;286;p13"/>
          <p:cNvSpPr txBox="1">
            <a:spLocks noGrp="1"/>
          </p:cNvSpPr>
          <p:nvPr>
            <p:ph type="ftr" idx="11"/>
          </p:nvPr>
        </p:nvSpPr>
        <p:spPr>
          <a:xfrm>
            <a:off x="0" y="6400801"/>
            <a:ext cx="259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Information Technology Project Management, Eighth Edition</a:t>
            </a:r>
            <a:endParaRPr/>
          </a:p>
        </p:txBody>
      </p:sp>
      <p:sp>
        <p:nvSpPr>
          <p:cNvPr id="287" name="Google Shape;287;p13"/>
          <p:cNvSpPr txBox="1">
            <a:spLocks noGrp="1"/>
          </p:cNvSpPr>
          <p:nvPr>
            <p:ph type="sldNum" idx="12"/>
          </p:nvPr>
        </p:nvSpPr>
        <p:spPr>
          <a:xfrm>
            <a:off x="8588375" y="6492875"/>
            <a:ext cx="5556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Planning Cost Management</a:t>
            </a:r>
            <a:endParaRPr/>
          </a:p>
        </p:txBody>
      </p:sp>
      <p:sp>
        <p:nvSpPr>
          <p:cNvPr id="293" name="Google Shape;293;p14"/>
          <p:cNvSpPr txBox="1">
            <a:spLocks noGrp="1"/>
          </p:cNvSpPr>
          <p:nvPr>
            <p:ph type="body" idx="1"/>
          </p:nvPr>
        </p:nvSpPr>
        <p:spPr>
          <a:xfrm>
            <a:off x="457200" y="1481138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65125" lvl="0" indent="-255587" algn="l" rtl="0">
              <a:spcBef>
                <a:spcPts val="0"/>
              </a:spcBef>
              <a:spcAft>
                <a:spcPts val="0"/>
              </a:spcAft>
              <a:buSzPts val="1836"/>
              <a:buChar char="🞂"/>
            </a:pPr>
            <a:r>
              <a:rPr lang="en-US"/>
              <a:t>The project team uses expert judgment, analytical techniques, and meetings to develop the cost management plan</a:t>
            </a:r>
            <a:endParaRPr/>
          </a:p>
          <a:p>
            <a:pPr marL="365125" lvl="0" indent="-255587" algn="l" rtl="0">
              <a:spcBef>
                <a:spcPts val="400"/>
              </a:spcBef>
              <a:spcAft>
                <a:spcPts val="0"/>
              </a:spcAft>
              <a:buSzPts val="1836"/>
              <a:buChar char="🞂"/>
            </a:pPr>
            <a:r>
              <a:rPr lang="en-US"/>
              <a:t>A cost management plan includes:</a:t>
            </a:r>
            <a:endParaRPr/>
          </a:p>
          <a:p>
            <a:pPr marL="620713" lvl="1" indent="-228600" algn="l" rtl="0">
              <a:spcBef>
                <a:spcPts val="325"/>
              </a:spcBef>
              <a:spcAft>
                <a:spcPts val="0"/>
              </a:spcAft>
              <a:buSzPts val="2300"/>
              <a:buChar char="◦"/>
            </a:pPr>
            <a:r>
              <a:rPr lang="en-US"/>
              <a:t>Level of accuracy and units of measure</a:t>
            </a:r>
            <a:endParaRPr/>
          </a:p>
          <a:p>
            <a:pPr marL="620713" lvl="1" indent="-228600" algn="l" rtl="0">
              <a:spcBef>
                <a:spcPts val="325"/>
              </a:spcBef>
              <a:spcAft>
                <a:spcPts val="0"/>
              </a:spcAft>
              <a:buSzPts val="2300"/>
              <a:buChar char="◦"/>
            </a:pPr>
            <a:r>
              <a:rPr lang="en-US"/>
              <a:t>Organizational procedure links</a:t>
            </a:r>
            <a:endParaRPr/>
          </a:p>
          <a:p>
            <a:pPr marL="620713" lvl="1" indent="-228600" algn="l" rtl="0">
              <a:spcBef>
                <a:spcPts val="325"/>
              </a:spcBef>
              <a:spcAft>
                <a:spcPts val="0"/>
              </a:spcAft>
              <a:buSzPts val="2300"/>
              <a:buChar char="◦"/>
            </a:pPr>
            <a:r>
              <a:rPr lang="en-US"/>
              <a:t>Control thresholds</a:t>
            </a:r>
            <a:endParaRPr/>
          </a:p>
          <a:p>
            <a:pPr marL="620713" lvl="1" indent="-228600" algn="l" rtl="0">
              <a:spcBef>
                <a:spcPts val="325"/>
              </a:spcBef>
              <a:spcAft>
                <a:spcPts val="0"/>
              </a:spcAft>
              <a:buSzPts val="2300"/>
              <a:buChar char="◦"/>
            </a:pPr>
            <a:r>
              <a:rPr lang="en-US"/>
              <a:t>Rules of performance measurement</a:t>
            </a:r>
            <a:endParaRPr/>
          </a:p>
          <a:p>
            <a:pPr marL="620713" lvl="1" indent="-228600" algn="l" rtl="0">
              <a:spcBef>
                <a:spcPts val="325"/>
              </a:spcBef>
              <a:spcAft>
                <a:spcPts val="0"/>
              </a:spcAft>
              <a:buSzPts val="2300"/>
              <a:buChar char="◦"/>
            </a:pPr>
            <a:r>
              <a:rPr lang="en-US"/>
              <a:t>Reporting formats</a:t>
            </a:r>
            <a:endParaRPr/>
          </a:p>
          <a:p>
            <a:pPr marL="620713" lvl="1" indent="-228600" algn="l" rtl="0">
              <a:spcBef>
                <a:spcPts val="325"/>
              </a:spcBef>
              <a:spcAft>
                <a:spcPts val="0"/>
              </a:spcAft>
              <a:buSzPts val="2300"/>
              <a:buChar char="◦"/>
            </a:pPr>
            <a:r>
              <a:rPr lang="en-US"/>
              <a:t>Process descriptions</a:t>
            </a:r>
            <a:endParaRPr/>
          </a:p>
        </p:txBody>
      </p:sp>
      <p:sp>
        <p:nvSpPr>
          <p:cNvPr id="294" name="Google Shape;294;p14"/>
          <p:cNvSpPr txBox="1">
            <a:spLocks noGrp="1"/>
          </p:cNvSpPr>
          <p:nvPr>
            <p:ph type="ftr" idx="11"/>
          </p:nvPr>
        </p:nvSpPr>
        <p:spPr>
          <a:xfrm>
            <a:off x="0" y="6400801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Information Technology Project Management, Eighth Edition</a:t>
            </a:r>
            <a:endParaRPr/>
          </a:p>
        </p:txBody>
      </p:sp>
      <p:sp>
        <p:nvSpPr>
          <p:cNvPr id="295" name="Google Shape;295;p14"/>
          <p:cNvSpPr txBox="1">
            <a:spLocks noGrp="1"/>
          </p:cNvSpPr>
          <p:nvPr>
            <p:ph type="sldNum" idx="12"/>
          </p:nvPr>
        </p:nvSpPr>
        <p:spPr>
          <a:xfrm>
            <a:off x="8588375" y="6492875"/>
            <a:ext cx="5556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Estimating Costs</a:t>
            </a:r>
            <a:endParaRPr/>
          </a:p>
        </p:txBody>
      </p:sp>
      <p:sp>
        <p:nvSpPr>
          <p:cNvPr id="301" name="Google Shape;301;p15"/>
          <p:cNvSpPr txBox="1">
            <a:spLocks noGrp="1"/>
          </p:cNvSpPr>
          <p:nvPr>
            <p:ph type="body" idx="1"/>
          </p:nvPr>
        </p:nvSpPr>
        <p:spPr>
          <a:xfrm>
            <a:off x="457200" y="1481138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65125" lvl="0" indent="-255587" algn="l" rtl="0">
              <a:spcBef>
                <a:spcPts val="0"/>
              </a:spcBef>
              <a:spcAft>
                <a:spcPts val="0"/>
              </a:spcAft>
              <a:buSzPts val="1836"/>
              <a:buChar char="🞂"/>
            </a:pPr>
            <a:r>
              <a:rPr lang="en-US"/>
              <a:t>Project managers must take cost estimates seriously if they want to complete projects within budget constraints</a:t>
            </a:r>
            <a:endParaRPr/>
          </a:p>
          <a:p>
            <a:pPr marL="365125" lvl="0" indent="-255587" algn="l" rtl="0">
              <a:spcBef>
                <a:spcPts val="400"/>
              </a:spcBef>
              <a:spcAft>
                <a:spcPts val="0"/>
              </a:spcAft>
              <a:buSzPts val="1836"/>
              <a:buChar char="🞂"/>
            </a:pPr>
            <a:r>
              <a:rPr lang="en-US"/>
              <a:t>It’s important to know the types of cost estimates, how to prepare cost estimates, and typical problems associated with IT cost estimates</a:t>
            </a:r>
            <a:endParaRPr/>
          </a:p>
        </p:txBody>
      </p:sp>
      <p:sp>
        <p:nvSpPr>
          <p:cNvPr id="302" name="Google Shape;302;p15"/>
          <p:cNvSpPr txBox="1">
            <a:spLocks noGrp="1"/>
          </p:cNvSpPr>
          <p:nvPr>
            <p:ph type="ftr" idx="11"/>
          </p:nvPr>
        </p:nvSpPr>
        <p:spPr>
          <a:xfrm>
            <a:off x="0" y="6400801"/>
            <a:ext cx="259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Information Technology Project Management, Eighth Edition</a:t>
            </a:r>
            <a:endParaRPr/>
          </a:p>
        </p:txBody>
      </p:sp>
      <p:sp>
        <p:nvSpPr>
          <p:cNvPr id="303" name="Google Shape;303;p15"/>
          <p:cNvSpPr txBox="1">
            <a:spLocks noGrp="1"/>
          </p:cNvSpPr>
          <p:nvPr>
            <p:ph type="sldNum" idx="12"/>
          </p:nvPr>
        </p:nvSpPr>
        <p:spPr>
          <a:xfrm>
            <a:off x="8588375" y="6492875"/>
            <a:ext cx="5556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Table 7-1. Types of Cost Estimates</a:t>
            </a:r>
            <a:endParaRPr/>
          </a:p>
        </p:txBody>
      </p:sp>
      <p:graphicFrame>
        <p:nvGraphicFramePr>
          <p:cNvPr id="309" name="Google Shape;309;p16" descr="A table with 4 columns and 4 rows. The column headers are Type of Estimate, When Done, Why Don't and How Accurate. "/>
          <p:cNvGraphicFramePr/>
          <p:nvPr/>
        </p:nvGraphicFramePr>
        <p:xfrm>
          <a:off x="582613" y="2133600"/>
          <a:ext cx="7978775" cy="3313105"/>
        </p:xfrm>
        <a:graphic>
          <a:graphicData uri="http://schemas.openxmlformats.org/drawingml/2006/table">
            <a:tbl>
              <a:tblPr firstRow="1" bandRow="1">
                <a:noFill/>
                <a:tableStyleId>{B69524DB-FC22-4248-89E8-BD6EB30A82DC}</a:tableStyleId>
              </a:tblPr>
              <a:tblGrid>
                <a:gridCol w="1945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6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92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1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small"/>
                        <a:t>TYPE OF ESTIMATE </a:t>
                      </a:r>
                      <a:endParaRPr sz="14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400" marR="25400" marT="0" marB="0">
                    <a:lnB w="12700" cap="flat" cmpd="sng">
                      <a:solidFill>
                        <a:srgbClr val="BE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small"/>
                        <a:t>WHEN DONE</a:t>
                      </a:r>
                      <a:endParaRPr sz="14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400" marR="25400" marT="0" marB="0">
                    <a:lnB w="12700" cap="flat" cmpd="sng">
                      <a:solidFill>
                        <a:srgbClr val="BE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small"/>
                        <a:t>WHY DON’T</a:t>
                      </a:r>
                      <a:endParaRPr sz="14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400" marR="25400" marT="0" marB="0">
                    <a:lnB w="12700" cap="flat" cmpd="sng">
                      <a:solidFill>
                        <a:srgbClr val="BE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/>
                        <a:t>HOW ACCURATE </a:t>
                      </a:r>
                      <a:endParaRPr sz="14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400" marR="25400" marT="0" marB="0">
                    <a:lnB w="12700" cap="flat" cmpd="sng">
                      <a:solidFill>
                        <a:srgbClr val="BE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/>
                        <a:t>Rough order of magnitude (ROM)</a:t>
                      </a:r>
                      <a:endParaRPr sz="14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400" marR="254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E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E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E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Very early in the project life cycle</a:t>
                      </a:r>
                      <a:r>
                        <a:rPr lang="en-US"/>
                        <a:t>.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400" marR="25400" marT="0" marB="0">
                    <a:lnL w="12700" cap="flat" cmpd="sng">
                      <a:solidFill>
                        <a:srgbClr val="BE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E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E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E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Provides estimate of cost for selection decisions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400" marR="25400" marT="0" marB="0">
                    <a:lnL w="12700" cap="flat" cmpd="sng">
                      <a:solidFill>
                        <a:srgbClr val="BE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E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E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E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-50% to +100%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400" marR="25400" marT="0" marB="0">
                    <a:lnL w="12700" cap="flat" cmpd="sng">
                      <a:solidFill>
                        <a:srgbClr val="BE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E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E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/>
                        <a:t>Budgetary</a:t>
                      </a:r>
                      <a:endParaRPr sz="14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400" marR="254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E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E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E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/>
                        <a:t>During project planning or when scope is clearer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5400" marR="25400" marT="0" marB="0">
                    <a:lnL w="12700" cap="flat" cmpd="sng">
                      <a:solidFill>
                        <a:srgbClr val="BE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E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E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E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Puts dollars in the budget plans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400" marR="25400" marT="0" marB="0">
                    <a:lnL w="12700" cap="flat" cmpd="sng">
                      <a:solidFill>
                        <a:srgbClr val="BE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E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E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E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-10% to +25%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400" marR="25400" marT="0" marB="0">
                    <a:lnL w="12700" cap="flat" cmpd="sng">
                      <a:solidFill>
                        <a:srgbClr val="BE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E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E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8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/>
                        <a:t>Definitive</a:t>
                      </a:r>
                      <a:endParaRPr sz="14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400" marR="254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E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E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E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/>
                        <a:t>Once project design and scope are well defined (execution planning phase)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5400" marR="25400" marT="0" marB="0">
                    <a:lnL w="12700" cap="flat" cmpd="sng">
                      <a:solidFill>
                        <a:srgbClr val="BE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E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E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E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Provides details for purchases, estimates actual costs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400" marR="25400" marT="0" marB="0">
                    <a:lnL w="12700" cap="flat" cmpd="sng">
                      <a:solidFill>
                        <a:srgbClr val="BE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E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E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E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-5% to+10%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5400" marR="25400" marT="0" marB="0">
                    <a:lnL w="12700" cap="flat" cmpd="sng">
                      <a:solidFill>
                        <a:srgbClr val="BE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E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E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10" name="Google Shape;310;p16"/>
          <p:cNvSpPr txBox="1">
            <a:spLocks noGrp="1"/>
          </p:cNvSpPr>
          <p:nvPr>
            <p:ph type="ftr" idx="11"/>
          </p:nvPr>
        </p:nvSpPr>
        <p:spPr>
          <a:xfrm>
            <a:off x="0" y="6324601"/>
            <a:ext cx="26670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Information Technology Project Management, Eighth Edition</a:t>
            </a:r>
            <a:endParaRPr/>
          </a:p>
        </p:txBody>
      </p:sp>
      <p:sp>
        <p:nvSpPr>
          <p:cNvPr id="311" name="Google Shape;311;p16"/>
          <p:cNvSpPr txBox="1">
            <a:spLocks noGrp="1"/>
          </p:cNvSpPr>
          <p:nvPr>
            <p:ph type="sldNum" idx="12"/>
          </p:nvPr>
        </p:nvSpPr>
        <p:spPr>
          <a:xfrm>
            <a:off x="8588375" y="6492875"/>
            <a:ext cx="5556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9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8915400" cy="652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Cost Estimation Tools and Techniques</a:t>
            </a:r>
            <a:endParaRPr sz="4800"/>
          </a:p>
        </p:txBody>
      </p:sp>
      <p:sp>
        <p:nvSpPr>
          <p:cNvPr id="333" name="Google Shape;333;p19"/>
          <p:cNvSpPr txBox="1">
            <a:spLocks noGrp="1"/>
          </p:cNvSpPr>
          <p:nvPr>
            <p:ph type="body" idx="1"/>
          </p:nvPr>
        </p:nvSpPr>
        <p:spPr>
          <a:xfrm>
            <a:off x="304800" y="990600"/>
            <a:ext cx="830580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65125" lvl="0" indent="-255587" algn="l" rtl="0">
              <a:spcBef>
                <a:spcPts val="0"/>
              </a:spcBef>
              <a:spcAft>
                <a:spcPts val="0"/>
              </a:spcAft>
              <a:buSzPts val="1836"/>
              <a:buChar char="🞂"/>
            </a:pPr>
            <a:r>
              <a:rPr lang="en-US"/>
              <a:t>Basic tools and techniques for cost estimates:</a:t>
            </a:r>
            <a:endParaRPr/>
          </a:p>
          <a:p>
            <a:pPr marL="620713" lvl="1" indent="-228600" algn="l" rtl="0">
              <a:spcBef>
                <a:spcPts val="325"/>
              </a:spcBef>
              <a:spcAft>
                <a:spcPts val="0"/>
              </a:spcAft>
              <a:buSzPts val="2300"/>
              <a:buChar char="◦"/>
            </a:pPr>
            <a:r>
              <a:rPr lang="en-US" b="1"/>
              <a:t>Analogous </a:t>
            </a:r>
            <a:r>
              <a:rPr lang="en-US"/>
              <a:t>or</a:t>
            </a:r>
            <a:r>
              <a:rPr lang="en-US" b="1"/>
              <a:t> top-down estimates: </a:t>
            </a:r>
            <a:r>
              <a:rPr lang="en-US"/>
              <a:t>use the actual cost of a previous, similar project as the basis for estimating the cost of the current project </a:t>
            </a:r>
            <a:endParaRPr/>
          </a:p>
          <a:p>
            <a:pPr marL="620713" lvl="1" indent="-228600" algn="l" rtl="0">
              <a:spcBef>
                <a:spcPts val="325"/>
              </a:spcBef>
              <a:spcAft>
                <a:spcPts val="0"/>
              </a:spcAft>
              <a:buSzPts val="2300"/>
              <a:buChar char="◦"/>
            </a:pPr>
            <a:r>
              <a:rPr lang="en-US" b="1"/>
              <a:t>Bottom-up estimates:</a:t>
            </a:r>
            <a:r>
              <a:rPr lang="en-US"/>
              <a:t> involve estimating individual work items or activities and summing them to get a project total </a:t>
            </a:r>
            <a:endParaRPr/>
          </a:p>
          <a:p>
            <a:pPr marL="620713" lvl="1" indent="-228600" algn="l" rtl="0">
              <a:spcBef>
                <a:spcPts val="325"/>
              </a:spcBef>
              <a:spcAft>
                <a:spcPts val="0"/>
              </a:spcAft>
              <a:buSzPts val="2300"/>
              <a:buChar char="◦"/>
            </a:pPr>
            <a:r>
              <a:rPr lang="en-US" b="1"/>
              <a:t>Parametric modeling </a:t>
            </a:r>
            <a:r>
              <a:rPr lang="en-US"/>
              <a:t>uses project characteristics (parameters) in a mathematical model to estimate project costs </a:t>
            </a:r>
            <a:endParaRPr/>
          </a:p>
        </p:txBody>
      </p:sp>
      <p:sp>
        <p:nvSpPr>
          <p:cNvPr id="334" name="Google Shape;334;p19"/>
          <p:cNvSpPr txBox="1">
            <a:spLocks noGrp="1"/>
          </p:cNvSpPr>
          <p:nvPr>
            <p:ph type="ftr" idx="11"/>
          </p:nvPr>
        </p:nvSpPr>
        <p:spPr>
          <a:xfrm>
            <a:off x="0" y="6434137"/>
            <a:ext cx="2590800" cy="423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Information Technology Project Management, Eighth Edition</a:t>
            </a:r>
            <a:endParaRPr/>
          </a:p>
        </p:txBody>
      </p:sp>
      <p:sp>
        <p:nvSpPr>
          <p:cNvPr id="335" name="Google Shape;335;p19"/>
          <p:cNvSpPr txBox="1">
            <a:spLocks noGrp="1"/>
          </p:cNvSpPr>
          <p:nvPr>
            <p:ph type="sldNum" idx="12"/>
          </p:nvPr>
        </p:nvSpPr>
        <p:spPr>
          <a:xfrm>
            <a:off x="8588375" y="6492875"/>
            <a:ext cx="5556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Typical Problems with IT Cost Estimates</a:t>
            </a:r>
            <a:endParaRPr/>
          </a:p>
        </p:txBody>
      </p:sp>
      <p:sp>
        <p:nvSpPr>
          <p:cNvPr id="341" name="Google Shape;341;p20"/>
          <p:cNvSpPr txBox="1">
            <a:spLocks noGrp="1"/>
          </p:cNvSpPr>
          <p:nvPr>
            <p:ph type="body" idx="1"/>
          </p:nvPr>
        </p:nvSpPr>
        <p:spPr>
          <a:xfrm>
            <a:off x="381000" y="1600200"/>
            <a:ext cx="8458200" cy="22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65125" lvl="0" indent="-25558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36"/>
              <a:buChar char="🞂"/>
            </a:pPr>
            <a:r>
              <a:rPr lang="en-US"/>
              <a:t>Estimates are done too quickly</a:t>
            </a:r>
            <a:endParaRPr/>
          </a:p>
          <a:p>
            <a:pPr marL="365125" lvl="0" indent="-25558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36"/>
              <a:buChar char="🞂"/>
            </a:pPr>
            <a:r>
              <a:rPr lang="en-US"/>
              <a:t>People lack estimating experience</a:t>
            </a:r>
            <a:endParaRPr/>
          </a:p>
          <a:p>
            <a:pPr marL="365125" lvl="0" indent="-25558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36"/>
              <a:buChar char="🞂"/>
            </a:pPr>
            <a:r>
              <a:rPr lang="en-US"/>
              <a:t>Human beings are biased toward underestimation</a:t>
            </a:r>
            <a:endParaRPr/>
          </a:p>
          <a:p>
            <a:pPr marL="365125" lvl="0" indent="-25558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36"/>
              <a:buChar char="🞂"/>
            </a:pPr>
            <a:r>
              <a:rPr lang="en-US"/>
              <a:t>Management desires accuracy</a:t>
            </a:r>
            <a:endParaRPr/>
          </a:p>
        </p:txBody>
      </p:sp>
      <p:sp>
        <p:nvSpPr>
          <p:cNvPr id="342" name="Google Shape;342;p20"/>
          <p:cNvSpPr txBox="1">
            <a:spLocks noGrp="1"/>
          </p:cNvSpPr>
          <p:nvPr>
            <p:ph type="ftr" idx="11"/>
          </p:nvPr>
        </p:nvSpPr>
        <p:spPr>
          <a:xfrm>
            <a:off x="0" y="6400801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Information Technology Project Management, Eighth Edition</a:t>
            </a:r>
            <a:endParaRPr/>
          </a:p>
        </p:txBody>
      </p:sp>
      <p:sp>
        <p:nvSpPr>
          <p:cNvPr id="343" name="Google Shape;343;p20"/>
          <p:cNvSpPr txBox="1">
            <a:spLocks noGrp="1"/>
          </p:cNvSpPr>
          <p:nvPr>
            <p:ph type="sldNum" idx="12"/>
          </p:nvPr>
        </p:nvSpPr>
        <p:spPr>
          <a:xfrm>
            <a:off x="8588375" y="6492875"/>
            <a:ext cx="5556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1"/>
          <p:cNvSpPr txBox="1">
            <a:spLocks noGrp="1"/>
          </p:cNvSpPr>
          <p:nvPr>
            <p:ph type="title"/>
          </p:nvPr>
        </p:nvSpPr>
        <p:spPr>
          <a:xfrm>
            <a:off x="381000" y="274638"/>
            <a:ext cx="8305800" cy="868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Sample Cost Estimate</a:t>
            </a:r>
            <a:endParaRPr/>
          </a:p>
        </p:txBody>
      </p:sp>
      <p:sp>
        <p:nvSpPr>
          <p:cNvPr id="349" name="Google Shape;349;p21"/>
          <p:cNvSpPr txBox="1">
            <a:spLocks noGrp="1"/>
          </p:cNvSpPr>
          <p:nvPr>
            <p:ph type="body" idx="1"/>
          </p:nvPr>
        </p:nvSpPr>
        <p:spPr>
          <a:xfrm>
            <a:off x="381000" y="1219200"/>
            <a:ext cx="83058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65125" lvl="0" indent="-255587" algn="l" rtl="0">
              <a:spcBef>
                <a:spcPts val="0"/>
              </a:spcBef>
              <a:spcAft>
                <a:spcPts val="0"/>
              </a:spcAft>
              <a:buSzPts val="1836"/>
              <a:buChar char="🞂"/>
            </a:pPr>
            <a:r>
              <a:rPr lang="en-US"/>
              <a:t>See the text for a detailed example of creating a cost estimate for the Surveyor Pro project described in the opening case</a:t>
            </a:r>
            <a:endParaRPr/>
          </a:p>
          <a:p>
            <a:pPr marL="365125" lvl="0" indent="-255587" algn="l" rtl="0">
              <a:spcBef>
                <a:spcPts val="400"/>
              </a:spcBef>
              <a:spcAft>
                <a:spcPts val="0"/>
              </a:spcAft>
              <a:buSzPts val="1836"/>
              <a:buChar char="🞂"/>
            </a:pPr>
            <a:r>
              <a:rPr lang="en-US"/>
              <a:t>Before creating an estimate, know what it will be used for, gather as much information as possible, and clarify the ground rules and assumptions for the estimate</a:t>
            </a:r>
            <a:endParaRPr/>
          </a:p>
          <a:p>
            <a:pPr marL="365125" lvl="0" indent="-255587" algn="l" rtl="0">
              <a:spcBef>
                <a:spcPts val="400"/>
              </a:spcBef>
              <a:spcAft>
                <a:spcPts val="0"/>
              </a:spcAft>
              <a:buSzPts val="1836"/>
              <a:buChar char="🞂"/>
            </a:pPr>
            <a:r>
              <a:rPr lang="en-US"/>
              <a:t>If possible, estimate costs by major WBS categories</a:t>
            </a:r>
            <a:endParaRPr/>
          </a:p>
          <a:p>
            <a:pPr marL="365125" lvl="0" indent="-255587" algn="l" rtl="0">
              <a:spcBef>
                <a:spcPts val="400"/>
              </a:spcBef>
              <a:spcAft>
                <a:spcPts val="0"/>
              </a:spcAft>
              <a:buSzPts val="1836"/>
              <a:buChar char="🞂"/>
            </a:pPr>
            <a:r>
              <a:rPr lang="en-US"/>
              <a:t>Create a cost model to make it easy to make changes to  and document the estimate</a:t>
            </a:r>
            <a:endParaRPr/>
          </a:p>
        </p:txBody>
      </p:sp>
      <p:sp>
        <p:nvSpPr>
          <p:cNvPr id="350" name="Google Shape;350;p21"/>
          <p:cNvSpPr txBox="1">
            <a:spLocks noGrp="1"/>
          </p:cNvSpPr>
          <p:nvPr>
            <p:ph type="ftr" idx="11"/>
          </p:nvPr>
        </p:nvSpPr>
        <p:spPr>
          <a:xfrm>
            <a:off x="0" y="6400801"/>
            <a:ext cx="243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Information Technology Project Management, Eighth Edition</a:t>
            </a:r>
            <a:endParaRPr/>
          </a:p>
        </p:txBody>
      </p:sp>
      <p:sp>
        <p:nvSpPr>
          <p:cNvPr id="351" name="Google Shape;351;p21"/>
          <p:cNvSpPr txBox="1">
            <a:spLocks noGrp="1"/>
          </p:cNvSpPr>
          <p:nvPr>
            <p:ph type="sldNum" idx="12"/>
          </p:nvPr>
        </p:nvSpPr>
        <p:spPr>
          <a:xfrm>
            <a:off x="8588375" y="6492875"/>
            <a:ext cx="5556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2"/>
          <p:cNvSpPr txBox="1">
            <a:spLocks noGrp="1"/>
          </p:cNvSpPr>
          <p:nvPr>
            <p:ph type="title"/>
          </p:nvPr>
        </p:nvSpPr>
        <p:spPr>
          <a:xfrm>
            <a:off x="2931" y="-5862"/>
            <a:ext cx="914106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Figure 7-2. Surveyor Pro Project Cost Estimate</a:t>
            </a:r>
            <a:endParaRPr/>
          </a:p>
        </p:txBody>
      </p:sp>
      <p:sp>
        <p:nvSpPr>
          <p:cNvPr id="357" name="Google Shape;357;p22"/>
          <p:cNvSpPr txBox="1">
            <a:spLocks noGrp="1"/>
          </p:cNvSpPr>
          <p:nvPr>
            <p:ph type="body" idx="1"/>
          </p:nvPr>
        </p:nvSpPr>
        <p:spPr>
          <a:xfrm>
            <a:off x="2895600" y="603738"/>
            <a:ext cx="3352800" cy="265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09537" lvl="0" indent="0" algn="l" rtl="0">
              <a:spcBef>
                <a:spcPts val="0"/>
              </a:spcBef>
              <a:spcAft>
                <a:spcPts val="0"/>
              </a:spcAft>
              <a:buSzPts val="748"/>
              <a:buNone/>
            </a:pPr>
            <a:r>
              <a:rPr lang="en-US" sz="1100" b="1"/>
              <a:t>Surveyor Pro Project Cost Estimate October 5</a:t>
            </a:r>
            <a:endParaRPr sz="1200" b="1"/>
          </a:p>
        </p:txBody>
      </p:sp>
      <p:graphicFrame>
        <p:nvGraphicFramePr>
          <p:cNvPr id="358" name="Google Shape;358;p22" descr="A table with 6 columns and 19 rows. The column headers are Empty cell, # Units/Hours, Cost/Unit/Hour, Subtotals, WBS Level 2 Totals and Percent of Total. "/>
          <p:cNvGraphicFramePr/>
          <p:nvPr/>
        </p:nvGraphicFramePr>
        <p:xfrm>
          <a:off x="876300" y="869162"/>
          <a:ext cx="7391400" cy="5107850"/>
        </p:xfrm>
        <a:graphic>
          <a:graphicData uri="http://schemas.openxmlformats.org/drawingml/2006/table">
            <a:tbl>
              <a:tblPr>
                <a:noFill/>
                <a:tableStyleId>{5FF13EDF-5C4B-4975-ADE1-44F280FE81C6}</a:tableStyleId>
              </a:tblPr>
              <a:tblGrid>
                <a:gridCol w="27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8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E2F4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Empty cell</a:t>
                      </a:r>
                      <a:endParaRPr/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 Units/Hrs.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Cost/Unit/Hr.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Subtotals</a:t>
                      </a: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WBS Level 2 Totals</a:t>
                      </a: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 of Total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WBS Items</a:t>
                      </a: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F4FE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rgbClr val="E2F4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Empty cell </a:t>
                      </a:r>
                      <a:endParaRPr sz="1000">
                        <a:solidFill>
                          <a:srgbClr val="E2F4FE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E2F4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Empty cell </a:t>
                      </a:r>
                      <a:endParaRPr sz="1000">
                        <a:solidFill>
                          <a:srgbClr val="E2F4FE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E2F4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Empty cell </a:t>
                      </a:r>
                      <a:endParaRPr sz="1000">
                        <a:solidFill>
                          <a:srgbClr val="E2F4FE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E2F4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Empty cell </a:t>
                      </a:r>
                      <a:endParaRPr sz="1000">
                        <a:solidFill>
                          <a:srgbClr val="E2F4FE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E2F4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Empty cell </a:t>
                      </a:r>
                      <a:endParaRPr sz="1000">
                        <a:solidFill>
                          <a:srgbClr val="E2F4FE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1. Project Management</a:t>
                      </a:r>
                      <a:endParaRPr sz="10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E2F4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Empty cell </a:t>
                      </a:r>
                      <a:endParaRPr sz="1000">
                        <a:solidFill>
                          <a:srgbClr val="E2F4FE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E2F4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Empty cell </a:t>
                      </a:r>
                      <a:endParaRPr sz="1000">
                        <a:solidFill>
                          <a:srgbClr val="E2F4FE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E2F4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Empty cell </a:t>
                      </a:r>
                      <a:endParaRPr sz="1000">
                        <a:solidFill>
                          <a:srgbClr val="E2F4FE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$306,300</a:t>
                      </a:r>
                      <a:endParaRPr sz="10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20%</a:t>
                      </a:r>
                      <a:endParaRPr sz="10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3650">
                <a:tc>
                  <a:txBody>
                    <a:bodyPr/>
                    <a:lstStyle/>
                    <a:p>
                      <a:pPr marL="457200" marR="0" lvl="1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Project manager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960</a:t>
                      </a: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$100</a:t>
                      </a: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$96,000</a:t>
                      </a: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E2F4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Empty cell</a:t>
                      </a:r>
                      <a:r>
                        <a:rPr lang="en-US" sz="1000" b="1">
                          <a:solidFill>
                            <a:srgbClr val="E2F4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000" b="1">
                        <a:solidFill>
                          <a:srgbClr val="E2F4FE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E2F4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Empty cell</a:t>
                      </a:r>
                      <a:r>
                        <a:rPr lang="en-US" sz="1000" b="1">
                          <a:solidFill>
                            <a:srgbClr val="E2F4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000" b="1">
                        <a:solidFill>
                          <a:srgbClr val="E2F4FE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5600">
                <a:tc>
                  <a:txBody>
                    <a:bodyPr/>
                    <a:lstStyle/>
                    <a:p>
                      <a:pPr marL="457200" marR="0" lvl="1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Project team members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1920</a:t>
                      </a: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$75</a:t>
                      </a: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$144,000</a:t>
                      </a: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E2F4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Empty cell</a:t>
                      </a:r>
                      <a:r>
                        <a:rPr lang="en-US" sz="1000" b="1">
                          <a:solidFill>
                            <a:srgbClr val="E2F4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000" b="1">
                        <a:solidFill>
                          <a:srgbClr val="E2F4FE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E2F4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Empty cell</a:t>
                      </a:r>
                      <a:r>
                        <a:rPr lang="en-US" sz="1000" b="1">
                          <a:solidFill>
                            <a:srgbClr val="E2F4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000" b="1">
                        <a:solidFill>
                          <a:srgbClr val="E2F4FE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7275">
                <a:tc>
                  <a:txBody>
                    <a:bodyPr/>
                    <a:lstStyle/>
                    <a:p>
                      <a:pPr marL="457200" marR="0" lvl="1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Contractors (10% of software development and testing)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E2F4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Empty cell </a:t>
                      </a:r>
                      <a:endParaRPr sz="1000">
                        <a:solidFill>
                          <a:srgbClr val="E2F4FE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E2F4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Empty cell </a:t>
                      </a:r>
                      <a:endParaRPr sz="1000">
                        <a:solidFill>
                          <a:srgbClr val="E2F4FE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$66,300</a:t>
                      </a: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E2F4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Empty cell</a:t>
                      </a:r>
                      <a:r>
                        <a:rPr lang="en-US" sz="1000" b="1">
                          <a:solidFill>
                            <a:srgbClr val="E2F4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000" b="1">
                        <a:solidFill>
                          <a:srgbClr val="E2F4FE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E2F4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Empty cell</a:t>
                      </a:r>
                      <a:r>
                        <a:rPr lang="en-US" sz="1000" b="1">
                          <a:solidFill>
                            <a:srgbClr val="E2F4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000" b="1">
                        <a:solidFill>
                          <a:srgbClr val="E2F4FE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3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2. Hardware</a:t>
                      </a:r>
                      <a:endParaRPr sz="10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E2F4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Empty cell </a:t>
                      </a:r>
                      <a:endParaRPr sz="1000">
                        <a:solidFill>
                          <a:srgbClr val="E2F4FE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E2F4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Empty cell </a:t>
                      </a:r>
                      <a:endParaRPr sz="1000">
                        <a:solidFill>
                          <a:srgbClr val="E2F4FE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E2F4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Empty cell</a:t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$76,000</a:t>
                      </a:r>
                      <a:endParaRPr sz="10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5%</a:t>
                      </a:r>
                      <a:endParaRPr sz="10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3650">
                <a:tc>
                  <a:txBody>
                    <a:bodyPr/>
                    <a:lstStyle/>
                    <a:p>
                      <a:pPr marL="457200" marR="0" lvl="1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2.1 Handheld devices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100</a:t>
                      </a: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$600</a:t>
                      </a: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$60,000</a:t>
                      </a: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E2F4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Empty cell</a:t>
                      </a:r>
                      <a:r>
                        <a:rPr lang="en-US" sz="1000" b="1">
                          <a:solidFill>
                            <a:srgbClr val="E2F4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000" b="1">
                        <a:solidFill>
                          <a:srgbClr val="E2F4FE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E2F4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Empty cell</a:t>
                      </a:r>
                      <a:r>
                        <a:rPr lang="en-US" sz="1000" b="1">
                          <a:solidFill>
                            <a:srgbClr val="E2F4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000" b="1">
                        <a:solidFill>
                          <a:srgbClr val="E2F4FE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3650">
                <a:tc>
                  <a:txBody>
                    <a:bodyPr/>
                    <a:lstStyle/>
                    <a:p>
                      <a:pPr marL="457200" marR="0" lvl="1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2.2 Servers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$4,000</a:t>
                      </a: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$16,000</a:t>
                      </a: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E2F4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Empty cell</a:t>
                      </a:r>
                      <a:r>
                        <a:rPr lang="en-US" sz="1000" b="1">
                          <a:solidFill>
                            <a:srgbClr val="E2F4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000" b="1">
                        <a:solidFill>
                          <a:srgbClr val="E2F4FE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E2F4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Empty cell</a:t>
                      </a:r>
                      <a:r>
                        <a:rPr lang="en-US" sz="1000" b="1">
                          <a:solidFill>
                            <a:srgbClr val="E2F4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000" b="1">
                        <a:solidFill>
                          <a:srgbClr val="E2F4FE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3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3. Software</a:t>
                      </a:r>
                      <a:endParaRPr sz="10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E2F4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Empty cell </a:t>
                      </a:r>
                      <a:endParaRPr sz="1000">
                        <a:solidFill>
                          <a:srgbClr val="E2F4FE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E2F4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Empty cell </a:t>
                      </a:r>
                      <a:endParaRPr sz="1000">
                        <a:solidFill>
                          <a:srgbClr val="E2F4FE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E2F4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Empty cell </a:t>
                      </a:r>
                      <a:endParaRPr sz="1000">
                        <a:solidFill>
                          <a:srgbClr val="E2F4FE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$614,000</a:t>
                      </a:r>
                      <a:endParaRPr sz="10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40%</a:t>
                      </a:r>
                      <a:endParaRPr sz="10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3650">
                <a:tc>
                  <a:txBody>
                    <a:bodyPr/>
                    <a:lstStyle/>
                    <a:p>
                      <a:pPr marL="457200" marR="0" lvl="1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3.1 Licensed software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100</a:t>
                      </a: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$200</a:t>
                      </a: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$20,000</a:t>
                      </a: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E2F4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Empty cell</a:t>
                      </a:r>
                      <a:r>
                        <a:rPr lang="en-US" sz="1000" b="1">
                          <a:solidFill>
                            <a:srgbClr val="E2F4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000" b="1">
                        <a:solidFill>
                          <a:srgbClr val="E2F4FE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E2F4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Empty cell</a:t>
                      </a:r>
                      <a:r>
                        <a:rPr lang="en-US" sz="1000" b="1">
                          <a:solidFill>
                            <a:srgbClr val="E2F4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000" b="1">
                        <a:solidFill>
                          <a:srgbClr val="E2F4FE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5600">
                <a:tc>
                  <a:txBody>
                    <a:bodyPr/>
                    <a:lstStyle/>
                    <a:p>
                      <a:pPr marL="457200" marR="0" lvl="1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3.2 Software development*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E2F4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Empty cell </a:t>
                      </a:r>
                      <a:endParaRPr sz="1000">
                        <a:solidFill>
                          <a:srgbClr val="E2F4FE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E2F4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Empty cell </a:t>
                      </a:r>
                      <a:endParaRPr sz="1000">
                        <a:solidFill>
                          <a:srgbClr val="E2F4FE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$594,000</a:t>
                      </a: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E2F4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Empty cell</a:t>
                      </a:r>
                      <a:r>
                        <a:rPr lang="en-US" sz="1000" b="1">
                          <a:solidFill>
                            <a:srgbClr val="E2F4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000" b="1">
                        <a:solidFill>
                          <a:srgbClr val="E2F4FE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E2F4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Empty cell</a:t>
                      </a:r>
                      <a:r>
                        <a:rPr lang="en-US" sz="1000" b="1">
                          <a:solidFill>
                            <a:srgbClr val="E2F4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000" b="1">
                        <a:solidFill>
                          <a:srgbClr val="E2F4FE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1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4. Testing (10% of total hardware and software costs)</a:t>
                      </a:r>
                      <a:endParaRPr sz="10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E2F4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Empty cell </a:t>
                      </a:r>
                      <a:endParaRPr sz="1000">
                        <a:solidFill>
                          <a:srgbClr val="E2F4FE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E2F4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Empty cell </a:t>
                      </a:r>
                      <a:endParaRPr sz="1000">
                        <a:solidFill>
                          <a:srgbClr val="E2F4FE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$69,000</a:t>
                      </a: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$69,000</a:t>
                      </a:r>
                      <a:endParaRPr sz="10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5%</a:t>
                      </a:r>
                      <a:endParaRPr sz="10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3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5. Training and Support</a:t>
                      </a:r>
                      <a:endParaRPr sz="10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E2F4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Empty cell </a:t>
                      </a:r>
                      <a:endParaRPr sz="1000">
                        <a:solidFill>
                          <a:srgbClr val="E2F4FE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E2F4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Empty cell </a:t>
                      </a:r>
                      <a:endParaRPr sz="1000">
                        <a:solidFill>
                          <a:srgbClr val="E2F4FE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Empty cell</a:t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$202,400</a:t>
                      </a:r>
                      <a:endParaRPr sz="10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13%</a:t>
                      </a:r>
                      <a:endParaRPr sz="10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5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Trainee cost</a:t>
                      </a: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100</a:t>
                      </a: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$500</a:t>
                      </a: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$50,000</a:t>
                      </a: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E2F4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Empty cell</a:t>
                      </a:r>
                      <a:r>
                        <a:rPr lang="en-US" sz="1000" b="1">
                          <a:solidFill>
                            <a:srgbClr val="E2F4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000" b="1">
                        <a:solidFill>
                          <a:srgbClr val="E2F4FE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E2F4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Empty cell</a:t>
                      </a:r>
                      <a:r>
                        <a:rPr lang="en-US" sz="1000" b="1">
                          <a:solidFill>
                            <a:srgbClr val="E2F4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000" b="1">
                        <a:solidFill>
                          <a:srgbClr val="E2F4FE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3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Travel cost</a:t>
                      </a: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$700</a:t>
                      </a: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$8,400</a:t>
                      </a: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E2F4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Empty cell</a:t>
                      </a:r>
                      <a:r>
                        <a:rPr lang="en-US" sz="1000" b="1">
                          <a:solidFill>
                            <a:srgbClr val="E2F4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000" b="1">
                        <a:solidFill>
                          <a:srgbClr val="E2F4FE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E2F4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Empty cell</a:t>
                      </a:r>
                      <a:r>
                        <a:rPr lang="en-US" sz="1000" b="1">
                          <a:solidFill>
                            <a:srgbClr val="E2F4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000" b="1">
                        <a:solidFill>
                          <a:srgbClr val="E2F4FE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05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Project team members</a:t>
                      </a: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1920</a:t>
                      </a: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$75</a:t>
                      </a: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$144,000</a:t>
                      </a: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E2F4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Empty cell</a:t>
                      </a:r>
                      <a:r>
                        <a:rPr lang="en-US" sz="1000" b="1">
                          <a:solidFill>
                            <a:srgbClr val="E2F4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000" b="1">
                        <a:solidFill>
                          <a:srgbClr val="E2F4FE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E2F4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Empty cell</a:t>
                      </a:r>
                      <a:r>
                        <a:rPr lang="en-US" sz="1000" b="1">
                          <a:solidFill>
                            <a:srgbClr val="E2F4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000" b="1">
                        <a:solidFill>
                          <a:srgbClr val="E2F4FE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05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6. Reserves (20% of total estimate)</a:t>
                      </a:r>
                      <a:endParaRPr sz="10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E2F4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Empty cell </a:t>
                      </a:r>
                      <a:endParaRPr sz="1000">
                        <a:solidFill>
                          <a:srgbClr val="E2F4FE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E2F4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Empty cell </a:t>
                      </a:r>
                      <a:endParaRPr sz="1000">
                        <a:solidFill>
                          <a:srgbClr val="E2F4FE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$253,540</a:t>
                      </a: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$253,540</a:t>
                      </a:r>
                      <a:endParaRPr sz="10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17%</a:t>
                      </a:r>
                      <a:endParaRPr sz="10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385625">
                <a:tc>
                  <a:txBody>
                    <a:bodyPr/>
                    <a:lstStyle/>
                    <a:p>
                      <a:pPr marL="457200" marR="0" lvl="1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Total project cost estimate</a:t>
                      </a:r>
                      <a:endParaRPr sz="10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E2F4F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Empty cell</a:t>
                      </a:r>
                      <a:endParaRPr sz="1000">
                        <a:solidFill>
                          <a:srgbClr val="E2F4FE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E2F4F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Empty cell</a:t>
                      </a:r>
                      <a:endParaRPr sz="1000">
                        <a:solidFill>
                          <a:srgbClr val="E2F4FE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E2F4F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Empty cell</a:t>
                      </a:r>
                      <a:endParaRPr sz="1000">
                        <a:solidFill>
                          <a:srgbClr val="E2F4FE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$1,521,240</a:t>
                      </a:r>
                      <a:endParaRPr sz="10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E2F4F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Empty cell</a:t>
                      </a:r>
                      <a:endParaRPr sz="1000" b="1">
                        <a:solidFill>
                          <a:srgbClr val="E2F4FE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75" marR="212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359" name="Google Shape;359;p22"/>
          <p:cNvSpPr txBox="1">
            <a:spLocks noGrp="1"/>
          </p:cNvSpPr>
          <p:nvPr>
            <p:ph type="body" idx="2"/>
          </p:nvPr>
        </p:nvSpPr>
        <p:spPr>
          <a:xfrm>
            <a:off x="914398" y="6019800"/>
            <a:ext cx="2895602" cy="30290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09537" lvl="0" indent="0" algn="l" rtl="0">
              <a:spcBef>
                <a:spcPts val="0"/>
              </a:spcBef>
              <a:spcAft>
                <a:spcPts val="0"/>
              </a:spcAft>
              <a:buSzPts val="816"/>
              <a:buNone/>
            </a:pPr>
            <a:r>
              <a:rPr lang="en-US" sz="1200"/>
              <a:t>*See software development estimate </a:t>
            </a:r>
            <a:endParaRPr/>
          </a:p>
        </p:txBody>
      </p:sp>
      <p:sp>
        <p:nvSpPr>
          <p:cNvPr id="360" name="Google Shape;360;p22"/>
          <p:cNvSpPr txBox="1">
            <a:spLocks noGrp="1"/>
          </p:cNvSpPr>
          <p:nvPr>
            <p:ph type="ftr" idx="11"/>
          </p:nvPr>
        </p:nvSpPr>
        <p:spPr>
          <a:xfrm>
            <a:off x="2931" y="6408737"/>
            <a:ext cx="2359269" cy="443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Information Technology Project Management, Eighth Edition</a:t>
            </a:r>
            <a:endParaRPr/>
          </a:p>
        </p:txBody>
      </p:sp>
      <p:sp>
        <p:nvSpPr>
          <p:cNvPr id="361" name="Google Shape;361;p22"/>
          <p:cNvSpPr txBox="1">
            <a:spLocks noGrp="1"/>
          </p:cNvSpPr>
          <p:nvPr>
            <p:ph type="sldNum" idx="12"/>
          </p:nvPr>
        </p:nvSpPr>
        <p:spPr>
          <a:xfrm>
            <a:off x="8647113" y="6408738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3"/>
          <p:cNvSpPr txBox="1">
            <a:spLocks noGrp="1"/>
          </p:cNvSpPr>
          <p:nvPr>
            <p:ph type="title"/>
          </p:nvPr>
        </p:nvSpPr>
        <p:spPr>
          <a:xfrm>
            <a:off x="304800" y="-8792"/>
            <a:ext cx="8229600" cy="984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Figure 7-3. Surveyor Pro Software Development Estimate</a:t>
            </a:r>
            <a:endParaRPr/>
          </a:p>
        </p:txBody>
      </p:sp>
      <p:graphicFrame>
        <p:nvGraphicFramePr>
          <p:cNvPr id="367" name="Google Shape;367;p23" descr="A table is 5 columns and 18 rows. The column headers are 1. Labor Estimate, number of Units per Hours, Cost per Unit per Hour, Subtotals, and Calculations. "/>
          <p:cNvGraphicFramePr/>
          <p:nvPr/>
        </p:nvGraphicFramePr>
        <p:xfrm>
          <a:off x="898281" y="1066800"/>
          <a:ext cx="7347475" cy="4419511"/>
        </p:xfrm>
        <a:graphic>
          <a:graphicData uri="http://schemas.openxmlformats.org/drawingml/2006/table">
            <a:tbl>
              <a:tblPr>
                <a:noFill/>
                <a:tableStyleId>{5FF13EDF-5C4B-4975-ADE1-44F280FE81C6}</a:tableStyleId>
              </a:tblPr>
              <a:tblGrid>
                <a:gridCol w="264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5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9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99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8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chemeClr val="dk1"/>
                          </a:solidFill>
                        </a:rPr>
                        <a:t>1. Labor Estimate</a:t>
                      </a:r>
                      <a:endParaRPr sz="1100" b="1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5175" marR="251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>
                          <a:solidFill>
                            <a:schemeClr val="dk1"/>
                          </a:solidFill>
                        </a:rPr>
                        <a:t># Units/Hrs.</a:t>
                      </a:r>
                      <a:endParaRPr sz="1100" b="0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5175" marR="251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>
                          <a:solidFill>
                            <a:schemeClr val="dk1"/>
                          </a:solidFill>
                        </a:rPr>
                        <a:t>Cost/Unit/Hr.</a:t>
                      </a:r>
                      <a:endParaRPr sz="1100" b="0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5175" marR="251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>
                          <a:solidFill>
                            <a:schemeClr val="dk1"/>
                          </a:solidFill>
                        </a:rPr>
                        <a:t>Subtotals</a:t>
                      </a:r>
                      <a:endParaRPr sz="1100" b="0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5175" marR="251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>
                          <a:solidFill>
                            <a:schemeClr val="dk1"/>
                          </a:solidFill>
                        </a:rPr>
                        <a:t>Calculations</a:t>
                      </a:r>
                      <a:endParaRPr sz="1100" b="0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5175" marR="251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Contractor labor estimate</a:t>
                      </a:r>
                      <a:endParaRPr sz="11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5175" marR="251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3000</a:t>
                      </a:r>
                      <a:endParaRPr sz="11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5175" marR="251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$150</a:t>
                      </a:r>
                      <a:endParaRPr sz="11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5175" marR="251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$450,000</a:t>
                      </a:r>
                      <a:endParaRPr sz="11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5175" marR="251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3000*150</a:t>
                      </a:r>
                      <a:endParaRPr sz="11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5175" marR="251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Project team member estimate</a:t>
                      </a:r>
                      <a:endParaRPr sz="11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5175" marR="251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1920</a:t>
                      </a:r>
                      <a:endParaRPr sz="11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5175" marR="251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$75</a:t>
                      </a:r>
                      <a:endParaRPr sz="11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5175" marR="251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$144,000</a:t>
                      </a:r>
                      <a:endParaRPr sz="11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5175" marR="251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1920*75</a:t>
                      </a:r>
                      <a:endParaRPr sz="11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5175" marR="251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550">
                <a:tc>
                  <a:txBody>
                    <a:bodyPr/>
                    <a:lstStyle/>
                    <a:p>
                      <a:pPr marL="457200" marR="0" lvl="1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/>
                        <a:t>Total labor estimate</a:t>
                      </a:r>
                      <a:endParaRPr sz="1100" b="1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5175" marR="251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E2F4FE"/>
                          </a:solidFill>
                        </a:rPr>
                        <a:t>Empty cell </a:t>
                      </a:r>
                      <a:endParaRPr sz="1100">
                        <a:solidFill>
                          <a:srgbClr val="E2F4FE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5175" marR="251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E2F4FE"/>
                          </a:solidFill>
                        </a:rPr>
                        <a:t>Empty cell </a:t>
                      </a:r>
                      <a:endParaRPr sz="1100">
                        <a:solidFill>
                          <a:srgbClr val="E2F4FE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5175" marR="251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$594,000</a:t>
                      </a:r>
                      <a:endParaRPr sz="1100" b="1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5175" marR="251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Sum above two values</a:t>
                      </a:r>
                      <a:endParaRPr sz="11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5175" marR="251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 Empty cell</a:t>
                      </a:r>
                      <a:endParaRPr sz="11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5175" marR="251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E2F4FE"/>
                          </a:solidFill>
                        </a:rPr>
                        <a:t>Empty cell </a:t>
                      </a:r>
                      <a:endParaRPr sz="1100">
                        <a:solidFill>
                          <a:srgbClr val="E2F4FE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5175" marR="251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E2F4FE"/>
                          </a:solidFill>
                        </a:rPr>
                        <a:t>Empty cell </a:t>
                      </a:r>
                      <a:endParaRPr sz="1100">
                        <a:solidFill>
                          <a:srgbClr val="E2F4FE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5175" marR="251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E2F4FE"/>
                          </a:solidFill>
                        </a:rPr>
                        <a:t>Empty cell </a:t>
                      </a:r>
                      <a:endParaRPr sz="1100">
                        <a:solidFill>
                          <a:srgbClr val="E2F4FE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5175" marR="251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E2F4FE"/>
                          </a:solidFill>
                        </a:rPr>
                        <a:t> Empty cell</a:t>
                      </a:r>
                      <a:endParaRPr sz="1100">
                        <a:solidFill>
                          <a:srgbClr val="E2F4FE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5175" marR="251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4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2. Function point estimate</a:t>
                      </a:r>
                      <a:endParaRPr sz="1100" b="1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5175" marR="251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Quantity</a:t>
                      </a:r>
                      <a:endParaRPr sz="11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5175" marR="251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Conversion Factor</a:t>
                      </a:r>
                      <a:endParaRPr sz="11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5175" marR="251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Function Points</a:t>
                      </a:r>
                      <a:endParaRPr sz="11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5175" marR="251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Calculations</a:t>
                      </a:r>
                      <a:endParaRPr sz="1100" b="1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5175" marR="251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7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External inputs</a:t>
                      </a:r>
                      <a:endParaRPr sz="11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5175" marR="251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10</a:t>
                      </a:r>
                      <a:endParaRPr sz="11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5175" marR="251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4</a:t>
                      </a:r>
                      <a:endParaRPr sz="11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5175" marR="251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40</a:t>
                      </a:r>
                      <a:endParaRPr sz="11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5175" marR="251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10*4</a:t>
                      </a:r>
                      <a:endParaRPr sz="11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5175" marR="251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7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External interface files</a:t>
                      </a:r>
                      <a:endParaRPr sz="11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5175" marR="251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3</a:t>
                      </a:r>
                      <a:endParaRPr sz="11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5175" marR="251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7</a:t>
                      </a:r>
                      <a:endParaRPr sz="11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5175" marR="251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21</a:t>
                      </a:r>
                      <a:endParaRPr sz="11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5175" marR="251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3*7</a:t>
                      </a:r>
                      <a:endParaRPr sz="11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5175" marR="251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7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External outputs</a:t>
                      </a:r>
                      <a:endParaRPr sz="11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5175" marR="251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4</a:t>
                      </a:r>
                      <a:endParaRPr sz="11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5175" marR="251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5</a:t>
                      </a:r>
                      <a:endParaRPr sz="11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5175" marR="251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20</a:t>
                      </a:r>
                      <a:endParaRPr sz="11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5175" marR="251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4*5</a:t>
                      </a:r>
                      <a:endParaRPr sz="11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5175" marR="251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7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External queries</a:t>
                      </a:r>
                      <a:endParaRPr sz="11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5175" marR="251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6</a:t>
                      </a:r>
                      <a:endParaRPr sz="11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5175" marR="251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4</a:t>
                      </a:r>
                      <a:endParaRPr sz="11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5175" marR="251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24</a:t>
                      </a:r>
                      <a:endParaRPr sz="11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5175" marR="251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6*4</a:t>
                      </a:r>
                      <a:endParaRPr sz="11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5175" marR="251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7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Logical internal tables</a:t>
                      </a:r>
                      <a:endParaRPr sz="11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5175" marR="251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7</a:t>
                      </a:r>
                      <a:endParaRPr sz="11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5175" marR="251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10</a:t>
                      </a:r>
                      <a:endParaRPr sz="11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5175" marR="251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70</a:t>
                      </a:r>
                      <a:endParaRPr sz="11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5175" marR="251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7*10</a:t>
                      </a:r>
                      <a:endParaRPr sz="11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5175" marR="251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4675">
                <a:tc>
                  <a:txBody>
                    <a:bodyPr/>
                    <a:lstStyle/>
                    <a:p>
                      <a:pPr marL="457200" marR="0" lvl="1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/>
                        <a:t>Total function points</a:t>
                      </a:r>
                      <a:endParaRPr sz="1100" b="1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5175" marR="251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E2F4FE"/>
                          </a:solidFill>
                        </a:rPr>
                        <a:t>Empty cell </a:t>
                      </a:r>
                      <a:endParaRPr sz="1100">
                        <a:solidFill>
                          <a:srgbClr val="E2F4FE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5175" marR="251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E2F4FE"/>
                          </a:solidFill>
                        </a:rPr>
                        <a:t>Empty cell </a:t>
                      </a:r>
                      <a:endParaRPr sz="1100">
                        <a:solidFill>
                          <a:srgbClr val="E2F4FE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5175" marR="251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175</a:t>
                      </a:r>
                      <a:endParaRPr sz="11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5175" marR="251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Sum above function point values</a:t>
                      </a:r>
                      <a:endParaRPr sz="11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5175" marR="251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4675">
                <a:tc>
                  <a:txBody>
                    <a:bodyPr/>
                    <a:lstStyle/>
                    <a:p>
                      <a:pPr marL="457200" marR="0" lvl="1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Java 2 language equivalency value</a:t>
                      </a:r>
                      <a:endParaRPr sz="11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5175" marR="251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E2F4FE"/>
                          </a:solidFill>
                        </a:rPr>
                        <a:t>Empty cell </a:t>
                      </a:r>
                      <a:endParaRPr sz="1100">
                        <a:solidFill>
                          <a:srgbClr val="E2F4FE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5175" marR="251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E2F4FE"/>
                          </a:solidFill>
                        </a:rPr>
                        <a:t>Empty cell </a:t>
                      </a:r>
                      <a:endParaRPr sz="1100">
                        <a:solidFill>
                          <a:srgbClr val="E2F4FE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5175" marR="251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46</a:t>
                      </a:r>
                      <a:endParaRPr sz="11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5175" marR="251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Assumed value from reference</a:t>
                      </a:r>
                      <a:endParaRPr sz="11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5175" marR="251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4575">
                <a:tc>
                  <a:txBody>
                    <a:bodyPr/>
                    <a:lstStyle/>
                    <a:p>
                      <a:pPr marL="457200" marR="0" lvl="1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Source lines of code (SLOC) estimate</a:t>
                      </a:r>
                      <a:endParaRPr sz="11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5175" marR="251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E2F4FE"/>
                          </a:solidFill>
                        </a:rPr>
                        <a:t>Empty cell </a:t>
                      </a:r>
                      <a:endParaRPr sz="1100">
                        <a:solidFill>
                          <a:srgbClr val="E2F4FE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5175" marR="251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E2F4FE"/>
                          </a:solidFill>
                        </a:rPr>
                        <a:t>Empty cell </a:t>
                      </a:r>
                      <a:endParaRPr sz="1100">
                        <a:solidFill>
                          <a:srgbClr val="E2F4FE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5175" marR="251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8,050</a:t>
                      </a:r>
                      <a:endParaRPr sz="11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5175" marR="251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175*46</a:t>
                      </a:r>
                      <a:endParaRPr sz="11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5175" marR="251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34675">
                <a:tc>
                  <a:txBody>
                    <a:bodyPr/>
                    <a:lstStyle/>
                    <a:p>
                      <a:pPr marL="457200" marR="0" lvl="1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ProductivityxKSLOC</a:t>
                      </a:r>
                      <a:r>
                        <a:rPr lang="en-US" sz="1100" u="none" strike="noStrike" cap="none" baseline="30000"/>
                        <a:t>^</a:t>
                      </a:r>
                      <a:r>
                        <a:rPr lang="en-US" sz="1100" u="none" strike="noStrike" cap="none"/>
                        <a:t>Penalty (in months)</a:t>
                      </a:r>
                      <a:endParaRPr sz="11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5175" marR="251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E2F4FE"/>
                          </a:solidFill>
                        </a:rPr>
                        <a:t>Empty cell </a:t>
                      </a:r>
                      <a:endParaRPr sz="1100">
                        <a:solidFill>
                          <a:srgbClr val="E2F4FE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5175" marR="251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E2F4FE"/>
                          </a:solidFill>
                        </a:rPr>
                        <a:t>Empty cell </a:t>
                      </a:r>
                      <a:endParaRPr sz="1100">
                        <a:solidFill>
                          <a:srgbClr val="E2F4FE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5175" marR="251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29.28</a:t>
                      </a:r>
                      <a:endParaRPr sz="11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5175" marR="251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3.13*8.05</a:t>
                      </a:r>
                      <a:r>
                        <a:rPr lang="en-US" sz="1100" baseline="30000"/>
                        <a:t>^</a:t>
                      </a:r>
                      <a:r>
                        <a:rPr lang="en-US" sz="1100"/>
                        <a:t>1.072 (see reference)</a:t>
                      </a:r>
                      <a:endParaRPr sz="11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5175" marR="251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34675">
                <a:tc>
                  <a:txBody>
                    <a:bodyPr/>
                    <a:lstStyle/>
                    <a:p>
                      <a:pPr marL="457200" marR="0" lvl="1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Total labor hours</a:t>
                      </a:r>
                      <a:endParaRPr/>
                    </a:p>
                    <a:p>
                      <a:pPr marL="457200" marR="0" lvl="1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(27 hours/function point)*</a:t>
                      </a:r>
                      <a:endParaRPr sz="11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5175" marR="2517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E2F4FE"/>
                          </a:solidFill>
                        </a:rPr>
                        <a:t>Empty cell </a:t>
                      </a:r>
                      <a:endParaRPr sz="1100">
                        <a:solidFill>
                          <a:srgbClr val="E2F4FE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5175" marR="251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E2F4FE"/>
                          </a:solidFill>
                        </a:rPr>
                        <a:t>Empty cell </a:t>
                      </a:r>
                      <a:endParaRPr sz="1100">
                        <a:solidFill>
                          <a:srgbClr val="E2F4FE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5175" marR="251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4,725</a:t>
                      </a:r>
                      <a:endParaRPr sz="11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5175" marR="2517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27*175</a:t>
                      </a:r>
                      <a:endParaRPr sz="11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5175" marR="2517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34675">
                <a:tc>
                  <a:txBody>
                    <a:bodyPr/>
                    <a:lstStyle/>
                    <a:p>
                      <a:pPr marL="457200" marR="0" lvl="1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Cost/labor hour ($120/hour)</a:t>
                      </a:r>
                      <a:endParaRPr sz="110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5175" marR="251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E2F4FE"/>
                          </a:solidFill>
                        </a:rPr>
                        <a:t>Empty cell </a:t>
                      </a:r>
                      <a:endParaRPr sz="1100">
                        <a:solidFill>
                          <a:srgbClr val="E2F4FE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5175" marR="251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E2F4FE"/>
                          </a:solidFill>
                        </a:rPr>
                        <a:t>Empty cell </a:t>
                      </a:r>
                      <a:endParaRPr sz="1100">
                        <a:solidFill>
                          <a:srgbClr val="E2F4FE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5175" marR="251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$120</a:t>
                      </a:r>
                      <a:endParaRPr sz="11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5175" marR="251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Assumed value from budget expert</a:t>
                      </a:r>
                      <a:endParaRPr sz="11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5175" marR="251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2550">
                <a:tc>
                  <a:txBody>
                    <a:bodyPr/>
                    <a:lstStyle/>
                    <a:p>
                      <a:pPr marL="457200" marR="0" lvl="1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/>
                        <a:t>Total function point estimate</a:t>
                      </a:r>
                      <a:endParaRPr sz="1100" b="1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5175" marR="251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E2F4FE"/>
                          </a:solidFill>
                        </a:rPr>
                        <a:t>Empty cell </a:t>
                      </a:r>
                      <a:endParaRPr sz="1100">
                        <a:solidFill>
                          <a:srgbClr val="E2F4FE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5175" marR="251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E2F4FE"/>
                          </a:solidFill>
                        </a:rPr>
                        <a:t>Empty cell </a:t>
                      </a:r>
                      <a:endParaRPr sz="1100">
                        <a:solidFill>
                          <a:srgbClr val="E2F4FE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5175" marR="251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$567.000</a:t>
                      </a:r>
                      <a:endParaRPr sz="1100" b="1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5175" marR="251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4,725*120</a:t>
                      </a:r>
                      <a:endParaRPr sz="11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5175" marR="251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F4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368" name="Google Shape;368;p23"/>
          <p:cNvSpPr txBox="1">
            <a:spLocks noGrp="1"/>
          </p:cNvSpPr>
          <p:nvPr>
            <p:ph type="body" idx="1"/>
          </p:nvPr>
        </p:nvSpPr>
        <p:spPr>
          <a:xfrm>
            <a:off x="901594" y="5695558"/>
            <a:ext cx="2401887" cy="507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09537" lvl="0" indent="0" algn="l" rtl="0">
              <a:spcBef>
                <a:spcPts val="0"/>
              </a:spcBef>
              <a:spcAft>
                <a:spcPts val="0"/>
              </a:spcAft>
              <a:buSzPts val="714"/>
              <a:buNone/>
            </a:pPr>
            <a:r>
              <a:rPr lang="en-US" sz="1050"/>
              <a:t>*Based on historical data</a:t>
            </a:r>
            <a:endParaRPr/>
          </a:p>
          <a:p>
            <a:pPr marL="109537" lvl="0" indent="0" algn="l" rtl="0">
              <a:spcBef>
                <a:spcPts val="400"/>
              </a:spcBef>
              <a:spcAft>
                <a:spcPts val="0"/>
              </a:spcAft>
              <a:buSzPts val="714"/>
              <a:buNone/>
            </a:pPr>
            <a:r>
              <a:rPr lang="en-US" sz="1050"/>
              <a:t>© Cengage Learning 2016</a:t>
            </a:r>
            <a:endParaRPr/>
          </a:p>
        </p:txBody>
      </p:sp>
      <p:sp>
        <p:nvSpPr>
          <p:cNvPr id="369" name="Google Shape;369;p23"/>
          <p:cNvSpPr txBox="1">
            <a:spLocks noGrp="1"/>
          </p:cNvSpPr>
          <p:nvPr>
            <p:ph type="ftr" idx="11"/>
          </p:nvPr>
        </p:nvSpPr>
        <p:spPr>
          <a:xfrm>
            <a:off x="0" y="6324600"/>
            <a:ext cx="2514600" cy="507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Information Technology Project Management, Eighth Edition</a:t>
            </a:r>
            <a:endParaRPr/>
          </a:p>
        </p:txBody>
      </p:sp>
      <p:sp>
        <p:nvSpPr>
          <p:cNvPr id="370" name="Google Shape;370;p23"/>
          <p:cNvSpPr txBox="1">
            <a:spLocks noGrp="1"/>
          </p:cNvSpPr>
          <p:nvPr>
            <p:ph type="sldNum" idx="12"/>
          </p:nvPr>
        </p:nvSpPr>
        <p:spPr>
          <a:xfrm>
            <a:off x="8647113" y="6408738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/>
              <a:t>15</a:t>
            </a:fld>
            <a:endParaRPr sz="12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5"/>
          <p:cNvSpPr txBox="1">
            <a:spLocks noGrp="1"/>
          </p:cNvSpPr>
          <p:nvPr>
            <p:ph type="title"/>
          </p:nvPr>
        </p:nvSpPr>
        <p:spPr>
          <a:xfrm>
            <a:off x="176213" y="0"/>
            <a:ext cx="8967787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Determining the Budget</a:t>
            </a:r>
            <a:endParaRPr/>
          </a:p>
        </p:txBody>
      </p:sp>
      <p:sp>
        <p:nvSpPr>
          <p:cNvPr id="384" name="Google Shape;384;p25"/>
          <p:cNvSpPr txBox="1">
            <a:spLocks noGrp="1"/>
          </p:cNvSpPr>
          <p:nvPr>
            <p:ph type="body" idx="1"/>
          </p:nvPr>
        </p:nvSpPr>
        <p:spPr>
          <a:xfrm>
            <a:off x="228600" y="1152525"/>
            <a:ext cx="8610600" cy="3343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65125" lvl="0" indent="-255587" algn="l" rtl="0">
              <a:spcBef>
                <a:spcPts val="0"/>
              </a:spcBef>
              <a:spcAft>
                <a:spcPts val="0"/>
              </a:spcAft>
              <a:buSzPts val="1836"/>
              <a:buChar char="🞂"/>
            </a:pPr>
            <a:r>
              <a:rPr lang="en-US"/>
              <a:t>Cost budgeting involves allocating the project cost estimate to individual work items over time</a:t>
            </a:r>
            <a:endParaRPr/>
          </a:p>
          <a:p>
            <a:pPr marL="365125" lvl="0" indent="-255587" algn="l" rtl="0">
              <a:spcBef>
                <a:spcPts val="400"/>
              </a:spcBef>
              <a:spcAft>
                <a:spcPts val="0"/>
              </a:spcAft>
              <a:buSzPts val="1836"/>
              <a:buChar char="🞂"/>
            </a:pPr>
            <a:r>
              <a:rPr lang="en-US"/>
              <a:t>The WBS is a required input to the cost budgeting process since it defines the work items</a:t>
            </a:r>
            <a:endParaRPr/>
          </a:p>
          <a:p>
            <a:pPr marL="365125" lvl="0" indent="-255587" algn="l" rtl="0">
              <a:spcBef>
                <a:spcPts val="400"/>
              </a:spcBef>
              <a:spcAft>
                <a:spcPts val="0"/>
              </a:spcAft>
              <a:buSzPts val="1836"/>
              <a:buChar char="🞂"/>
            </a:pPr>
            <a:r>
              <a:rPr lang="en-US"/>
              <a:t>Important goal is to produce a </a:t>
            </a:r>
            <a:r>
              <a:rPr lang="en-US" b="1"/>
              <a:t>cost baseline</a:t>
            </a:r>
            <a:endParaRPr/>
          </a:p>
          <a:p>
            <a:pPr marL="620713" lvl="1" indent="-228600" algn="l" rtl="0">
              <a:spcBef>
                <a:spcPts val="325"/>
              </a:spcBef>
              <a:spcAft>
                <a:spcPts val="0"/>
              </a:spcAft>
              <a:buSzPts val="2300"/>
              <a:buChar char="◦"/>
            </a:pPr>
            <a:r>
              <a:rPr lang="en-US"/>
              <a:t>a time-phased budget that project managers use to measure and monitor cost performance </a:t>
            </a:r>
            <a:endParaRPr/>
          </a:p>
        </p:txBody>
      </p:sp>
      <p:sp>
        <p:nvSpPr>
          <p:cNvPr id="385" name="Google Shape;385;p25"/>
          <p:cNvSpPr txBox="1">
            <a:spLocks noGrp="1"/>
          </p:cNvSpPr>
          <p:nvPr>
            <p:ph type="ftr" idx="11"/>
          </p:nvPr>
        </p:nvSpPr>
        <p:spPr>
          <a:xfrm>
            <a:off x="0" y="6400801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Information Technology Project Management, Eighth Edition</a:t>
            </a:r>
            <a:endParaRPr/>
          </a:p>
        </p:txBody>
      </p:sp>
      <p:sp>
        <p:nvSpPr>
          <p:cNvPr id="386" name="Google Shape;386;p25"/>
          <p:cNvSpPr txBox="1">
            <a:spLocks noGrp="1"/>
          </p:cNvSpPr>
          <p:nvPr>
            <p:ph type="sldNum" idx="12"/>
          </p:nvPr>
        </p:nvSpPr>
        <p:spPr>
          <a:xfrm>
            <a:off x="8588375" y="6492875"/>
            <a:ext cx="5556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7"/>
          <p:cNvSpPr txBox="1">
            <a:spLocks noGrp="1"/>
          </p:cNvSpPr>
          <p:nvPr>
            <p:ph type="title"/>
          </p:nvPr>
        </p:nvSpPr>
        <p:spPr>
          <a:xfrm>
            <a:off x="228600" y="304800"/>
            <a:ext cx="8229600" cy="57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Controlling Costs</a:t>
            </a:r>
            <a:endParaRPr/>
          </a:p>
        </p:txBody>
      </p:sp>
      <p:sp>
        <p:nvSpPr>
          <p:cNvPr id="403" name="Google Shape;403;p27"/>
          <p:cNvSpPr txBox="1">
            <a:spLocks noGrp="1"/>
          </p:cNvSpPr>
          <p:nvPr>
            <p:ph type="body" idx="1"/>
          </p:nvPr>
        </p:nvSpPr>
        <p:spPr>
          <a:xfrm>
            <a:off x="609600" y="1066800"/>
            <a:ext cx="81534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65125" lvl="0" indent="-255587" algn="l" rtl="0">
              <a:spcBef>
                <a:spcPts val="0"/>
              </a:spcBef>
              <a:spcAft>
                <a:spcPts val="0"/>
              </a:spcAft>
              <a:buSzPts val="1836"/>
              <a:buChar char="🞂"/>
            </a:pPr>
            <a:r>
              <a:rPr lang="en-US"/>
              <a:t>Project cost control includes</a:t>
            </a:r>
            <a:endParaRPr/>
          </a:p>
          <a:p>
            <a:pPr marL="620713" lvl="1" indent="-228600" algn="l" rtl="0">
              <a:spcBef>
                <a:spcPts val="325"/>
              </a:spcBef>
              <a:spcAft>
                <a:spcPts val="0"/>
              </a:spcAft>
              <a:buSzPts val="2300"/>
              <a:buChar char="◦"/>
            </a:pPr>
            <a:r>
              <a:rPr lang="en-US"/>
              <a:t>Monitoring cost performance</a:t>
            </a:r>
            <a:endParaRPr/>
          </a:p>
          <a:p>
            <a:pPr marL="620713" lvl="1" indent="-228600" algn="l" rtl="0">
              <a:spcBef>
                <a:spcPts val="325"/>
              </a:spcBef>
              <a:spcAft>
                <a:spcPts val="0"/>
              </a:spcAft>
              <a:buSzPts val="2300"/>
              <a:buChar char="◦"/>
            </a:pPr>
            <a:r>
              <a:rPr lang="en-US"/>
              <a:t>Ensuring that only appropriate project changes are included in a revised cost baseline</a:t>
            </a:r>
            <a:endParaRPr/>
          </a:p>
          <a:p>
            <a:pPr marL="620713" lvl="1" indent="-228600" algn="l" rtl="0">
              <a:spcBef>
                <a:spcPts val="325"/>
              </a:spcBef>
              <a:spcAft>
                <a:spcPts val="0"/>
              </a:spcAft>
              <a:buSzPts val="2300"/>
              <a:buChar char="◦"/>
            </a:pPr>
            <a:r>
              <a:rPr lang="en-US"/>
              <a:t>Informing project stakeholders of authorized changes to the project that will affect costs</a:t>
            </a:r>
            <a:endParaRPr/>
          </a:p>
          <a:p>
            <a:pPr marL="365125" lvl="0" indent="-255587" algn="l" rtl="0">
              <a:spcBef>
                <a:spcPts val="400"/>
              </a:spcBef>
              <a:spcAft>
                <a:spcPts val="0"/>
              </a:spcAft>
              <a:buSzPts val="1836"/>
              <a:buChar char="🞂"/>
            </a:pPr>
            <a:r>
              <a:rPr lang="en-US"/>
              <a:t>Many organizations around the globe have problems with cost control</a:t>
            </a:r>
            <a:endParaRPr/>
          </a:p>
        </p:txBody>
      </p:sp>
      <p:sp>
        <p:nvSpPr>
          <p:cNvPr id="404" name="Google Shape;404;p27"/>
          <p:cNvSpPr txBox="1">
            <a:spLocks noGrp="1"/>
          </p:cNvSpPr>
          <p:nvPr>
            <p:ph type="ftr" idx="11"/>
          </p:nvPr>
        </p:nvSpPr>
        <p:spPr>
          <a:xfrm>
            <a:off x="0" y="6400801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Information Technology Project Management, Eighth Edition</a:t>
            </a:r>
            <a:endParaRPr/>
          </a:p>
        </p:txBody>
      </p:sp>
      <p:sp>
        <p:nvSpPr>
          <p:cNvPr id="405" name="Google Shape;405;p27"/>
          <p:cNvSpPr txBox="1">
            <a:spLocks noGrp="1"/>
          </p:cNvSpPr>
          <p:nvPr>
            <p:ph type="sldNum" idx="12"/>
          </p:nvPr>
        </p:nvSpPr>
        <p:spPr>
          <a:xfrm>
            <a:off x="8588375" y="6492875"/>
            <a:ext cx="5556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37"/>
          <p:cNvSpPr txBox="1">
            <a:spLocks noGrp="1"/>
          </p:cNvSpPr>
          <p:nvPr>
            <p:ph type="title"/>
          </p:nvPr>
        </p:nvSpPr>
        <p:spPr>
          <a:xfrm>
            <a:off x="381000" y="274638"/>
            <a:ext cx="8305800" cy="792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Project Portfolio Management</a:t>
            </a:r>
            <a:endParaRPr/>
          </a:p>
        </p:txBody>
      </p:sp>
      <p:sp>
        <p:nvSpPr>
          <p:cNvPr id="485" name="Google Shape;485;p37"/>
          <p:cNvSpPr txBox="1">
            <a:spLocks noGrp="1"/>
          </p:cNvSpPr>
          <p:nvPr>
            <p:ph type="body" idx="1"/>
          </p:nvPr>
        </p:nvSpPr>
        <p:spPr>
          <a:xfrm>
            <a:off x="304800" y="1143000"/>
            <a:ext cx="8458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65125" lvl="0" indent="-25558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36"/>
              <a:buChar char="🞂"/>
            </a:pPr>
            <a:r>
              <a:rPr lang="en-US"/>
              <a:t>Many organizations collect and control an entire suite of projects or investments as one set of interrelated activities in a portfolio</a:t>
            </a:r>
            <a:endParaRPr/>
          </a:p>
          <a:p>
            <a:pPr marL="365125" lvl="0" indent="-25558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36"/>
              <a:buChar char="🞂"/>
            </a:pPr>
            <a:r>
              <a:rPr lang="en-US"/>
              <a:t>Five levels for project portfolio management</a:t>
            </a:r>
            <a:endParaRPr/>
          </a:p>
          <a:p>
            <a:pPr marL="776288" lvl="1" indent="-457200" algn="l" rtl="0">
              <a:lnSpc>
                <a:spcPct val="90000"/>
              </a:lnSpc>
              <a:spcBef>
                <a:spcPts val="325"/>
              </a:spcBef>
              <a:spcAft>
                <a:spcPts val="0"/>
              </a:spcAft>
              <a:buSzPts val="2300"/>
              <a:buFont typeface="Arial"/>
              <a:buAutoNum type="arabicPeriod"/>
            </a:pPr>
            <a:r>
              <a:rPr lang="en-US"/>
              <a:t>Put all your projects in one database</a:t>
            </a:r>
            <a:endParaRPr/>
          </a:p>
          <a:p>
            <a:pPr marL="776288" lvl="1" indent="-457200" algn="l" rtl="0">
              <a:lnSpc>
                <a:spcPct val="90000"/>
              </a:lnSpc>
              <a:spcBef>
                <a:spcPts val="325"/>
              </a:spcBef>
              <a:spcAft>
                <a:spcPts val="0"/>
              </a:spcAft>
              <a:buSzPts val="2300"/>
              <a:buFont typeface="Arial"/>
              <a:buAutoNum type="arabicPeriod"/>
            </a:pPr>
            <a:r>
              <a:rPr lang="en-US"/>
              <a:t>Prioritize the projects in your database</a:t>
            </a:r>
            <a:endParaRPr/>
          </a:p>
          <a:p>
            <a:pPr marL="776288" lvl="1" indent="-457200" algn="l" rtl="0">
              <a:lnSpc>
                <a:spcPct val="90000"/>
              </a:lnSpc>
              <a:spcBef>
                <a:spcPts val="325"/>
              </a:spcBef>
              <a:spcAft>
                <a:spcPts val="0"/>
              </a:spcAft>
              <a:buSzPts val="2300"/>
              <a:buFont typeface="Arial"/>
              <a:buAutoNum type="arabicPeriod"/>
            </a:pPr>
            <a:r>
              <a:rPr lang="en-US"/>
              <a:t>Divide your projects into two or three budgets based on type of investment</a:t>
            </a:r>
            <a:endParaRPr/>
          </a:p>
          <a:p>
            <a:pPr marL="776288" lvl="1" indent="-457200" algn="l" rtl="0">
              <a:lnSpc>
                <a:spcPct val="90000"/>
              </a:lnSpc>
              <a:spcBef>
                <a:spcPts val="325"/>
              </a:spcBef>
              <a:spcAft>
                <a:spcPts val="0"/>
              </a:spcAft>
              <a:buSzPts val="2300"/>
              <a:buFont typeface="Arial"/>
              <a:buAutoNum type="arabicPeriod"/>
            </a:pPr>
            <a:r>
              <a:rPr lang="en-US"/>
              <a:t>Automate the repository</a:t>
            </a:r>
            <a:endParaRPr/>
          </a:p>
          <a:p>
            <a:pPr marL="776288" lvl="1" indent="-457200" algn="l" rtl="0">
              <a:lnSpc>
                <a:spcPct val="90000"/>
              </a:lnSpc>
              <a:spcBef>
                <a:spcPts val="325"/>
              </a:spcBef>
              <a:spcAft>
                <a:spcPts val="0"/>
              </a:spcAft>
              <a:buSzPts val="2300"/>
              <a:buFont typeface="Arial"/>
              <a:buAutoNum type="arabicPeriod"/>
            </a:pPr>
            <a:r>
              <a:rPr lang="en-US"/>
              <a:t>Apply modern portfolio theory, including risk-return tools that map project risk on a curve</a:t>
            </a:r>
            <a:endParaRPr/>
          </a:p>
        </p:txBody>
      </p:sp>
      <p:sp>
        <p:nvSpPr>
          <p:cNvPr id="486" name="Google Shape;486;p37"/>
          <p:cNvSpPr txBox="1">
            <a:spLocks noGrp="1"/>
          </p:cNvSpPr>
          <p:nvPr>
            <p:ph type="ftr" idx="11"/>
          </p:nvPr>
        </p:nvSpPr>
        <p:spPr>
          <a:xfrm>
            <a:off x="0" y="6400801"/>
            <a:ext cx="259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Information Technology Project Management, Eighth Edition</a:t>
            </a:r>
            <a:endParaRPr/>
          </a:p>
        </p:txBody>
      </p:sp>
      <p:sp>
        <p:nvSpPr>
          <p:cNvPr id="487" name="Google Shape;487;p37"/>
          <p:cNvSpPr txBox="1">
            <a:spLocks noGrp="1"/>
          </p:cNvSpPr>
          <p:nvPr>
            <p:ph type="sldNum" idx="12"/>
          </p:nvPr>
        </p:nvSpPr>
        <p:spPr>
          <a:xfrm>
            <a:off x="8588375" y="6492875"/>
            <a:ext cx="5556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4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Summary</a:t>
            </a:r>
            <a:endParaRPr dirty="0"/>
          </a:p>
        </p:txBody>
      </p:sp>
      <p:sp>
        <p:nvSpPr>
          <p:cNvPr id="517" name="Google Shape;517;p41"/>
          <p:cNvSpPr txBox="1">
            <a:spLocks noGrp="1"/>
          </p:cNvSpPr>
          <p:nvPr>
            <p:ph type="body" idx="1"/>
          </p:nvPr>
        </p:nvSpPr>
        <p:spPr>
          <a:xfrm>
            <a:off x="457200" y="1481138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65125" lvl="0" indent="-255587" algn="l" rtl="0">
              <a:spcBef>
                <a:spcPts val="0"/>
              </a:spcBef>
              <a:spcAft>
                <a:spcPts val="0"/>
              </a:spcAft>
              <a:buSzPts val="1836"/>
              <a:buChar char="🞂"/>
            </a:pPr>
            <a:r>
              <a:rPr lang="en-US" dirty="0"/>
              <a:t>Project cost management is a traditionally weak area of IT projects, and project managers must work to improve their ability to deliver projects within approved budgets</a:t>
            </a:r>
            <a:endParaRPr dirty="0"/>
          </a:p>
          <a:p>
            <a:pPr marL="365125" lvl="0" indent="-255587" algn="l" rtl="0">
              <a:spcBef>
                <a:spcPts val="400"/>
              </a:spcBef>
              <a:spcAft>
                <a:spcPts val="0"/>
              </a:spcAft>
              <a:buSzPts val="1836"/>
              <a:buChar char="🞂"/>
            </a:pPr>
            <a:r>
              <a:rPr lang="en-US" dirty="0"/>
              <a:t>Main processes include</a:t>
            </a:r>
            <a:endParaRPr dirty="0"/>
          </a:p>
          <a:p>
            <a:pPr marL="620713" lvl="1" indent="-228600" algn="l" rtl="0">
              <a:spcBef>
                <a:spcPts val="325"/>
              </a:spcBef>
              <a:spcAft>
                <a:spcPts val="0"/>
              </a:spcAft>
              <a:buSzPts val="2300"/>
              <a:buChar char="◦"/>
            </a:pPr>
            <a:r>
              <a:rPr lang="en-US" dirty="0"/>
              <a:t>Plan cost management</a:t>
            </a:r>
            <a:endParaRPr dirty="0"/>
          </a:p>
          <a:p>
            <a:pPr marL="620713" lvl="1" indent="-228600" algn="l" rtl="0">
              <a:spcBef>
                <a:spcPts val="325"/>
              </a:spcBef>
              <a:spcAft>
                <a:spcPts val="0"/>
              </a:spcAft>
              <a:buSzPts val="2300"/>
              <a:buChar char="◦"/>
            </a:pPr>
            <a:r>
              <a:rPr lang="en-US" dirty="0"/>
              <a:t>Estimate costs</a:t>
            </a:r>
            <a:endParaRPr dirty="0"/>
          </a:p>
          <a:p>
            <a:pPr marL="620713" lvl="1" indent="-228600" algn="l" rtl="0">
              <a:spcBef>
                <a:spcPts val="325"/>
              </a:spcBef>
              <a:spcAft>
                <a:spcPts val="0"/>
              </a:spcAft>
              <a:buSzPts val="2300"/>
              <a:buChar char="◦"/>
            </a:pPr>
            <a:r>
              <a:rPr lang="en-US" dirty="0"/>
              <a:t>Determine the budget</a:t>
            </a:r>
            <a:endParaRPr dirty="0"/>
          </a:p>
          <a:p>
            <a:pPr marL="620713" lvl="1" indent="-228600" algn="l" rtl="0">
              <a:spcBef>
                <a:spcPts val="325"/>
              </a:spcBef>
              <a:spcAft>
                <a:spcPts val="0"/>
              </a:spcAft>
              <a:buSzPts val="2300"/>
              <a:buChar char="◦"/>
            </a:pPr>
            <a:r>
              <a:rPr lang="en-US" dirty="0"/>
              <a:t>Control costs</a:t>
            </a:r>
            <a:endParaRPr dirty="0"/>
          </a:p>
        </p:txBody>
      </p:sp>
      <p:sp>
        <p:nvSpPr>
          <p:cNvPr id="518" name="Google Shape;518;p41"/>
          <p:cNvSpPr txBox="1">
            <a:spLocks noGrp="1"/>
          </p:cNvSpPr>
          <p:nvPr>
            <p:ph type="ftr" idx="11"/>
          </p:nvPr>
        </p:nvSpPr>
        <p:spPr>
          <a:xfrm>
            <a:off x="0" y="6400801"/>
            <a:ext cx="259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Information Technology Project Management, Eighth Edition</a:t>
            </a:r>
            <a:endParaRPr/>
          </a:p>
        </p:txBody>
      </p:sp>
      <p:sp>
        <p:nvSpPr>
          <p:cNvPr id="519" name="Google Shape;519;p41"/>
          <p:cNvSpPr txBox="1">
            <a:spLocks noGrp="1"/>
          </p:cNvSpPr>
          <p:nvPr>
            <p:ph type="sldNum" idx="12"/>
          </p:nvPr>
        </p:nvSpPr>
        <p:spPr>
          <a:xfrm>
            <a:off x="8588375" y="6492875"/>
            <a:ext cx="5556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Concourse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1710</Words>
  <Application>Microsoft Office PowerPoint</Application>
  <PresentationFormat>On-screen Show (4:3)</PresentationFormat>
  <Paragraphs>373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Arial</vt:lpstr>
      <vt:lpstr>Arial Rounded</vt:lpstr>
      <vt:lpstr>Calibri</vt:lpstr>
      <vt:lpstr>Lucida Sans</vt:lpstr>
      <vt:lpstr>Noto Sans Symbols</vt:lpstr>
      <vt:lpstr>Times New Roman</vt:lpstr>
      <vt:lpstr>Trebuchet MS</vt:lpstr>
      <vt:lpstr>Verdana</vt:lpstr>
      <vt:lpstr>Theme1</vt:lpstr>
      <vt:lpstr>Custom Design</vt:lpstr>
      <vt:lpstr>Project Cost Management </vt:lpstr>
      <vt:lpstr>The Importance of Project Cost Management</vt:lpstr>
      <vt:lpstr>What is Cost and Project Cost Management?</vt:lpstr>
      <vt:lpstr>Project Cost Management Processes</vt:lpstr>
      <vt:lpstr>Figure 7-1. Project Cost Management Summary</vt:lpstr>
      <vt:lpstr>Types of Costs and Benefits</vt:lpstr>
      <vt:lpstr>More Basic Principles of Cost Management</vt:lpstr>
      <vt:lpstr>Planning Cost Management</vt:lpstr>
      <vt:lpstr>Estimating Costs</vt:lpstr>
      <vt:lpstr>Table 7-1. Types of Cost Estimates</vt:lpstr>
      <vt:lpstr>Cost Estimation Tools and Techniques</vt:lpstr>
      <vt:lpstr>Typical Problems with IT Cost Estimates</vt:lpstr>
      <vt:lpstr>Sample Cost Estimate</vt:lpstr>
      <vt:lpstr>Figure 7-2. Surveyor Pro Project Cost Estimate</vt:lpstr>
      <vt:lpstr>Figure 7-3. Surveyor Pro Software Development Estimate</vt:lpstr>
      <vt:lpstr>Determining the Budget</vt:lpstr>
      <vt:lpstr>Controlling Costs</vt:lpstr>
      <vt:lpstr>Project Portfolio Management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Cost Management </dc:title>
  <dc:creator>Information  Technology</dc:creator>
  <cp:lastModifiedBy>User</cp:lastModifiedBy>
  <cp:revision>1</cp:revision>
  <dcterms:created xsi:type="dcterms:W3CDTF">2001-07-05T23:10:12Z</dcterms:created>
  <dcterms:modified xsi:type="dcterms:W3CDTF">2025-10-19T14:06:01Z</dcterms:modified>
</cp:coreProperties>
</file>