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831" r:id="rId2"/>
    <p:sldMasterId id="2147483868" r:id="rId3"/>
  </p:sldMasterIdLst>
  <p:notesMasterIdLst>
    <p:notesMasterId r:id="rId49"/>
  </p:notesMasterIdLst>
  <p:handoutMasterIdLst>
    <p:handoutMasterId r:id="rId50"/>
  </p:handoutMasterIdLst>
  <p:sldIdLst>
    <p:sldId id="399" r:id="rId4"/>
    <p:sldId id="338" r:id="rId5"/>
    <p:sldId id="339" r:id="rId6"/>
    <p:sldId id="340" r:id="rId7"/>
    <p:sldId id="387" r:id="rId8"/>
    <p:sldId id="341" r:id="rId9"/>
    <p:sldId id="391" r:id="rId10"/>
    <p:sldId id="344" r:id="rId11"/>
    <p:sldId id="345" r:id="rId12"/>
    <p:sldId id="346" r:id="rId13"/>
    <p:sldId id="347" r:id="rId14"/>
    <p:sldId id="348" r:id="rId15"/>
    <p:sldId id="401" r:id="rId16"/>
    <p:sldId id="402" r:id="rId17"/>
    <p:sldId id="403" r:id="rId18"/>
    <p:sldId id="352" r:id="rId19"/>
    <p:sldId id="406" r:id="rId20"/>
    <p:sldId id="353" r:id="rId21"/>
    <p:sldId id="355" r:id="rId22"/>
    <p:sldId id="356" r:id="rId23"/>
    <p:sldId id="357" r:id="rId24"/>
    <p:sldId id="404" r:id="rId25"/>
    <p:sldId id="405" r:id="rId26"/>
    <p:sldId id="358" r:id="rId27"/>
    <p:sldId id="394" r:id="rId28"/>
    <p:sldId id="392" r:id="rId29"/>
    <p:sldId id="393" r:id="rId30"/>
    <p:sldId id="362" r:id="rId31"/>
    <p:sldId id="364" r:id="rId32"/>
    <p:sldId id="365" r:id="rId33"/>
    <p:sldId id="369" r:id="rId34"/>
    <p:sldId id="370" r:id="rId35"/>
    <p:sldId id="371" r:id="rId36"/>
    <p:sldId id="374" r:id="rId37"/>
    <p:sldId id="375" r:id="rId38"/>
    <p:sldId id="377" r:id="rId39"/>
    <p:sldId id="378" r:id="rId40"/>
    <p:sldId id="379" r:id="rId41"/>
    <p:sldId id="380" r:id="rId42"/>
    <p:sldId id="381" r:id="rId43"/>
    <p:sldId id="382" r:id="rId44"/>
    <p:sldId id="384" r:id="rId45"/>
    <p:sldId id="385" r:id="rId46"/>
    <p:sldId id="397" r:id="rId47"/>
    <p:sldId id="386" r:id="rId48"/>
  </p:sldIdLst>
  <p:sldSz cx="12192000" cy="6858000"/>
  <p:notesSz cx="6858000" cy="9144000"/>
  <p:defaultTextStyle>
    <a:defPPr>
      <a:defRPr lang="en-US"/>
    </a:defPPr>
    <a:lvl1pPr algn="l" rtl="0" fontAlgn="base">
      <a:spcBef>
        <a:spcPct val="0"/>
      </a:spcBef>
      <a:spcAft>
        <a:spcPct val="0"/>
      </a:spcAft>
      <a:defRPr sz="2200" kern="1200">
        <a:solidFill>
          <a:schemeClr val="tx1"/>
        </a:solidFill>
        <a:latin typeface="Arial" charset="0"/>
        <a:ea typeface="+mn-ea"/>
        <a:cs typeface="+mn-cs"/>
      </a:defRPr>
    </a:lvl1pPr>
    <a:lvl2pPr marL="457200" algn="l" rtl="0" fontAlgn="base">
      <a:spcBef>
        <a:spcPct val="0"/>
      </a:spcBef>
      <a:spcAft>
        <a:spcPct val="0"/>
      </a:spcAft>
      <a:defRPr sz="2200" kern="1200">
        <a:solidFill>
          <a:schemeClr val="tx1"/>
        </a:solidFill>
        <a:latin typeface="Arial" charset="0"/>
        <a:ea typeface="+mn-ea"/>
        <a:cs typeface="+mn-cs"/>
      </a:defRPr>
    </a:lvl2pPr>
    <a:lvl3pPr marL="914400" algn="l" rtl="0" fontAlgn="base">
      <a:spcBef>
        <a:spcPct val="0"/>
      </a:spcBef>
      <a:spcAft>
        <a:spcPct val="0"/>
      </a:spcAft>
      <a:defRPr sz="2200" kern="1200">
        <a:solidFill>
          <a:schemeClr val="tx1"/>
        </a:solidFill>
        <a:latin typeface="Arial" charset="0"/>
        <a:ea typeface="+mn-ea"/>
        <a:cs typeface="+mn-cs"/>
      </a:defRPr>
    </a:lvl3pPr>
    <a:lvl4pPr marL="1371600" algn="l" rtl="0" fontAlgn="base">
      <a:spcBef>
        <a:spcPct val="0"/>
      </a:spcBef>
      <a:spcAft>
        <a:spcPct val="0"/>
      </a:spcAft>
      <a:defRPr sz="2200" kern="1200">
        <a:solidFill>
          <a:schemeClr val="tx1"/>
        </a:solidFill>
        <a:latin typeface="Arial" charset="0"/>
        <a:ea typeface="+mn-ea"/>
        <a:cs typeface="+mn-cs"/>
      </a:defRPr>
    </a:lvl4pPr>
    <a:lvl5pPr marL="1828800" algn="l" rtl="0" fontAlgn="base">
      <a:spcBef>
        <a:spcPct val="0"/>
      </a:spcBef>
      <a:spcAft>
        <a:spcPct val="0"/>
      </a:spcAft>
      <a:defRPr sz="2200" kern="1200">
        <a:solidFill>
          <a:schemeClr val="tx1"/>
        </a:solidFill>
        <a:latin typeface="Arial" charset="0"/>
        <a:ea typeface="+mn-ea"/>
        <a:cs typeface="+mn-cs"/>
      </a:defRPr>
    </a:lvl5pPr>
    <a:lvl6pPr marL="2286000" algn="l" defTabSz="914400" rtl="0" eaLnBrk="1" latinLnBrk="0" hangingPunct="1">
      <a:defRPr sz="2200" kern="1200">
        <a:solidFill>
          <a:schemeClr val="tx1"/>
        </a:solidFill>
        <a:latin typeface="Arial" charset="0"/>
        <a:ea typeface="+mn-ea"/>
        <a:cs typeface="+mn-cs"/>
      </a:defRPr>
    </a:lvl6pPr>
    <a:lvl7pPr marL="2743200" algn="l" defTabSz="914400" rtl="0" eaLnBrk="1" latinLnBrk="0" hangingPunct="1">
      <a:defRPr sz="2200" kern="1200">
        <a:solidFill>
          <a:schemeClr val="tx1"/>
        </a:solidFill>
        <a:latin typeface="Arial" charset="0"/>
        <a:ea typeface="+mn-ea"/>
        <a:cs typeface="+mn-cs"/>
      </a:defRPr>
    </a:lvl7pPr>
    <a:lvl8pPr marL="3200400" algn="l" defTabSz="914400" rtl="0" eaLnBrk="1" latinLnBrk="0" hangingPunct="1">
      <a:defRPr sz="2200" kern="1200">
        <a:solidFill>
          <a:schemeClr val="tx1"/>
        </a:solidFill>
        <a:latin typeface="Arial" charset="0"/>
        <a:ea typeface="+mn-ea"/>
        <a:cs typeface="+mn-cs"/>
      </a:defRPr>
    </a:lvl8pPr>
    <a:lvl9pPr marL="3657600" algn="l" defTabSz="914400" rtl="0" eaLnBrk="1" latinLnBrk="0" hangingPunct="1">
      <a:defRPr sz="22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1E3F2"/>
    <a:srgbClr val="A4D6EA"/>
    <a:srgbClr val="666699"/>
    <a:srgbClr val="5B53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837" autoAdjust="0"/>
    <p:restoredTop sz="86421" autoAdjust="0"/>
  </p:normalViewPr>
  <p:slideViewPr>
    <p:cSldViewPr>
      <p:cViewPr varScale="1">
        <p:scale>
          <a:sx n="96" d="100"/>
          <a:sy n="96" d="100"/>
        </p:scale>
        <p:origin x="1674" y="72"/>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1887"/>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handoutMaster" Target="handoutMasters/handout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28799455-E484-48D7-B4B2-27B4F840016D}" type="slidenum">
              <a:rPr lang="en-US"/>
              <a:pPr>
                <a:defRPr/>
              </a:pPr>
              <a:t>‹#›</a:t>
            </a:fld>
            <a:endParaRPr lang="en-US" dirty="0"/>
          </a:p>
        </p:txBody>
      </p:sp>
    </p:spTree>
    <p:extLst>
      <p:ext uri="{BB962C8B-B14F-4D97-AF65-F5344CB8AC3E}">
        <p14:creationId xmlns:p14="http://schemas.microsoft.com/office/powerpoint/2010/main" val="6490681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endParaRPr lang="en-US" dirty="0"/>
          </a:p>
        </p:txBody>
      </p:sp>
      <p:sp>
        <p:nvSpPr>
          <p:cNvPr id="62468"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a:latin typeface="Times New Roman" pitchFamily="18" charset="0"/>
              </a:defRPr>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atin typeface="Times New Roman" pitchFamily="18" charset="0"/>
              </a:defRPr>
            </a:lvl1pPr>
          </a:lstStyle>
          <a:p>
            <a:pPr>
              <a:defRPr/>
            </a:pPr>
            <a:fld id="{3184235F-ECE1-4BE8-8BAF-E29AC9805E20}" type="slidenum">
              <a:rPr lang="en-US"/>
              <a:pPr>
                <a:defRPr/>
              </a:pPr>
              <a:t>‹#›</a:t>
            </a:fld>
            <a:endParaRPr lang="en-US" dirty="0"/>
          </a:p>
        </p:txBody>
      </p:sp>
    </p:spTree>
    <p:extLst>
      <p:ext uri="{BB962C8B-B14F-4D97-AF65-F5344CB8AC3E}">
        <p14:creationId xmlns:p14="http://schemas.microsoft.com/office/powerpoint/2010/main" val="14039002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381000" y="685800"/>
            <a:ext cx="6096000" cy="3429000"/>
          </a:xfrm>
          <a:ln/>
        </p:spPr>
      </p:sp>
      <p:sp>
        <p:nvSpPr>
          <p:cNvPr id="59395" name="Notes Placeholder 2"/>
          <p:cNvSpPr>
            <a:spLocks noGrp="1"/>
          </p:cNvSpPr>
          <p:nvPr>
            <p:ph type="body" idx="1"/>
          </p:nvPr>
        </p:nvSpPr>
        <p:spPr>
          <a:noFill/>
          <a:ln/>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1" kern="1200" dirty="0">
              <a:solidFill>
                <a:schemeClr val="tx2"/>
              </a:solidFill>
              <a:effectLst>
                <a:outerShdw blurRad="38100" dist="38100" dir="2700000" algn="tl">
                  <a:srgbClr val="FFFFFF"/>
                </a:outerShdw>
              </a:effectLst>
              <a:latin typeface="Arial Rounded MT Bold" pitchFamily="34" charset="0"/>
              <a:ea typeface="+mn-ea"/>
              <a:cs typeface="+mn-cs"/>
            </a:endParaRPr>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solidFill>
                  <a:srgbClr val="000000"/>
                </a:solidFill>
              </a:rPr>
              <a:pPr/>
              <a:t>1</a:t>
            </a:fld>
            <a:endParaRPr lang="en-US" dirty="0">
              <a:solidFill>
                <a:srgbClr val="000000"/>
              </a:solidFill>
            </a:endParaRPr>
          </a:p>
        </p:txBody>
      </p:sp>
    </p:spTree>
    <p:extLst>
      <p:ext uri="{BB962C8B-B14F-4D97-AF65-F5344CB8AC3E}">
        <p14:creationId xmlns:p14="http://schemas.microsoft.com/office/powerpoint/2010/main" val="5215431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EE5422C-A3D6-4174-9638-FCF5DC56E597}"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9944E1B-9771-4FC4-AD8A-F994E9D70635}"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AEC6576-CCC7-4A49-9300-5D4A8C0C3FCD}"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F2CF7F4D-3FF6-43A6-95C4-A0F445624490}"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D369936D-4006-447B-98FA-06B4AD980D9C}"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6A05362-07AE-46AF-A279-AD4E819CBD93}"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9287C05-0F34-4950-B296-371F2131F88A}"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75E4512B-0B1B-484E-988E-3B1C4969C8AE}"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34E609A-7A24-4D1A-B4F5-D3869A206C5A}"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6247B4D-72BA-468E-AB16-795331F16CB3}"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AFD2FAD-FD06-4AA6-AC57-91F90138A9E0}"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ight Triangle 9"/>
          <p:cNvSpPr/>
          <p:nvPr/>
        </p:nvSpPr>
        <p:spPr>
          <a:xfrm>
            <a:off x="-2" y="4664147"/>
            <a:ext cx="12201452"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2200" dirty="0"/>
          </a:p>
        </p:txBody>
      </p:sp>
      <p:sp>
        <p:nvSpPr>
          <p:cNvPr id="9" name="Title 8"/>
          <p:cNvSpPr>
            <a:spLocks noGrp="1"/>
          </p:cNvSpPr>
          <p:nvPr>
            <p:ph type="ctrTitle"/>
          </p:nvPr>
        </p:nvSpPr>
        <p:spPr>
          <a:xfrm>
            <a:off x="914400" y="1752602"/>
            <a:ext cx="10363200" cy="1829761"/>
          </a:xfrm>
        </p:spPr>
        <p:txBody>
          <a:bodyPr vert="horz" anchor="b">
            <a:normAutofit/>
            <a:scene3d>
              <a:camera prst="orthographicFront"/>
              <a:lightRig rig="soft" dir="t"/>
            </a:scene3d>
            <a:sp3d prstMaterial="softEdge">
              <a:bevelT w="25400" h="25400"/>
            </a:sp3d>
          </a:bodyPr>
          <a:lstStyle>
            <a:lvl1pPr algn="r">
              <a:defRPr sz="4800" b="1">
                <a:solidFill>
                  <a:schemeClr val="tx2"/>
                </a:solidFill>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17" name="Subtitle 16"/>
          <p:cNvSpPr>
            <a:spLocks noGrp="1"/>
          </p:cNvSpPr>
          <p:nvPr>
            <p:ph type="subTitle" idx="1"/>
          </p:nvPr>
        </p:nvSpPr>
        <p:spPr>
          <a:xfrm>
            <a:off x="914400" y="3611607"/>
            <a:ext cx="10363200" cy="1199704"/>
          </a:xfrm>
        </p:spPr>
        <p:txBody>
          <a:bodyPr lIns="45720" rIns="45720"/>
          <a:lstStyle>
            <a:lvl1pPr marL="0" marR="64008" indent="0" algn="r">
              <a:buNone/>
              <a:defRPr>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n-US"/>
              <a:t>Click to edit Master subtitle style</a:t>
            </a:r>
          </a:p>
        </p:txBody>
      </p:sp>
      <p:grpSp>
        <p:nvGrpSpPr>
          <p:cNvPr id="2" name="Group 1"/>
          <p:cNvGrpSpPr/>
          <p:nvPr/>
        </p:nvGrpSpPr>
        <p:grpSpPr>
          <a:xfrm>
            <a:off x="-5019" y="4953000"/>
            <a:ext cx="12197020" cy="1912088"/>
            <a:chOff x="-3765" y="4832896"/>
            <a:chExt cx="9147765" cy="2032192"/>
          </a:xfrm>
        </p:grpSpPr>
        <p:sp>
          <p:nvSpPr>
            <p:cNvPr id="7" name="Freeform 6"/>
            <p:cNvSpPr>
              <a:spLocks/>
            </p:cNvSpPr>
            <p:nvPr/>
          </p:nvSpPr>
          <p:spPr bwMode="auto">
            <a:xfrm>
              <a:off x="1687513" y="4832896"/>
              <a:ext cx="7456487" cy="51881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2200" dirty="0"/>
            </a:p>
          </p:txBody>
        </p:sp>
        <p:sp>
          <p:nvSpPr>
            <p:cNvPr id="8" name="Freeform 7"/>
            <p:cNvSpPr>
              <a:spLocks/>
            </p:cNvSpPr>
            <p:nvPr/>
          </p:nvSpPr>
          <p:spPr bwMode="auto">
            <a:xfrm>
              <a:off x="35443" y="5135526"/>
              <a:ext cx="910855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0" y="0"/>
                  </a:moveTo>
                  <a:lnTo>
                    <a:pt x="5760" y="0"/>
                  </a:lnTo>
                  <a:lnTo>
                    <a:pt x="5760" y="528"/>
                  </a:lnTo>
                  <a:lnTo>
                    <a:pt x="48" y="0"/>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2200" dirty="0"/>
            </a:p>
          </p:txBody>
        </p:sp>
        <p:sp>
          <p:nvSpPr>
            <p:cNvPr id="11" name="Freeform 10"/>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2200" dirty="0"/>
            </a:p>
          </p:txBody>
        </p:sp>
        <p:cxnSp>
          <p:nvCxnSpPr>
            <p:cNvPr id="12" name="Straight Connector 11"/>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30" name="Date Placeholder 29"/>
          <p:cNvSpPr>
            <a:spLocks noGrp="1"/>
          </p:cNvSpPr>
          <p:nvPr>
            <p:ph type="dt" sz="half" idx="10"/>
          </p:nvPr>
        </p:nvSpPr>
        <p:spPr/>
        <p:txBody>
          <a:bodyPr/>
          <a:lstStyle>
            <a:lvl1pPr>
              <a:defRPr>
                <a:solidFill>
                  <a:srgbClr val="FFFFFF"/>
                </a:solidFill>
              </a:defRPr>
            </a:lvl1pPr>
            <a:extLst/>
          </a:lstStyle>
          <a:p>
            <a:pPr>
              <a:defRPr/>
            </a:pPr>
            <a:endParaRPr lang="en-US" dirty="0"/>
          </a:p>
        </p:txBody>
      </p:sp>
      <p:sp>
        <p:nvSpPr>
          <p:cNvPr id="19"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r>
              <a:rPr lang="en-US"/>
              <a:t>Information Technology Project Management, Eighth Edition</a:t>
            </a:r>
            <a:endParaRPr lang="en-US" dirty="0"/>
          </a:p>
        </p:txBody>
      </p:sp>
      <p:sp>
        <p:nvSpPr>
          <p:cNvPr id="27" name="Slide Number Placeholder 26"/>
          <p:cNvSpPr>
            <a:spLocks noGrp="1"/>
          </p:cNvSpPr>
          <p:nvPr>
            <p:ph type="sldNum" sz="quarter" idx="12"/>
          </p:nvPr>
        </p:nvSpPr>
        <p:spPr/>
        <p:txBody>
          <a:bodyPr/>
          <a:lstStyle>
            <a:lvl1pPr>
              <a:defRPr>
                <a:solidFill>
                  <a:srgbClr val="FFFFFF"/>
                </a:solidFill>
              </a:defRPr>
            </a:lvl1pPr>
            <a:extLst/>
          </a:lstStyle>
          <a:p>
            <a:pPr>
              <a:defRPr/>
            </a:pPr>
            <a:fld id="{07854DB3-7A57-4181-880A-5215D777BBA6}" type="slidenum">
              <a:rPr lang="en-US" smtClean="0"/>
              <a:pPr>
                <a:defRPr/>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1" y="6400801"/>
            <a:ext cx="3134241" cy="457200"/>
          </a:xfrm>
        </p:spPr>
        <p:txBody>
          <a:bodyPr/>
          <a:lstStyle>
            <a:lvl1pPr algn="l">
              <a:defRPr sz="1200"/>
            </a:lvl1pPr>
            <a:extLst/>
          </a:lstStyle>
          <a:p>
            <a:pPr>
              <a:defRPr/>
            </a:pPr>
            <a:r>
              <a:rPr lang="en-US" dirty="0"/>
              <a:t>Information Technology Project Management, Eighth Edition</a:t>
            </a:r>
          </a:p>
        </p:txBody>
      </p:sp>
      <p:sp>
        <p:nvSpPr>
          <p:cNvPr id="6" name="Slide Number Placeholder 5"/>
          <p:cNvSpPr>
            <a:spLocks noGrp="1"/>
          </p:cNvSpPr>
          <p:nvPr>
            <p:ph type="sldNum" sz="quarter" idx="12"/>
          </p:nvPr>
        </p:nvSpPr>
        <p:spPr>
          <a:xfrm>
            <a:off x="11480800" y="6492876"/>
            <a:ext cx="711200" cy="365125"/>
          </a:xfrm>
        </p:spPr>
        <p:txBody>
          <a:bodyPr/>
          <a:lstStyle>
            <a:lvl1pPr>
              <a:defRPr sz="1200"/>
            </a:lvl1pPr>
            <a:extLst/>
          </a:lstStyle>
          <a:p>
            <a:pPr>
              <a:defRPr/>
            </a:pPr>
            <a:fld id="{1953F6A9-037C-4679-A974-5A2F60203CED}" type="slidenum">
              <a:rPr lang="en-US" smtClean="0"/>
              <a:pPr>
                <a:defRPr/>
              </a:pPr>
              <a:t>‹#›</a:t>
            </a:fld>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6502400" y="6581002"/>
            <a:ext cx="1223412" cy="276999"/>
          </a:xfrm>
          <a:prstGeom prst="rect">
            <a:avLst/>
          </a:prstGeom>
          <a:noFill/>
        </p:spPr>
        <p:txBody>
          <a:bodyPr wrap="none" rtlCol="0">
            <a:spAutoFit/>
          </a:bodyPr>
          <a:lstStyle/>
          <a:p>
            <a:r>
              <a:rPr lang="en-US" sz="1200" dirty="0"/>
              <a:t>Copyright 2016</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and 2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481329"/>
            <a:ext cx="10972800" cy="2023872"/>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5" name="Footer Placeholder 4"/>
          <p:cNvSpPr>
            <a:spLocks noGrp="1"/>
          </p:cNvSpPr>
          <p:nvPr>
            <p:ph type="ftr" sz="quarter" idx="11"/>
          </p:nvPr>
        </p:nvSpPr>
        <p:spPr>
          <a:xfrm>
            <a:off x="1" y="6324601"/>
            <a:ext cx="3134241" cy="533400"/>
          </a:xfrm>
        </p:spPr>
        <p:txBody>
          <a:bodyPr/>
          <a:lstStyle>
            <a:lvl1pPr algn="l">
              <a:defRPr sz="1200"/>
            </a:lvl1pPr>
            <a:extLst/>
          </a:lstStyle>
          <a:p>
            <a:pPr>
              <a:defRPr/>
            </a:pPr>
            <a:r>
              <a:rPr lang="en-US" dirty="0"/>
              <a:t>Information Technology Project Management, Eighth Edition</a:t>
            </a:r>
          </a:p>
        </p:txBody>
      </p:sp>
      <p:sp>
        <p:nvSpPr>
          <p:cNvPr id="6" name="Slide Number Placeholder 5"/>
          <p:cNvSpPr>
            <a:spLocks noGrp="1"/>
          </p:cNvSpPr>
          <p:nvPr>
            <p:ph type="sldNum" sz="quarter" idx="12"/>
          </p:nvPr>
        </p:nvSpPr>
        <p:spPr>
          <a:xfrm>
            <a:off x="11480800" y="6492876"/>
            <a:ext cx="711200" cy="365125"/>
          </a:xfrm>
        </p:spPr>
        <p:txBody>
          <a:bodyPr/>
          <a:lstStyle>
            <a:lvl1pPr>
              <a:defRPr sz="1200"/>
            </a:lvl1pPr>
            <a:extLst/>
          </a:lstStyle>
          <a:p>
            <a:pPr>
              <a:defRPr/>
            </a:pPr>
            <a:fld id="{1953F6A9-037C-4679-A974-5A2F60203CED}" type="slidenum">
              <a:rPr lang="en-US" smtClean="0"/>
              <a:pPr>
                <a:defRPr/>
              </a:pPr>
              <a:t>‹#›</a:t>
            </a:fld>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kumimoji="0" lang="en-US" dirty="0"/>
              <a:t>Click to edit Master title style</a:t>
            </a:r>
          </a:p>
        </p:txBody>
      </p:sp>
      <p:sp>
        <p:nvSpPr>
          <p:cNvPr id="8" name="TextBox 7"/>
          <p:cNvSpPr txBox="1"/>
          <p:nvPr userDrawn="1"/>
        </p:nvSpPr>
        <p:spPr>
          <a:xfrm>
            <a:off x="6502400" y="6581002"/>
            <a:ext cx="1223412" cy="276999"/>
          </a:xfrm>
          <a:prstGeom prst="rect">
            <a:avLst/>
          </a:prstGeom>
          <a:noFill/>
        </p:spPr>
        <p:txBody>
          <a:bodyPr wrap="none" rtlCol="0">
            <a:spAutoFit/>
          </a:bodyPr>
          <a:lstStyle/>
          <a:p>
            <a:r>
              <a:rPr lang="en-US" sz="1200" dirty="0"/>
              <a:t>Copyright 2016</a:t>
            </a:r>
          </a:p>
        </p:txBody>
      </p:sp>
      <p:sp>
        <p:nvSpPr>
          <p:cNvPr id="9" name="Content Placeholder 2"/>
          <p:cNvSpPr>
            <a:spLocks noGrp="1"/>
          </p:cNvSpPr>
          <p:nvPr>
            <p:ph idx="13"/>
          </p:nvPr>
        </p:nvSpPr>
        <p:spPr>
          <a:xfrm>
            <a:off x="609600" y="3568893"/>
            <a:ext cx="10972800" cy="2438399"/>
          </a:xfrm>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Tree>
    <p:extLst>
      <p:ext uri="{BB962C8B-B14F-4D97-AF65-F5344CB8AC3E}">
        <p14:creationId xmlns:p14="http://schemas.microsoft.com/office/powerpoint/2010/main" val="368120132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963168" y="1059712"/>
            <a:ext cx="10363200" cy="1828800"/>
          </a:xfrm>
        </p:spPr>
        <p:txBody>
          <a:bodyPr vert="horz" anchor="b">
            <a:normAutofit/>
            <a:scene3d>
              <a:camera prst="orthographicFront"/>
              <a:lightRig rig="soft" dir="t"/>
            </a:scene3d>
            <a:sp3d prstMaterial="softEdge">
              <a:bevelT w="25400" h="25400"/>
            </a:sp3d>
          </a:bodyPr>
          <a:lstStyle>
            <a:lvl1pPr algn="r">
              <a:buNone/>
              <a:defRPr sz="4800" b="1" cap="none" baseline="0">
                <a:effectLst>
                  <a:outerShdw blurRad="31750" dist="25400" dir="5400000" algn="tl" rotWithShape="0">
                    <a:srgbClr val="000000">
                      <a:alpha val="25000"/>
                    </a:srgbClr>
                  </a:outerShdw>
                </a:effectLst>
              </a:defRPr>
            </a:lvl1pPr>
            <a:extLst/>
          </a:lstStyle>
          <a:p>
            <a:r>
              <a:rPr kumimoji="0" lang="en-US"/>
              <a:t>Click to edit Master title style</a:t>
            </a:r>
          </a:p>
        </p:txBody>
      </p:sp>
      <p:sp>
        <p:nvSpPr>
          <p:cNvPr id="3" name="Text Placeholder 2"/>
          <p:cNvSpPr>
            <a:spLocks noGrp="1"/>
          </p:cNvSpPr>
          <p:nvPr>
            <p:ph type="body" idx="1"/>
          </p:nvPr>
        </p:nvSpPr>
        <p:spPr>
          <a:xfrm>
            <a:off x="5230284" y="2931712"/>
            <a:ext cx="6096000" cy="1454888"/>
          </a:xfrm>
        </p:spPr>
        <p:txBody>
          <a:bodyPr lIns="91440" rIns="91440" anchor="t"/>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n-US"/>
              <a:t>Click to edit Master text styles</a:t>
            </a:r>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p>
            <a:pPr>
              <a:defRPr/>
            </a:pPr>
            <a:fld id="{27673681-C82D-4D99-8948-365C75EB26F8}" type="slidenum">
              <a:rPr lang="en-US" smtClean="0"/>
              <a:pPr>
                <a:defRPr/>
              </a:pPr>
              <a:t>‹#›</a:t>
            </a:fld>
            <a:endParaRPr lang="en-US" dirty="0"/>
          </a:p>
        </p:txBody>
      </p:sp>
      <p:sp>
        <p:nvSpPr>
          <p:cNvPr id="7" name="Chevron 6"/>
          <p:cNvSpPr/>
          <p:nvPr/>
        </p:nvSpPr>
        <p:spPr>
          <a:xfrm>
            <a:off x="4848907"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2200" dirty="0"/>
          </a:p>
        </p:txBody>
      </p:sp>
      <p:sp>
        <p:nvSpPr>
          <p:cNvPr id="8" name="Chevron 7"/>
          <p:cNvSpPr/>
          <p:nvPr/>
        </p:nvSpPr>
        <p:spPr>
          <a:xfrm>
            <a:off x="4600352" y="3005472"/>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2200" dirty="0"/>
          </a:p>
        </p:txBody>
      </p:sp>
    </p:spTree>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bg>
      <p:bgRef idx="1002">
        <a:schemeClr val="bg1"/>
      </p:bgRef>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609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6197600" y="1481329"/>
            <a:ext cx="5384800" cy="4525963"/>
          </a:xfrm>
        </p:spPr>
        <p:txBody>
          <a:bodyPr/>
          <a:lstStyle>
            <a:lvl1pPr>
              <a:defRPr sz="2800"/>
            </a:lvl1pPr>
            <a:lvl2pPr>
              <a:defRPr sz="2400"/>
            </a:lvl2pPr>
            <a:lvl3pPr>
              <a:defRPr sz="2000"/>
            </a:lvl3pPr>
            <a:lvl4pPr>
              <a:defRPr sz="1800"/>
            </a:lvl4pPr>
            <a:lvl5pPr>
              <a:defRPr sz="18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7" name="Slide Number Placeholder 6"/>
          <p:cNvSpPr>
            <a:spLocks noGrp="1"/>
          </p:cNvSpPr>
          <p:nvPr>
            <p:ph type="sldNum" sz="quarter" idx="12"/>
          </p:nvPr>
        </p:nvSpPr>
        <p:spPr/>
        <p:txBody>
          <a:bodyPr/>
          <a:lstStyle/>
          <a:p>
            <a:pPr>
              <a:defRPr/>
            </a:pPr>
            <a:fld id="{DA50FAF7-8C0D-4DDF-A379-F4FDC17B23A3}" type="slidenum">
              <a:rPr lang="en-US" smtClean="0"/>
              <a:pPr>
                <a:defRPr/>
              </a:pPr>
              <a:t>‹#›</a:t>
            </a:fld>
            <a:endParaRPr lang="en-US" dirty="0"/>
          </a:p>
        </p:txBody>
      </p:sp>
      <p:sp>
        <p:nvSpPr>
          <p:cNvPr id="8" name="Title 7"/>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972800" cy="1143000"/>
          </a:xfrm>
        </p:spPr>
        <p:txBody>
          <a:bodyPr anchor="ctr"/>
          <a:lstStyle>
            <a:lvl1pPr>
              <a:defRPr/>
            </a:lvl1pPr>
            <a:extLst/>
          </a:lstStyle>
          <a:p>
            <a:r>
              <a:rPr kumimoji="0" lang="en-US"/>
              <a:t>Click to edit Master title style</a:t>
            </a:r>
          </a:p>
        </p:txBody>
      </p:sp>
      <p:sp>
        <p:nvSpPr>
          <p:cNvPr id="3" name="Text Placeholder 2"/>
          <p:cNvSpPr>
            <a:spLocks noGrp="1"/>
          </p:cNvSpPr>
          <p:nvPr>
            <p:ph type="body" idx="1"/>
          </p:nvPr>
        </p:nvSpPr>
        <p:spPr>
          <a:xfrm>
            <a:off x="609600" y="5410200"/>
            <a:ext cx="5386917"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4" name="Text Placeholder 3"/>
          <p:cNvSpPr>
            <a:spLocks noGrp="1"/>
          </p:cNvSpPr>
          <p:nvPr>
            <p:ph type="body" sz="half" idx="3"/>
          </p:nvPr>
        </p:nvSpPr>
        <p:spPr>
          <a:xfrm>
            <a:off x="6193369" y="5410200"/>
            <a:ext cx="5389033"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n-US"/>
              <a:t>Click to edit Master text styles</a:t>
            </a:r>
          </a:p>
        </p:txBody>
      </p:sp>
      <p:sp>
        <p:nvSpPr>
          <p:cNvPr id="5" name="Content Placeholder 4"/>
          <p:cNvSpPr>
            <a:spLocks noGrp="1"/>
          </p:cNvSpPr>
          <p:nvPr>
            <p:ph sz="quarter" idx="2"/>
          </p:nvPr>
        </p:nvSpPr>
        <p:spPr>
          <a:xfrm>
            <a:off x="609600" y="1444295"/>
            <a:ext cx="5386917"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6" name="Content Placeholder 5"/>
          <p:cNvSpPr>
            <a:spLocks noGrp="1"/>
          </p:cNvSpPr>
          <p:nvPr>
            <p:ph sz="quarter" idx="4"/>
          </p:nvPr>
        </p:nvSpPr>
        <p:spPr>
          <a:xfrm>
            <a:off x="6193368" y="1444295"/>
            <a:ext cx="5389033"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pPr>
              <a:defRPr/>
            </a:pPr>
            <a:endParaRPr lang="en-US" dirty="0"/>
          </a:p>
        </p:txBody>
      </p:sp>
      <p:sp>
        <p:nvSpPr>
          <p:cNvPr id="8" name="Footer Placeholder 7"/>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9" name="Slide Number Placeholder 8"/>
          <p:cNvSpPr>
            <a:spLocks noGrp="1"/>
          </p:cNvSpPr>
          <p:nvPr>
            <p:ph type="sldNum" sz="quarter" idx="12"/>
          </p:nvPr>
        </p:nvSpPr>
        <p:spPr/>
        <p:txBody>
          <a:bodyPr/>
          <a:lstStyle/>
          <a:p>
            <a:pPr>
              <a:defRPr/>
            </a:pPr>
            <a:fld id="{B06E41F8-23B9-454D-90CC-E31BF8A7FBCB}"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bg>
      <p:bgRef idx="1002">
        <a:schemeClr val="bg1"/>
      </p:bgRef>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pPr>
              <a:defRPr/>
            </a:pPr>
            <a:endParaRPr lang="en-US" dirty="0"/>
          </a:p>
        </p:txBody>
      </p:sp>
      <p:sp>
        <p:nvSpPr>
          <p:cNvPr id="4" name="Footer Placeholder 3"/>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CAB078C3-AD74-4C69-8529-ABFACC42093C}" type="slidenum">
              <a:rPr lang="en-US" smtClean="0"/>
              <a:pPr>
                <a:defRPr/>
              </a:pPr>
              <a:t>‹#›</a:t>
            </a:fld>
            <a:endParaRPr lang="en-US" dirty="0"/>
          </a:p>
        </p:txBody>
      </p:sp>
      <p:sp>
        <p:nvSpPr>
          <p:cNvPr id="6" name="Title 5"/>
          <p:cNvSpPr>
            <a:spLocks noGrp="1"/>
          </p:cNvSpPr>
          <p:nvPr>
            <p:ph type="title"/>
          </p:nvPr>
        </p:nvSpPr>
        <p:spPr/>
        <p:txBody>
          <a:bodyPr rtlCol="0"/>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p:cNvSpPr>
            <a:spLocks noGrp="1"/>
          </p:cNvSpPr>
          <p:nvPr>
            <p:ph type="sldNum" sz="quarter" idx="12"/>
          </p:nvPr>
        </p:nvSpPr>
        <p:spPr/>
        <p:txBody>
          <a:bodyPr/>
          <a:lstStyle/>
          <a:p>
            <a:pPr>
              <a:defRPr/>
            </a:pPr>
            <a:fld id="{F6D544F7-41D2-4889-B2EC-B0B2B2B8DC54}" type="slidenum">
              <a:rPr lang="en-US" smtClean="0"/>
              <a:pPr>
                <a:defRPr/>
              </a:pPr>
              <a:t>‹#›</a:t>
            </a:fld>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4876800"/>
            <a:ext cx="9975701" cy="457200"/>
          </a:xfrm>
        </p:spPr>
        <p:txBody>
          <a:bodyPr vert="horz" anchor="t">
            <a:noAutofit/>
            <a:sp3d prstMaterial="softEdge">
              <a:bevelT w="0" h="0"/>
            </a:sp3d>
          </a:bodyPr>
          <a:lstStyle>
            <a:lvl1pPr algn="r">
              <a:buNone/>
              <a:defRPr sz="2500" b="0">
                <a:solidFill>
                  <a:schemeClr val="accent1"/>
                </a:solidFill>
                <a:effectLst/>
              </a:defRPr>
            </a:lvl1pPr>
            <a:extLst/>
          </a:lstStyle>
          <a:p>
            <a:r>
              <a:rPr kumimoji="0" lang="en-US"/>
              <a:t>Click to edit Master title style</a:t>
            </a:r>
          </a:p>
        </p:txBody>
      </p:sp>
      <p:sp>
        <p:nvSpPr>
          <p:cNvPr id="3" name="Text Placeholder 2"/>
          <p:cNvSpPr>
            <a:spLocks noGrp="1"/>
          </p:cNvSpPr>
          <p:nvPr>
            <p:ph type="body" idx="2"/>
          </p:nvPr>
        </p:nvSpPr>
        <p:spPr>
          <a:xfrm>
            <a:off x="5892800" y="5355102"/>
            <a:ext cx="5299456"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eaLnBrk="1" latinLnBrk="0" hangingPunct="1"/>
            <a:r>
              <a:rPr kumimoji="0" lang="en-US"/>
              <a:t>Click to edit Master text styles</a:t>
            </a:r>
          </a:p>
        </p:txBody>
      </p:sp>
      <p:sp>
        <p:nvSpPr>
          <p:cNvPr id="4" name="Content Placeholder 3"/>
          <p:cNvSpPr>
            <a:spLocks noGrp="1"/>
          </p:cNvSpPr>
          <p:nvPr>
            <p:ph sz="half" idx="1"/>
          </p:nvPr>
        </p:nvSpPr>
        <p:spPr>
          <a:xfrm>
            <a:off x="1219200" y="274320"/>
            <a:ext cx="9973056" cy="4572000"/>
          </a:xfrm>
        </p:spPr>
        <p:txBody>
          <a:bodyPr/>
          <a:lstStyle>
            <a:lvl1pPr>
              <a:defRPr sz="3200"/>
            </a:lvl1pPr>
            <a:lvl2pPr>
              <a:defRPr sz="2800"/>
            </a:lvl2pPr>
            <a:lvl3pPr>
              <a:defRPr sz="2400"/>
            </a:lvl3pPr>
            <a:lvl4pPr>
              <a:defRPr sz="2000"/>
            </a:lvl4pPr>
            <a:lvl5pPr>
              <a:defRPr sz="2000"/>
            </a:lvl5pPr>
            <a:extLs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a:xfrm>
            <a:off x="8969376" y="6407944"/>
            <a:ext cx="2560320" cy="365760"/>
          </a:xfrm>
        </p:spPr>
        <p:txBody>
          <a:bodyPr/>
          <a:lstStyle/>
          <a:p>
            <a:pPr>
              <a:defRPr/>
            </a:pPr>
            <a:endParaRPr lang="en-US" dirty="0"/>
          </a:p>
        </p:txBody>
      </p:sp>
      <p:sp>
        <p:nvSpPr>
          <p:cNvPr id="6" name="Footer Placeholder 5"/>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7" name="Slide Number Placeholder 6"/>
          <p:cNvSpPr>
            <a:spLocks noGrp="1"/>
          </p:cNvSpPr>
          <p:nvPr>
            <p:ph type="sldNum" sz="quarter" idx="12"/>
          </p:nvPr>
        </p:nvSpPr>
        <p:spPr/>
        <p:txBody>
          <a:bodyPr/>
          <a:lstStyle/>
          <a:p>
            <a:pPr>
              <a:defRPr/>
            </a:pPr>
            <a:fld id="{65EE8385-873D-4308-8CE2-51B606282F1A}" type="slidenum">
              <a:rPr lang="en-US" smtClean="0"/>
              <a:pPr>
                <a:defRPr/>
              </a:pPr>
              <a:t>‹#›</a:t>
            </a:fld>
            <a:endParaRPr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2">
        <a:schemeClr val="bg1"/>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521643" y="5443402"/>
            <a:ext cx="9550400" cy="648232"/>
          </a:xfrm>
          <a:noFill/>
        </p:spPr>
        <p:txBody>
          <a:bodyPr lIns="91440" tIns="0" rIns="91440" anchor="t"/>
          <a:lstStyle>
            <a:lvl1pPr marL="0" marR="18288" indent="0" algn="r">
              <a:buNone/>
              <a:defRPr sz="1400"/>
            </a:lvl1pPr>
            <a:lvl2pPr>
              <a:defRPr sz="1200"/>
            </a:lvl2pPr>
            <a:lvl3pPr>
              <a:defRPr sz="1000"/>
            </a:lvl3pPr>
            <a:lvl4pPr>
              <a:defRPr sz="900"/>
            </a:lvl4pPr>
            <a:lvl5pPr>
              <a:defRPr sz="900"/>
            </a:lvl5pPr>
            <a:extLst/>
          </a:lstStyle>
          <a:p>
            <a:pPr lvl="0" eaLnBrk="1" latinLnBrk="0" hangingPunct="1"/>
            <a:r>
              <a:rPr kumimoji="0" lang="en-US"/>
              <a:t>Click to edit Master text styles</a:t>
            </a:r>
          </a:p>
        </p:txBody>
      </p:sp>
      <p:sp>
        <p:nvSpPr>
          <p:cNvPr id="3" name="Picture Placeholder 2"/>
          <p:cNvSpPr>
            <a:spLocks noGrp="1"/>
          </p:cNvSpPr>
          <p:nvPr>
            <p:ph type="pic" idx="1"/>
          </p:nvPr>
        </p:nvSpPr>
        <p:spPr>
          <a:xfrm>
            <a:off x="304800" y="189968"/>
            <a:ext cx="11582400" cy="4389120"/>
          </a:xfrm>
          <a:prstGeom prst="rect">
            <a:avLst/>
          </a:prstGeom>
          <a:solidFill>
            <a:schemeClr val="bg2"/>
          </a:solidFill>
          <a:ln>
            <a:solidFill>
              <a:schemeClr val="bg1"/>
            </a:solidFill>
          </a:ln>
          <a:effectLst>
            <a:innerShdw blurRad="95250">
              <a:srgbClr val="000000"/>
            </a:innerShdw>
          </a:effectLst>
        </p:spPr>
        <p:txBody>
          <a:bodyPr/>
          <a:lstStyle>
            <a:lvl1pPr marL="0" indent="0">
              <a:buNone/>
              <a:defRPr sz="3200"/>
            </a:lvl1pPr>
            <a:extLst/>
          </a:lstStyle>
          <a:p>
            <a:r>
              <a:rPr kumimoji="0" lang="en-US" dirty="0"/>
              <a:t>Click icon to add picture</a:t>
            </a:r>
          </a:p>
        </p:txBody>
      </p:sp>
      <p:sp>
        <p:nvSpPr>
          <p:cNvPr id="5" name="Date Placeholder 4"/>
          <p:cNvSpPr>
            <a:spLocks noGrp="1"/>
          </p:cNvSpPr>
          <p:nvPr>
            <p:ph type="dt" sz="half" idx="10"/>
          </p:nvPr>
        </p:nvSpPr>
        <p:spPr/>
        <p:txBody>
          <a:bodyPr/>
          <a:lstStyle>
            <a:lvl1pPr>
              <a:defRPr>
                <a:solidFill>
                  <a:schemeClr val="tx1"/>
                </a:solidFill>
              </a:defRPr>
            </a:lvl1pPr>
            <a:extLst/>
          </a:lstStyle>
          <a:p>
            <a:pPr>
              <a:defRPr/>
            </a:pPr>
            <a:endParaRPr lang="en-US" dirty="0"/>
          </a:p>
        </p:txBody>
      </p:sp>
      <p:sp>
        <p:nvSpPr>
          <p:cNvPr id="6" name="Footer Placeholder 5"/>
          <p:cNvSpPr>
            <a:spLocks noGrp="1"/>
          </p:cNvSpPr>
          <p:nvPr>
            <p:ph type="ftr" sz="quarter" idx="11"/>
          </p:nvPr>
        </p:nvSpPr>
        <p:spPr>
          <a:xfrm>
            <a:off x="5840097" y="6407945"/>
            <a:ext cx="3134241" cy="365125"/>
          </a:xfrm>
        </p:spPr>
        <p:txBody>
          <a:bodyPr/>
          <a:lstStyle>
            <a:lvl1pPr>
              <a:defRPr>
                <a:solidFill>
                  <a:schemeClr val="tx1"/>
                </a:solidFill>
              </a:defRPr>
            </a:lvl1pPr>
            <a:extLst/>
          </a:lstStyle>
          <a:p>
            <a:pPr>
              <a:defRPr/>
            </a:pPr>
            <a:r>
              <a:rPr lang="en-US"/>
              <a:t>Information Technology Project Management, Eighth Edition</a:t>
            </a:r>
            <a:endParaRPr lang="en-US" dirty="0"/>
          </a:p>
        </p:txBody>
      </p:sp>
      <p:sp>
        <p:nvSpPr>
          <p:cNvPr id="7" name="Slide Number Placeholder 6"/>
          <p:cNvSpPr>
            <a:spLocks noGrp="1"/>
          </p:cNvSpPr>
          <p:nvPr>
            <p:ph type="sldNum" sz="quarter" idx="12"/>
          </p:nvPr>
        </p:nvSpPr>
        <p:spPr/>
        <p:txBody>
          <a:bodyPr/>
          <a:lstStyle>
            <a:lvl1pPr>
              <a:defRPr>
                <a:solidFill>
                  <a:schemeClr val="tx1"/>
                </a:solidFill>
              </a:defRPr>
            </a:lvl1pPr>
            <a:extLst/>
          </a:lstStyle>
          <a:p>
            <a:pPr>
              <a:defRPr/>
            </a:pPr>
            <a:fld id="{2917F4C6-6F30-47C3-875F-46DAC858CAAF}" type="slidenum">
              <a:rPr lang="en-US" smtClean="0"/>
              <a:pPr>
                <a:defRPr/>
              </a:pPr>
              <a:t>‹#›</a:t>
            </a:fld>
            <a:endParaRPr lang="en-US" dirty="0"/>
          </a:p>
        </p:txBody>
      </p:sp>
      <p:sp>
        <p:nvSpPr>
          <p:cNvPr id="2" name="Title 1"/>
          <p:cNvSpPr>
            <a:spLocks noGrp="1"/>
          </p:cNvSpPr>
          <p:nvPr>
            <p:ph type="title"/>
          </p:nvPr>
        </p:nvSpPr>
        <p:spPr>
          <a:xfrm>
            <a:off x="304800" y="4865122"/>
            <a:ext cx="10767243"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kumimoji="0" lang="en-US"/>
              <a:t>Click to edit Master title style</a:t>
            </a:r>
          </a:p>
        </p:txBody>
      </p:sp>
      <p:sp>
        <p:nvSpPr>
          <p:cNvPr id="8" name="Freeform 7"/>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2200" dirty="0"/>
          </a:p>
        </p:txBody>
      </p:sp>
      <p:sp>
        <p:nvSpPr>
          <p:cNvPr id="9" name="Freeform 8"/>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2200" dirty="0"/>
          </a:p>
        </p:txBody>
      </p:sp>
      <p:sp>
        <p:nvSpPr>
          <p:cNvPr id="10" name="Right Triangle 9"/>
          <p:cNvSpPr>
            <a:spLocks/>
          </p:cNvSpPr>
          <p:nvPr/>
        </p:nvSpPr>
        <p:spPr bwMode="auto">
          <a:xfrm>
            <a:off x="-8056" y="5791253"/>
            <a:ext cx="4536419" cy="1080868"/>
          </a:xfrm>
          <a:prstGeom prst="rtTriangle">
            <a:avLst/>
          </a:prstGeom>
          <a:blipFill>
            <a:blip r:embed="rId2">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2200" dirty="0"/>
          </a:p>
        </p:txBody>
      </p:sp>
      <p:cxnSp>
        <p:nvCxnSpPr>
          <p:cNvPr id="11" name="Straight Connector 10"/>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12" name="Chevron 11"/>
          <p:cNvSpPr/>
          <p:nvPr/>
        </p:nvSpPr>
        <p:spPr>
          <a:xfrm>
            <a:off x="11552149"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2200" dirty="0"/>
          </a:p>
        </p:txBody>
      </p:sp>
      <p:sp>
        <p:nvSpPr>
          <p:cNvPr id="13" name="Chevron 12"/>
          <p:cNvSpPr/>
          <p:nvPr/>
        </p:nvSpPr>
        <p:spPr>
          <a:xfrm>
            <a:off x="11303595" y="4988440"/>
            <a:ext cx="24384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algn="l" eaLnBrk="1" latinLnBrk="0" hangingPunct="1"/>
            <a:endParaRPr kumimoji="0" lang="en-US" sz="2200" dirty="0"/>
          </a:p>
        </p:txBody>
      </p:sp>
    </p:spTree>
  </p:cSld>
  <p:clrMapOvr>
    <a:overrideClrMapping bg1="dk1" tx1="lt1" bg2="dk2" tx2="lt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a:xfrm>
            <a:off x="609600" y="1481330"/>
            <a:ext cx="10972800" cy="4386071"/>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p>
            <a:pPr>
              <a:defRPr/>
            </a:pPr>
            <a:fld id="{13418779-1B42-43E3-AD0F-719051D42099}" type="slidenum">
              <a:rPr lang="en-US" smtClean="0"/>
              <a:pPr>
                <a:defRPr/>
              </a:pPr>
              <a:t>‹#›</a:t>
            </a:fld>
            <a:endParaRPr 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25351" y="274641"/>
            <a:ext cx="2369960" cy="5592761"/>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41"/>
            <a:ext cx="8432800" cy="5592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12"/>
          </p:nvPr>
        </p:nvSpPr>
        <p:spPr/>
        <p:txBody>
          <a:bodyPr/>
          <a:lstStyle/>
          <a:p>
            <a:pPr>
              <a:defRPr/>
            </a:pPr>
            <a:fld id="{D078B0EE-74BD-464F-A113-BF9301018BFA}" type="slidenum">
              <a:rPr lang="en-US" smtClean="0"/>
              <a:pPr>
                <a:defRPr/>
              </a:pPr>
              <a:t>‹#›</a:t>
            </a:fld>
            <a:endParaRPr 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r>
              <a:rPr lang="en-US">
                <a:solidFill>
                  <a:srgbClr val="2DA2BF">
                    <a:tint val="20000"/>
                  </a:srgbClr>
                </a:solidFill>
              </a:rPr>
              <a:t>Information Technology Project Management, Eighth Edition</a:t>
            </a:r>
            <a:endParaRPr lang="en-US" dirty="0">
              <a:solidFill>
                <a:srgbClr val="2DA2BF">
                  <a:tint val="20000"/>
                </a:srgbClr>
              </a:solidFill>
            </a:endParaRPr>
          </a:p>
        </p:txBody>
      </p:sp>
      <p:sp>
        <p:nvSpPr>
          <p:cNvPr id="6" name="Slide Number Placeholder 5"/>
          <p:cNvSpPr>
            <a:spLocks noGrp="1"/>
          </p:cNvSpPr>
          <p:nvPr>
            <p:ph type="sldNum" sz="quarter" idx="12"/>
          </p:nvPr>
        </p:nvSpPr>
        <p:spPr/>
        <p:txBody>
          <a:bodyPr/>
          <a:lstStyle/>
          <a:p>
            <a:pPr>
              <a:defRPr/>
            </a:pPr>
            <a:fld id="{99C9FF7E-57B2-43A2-BA09-B73DB1F96FF2}" type="slidenum">
              <a:rPr lang="en-US" smtClean="0"/>
              <a:pPr>
                <a:defRPr/>
              </a:pPr>
              <a:t>‹#›</a:t>
            </a:fld>
            <a:endParaRPr lang="en-US" dirty="0"/>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07689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3E28D29-1ECB-41DF-951B-2A23F95AD026}" type="datetimeFigureOut">
              <a:rPr lang="en-US" smtClean="0"/>
              <a:t>9/21/2025</a:t>
            </a:fld>
            <a:endParaRPr lang="en-US" dirty="0"/>
          </a:p>
        </p:txBody>
      </p:sp>
      <p:sp>
        <p:nvSpPr>
          <p:cNvPr id="5" name="Footer Placeholder 4"/>
          <p:cNvSpPr>
            <a:spLocks noGrp="1"/>
          </p:cNvSpPr>
          <p:nvPr>
            <p:ph type="ftr" sz="quarter" idx="11"/>
          </p:nvPr>
        </p:nvSpPr>
        <p:spPr/>
        <p:txBody>
          <a:bodyPr/>
          <a:lstStyle/>
          <a:p>
            <a:pPr>
              <a:defRPr/>
            </a:pPr>
            <a:r>
              <a:rPr lang="en-US">
                <a:solidFill>
                  <a:prstClr val="black"/>
                </a:solidFill>
              </a:rPr>
              <a:t>Information Technology Project Management, Eighth Edition</a:t>
            </a:r>
            <a:endParaRPr lang="en-US" dirty="0">
              <a:solidFill>
                <a:prstClr val="black"/>
              </a:solidFill>
            </a:endParaRPr>
          </a:p>
        </p:txBody>
      </p:sp>
      <p:sp>
        <p:nvSpPr>
          <p:cNvPr id="6" name="Slide Number Placeholder 5"/>
          <p:cNvSpPr>
            <a:spLocks noGrp="1"/>
          </p:cNvSpPr>
          <p:nvPr>
            <p:ph type="sldNum" sz="quarter" idx="12"/>
          </p:nvPr>
        </p:nvSpPr>
        <p:spPr/>
        <p:txBody>
          <a:bodyPr/>
          <a:lstStyle/>
          <a:p>
            <a:pPr>
              <a:defRPr/>
            </a:pPr>
            <a:fld id="{D4FD9659-824B-46C0-8A9A-C90F38C1F825}"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08182333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pPr>
              <a:defRPr/>
            </a:pPr>
            <a:endParaRPr lang="en-US" dirty="0">
              <a:solidFill>
                <a:prstClr val="white"/>
              </a:solidFill>
            </a:endParaRPr>
          </a:p>
        </p:txBody>
      </p:sp>
      <p:sp>
        <p:nvSpPr>
          <p:cNvPr id="5" name="Footer Placeholder 4"/>
          <p:cNvSpPr>
            <a:spLocks noGrp="1"/>
          </p:cNvSpPr>
          <p:nvPr>
            <p:ph type="ftr" sz="quarter" idx="11"/>
          </p:nvPr>
        </p:nvSpPr>
        <p:spPr/>
        <p:txBody>
          <a:bodyPr/>
          <a:lstStyle/>
          <a:p>
            <a:pPr>
              <a:defRPr/>
            </a:pPr>
            <a:r>
              <a:rPr lang="en-US">
                <a:solidFill>
                  <a:prstClr val="white"/>
                </a:solidFill>
              </a:rPr>
              <a:t>Information Technology Project Management, Eighth Edition</a:t>
            </a:r>
            <a:endParaRPr lang="en-US" dirty="0">
              <a:solidFill>
                <a:prstClr val="white"/>
              </a:solidFill>
            </a:endParaRPr>
          </a:p>
        </p:txBody>
      </p:sp>
      <p:sp>
        <p:nvSpPr>
          <p:cNvPr id="6" name="Slide Number Placeholder 5"/>
          <p:cNvSpPr>
            <a:spLocks noGrp="1"/>
          </p:cNvSpPr>
          <p:nvPr>
            <p:ph type="sldNum" sz="quarter" idx="12"/>
          </p:nvPr>
        </p:nvSpPr>
        <p:spPr/>
        <p:txBody>
          <a:bodyPr/>
          <a:lstStyle/>
          <a:p>
            <a:pPr>
              <a:defRPr/>
            </a:pPr>
            <a:fld id="{2799675F-4A93-44A1-8896-452D54AE32F2}" type="slidenum">
              <a:rPr lang="en-US" smtClean="0">
                <a:solidFill>
                  <a:prstClr val="white"/>
                </a:solidFill>
              </a:rPr>
              <a:pPr>
                <a:defRPr/>
              </a:pPr>
              <a:t>‹#›</a:t>
            </a:fld>
            <a:endParaRPr lang="en-US" dirty="0">
              <a:solidFill>
                <a:prstClr val="white"/>
              </a:solidFill>
            </a:endParaRPr>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42345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white"/>
              </a:solidFill>
            </a:endParaRPr>
          </a:p>
        </p:txBody>
      </p:sp>
      <p:sp>
        <p:nvSpPr>
          <p:cNvPr id="6" name="Footer Placeholder 5"/>
          <p:cNvSpPr>
            <a:spLocks noGrp="1"/>
          </p:cNvSpPr>
          <p:nvPr>
            <p:ph type="ftr" sz="quarter" idx="11"/>
          </p:nvPr>
        </p:nvSpPr>
        <p:spPr/>
        <p:txBody>
          <a:bodyPr/>
          <a:lstStyle/>
          <a:p>
            <a:pPr>
              <a:defRPr/>
            </a:pPr>
            <a:r>
              <a:rPr lang="en-US">
                <a:solidFill>
                  <a:prstClr val="white"/>
                </a:solidFill>
              </a:rPr>
              <a:t>Information Technology Project Management, Eighth Edition</a:t>
            </a:r>
            <a:endParaRPr lang="en-US" dirty="0">
              <a:solidFill>
                <a:prstClr val="white"/>
              </a:solidFill>
            </a:endParaRPr>
          </a:p>
        </p:txBody>
      </p:sp>
      <p:sp>
        <p:nvSpPr>
          <p:cNvPr id="7" name="Slide Number Placeholder 6"/>
          <p:cNvSpPr>
            <a:spLocks noGrp="1"/>
          </p:cNvSpPr>
          <p:nvPr>
            <p:ph type="sldNum" sz="quarter" idx="12"/>
          </p:nvPr>
        </p:nvSpPr>
        <p:spPr/>
        <p:txBody>
          <a:bodyPr/>
          <a:lstStyle/>
          <a:p>
            <a:pPr>
              <a:defRPr/>
            </a:pPr>
            <a:fld id="{45A903A5-3145-4C33-861E-F726013C416E}"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29189914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endParaRPr lang="en-US" dirty="0">
              <a:solidFill>
                <a:prstClr val="black"/>
              </a:solidFill>
            </a:endParaRPr>
          </a:p>
        </p:txBody>
      </p:sp>
      <p:sp>
        <p:nvSpPr>
          <p:cNvPr id="8" name="Footer Placeholder 7"/>
          <p:cNvSpPr>
            <a:spLocks noGrp="1"/>
          </p:cNvSpPr>
          <p:nvPr>
            <p:ph type="ftr" sz="quarter" idx="11"/>
          </p:nvPr>
        </p:nvSpPr>
        <p:spPr/>
        <p:txBody>
          <a:bodyPr/>
          <a:lstStyle/>
          <a:p>
            <a:pPr>
              <a:defRPr/>
            </a:pPr>
            <a:r>
              <a:rPr lang="en-US">
                <a:solidFill>
                  <a:prstClr val="black"/>
                </a:solidFill>
              </a:rPr>
              <a:t>Information Technology Project Management, Eighth Edition</a:t>
            </a:r>
            <a:endParaRPr lang="en-US" dirty="0">
              <a:solidFill>
                <a:prstClr val="black"/>
              </a:solidFill>
            </a:endParaRPr>
          </a:p>
        </p:txBody>
      </p:sp>
      <p:sp>
        <p:nvSpPr>
          <p:cNvPr id="9" name="Slide Number Placeholder 8"/>
          <p:cNvSpPr>
            <a:spLocks noGrp="1"/>
          </p:cNvSpPr>
          <p:nvPr>
            <p:ph type="sldNum" sz="quarter" idx="12"/>
          </p:nvPr>
        </p:nvSpPr>
        <p:spPr/>
        <p:txBody>
          <a:bodyPr/>
          <a:lstStyle/>
          <a:p>
            <a:pPr>
              <a:defRPr/>
            </a:pPr>
            <a:fld id="{79F8D2C1-FDC8-4049-A2F1-36C9287BEF68}"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346093353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endParaRPr lang="en-US" dirty="0">
              <a:solidFill>
                <a:prstClr val="white"/>
              </a:solidFill>
            </a:endParaRPr>
          </a:p>
        </p:txBody>
      </p:sp>
      <p:sp>
        <p:nvSpPr>
          <p:cNvPr id="4" name="Footer Placeholder 3"/>
          <p:cNvSpPr>
            <a:spLocks noGrp="1"/>
          </p:cNvSpPr>
          <p:nvPr>
            <p:ph type="ftr" sz="quarter" idx="11"/>
          </p:nvPr>
        </p:nvSpPr>
        <p:spPr/>
        <p:txBody>
          <a:bodyPr/>
          <a:lstStyle/>
          <a:p>
            <a:pPr>
              <a:defRPr/>
            </a:pPr>
            <a:r>
              <a:rPr lang="en-US">
                <a:solidFill>
                  <a:prstClr val="white"/>
                </a:solidFill>
              </a:rPr>
              <a:t>Information Technology Project Management, Eighth Edition</a:t>
            </a:r>
            <a:endParaRPr lang="en-US" dirty="0">
              <a:solidFill>
                <a:prstClr val="white"/>
              </a:solidFill>
            </a:endParaRPr>
          </a:p>
        </p:txBody>
      </p:sp>
      <p:sp>
        <p:nvSpPr>
          <p:cNvPr id="5" name="Slide Number Placeholder 4"/>
          <p:cNvSpPr>
            <a:spLocks noGrp="1"/>
          </p:cNvSpPr>
          <p:nvPr>
            <p:ph type="sldNum" sz="quarter" idx="12"/>
          </p:nvPr>
        </p:nvSpPr>
        <p:spPr/>
        <p:txBody>
          <a:bodyPr/>
          <a:lstStyle/>
          <a:p>
            <a:pPr>
              <a:defRPr/>
            </a:pPr>
            <a:fld id="{0BD84499-56DB-4FF3-8D99-174F9EB97545}"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30365182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pPr>
              <a:defRPr/>
            </a:pPr>
            <a:endParaRPr lang="en-US" dirty="0">
              <a:solidFill>
                <a:prstClr val="black"/>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pPr>
              <a:defRPr/>
            </a:pPr>
            <a:r>
              <a:rPr lang="en-US">
                <a:solidFill>
                  <a:prstClr val="black"/>
                </a:solidFill>
              </a:rPr>
              <a:t>Information Technology Project Management, Eighth Edition</a:t>
            </a:r>
            <a:endParaRPr lang="en-US" dirty="0">
              <a:solidFill>
                <a:prstClr val="black"/>
              </a:solidFill>
            </a:endParaRPr>
          </a:p>
        </p:txBody>
      </p:sp>
      <p:sp>
        <p:nvSpPr>
          <p:cNvPr id="9" name="Slide Number Placeholder 8"/>
          <p:cNvSpPr>
            <a:spLocks noGrp="1"/>
          </p:cNvSpPr>
          <p:nvPr>
            <p:ph type="sldNum" sz="quarter" idx="12"/>
          </p:nvPr>
        </p:nvSpPr>
        <p:spPr/>
        <p:txBody>
          <a:bodyPr/>
          <a:lstStyle/>
          <a:p>
            <a:pPr>
              <a:defRPr/>
            </a:pPr>
            <a:fld id="{88BFF443-6094-4853-B8BA-F1264293BEA5}"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36891533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pPr>
              <a:defRPr/>
            </a:pPr>
            <a:endParaRPr lang="en-US" dirty="0">
              <a:solidFill>
                <a:prstClr val="black"/>
              </a:solidFill>
            </a:endParaRPr>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pPr>
              <a:defRPr/>
            </a:pPr>
            <a:r>
              <a:rPr lang="en-US">
                <a:solidFill>
                  <a:prstClr val="black"/>
                </a:solidFill>
              </a:rPr>
              <a:t>Information Technology Project Management, Eighth Edition</a:t>
            </a:r>
            <a:endParaRPr lang="en-US" dirty="0">
              <a:solidFill>
                <a:prstClr val="black"/>
              </a:solidFill>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pPr>
              <a:defRPr/>
            </a:pPr>
            <a:fld id="{A521D880-5042-48D3-9E9D-9C6275C0D5B4}"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252599922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pPr>
              <a:defRPr/>
            </a:pPr>
            <a:endParaRPr lang="en-US" dirty="0">
              <a:solidFill>
                <a:prstClr val="white"/>
              </a:solidFill>
            </a:endParaRPr>
          </a:p>
        </p:txBody>
      </p:sp>
      <p:sp>
        <p:nvSpPr>
          <p:cNvPr id="6" name="Footer Placeholder 5"/>
          <p:cNvSpPr>
            <a:spLocks noGrp="1"/>
          </p:cNvSpPr>
          <p:nvPr>
            <p:ph type="ftr" sz="quarter" idx="11"/>
          </p:nvPr>
        </p:nvSpPr>
        <p:spPr/>
        <p:txBody>
          <a:bodyPr/>
          <a:lstStyle/>
          <a:p>
            <a:pPr>
              <a:defRPr/>
            </a:pPr>
            <a:r>
              <a:rPr lang="en-US">
                <a:solidFill>
                  <a:prstClr val="white"/>
                </a:solidFill>
              </a:rPr>
              <a:t>Information Technology Project Management, Eighth Edition</a:t>
            </a:r>
            <a:endParaRPr lang="en-US" dirty="0">
              <a:solidFill>
                <a:prstClr val="white"/>
              </a:solidFill>
            </a:endParaRPr>
          </a:p>
        </p:txBody>
      </p:sp>
      <p:sp>
        <p:nvSpPr>
          <p:cNvPr id="7" name="Slide Number Placeholder 6"/>
          <p:cNvSpPr>
            <a:spLocks noGrp="1"/>
          </p:cNvSpPr>
          <p:nvPr>
            <p:ph type="sldNum" sz="quarter" idx="12"/>
          </p:nvPr>
        </p:nvSpPr>
        <p:spPr/>
        <p:txBody>
          <a:bodyPr/>
          <a:lstStyle/>
          <a:p>
            <a:pPr>
              <a:defRPr/>
            </a:pPr>
            <a:fld id="{0A9D95BA-DBCE-4585-9D62-69E5B33609E2}" type="slidenum">
              <a:rPr lang="en-US" smtClean="0">
                <a:solidFill>
                  <a:prstClr val="white"/>
                </a:solidFill>
              </a:rPr>
              <a:pPr>
                <a:defRPr/>
              </a:pPr>
              <a:t>‹#›</a:t>
            </a:fld>
            <a:endParaRPr lang="en-US" dirty="0">
              <a:solidFill>
                <a:prstClr val="white"/>
              </a:solidFill>
            </a:endParaRPr>
          </a:p>
        </p:txBody>
      </p:sp>
    </p:spTree>
    <p:extLst>
      <p:ext uri="{BB962C8B-B14F-4D97-AF65-F5344CB8AC3E}">
        <p14:creationId xmlns:p14="http://schemas.microsoft.com/office/powerpoint/2010/main" val="113658864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solidFill>
            </a:endParaRPr>
          </a:p>
        </p:txBody>
      </p:sp>
      <p:sp>
        <p:nvSpPr>
          <p:cNvPr id="5" name="Footer Placeholder 4"/>
          <p:cNvSpPr>
            <a:spLocks noGrp="1"/>
          </p:cNvSpPr>
          <p:nvPr>
            <p:ph type="ftr" sz="quarter" idx="11"/>
          </p:nvPr>
        </p:nvSpPr>
        <p:spPr/>
        <p:txBody>
          <a:bodyPr/>
          <a:lstStyle/>
          <a:p>
            <a:pPr>
              <a:defRPr/>
            </a:pPr>
            <a:r>
              <a:rPr lang="en-US">
                <a:solidFill>
                  <a:prstClr val="black"/>
                </a:solidFill>
              </a:rPr>
              <a:t>Information Technology Project Management, Eighth Edition</a:t>
            </a:r>
            <a:endParaRPr lang="en-US" dirty="0">
              <a:solidFill>
                <a:prstClr val="black"/>
              </a:solidFill>
            </a:endParaRPr>
          </a:p>
        </p:txBody>
      </p:sp>
      <p:sp>
        <p:nvSpPr>
          <p:cNvPr id="6" name="Slide Number Placeholder 5"/>
          <p:cNvSpPr>
            <a:spLocks noGrp="1"/>
          </p:cNvSpPr>
          <p:nvPr>
            <p:ph type="sldNum" sz="quarter" idx="12"/>
          </p:nvPr>
        </p:nvSpPr>
        <p:spPr/>
        <p:txBody>
          <a:bodyPr/>
          <a:lstStyle/>
          <a:p>
            <a:pPr>
              <a:defRPr/>
            </a:pPr>
            <a:fld id="{79C7716B-8CDB-4114-B58A-CD791D036412}"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61527323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solidFill>
            </a:endParaRPr>
          </a:p>
        </p:txBody>
      </p:sp>
      <p:sp>
        <p:nvSpPr>
          <p:cNvPr id="5" name="Footer Placeholder 4"/>
          <p:cNvSpPr>
            <a:spLocks noGrp="1"/>
          </p:cNvSpPr>
          <p:nvPr>
            <p:ph type="ftr" sz="quarter" idx="11"/>
          </p:nvPr>
        </p:nvSpPr>
        <p:spPr/>
        <p:txBody>
          <a:bodyPr/>
          <a:lstStyle/>
          <a:p>
            <a:pPr>
              <a:defRPr/>
            </a:pPr>
            <a:r>
              <a:rPr lang="en-US">
                <a:solidFill>
                  <a:prstClr val="black"/>
                </a:solidFill>
              </a:rPr>
              <a:t>Information Technology Project Management, Eighth Edition</a:t>
            </a:r>
            <a:endParaRPr lang="en-US" dirty="0">
              <a:solidFill>
                <a:prstClr val="black"/>
              </a:solidFill>
            </a:endParaRPr>
          </a:p>
        </p:txBody>
      </p:sp>
      <p:sp>
        <p:nvSpPr>
          <p:cNvPr id="6" name="Slide Number Placeholder 5"/>
          <p:cNvSpPr>
            <a:spLocks noGrp="1"/>
          </p:cNvSpPr>
          <p:nvPr>
            <p:ph type="sldNum" sz="quarter" idx="12"/>
          </p:nvPr>
        </p:nvSpPr>
        <p:spPr/>
        <p:txBody>
          <a:bodyPr/>
          <a:lstStyle/>
          <a:p>
            <a:pPr>
              <a:defRPr/>
            </a:pPr>
            <a:fld id="{A5896A34-DE02-4C2F-B86D-63B07783C002}" type="slidenum">
              <a:rPr lang="en-US" smtClean="0">
                <a:solidFill>
                  <a:prstClr val="black"/>
                </a:solidFill>
              </a:rPr>
              <a:pPr>
                <a:defRPr/>
              </a:pPr>
              <a:t>‹#›</a:t>
            </a:fld>
            <a:endParaRPr lang="en-US" dirty="0">
              <a:solidFill>
                <a:prstClr val="black"/>
              </a:solidFill>
            </a:endParaRPr>
          </a:p>
        </p:txBody>
      </p:sp>
    </p:spTree>
    <p:extLst>
      <p:ext uri="{BB962C8B-B14F-4D97-AF65-F5344CB8AC3E}">
        <p14:creationId xmlns:p14="http://schemas.microsoft.com/office/powerpoint/2010/main" val="1839439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1.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wrap="square" lIns="91440" tIns="45720" rIns="91440" bIns="45720" numCol="1" anchor="ctr" anchorCtr="0" compatLnSpc="1">
            <a:prstTxWarp prst="textNoShape">
              <a:avLst/>
            </a:prstTxWarp>
          </a:bodyPr>
          <a:lstStyle>
            <a:lvl1pPr>
              <a:lnSpc>
                <a:spcPct val="90000"/>
              </a:lnSpc>
              <a:spcBef>
                <a:spcPct val="20000"/>
              </a:spcBef>
              <a:buFontTx/>
              <a:buChar char="•"/>
              <a:defRPr sz="1200">
                <a:solidFill>
                  <a:srgbClr val="898989"/>
                </a:solidFill>
                <a:latin typeface="Times New Roman" pitchFamily="18" charset="0"/>
              </a:defRPr>
            </a:lvl1pPr>
          </a:lstStyle>
          <a:p>
            <a:pPr>
              <a:defRPr/>
            </a:pPr>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wrap="square" lIns="91440" tIns="45720" rIns="91440" bIns="45720" numCol="1" anchor="ctr" anchorCtr="0" compatLnSpc="1">
            <a:prstTxWarp prst="textNoShape">
              <a:avLst/>
            </a:prstTxWarp>
          </a:bodyPr>
          <a:lstStyle>
            <a:lvl1pPr algn="ctr">
              <a:lnSpc>
                <a:spcPct val="90000"/>
              </a:lnSpc>
              <a:spcBef>
                <a:spcPct val="20000"/>
              </a:spcBef>
              <a:buFontTx/>
              <a:buChar char="•"/>
              <a:defRPr sz="1200">
                <a:solidFill>
                  <a:srgbClr val="898989"/>
                </a:solidFill>
                <a:latin typeface="Times New Roman" pitchFamily="18" charset="0"/>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lnSpc>
                <a:spcPct val="90000"/>
              </a:lnSpc>
              <a:spcBef>
                <a:spcPct val="20000"/>
              </a:spcBef>
              <a:buFontTx/>
              <a:buChar char="•"/>
              <a:defRPr sz="1200">
                <a:solidFill>
                  <a:schemeClr val="tx1">
                    <a:tint val="75000"/>
                  </a:schemeClr>
                </a:solidFill>
                <a:latin typeface="Times New Roman" pitchFamily="18" charset="0"/>
              </a:defRPr>
            </a:lvl1pPr>
          </a:lstStyle>
          <a:p>
            <a:pPr>
              <a:defRPr/>
            </a:pPr>
            <a:fld id="{1BD45D22-0321-4823-8238-266049D2529C}"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 name="Freeform 12"/>
          <p:cNvSpPr>
            <a:spLocks/>
          </p:cNvSpPr>
          <p:nvPr/>
        </p:nvSpPr>
        <p:spPr bwMode="auto">
          <a:xfrm>
            <a:off x="955249" y="5001994"/>
            <a:ext cx="5069337" cy="1443111"/>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329" y="347"/>
                </a:moveTo>
                <a:lnTo>
                  <a:pt x="7156" y="682"/>
                </a:lnTo>
                <a:lnTo>
                  <a:pt x="5229" y="682"/>
                </a:lnTo>
                <a:lnTo>
                  <a:pt x="-328" y="345"/>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2200" dirty="0"/>
          </a:p>
        </p:txBody>
      </p:sp>
      <p:sp>
        <p:nvSpPr>
          <p:cNvPr id="12" name="Freeform 11"/>
          <p:cNvSpPr>
            <a:spLocks/>
          </p:cNvSpPr>
          <p:nvPr/>
        </p:nvSpPr>
        <p:spPr bwMode="auto">
          <a:xfrm>
            <a:off x="-71414" y="5785023"/>
            <a:ext cx="5069337" cy="83820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5760" h="528">
                <a:moveTo>
                  <a:pt x="817" y="97"/>
                </a:moveTo>
                <a:lnTo>
                  <a:pt x="6408" y="682"/>
                </a:lnTo>
                <a:lnTo>
                  <a:pt x="5232" y="685"/>
                </a:lnTo>
                <a:lnTo>
                  <a:pt x="829" y="101"/>
                </a:lnTo>
              </a:path>
            </a:pathLst>
          </a:custGeom>
          <a:solidFill>
            <a:srgbClr val="000000">
              <a:alpha val="100000"/>
            </a:srgbClr>
          </a:solidFill>
          <a:ln w="9525" cap="flat" cmpd="sng" algn="ctr">
            <a:noFill/>
            <a:prstDash val="solid"/>
            <a:round/>
            <a:headEnd type="none" w="med" len="med"/>
            <a:tailEnd type="none" w="med" len="med"/>
          </a:ln>
          <a:effectLst/>
        </p:spPr>
        <p:txBody>
          <a:bodyPr vert="horz" wrap="square" lIns="91440" tIns="45720" rIns="91440" bIns="45720" anchor="t" compatLnSpc="1"/>
          <a:lstStyle/>
          <a:p>
            <a:endParaRPr kumimoji="0" lang="en-US" sz="2200" dirty="0"/>
          </a:p>
        </p:txBody>
      </p:sp>
      <p:sp>
        <p:nvSpPr>
          <p:cNvPr id="14" name="Right Triangle 13"/>
          <p:cNvSpPr>
            <a:spLocks/>
          </p:cNvSpPr>
          <p:nvPr/>
        </p:nvSpPr>
        <p:spPr bwMode="auto">
          <a:xfrm>
            <a:off x="-8056" y="5791253"/>
            <a:ext cx="4536419" cy="1080868"/>
          </a:xfrm>
          <a:prstGeom prst="rtTriangle">
            <a:avLst/>
          </a:prstGeom>
          <a:blipFill>
            <a:blip r:embed="rId14">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vert="horz" wrap="square" lIns="91440" tIns="45720" rIns="91440" bIns="45720" anchor="ctr" compatLnSpc="1"/>
          <a:lstStyle/>
          <a:p>
            <a:pPr algn="ctr" eaLnBrk="1" latinLnBrk="0" hangingPunct="1"/>
            <a:endParaRPr kumimoji="0" lang="en-US" sz="2200" dirty="0"/>
          </a:p>
        </p:txBody>
      </p:sp>
      <p:cxnSp>
        <p:nvCxnSpPr>
          <p:cNvPr id="15" name="Straight Connector 14"/>
          <p:cNvCxnSpPr/>
          <p:nvPr/>
        </p:nvCxnSpPr>
        <p:spPr>
          <a:xfrm>
            <a:off x="-12316" y="5787739"/>
            <a:ext cx="454067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609600" y="274638"/>
            <a:ext cx="10972800" cy="1143000"/>
          </a:xfrm>
          <a:prstGeom prst="rect">
            <a:avLst/>
          </a:prstGeom>
        </p:spPr>
        <p:txBody>
          <a:bodyPr vert="horz" anchor="ctr">
            <a:normAutofit/>
            <a:scene3d>
              <a:camera prst="orthographicFront"/>
              <a:lightRig rig="soft" dir="t"/>
            </a:scene3d>
            <a:sp3d prstMaterial="softEdge">
              <a:bevelT w="25400" h="25400"/>
            </a:sp3d>
          </a:bodyPr>
          <a:lstStyle/>
          <a:p>
            <a:r>
              <a:rPr kumimoji="0" lang="en-US"/>
              <a:t>Click to edit Master title style</a:t>
            </a:r>
          </a:p>
        </p:txBody>
      </p:sp>
      <p:sp>
        <p:nvSpPr>
          <p:cNvPr id="30" name="Text Placeholder 29"/>
          <p:cNvSpPr>
            <a:spLocks noGrp="1"/>
          </p:cNvSpPr>
          <p:nvPr>
            <p:ph type="body" idx="1"/>
          </p:nvPr>
        </p:nvSpPr>
        <p:spPr>
          <a:xfrm>
            <a:off x="609600" y="1481329"/>
            <a:ext cx="10972800" cy="4525963"/>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0" name="Date Placeholder 9"/>
          <p:cNvSpPr>
            <a:spLocks noGrp="1"/>
          </p:cNvSpPr>
          <p:nvPr>
            <p:ph type="dt" sz="half" idx="2"/>
          </p:nvPr>
        </p:nvSpPr>
        <p:spPr>
          <a:xfrm>
            <a:off x="8969376" y="6407944"/>
            <a:ext cx="2560320" cy="365760"/>
          </a:xfrm>
          <a:prstGeom prst="rect">
            <a:avLst/>
          </a:prstGeom>
        </p:spPr>
        <p:txBody>
          <a:bodyPr vert="horz" anchor="b"/>
          <a:lstStyle>
            <a:lvl1pPr algn="l" eaLnBrk="1" latinLnBrk="0" hangingPunct="1">
              <a:defRPr kumimoji="0" sz="1000">
                <a:solidFill>
                  <a:schemeClr val="tx1"/>
                </a:solidFill>
              </a:defRPr>
            </a:lvl1pPr>
            <a:extLst/>
          </a:lstStyle>
          <a:p>
            <a:pPr>
              <a:defRPr/>
            </a:pPr>
            <a:endParaRPr lang="en-US" dirty="0"/>
          </a:p>
        </p:txBody>
      </p:sp>
      <p:sp>
        <p:nvSpPr>
          <p:cNvPr id="22" name="Footer Placeholder 21"/>
          <p:cNvSpPr>
            <a:spLocks noGrp="1"/>
          </p:cNvSpPr>
          <p:nvPr>
            <p:ph type="ftr" sz="quarter" idx="3"/>
          </p:nvPr>
        </p:nvSpPr>
        <p:spPr>
          <a:xfrm>
            <a:off x="5840097" y="6407945"/>
            <a:ext cx="3134241" cy="365125"/>
          </a:xfrm>
          <a:prstGeom prst="rect">
            <a:avLst/>
          </a:prstGeom>
        </p:spPr>
        <p:txBody>
          <a:bodyPr vert="horz" anchor="b"/>
          <a:lstStyle>
            <a:lvl1pPr algn="r" eaLnBrk="1" latinLnBrk="0" hangingPunct="1">
              <a:defRPr kumimoji="0" sz="1000">
                <a:solidFill>
                  <a:schemeClr val="tx1"/>
                </a:solidFill>
              </a:defRPr>
            </a:lvl1pPr>
            <a:extLst/>
          </a:lstStyle>
          <a:p>
            <a:pPr>
              <a:defRPr/>
            </a:pPr>
            <a:r>
              <a:rPr lang="en-US"/>
              <a:t>Information Technology Project Management, Eighth Edition</a:t>
            </a:r>
            <a:endParaRPr lang="en-US" dirty="0"/>
          </a:p>
        </p:txBody>
      </p:sp>
      <p:sp>
        <p:nvSpPr>
          <p:cNvPr id="18" name="Slide Number Placeholder 17"/>
          <p:cNvSpPr>
            <a:spLocks noGrp="1"/>
          </p:cNvSpPr>
          <p:nvPr>
            <p:ph type="sldNum" sz="quarter" idx="4"/>
          </p:nvPr>
        </p:nvSpPr>
        <p:spPr>
          <a:xfrm>
            <a:off x="11529696" y="6407945"/>
            <a:ext cx="487680" cy="365125"/>
          </a:xfrm>
          <a:prstGeom prst="rect">
            <a:avLst/>
          </a:prstGeom>
        </p:spPr>
        <p:txBody>
          <a:bodyPr vert="horz" anchor="b"/>
          <a:lstStyle>
            <a:lvl1pPr algn="r" eaLnBrk="1" latinLnBrk="0" hangingPunct="1">
              <a:defRPr kumimoji="0" sz="1000" b="0">
                <a:solidFill>
                  <a:schemeClr val="tx1"/>
                </a:solidFill>
              </a:defRPr>
            </a:lvl1pPr>
            <a:extLst/>
          </a:lstStyle>
          <a:p>
            <a:pPr>
              <a:defRPr/>
            </a:pPr>
            <a:fld id="{1BD45D22-0321-4823-8238-266049D2529C}" type="slidenum">
              <a:rPr lang="en-US"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832" r:id="rId1"/>
    <p:sldLayoutId id="2147483833" r:id="rId2"/>
    <p:sldLayoutId id="2147483855" r:id="rId3"/>
    <p:sldLayoutId id="2147483834" r:id="rId4"/>
    <p:sldLayoutId id="2147483835" r:id="rId5"/>
    <p:sldLayoutId id="2147483836" r:id="rId6"/>
    <p:sldLayoutId id="2147483837" r:id="rId7"/>
    <p:sldLayoutId id="2147483838" r:id="rId8"/>
    <p:sldLayoutId id="2147483839" r:id="rId9"/>
    <p:sldLayoutId id="2147483840" r:id="rId10"/>
    <p:sldLayoutId id="2147483841" r:id="rId11"/>
    <p:sldLayoutId id="2147483842" r:id="rId12"/>
  </p:sldLayoutIdLst>
  <p:hf hdr="0" dt="0"/>
  <p:txStyles>
    <p:titleStyle>
      <a:lvl1pPr algn="l" rtl="0" eaLnBrk="1" latinLnBrk="0" hangingPunct="1">
        <a:spcBef>
          <a:spcPct val="0"/>
        </a:spcBef>
        <a:buNone/>
        <a:defRPr kumimoji="0" sz="4100" b="1" kern="1200">
          <a:solidFill>
            <a:schemeClr val="tx2"/>
          </a:solidFill>
          <a:effectLst>
            <a:outerShdw blurRad="31750" dist="25400" dir="5400000" algn="tl" rotWithShape="0">
              <a:srgbClr val="000000">
                <a:alpha val="25000"/>
              </a:srgbClr>
            </a:outerShdw>
          </a:effectLst>
          <a:latin typeface="+mj-lt"/>
          <a:ea typeface="+mj-ea"/>
          <a:cs typeface="+mj-cs"/>
        </a:defRPr>
      </a:lvl1pPr>
      <a:extLst/>
    </p:titleStyle>
    <p:bodyStyle>
      <a:lvl1pPr marL="365760" indent="-256032" algn="l" rtl="0" eaLnBrk="1" latinLnBrk="0" hangingPunct="1">
        <a:spcBef>
          <a:spcPts val="400"/>
        </a:spcBef>
        <a:spcAft>
          <a:spcPts val="0"/>
        </a:spcAft>
        <a:buClr>
          <a:schemeClr val="accent1"/>
        </a:buClr>
        <a:buSzPct val="68000"/>
        <a:buFont typeface="Wingdings 3"/>
        <a:buChar char=""/>
        <a:defRPr kumimoji="0" sz="2700" kern="1200">
          <a:solidFill>
            <a:schemeClr val="tx1"/>
          </a:solidFill>
          <a:latin typeface="+mn-lt"/>
          <a:ea typeface="+mn-ea"/>
          <a:cs typeface="+mn-cs"/>
        </a:defRPr>
      </a:lvl1pPr>
      <a:lvl2pPr marL="621792" indent="-228600" algn="l" rtl="0" eaLnBrk="1" latinLnBrk="0" hangingPunct="1">
        <a:spcBef>
          <a:spcPts val="324"/>
        </a:spcBef>
        <a:buClr>
          <a:schemeClr val="accent1"/>
        </a:buClr>
        <a:buFont typeface="Verdana"/>
        <a:buChar char="◦"/>
        <a:defRPr kumimoji="0" sz="2300" kern="1200">
          <a:solidFill>
            <a:schemeClr val="tx1"/>
          </a:solidFill>
          <a:latin typeface="+mn-lt"/>
          <a:ea typeface="+mn-ea"/>
          <a:cs typeface="+mn-cs"/>
        </a:defRPr>
      </a:lvl2pPr>
      <a:lvl3pPr marL="859536" indent="-228600" algn="l" rtl="0" eaLnBrk="1" latinLnBrk="0" hangingPunct="1">
        <a:spcBef>
          <a:spcPts val="350"/>
        </a:spcBef>
        <a:buClr>
          <a:schemeClr val="accent2"/>
        </a:buClr>
        <a:buSzPct val="100000"/>
        <a:buFont typeface="Wingdings 2"/>
        <a:buChar char=""/>
        <a:defRPr kumimoji="0" sz="2100" kern="1200">
          <a:solidFill>
            <a:schemeClr val="tx1"/>
          </a:solidFill>
          <a:latin typeface="+mn-lt"/>
          <a:ea typeface="+mn-ea"/>
          <a:cs typeface="+mn-cs"/>
        </a:defRPr>
      </a:lvl3pPr>
      <a:lvl4pPr marL="1143000" indent="-228600" algn="l" rtl="0" eaLnBrk="1" latinLnBrk="0" hangingPunct="1">
        <a:spcBef>
          <a:spcPts val="350"/>
        </a:spcBef>
        <a:buClr>
          <a:schemeClr val="accent2"/>
        </a:buClr>
        <a:buFont typeface="Wingdings 2"/>
        <a:buChar char=""/>
        <a:defRPr kumimoji="0" sz="1900" kern="1200">
          <a:solidFill>
            <a:schemeClr val="tx1"/>
          </a:solidFill>
          <a:latin typeface="+mn-lt"/>
          <a:ea typeface="+mn-ea"/>
          <a:cs typeface="+mn-cs"/>
        </a:defRPr>
      </a:lvl4pPr>
      <a:lvl5pPr marL="1371600" indent="-228600" algn="l" rtl="0" eaLnBrk="1" latinLnBrk="0" hangingPunct="1">
        <a:spcBef>
          <a:spcPts val="350"/>
        </a:spcBef>
        <a:buClr>
          <a:schemeClr val="accent2"/>
        </a:buClr>
        <a:buFont typeface="Wingdings 2"/>
        <a:buChar char=""/>
        <a:defRPr kumimoji="0" sz="1800" kern="1200">
          <a:solidFill>
            <a:schemeClr val="tx1"/>
          </a:solidFill>
          <a:latin typeface="+mn-lt"/>
          <a:ea typeface="+mn-ea"/>
          <a:cs typeface="+mn-cs"/>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pPr>
              <a:defRPr/>
            </a:pPr>
            <a:endParaRPr lang="en-US" dirty="0"/>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pPr>
              <a:defRPr/>
            </a:pPr>
            <a:r>
              <a:rPr lang="en-US"/>
              <a:t>Information Technology Project Management, Eighth Edition</a:t>
            </a:r>
            <a:endParaRPr lang="en-US" dirty="0"/>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pPr>
              <a:defRPr/>
            </a:pPr>
            <a:fld id="{1BD45D22-0321-4823-8238-266049D2529C}" type="slidenum">
              <a:rPr lang="en-US" smtClean="0"/>
              <a:pPr>
                <a:defRPr/>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8394384"/>
      </p:ext>
    </p:extLst>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 id="2147483878" r:id="rId10"/>
    <p:sldLayoutId id="2147483879" r:id="rId11"/>
  </p:sldLayoutIdLst>
  <p:hf hd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524000" y="76200"/>
            <a:ext cx="9144000" cy="2590800"/>
          </a:xfrm>
        </p:spPr>
        <p:txBody>
          <a:bodyPr>
            <a:noAutofit/>
          </a:bodyPr>
          <a:lstStyle/>
          <a:p>
            <a:pPr>
              <a:defRPr/>
            </a:pPr>
            <a:r>
              <a:rPr lang="en-US" sz="4400" dirty="0">
                <a:effectLst>
                  <a:outerShdw blurRad="38100" dist="38100" dir="2700000" algn="tl">
                    <a:srgbClr val="FFFFFF"/>
                  </a:outerShdw>
                </a:effectLst>
                <a:latin typeface="Arial Rounded MT Bold" pitchFamily="34" charset="0"/>
              </a:rPr>
              <a:t>Project Integration</a:t>
            </a:r>
            <a:br>
              <a:rPr lang="en-US" sz="4400" dirty="0">
                <a:effectLst>
                  <a:outerShdw blurRad="38100" dist="38100" dir="2700000" algn="tl">
                    <a:srgbClr val="FFFFFF"/>
                  </a:outerShdw>
                </a:effectLst>
                <a:latin typeface="Arial Rounded MT Bold" pitchFamily="34" charset="0"/>
              </a:rPr>
            </a:br>
            <a:r>
              <a:rPr lang="en-US" sz="4400" dirty="0">
                <a:effectLst>
                  <a:outerShdw blurRad="38100" dist="38100" dir="2700000" algn="tl">
                    <a:srgbClr val="FFFFFF"/>
                  </a:outerShdw>
                </a:effectLst>
                <a:latin typeface="Arial Rounded MT Bold" pitchFamily="34" charset="0"/>
              </a:rPr>
              <a:t>Management</a:t>
            </a:r>
            <a:endParaRPr dirty="0">
              <a:effectLst>
                <a:outerShdw blurRad="38100" dist="38100" dir="2700000" algn="tl">
                  <a:srgbClr val="FFFFFF"/>
                </a:outerShdw>
              </a:effectLst>
              <a:latin typeface="Arial Rounded MT Bold" pitchFamily="34" charset="0"/>
            </a:endParaRPr>
          </a:p>
        </p:txBody>
      </p:sp>
      <p:pic>
        <p:nvPicPr>
          <p:cNvPr id="8" name="Picture 7" descr="The cover of Information Technology Project Management, Eighth Edition by Kathy Schwalbe. The cover features four individuals looking away from the camera and onto a complex map."/>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2928110"/>
            <a:ext cx="2646400" cy="3277621"/>
          </a:xfrm>
          <a:prstGeom prst="rect">
            <a:avLst/>
          </a:prstGeom>
        </p:spPr>
      </p:pic>
    </p:spTree>
    <p:extLst>
      <p:ext uri="{BB962C8B-B14F-4D97-AF65-F5344CB8AC3E}">
        <p14:creationId xmlns:p14="http://schemas.microsoft.com/office/powerpoint/2010/main" val="3758087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2" name="Rectangle 2"/>
          <p:cNvSpPr>
            <a:spLocks noGrp="1" noChangeArrowheads="1"/>
          </p:cNvSpPr>
          <p:nvPr>
            <p:ph type="title"/>
          </p:nvPr>
        </p:nvSpPr>
        <p:spPr/>
        <p:txBody>
          <a:bodyPr>
            <a:normAutofit fontScale="90000"/>
          </a:bodyPr>
          <a:lstStyle/>
          <a:p>
            <a:r>
              <a:rPr lang="en-US" sz="3600" dirty="0"/>
              <a:t>The Key to Overall Project Success: Good Project Integration Management</a:t>
            </a:r>
            <a:endParaRPr lang="en-US" dirty="0"/>
          </a:p>
        </p:txBody>
      </p:sp>
      <p:sp>
        <p:nvSpPr>
          <p:cNvPr id="12293" name="Rectangle 3"/>
          <p:cNvSpPr>
            <a:spLocks noGrp="1" noChangeArrowheads="1"/>
          </p:cNvSpPr>
          <p:nvPr>
            <p:ph idx="1"/>
          </p:nvPr>
        </p:nvSpPr>
        <p:spPr>
          <a:xfrm>
            <a:off x="762000" y="2209800"/>
            <a:ext cx="10287000" cy="3276600"/>
          </a:xfrm>
        </p:spPr>
        <p:txBody>
          <a:bodyPr/>
          <a:lstStyle/>
          <a:p>
            <a:r>
              <a:rPr lang="en-US" dirty="0"/>
              <a:t>Project managers must coordinate all of the other knowledge areas throughout a project’s life cycle</a:t>
            </a:r>
          </a:p>
          <a:p>
            <a:r>
              <a:rPr lang="en-US" dirty="0"/>
              <a:t>Many new project managers have trouble looking at the “big picture” and want to focus on too many details</a:t>
            </a:r>
          </a:p>
          <a:p>
            <a:r>
              <a:rPr lang="en-US" dirty="0"/>
              <a:t>Project integration management is </a:t>
            </a:r>
            <a:r>
              <a:rPr lang="en-US" i="1" dirty="0"/>
              <a:t>not</a:t>
            </a:r>
            <a:r>
              <a:rPr lang="en-US" dirty="0"/>
              <a:t> the same thing as software integration</a:t>
            </a:r>
          </a:p>
        </p:txBody>
      </p:sp>
      <p:sp>
        <p:nvSpPr>
          <p:cNvPr id="12290" name="Footer Placeholder 3"/>
          <p:cNvSpPr>
            <a:spLocks noGrp="1"/>
          </p:cNvSpPr>
          <p:nvPr>
            <p:ph type="ftr" sz="quarter" idx="11"/>
          </p:nvPr>
        </p:nvSpPr>
        <p:spPr bwMode="auto">
          <a:xfrm>
            <a:off x="1524001" y="6421438"/>
            <a:ext cx="2350681" cy="436563"/>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108FECDF-36A7-44D1-8BAF-7A36463139A5}" type="slidenum">
              <a:rPr lang="en-US"/>
              <a:pPr>
                <a:defRPr/>
              </a:pPr>
              <a:t>2</a:t>
            </a:fld>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6" name="Rectangle 2"/>
          <p:cNvSpPr>
            <a:spLocks noGrp="1" noChangeArrowheads="1"/>
          </p:cNvSpPr>
          <p:nvPr>
            <p:ph type="title"/>
          </p:nvPr>
        </p:nvSpPr>
        <p:spPr>
          <a:xfrm>
            <a:off x="533400" y="228600"/>
            <a:ext cx="10744200" cy="1143000"/>
          </a:xfrm>
        </p:spPr>
        <p:txBody>
          <a:bodyPr>
            <a:normAutofit fontScale="90000"/>
          </a:bodyPr>
          <a:lstStyle/>
          <a:p>
            <a:r>
              <a:rPr lang="en-US" dirty="0"/>
              <a:t>Project Integration Management Processes, Part 1</a:t>
            </a:r>
          </a:p>
        </p:txBody>
      </p:sp>
      <p:sp>
        <p:nvSpPr>
          <p:cNvPr id="13317" name="Rectangle 3"/>
          <p:cNvSpPr>
            <a:spLocks noGrp="1" noChangeArrowheads="1"/>
          </p:cNvSpPr>
          <p:nvPr>
            <p:ph idx="1"/>
          </p:nvPr>
        </p:nvSpPr>
        <p:spPr>
          <a:xfrm>
            <a:off x="990600" y="1417639"/>
            <a:ext cx="9982200" cy="4745037"/>
          </a:xfrm>
        </p:spPr>
        <p:txBody>
          <a:bodyPr>
            <a:normAutofit/>
          </a:bodyPr>
          <a:lstStyle/>
          <a:p>
            <a:pPr algn="just"/>
            <a:r>
              <a:rPr lang="en-US" dirty="0" smtClean="0">
                <a:solidFill>
                  <a:srgbClr val="FF0000"/>
                </a:solidFill>
              </a:rPr>
              <a:t>Developing </a:t>
            </a:r>
            <a:r>
              <a:rPr lang="en-US" dirty="0">
                <a:solidFill>
                  <a:srgbClr val="FF0000"/>
                </a:solidFill>
              </a:rPr>
              <a:t>the project charter </a:t>
            </a:r>
            <a:r>
              <a:rPr lang="en-US" dirty="0"/>
              <a:t>involves working with stakeholders to create the document that formally authorizes a project—the charter.</a:t>
            </a:r>
          </a:p>
          <a:p>
            <a:pPr algn="just"/>
            <a:r>
              <a:rPr lang="en-US" dirty="0" smtClean="0">
                <a:solidFill>
                  <a:srgbClr val="FF0000"/>
                </a:solidFill>
              </a:rPr>
              <a:t>Developing </a:t>
            </a:r>
            <a:r>
              <a:rPr lang="en-US" dirty="0">
                <a:solidFill>
                  <a:srgbClr val="FF0000"/>
                </a:solidFill>
              </a:rPr>
              <a:t>the project management plan </a:t>
            </a:r>
            <a:r>
              <a:rPr lang="en-US" dirty="0" smtClean="0"/>
              <a:t>involves coordinating </a:t>
            </a:r>
            <a:r>
              <a:rPr lang="en-US" dirty="0"/>
              <a:t>all planning efforts to create a consistent, coherent document—the project management plan.</a:t>
            </a:r>
          </a:p>
          <a:p>
            <a:r>
              <a:rPr lang="en-US" dirty="0" smtClean="0">
                <a:solidFill>
                  <a:srgbClr val="FF0000"/>
                </a:solidFill>
              </a:rPr>
              <a:t>Directing </a:t>
            </a:r>
            <a:r>
              <a:rPr lang="en-US" dirty="0">
                <a:solidFill>
                  <a:srgbClr val="FF0000"/>
                </a:solidFill>
              </a:rPr>
              <a:t>and managing project work </a:t>
            </a:r>
            <a:r>
              <a:rPr lang="en-US" dirty="0"/>
              <a:t>involves carrying out the project management plan by performing the activities included in it.</a:t>
            </a:r>
          </a:p>
        </p:txBody>
      </p:sp>
      <p:sp>
        <p:nvSpPr>
          <p:cNvPr id="13314" name="Footer Placeholder 3"/>
          <p:cNvSpPr>
            <a:spLocks noGrp="1"/>
          </p:cNvSpPr>
          <p:nvPr>
            <p:ph type="ftr" sz="quarter" idx="11"/>
          </p:nvPr>
        </p:nvSpPr>
        <p:spPr bwMode="auto">
          <a:xfrm>
            <a:off x="1524001" y="6400801"/>
            <a:ext cx="2350681" cy="4572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5A638D7D-6CB4-4E4C-8852-D9CAD93D4C45}" type="slidenum">
              <a:rPr lang="en-US"/>
              <a:pPr>
                <a:defRPr/>
              </a:pPr>
              <a:t>3</a:t>
            </a:fld>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0" name="Rectangle 2"/>
          <p:cNvSpPr>
            <a:spLocks noGrp="1" noChangeArrowheads="1"/>
          </p:cNvSpPr>
          <p:nvPr>
            <p:ph type="title"/>
          </p:nvPr>
        </p:nvSpPr>
        <p:spPr/>
        <p:txBody>
          <a:bodyPr>
            <a:normAutofit fontScale="90000"/>
          </a:bodyPr>
          <a:lstStyle/>
          <a:p>
            <a:r>
              <a:rPr lang="en-US" dirty="0"/>
              <a:t>Project Integration Management Processes,</a:t>
            </a:r>
            <a:r>
              <a:rPr lang="en-US" baseline="0" dirty="0"/>
              <a:t> Part 2</a:t>
            </a:r>
            <a:endParaRPr lang="en-US" dirty="0"/>
          </a:p>
        </p:txBody>
      </p:sp>
      <p:sp>
        <p:nvSpPr>
          <p:cNvPr id="14341" name="Rectangle 3"/>
          <p:cNvSpPr>
            <a:spLocks noGrp="1" noChangeArrowheads="1"/>
          </p:cNvSpPr>
          <p:nvPr>
            <p:ph idx="1"/>
          </p:nvPr>
        </p:nvSpPr>
        <p:spPr>
          <a:xfrm>
            <a:off x="914400" y="1743774"/>
            <a:ext cx="9829800" cy="4330891"/>
          </a:xfrm>
        </p:spPr>
        <p:txBody>
          <a:bodyPr>
            <a:normAutofit/>
          </a:bodyPr>
          <a:lstStyle/>
          <a:p>
            <a:r>
              <a:rPr lang="en-US" dirty="0">
                <a:solidFill>
                  <a:srgbClr val="FF0000"/>
                </a:solidFill>
              </a:rPr>
              <a:t>Monitoring and controlling project </a:t>
            </a:r>
            <a:r>
              <a:rPr lang="en-US" dirty="0"/>
              <a:t>work involves overseeing activities to meet the performance objectives of the project</a:t>
            </a:r>
          </a:p>
          <a:p>
            <a:r>
              <a:rPr lang="en-US" dirty="0">
                <a:solidFill>
                  <a:srgbClr val="FF0000"/>
                </a:solidFill>
              </a:rPr>
              <a:t>Performing integrated change</a:t>
            </a:r>
            <a:r>
              <a:rPr lang="en-US" dirty="0"/>
              <a:t> control involves identifying, evaluating, and managing changes throughout the project life cycle. </a:t>
            </a:r>
          </a:p>
          <a:p>
            <a:r>
              <a:rPr lang="en-US" dirty="0">
                <a:solidFill>
                  <a:srgbClr val="FF0000"/>
                </a:solidFill>
              </a:rPr>
              <a:t>Closing the project or phase </a:t>
            </a:r>
            <a:r>
              <a:rPr lang="en-US" dirty="0"/>
              <a:t>involves finalizing all activities to formally close the project or phase.</a:t>
            </a:r>
          </a:p>
        </p:txBody>
      </p:sp>
      <p:sp>
        <p:nvSpPr>
          <p:cNvPr id="14338" name="Footer Placeholder 3"/>
          <p:cNvSpPr>
            <a:spLocks noGrp="1"/>
          </p:cNvSpPr>
          <p:nvPr>
            <p:ph type="ftr" sz="quarter" idx="11"/>
          </p:nvPr>
        </p:nvSpPr>
        <p:spPr bwMode="auto">
          <a:xfrm>
            <a:off x="1524001" y="6400801"/>
            <a:ext cx="2350681" cy="4572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2D4A2C9D-D88A-4E49-9868-C35180CCD6D8}" type="slidenum">
              <a:rPr lang="en-US"/>
              <a:pPr>
                <a:defRPr/>
              </a:pPr>
              <a:t>4</a:t>
            </a:fld>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609600" y="152400"/>
            <a:ext cx="10439400" cy="1143000"/>
          </a:xfrm>
        </p:spPr>
        <p:txBody>
          <a:bodyPr>
            <a:normAutofit fontScale="90000"/>
          </a:bodyPr>
          <a:lstStyle/>
          <a:p>
            <a:r>
              <a:rPr lang="en-US" dirty="0"/>
              <a:t>Project Integration Management Summary</a:t>
            </a:r>
          </a:p>
        </p:txBody>
      </p:sp>
      <p:pic>
        <p:nvPicPr>
          <p:cNvPr id="3" name="Picture 2" descr="A step-by-step of Project progression from start to finish. The bottom has a solid arrow with Project Start on the left end and Project Finish on the right end. From top to bottom the steps are:, First step, Initiating (bold) Process: Develop project charter (bold), arrow; Second step, Planning (bold), Process:, Develop project management plan (bold), Output:, Project management plan, arrow; Third step, Executing (bold) Process:, Develop project management plan (bold), Output: Project management plan, arrow; Fourth step, Monitoring and Controlling (bold), Process:, Monitor and control project work (bold), Outputs: Change requests, project management plan updates, project document updates, Process:, Perform integrated change control (bold), Outputs: Approved change requests, change log, project management plan updates, project documents updates, arrow; Fifth step, Closing (bold), Process:, Close project or phase (bold), Outputs: Final product, service, or result transition; organizational process assets updates, arrow."/>
          <p:cNvPicPr>
            <a:picLocks noChangeAspect="1"/>
          </p:cNvPicPr>
          <p:nvPr/>
        </p:nvPicPr>
        <p:blipFill>
          <a:blip r:embed="rId2"/>
          <a:stretch>
            <a:fillRect/>
          </a:stretch>
        </p:blipFill>
        <p:spPr>
          <a:xfrm>
            <a:off x="990600" y="1295400"/>
            <a:ext cx="9296400" cy="5410200"/>
          </a:xfrm>
          <a:prstGeom prst="rect">
            <a:avLst/>
          </a:prstGeom>
        </p:spPr>
      </p:pic>
      <p:sp>
        <p:nvSpPr>
          <p:cNvPr id="5" name="Slide Number Placeholder 4"/>
          <p:cNvSpPr>
            <a:spLocks noGrp="1"/>
          </p:cNvSpPr>
          <p:nvPr>
            <p:ph type="sldNum" sz="quarter" idx="12"/>
          </p:nvPr>
        </p:nvSpPr>
        <p:spPr/>
        <p:txBody>
          <a:bodyPr/>
          <a:lstStyle/>
          <a:p>
            <a:pPr>
              <a:defRPr/>
            </a:pPr>
            <a:fld id="{B7F9B484-929C-4C7B-8580-630610CAFB17}" type="slidenum">
              <a:rPr lang="en-US" smtClean="0"/>
              <a:pPr>
                <a:defRPr/>
              </a:pPr>
              <a:t>5</a:t>
            </a:fld>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2" name="Rectangle 2"/>
          <p:cNvSpPr>
            <a:spLocks noGrp="1" noChangeArrowheads="1"/>
          </p:cNvSpPr>
          <p:nvPr>
            <p:ph type="title"/>
          </p:nvPr>
        </p:nvSpPr>
        <p:spPr>
          <a:xfrm>
            <a:off x="457200" y="152400"/>
            <a:ext cx="9753600" cy="1143000"/>
          </a:xfrm>
        </p:spPr>
        <p:txBody>
          <a:bodyPr>
            <a:normAutofit fontScale="90000"/>
          </a:bodyPr>
          <a:lstStyle/>
          <a:p>
            <a:r>
              <a:rPr lang="en-US" dirty="0">
                <a:solidFill>
                  <a:schemeClr val="tx1"/>
                </a:solidFill>
              </a:rPr>
              <a:t>Strategic Planning and Project Selection</a:t>
            </a:r>
          </a:p>
        </p:txBody>
      </p:sp>
      <p:sp>
        <p:nvSpPr>
          <p:cNvPr id="17413" name="Rectangle 3"/>
          <p:cNvSpPr>
            <a:spLocks noGrp="1" noChangeArrowheads="1"/>
          </p:cNvSpPr>
          <p:nvPr>
            <p:ph idx="1"/>
          </p:nvPr>
        </p:nvSpPr>
        <p:spPr>
          <a:xfrm>
            <a:off x="685800" y="1371600"/>
            <a:ext cx="10363200" cy="4572000"/>
          </a:xfrm>
        </p:spPr>
        <p:txBody>
          <a:bodyPr/>
          <a:lstStyle/>
          <a:p>
            <a:pPr algn="just"/>
            <a:r>
              <a:rPr lang="en-US" b="1" dirty="0"/>
              <a:t>Strategic planning</a:t>
            </a:r>
            <a:r>
              <a:rPr lang="en-US" dirty="0"/>
              <a:t> involves determining long-term objectives, predicting future trends, and projecting the need for new products and services</a:t>
            </a:r>
          </a:p>
          <a:p>
            <a:r>
              <a:rPr lang="en-US" dirty="0"/>
              <a:t>Organizations often perform a </a:t>
            </a:r>
            <a:r>
              <a:rPr lang="en-US" b="1" dirty="0"/>
              <a:t>SWOT analysis</a:t>
            </a:r>
          </a:p>
          <a:p>
            <a:pPr lvl="1"/>
            <a:r>
              <a:rPr lang="en-US" dirty="0"/>
              <a:t>analyzing </a:t>
            </a:r>
            <a:r>
              <a:rPr lang="en-US" b="1" dirty="0"/>
              <a:t>S</a:t>
            </a:r>
            <a:r>
              <a:rPr lang="en-US" dirty="0"/>
              <a:t>trengths, </a:t>
            </a:r>
            <a:r>
              <a:rPr lang="en-US" b="1" dirty="0"/>
              <a:t>W</a:t>
            </a:r>
            <a:r>
              <a:rPr lang="en-US" dirty="0"/>
              <a:t>eaknesses, </a:t>
            </a:r>
            <a:r>
              <a:rPr lang="en-US" b="1" dirty="0"/>
              <a:t>O</a:t>
            </a:r>
            <a:r>
              <a:rPr lang="en-US" dirty="0"/>
              <a:t>pportunities, and </a:t>
            </a:r>
            <a:r>
              <a:rPr lang="en-US" b="1" dirty="0"/>
              <a:t>T</a:t>
            </a:r>
            <a:r>
              <a:rPr lang="en-US" dirty="0"/>
              <a:t>hreats</a:t>
            </a:r>
          </a:p>
          <a:p>
            <a:r>
              <a:rPr lang="en-US" dirty="0"/>
              <a:t>As part of strategic planning, organizations</a:t>
            </a:r>
          </a:p>
          <a:p>
            <a:pPr lvl="1"/>
            <a:r>
              <a:rPr lang="en-US" dirty="0"/>
              <a:t>identify potential projects</a:t>
            </a:r>
          </a:p>
          <a:p>
            <a:pPr lvl="1"/>
            <a:r>
              <a:rPr lang="en-US" dirty="0"/>
              <a:t>use realistic methods to select which projects to work on</a:t>
            </a:r>
          </a:p>
          <a:p>
            <a:pPr lvl="1"/>
            <a:r>
              <a:rPr lang="en-US" dirty="0"/>
              <a:t>formalize project initiation by issuing a project charter</a:t>
            </a:r>
          </a:p>
        </p:txBody>
      </p:sp>
      <p:sp>
        <p:nvSpPr>
          <p:cNvPr id="17410"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F562F50D-7147-47A1-9605-3B4774429FA5}" type="slidenum">
              <a:rPr lang="en-US"/>
              <a:pPr>
                <a:defRPr/>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381000"/>
            <a:ext cx="11023600" cy="1143000"/>
          </a:xfrm>
        </p:spPr>
        <p:txBody>
          <a:bodyPr>
            <a:noAutofit/>
          </a:bodyPr>
          <a:lstStyle/>
          <a:p>
            <a:r>
              <a:rPr lang="en-US" sz="3200" dirty="0"/>
              <a:t>Mind Map of a SWOT Analysis to Help Identify Potential Projects</a:t>
            </a:r>
          </a:p>
        </p:txBody>
      </p:sp>
      <p:pic>
        <p:nvPicPr>
          <p:cNvPr id="2" name="Picture 1" descr="A S W O T (strengths, weaknesses, opportunities, threats) analysis of a project with possible solutions. They are: Strengths- Numerous contacts, Strong sales and interpersonal skills, Strong technical/software skills, Good sample projects. Weaknesses: Accountant with no accounting or finance experience; marketing plan with no clear marketing strategy and little money; and no website. The threats are: lots of competition; several more established competitors; and high risk business. Opportunities: Current client wants us to bid on project; project proposal where the industry continues to grow; and conference promotions at two major conferenc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0600" y="1981201"/>
            <a:ext cx="10134599" cy="4038600"/>
          </a:xfrm>
          <a:prstGeom prst="rect">
            <a:avLst/>
          </a:prstGeom>
        </p:spPr>
      </p:pic>
      <p:sp>
        <p:nvSpPr>
          <p:cNvPr id="3" name="Footer Placeholder 2"/>
          <p:cNvSpPr>
            <a:spLocks noGrp="1"/>
          </p:cNvSpPr>
          <p:nvPr>
            <p:ph type="ftr" sz="quarter" idx="11"/>
          </p:nvPr>
        </p:nvSpPr>
        <p:spPr>
          <a:xfrm>
            <a:off x="1524001" y="6400801"/>
            <a:ext cx="2350681" cy="457200"/>
          </a:xfrm>
        </p:spPr>
        <p:txBody>
          <a:bodyPr/>
          <a:lstStyle/>
          <a:p>
            <a:pPr>
              <a:defRPr/>
            </a:pPr>
            <a:r>
              <a:rPr lang="en-US" dirty="0"/>
              <a:t>Information Technology Project Management, Eighth Edition</a:t>
            </a:r>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7</a:t>
            </a:fld>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4" name="Rectangle 2"/>
          <p:cNvSpPr>
            <a:spLocks noGrp="1" noChangeArrowheads="1"/>
          </p:cNvSpPr>
          <p:nvPr>
            <p:ph type="title"/>
          </p:nvPr>
        </p:nvSpPr>
        <p:spPr/>
        <p:txBody>
          <a:bodyPr/>
          <a:lstStyle/>
          <a:p>
            <a:r>
              <a:rPr lang="en-US" dirty="0">
                <a:solidFill>
                  <a:srgbClr val="7030A0"/>
                </a:solidFill>
              </a:rPr>
              <a:t>Methods for Selecting Projects</a:t>
            </a:r>
          </a:p>
        </p:txBody>
      </p:sp>
      <p:sp>
        <p:nvSpPr>
          <p:cNvPr id="20485" name="Rectangle 3"/>
          <p:cNvSpPr>
            <a:spLocks noGrp="1" noChangeArrowheads="1"/>
          </p:cNvSpPr>
          <p:nvPr>
            <p:ph idx="1"/>
          </p:nvPr>
        </p:nvSpPr>
        <p:spPr>
          <a:xfrm>
            <a:off x="838200" y="1481328"/>
            <a:ext cx="10058400" cy="4005071"/>
          </a:xfrm>
        </p:spPr>
        <p:txBody>
          <a:bodyPr/>
          <a:lstStyle/>
          <a:p>
            <a:pPr marL="609600" indent="-609600" algn="just">
              <a:lnSpc>
                <a:spcPct val="90000"/>
              </a:lnSpc>
            </a:pPr>
            <a:r>
              <a:rPr lang="en-US" dirty="0"/>
              <a:t>There are usually more projects than available time and resources to implement them</a:t>
            </a:r>
          </a:p>
          <a:p>
            <a:pPr marL="609600" indent="-609600">
              <a:lnSpc>
                <a:spcPct val="90000"/>
              </a:lnSpc>
            </a:pPr>
            <a:r>
              <a:rPr lang="en-US" dirty="0"/>
              <a:t>Methods for selecting projects include:</a:t>
            </a:r>
          </a:p>
          <a:p>
            <a:pPr marL="990600" lvl="1" indent="-533400">
              <a:lnSpc>
                <a:spcPct val="90000"/>
              </a:lnSpc>
            </a:pPr>
            <a:r>
              <a:rPr lang="en-US" dirty="0">
                <a:solidFill>
                  <a:srgbClr val="C00000"/>
                </a:solidFill>
              </a:rPr>
              <a:t>F</a:t>
            </a:r>
            <a:r>
              <a:rPr lang="en-US" dirty="0" smtClean="0">
                <a:solidFill>
                  <a:srgbClr val="C00000"/>
                </a:solidFill>
              </a:rPr>
              <a:t>ocusing </a:t>
            </a:r>
            <a:r>
              <a:rPr lang="en-US" dirty="0">
                <a:solidFill>
                  <a:srgbClr val="C00000"/>
                </a:solidFill>
              </a:rPr>
              <a:t>on broad organizational needs</a:t>
            </a:r>
          </a:p>
          <a:p>
            <a:pPr marL="990600" lvl="1" indent="-533400">
              <a:lnSpc>
                <a:spcPct val="90000"/>
              </a:lnSpc>
            </a:pPr>
            <a:r>
              <a:rPr lang="en-US" dirty="0">
                <a:solidFill>
                  <a:srgbClr val="C00000"/>
                </a:solidFill>
              </a:rPr>
              <a:t>C</a:t>
            </a:r>
            <a:r>
              <a:rPr lang="en-US" dirty="0" smtClean="0">
                <a:solidFill>
                  <a:srgbClr val="C00000"/>
                </a:solidFill>
              </a:rPr>
              <a:t>ategorizing </a:t>
            </a:r>
            <a:r>
              <a:rPr lang="en-US" dirty="0">
                <a:solidFill>
                  <a:srgbClr val="C00000"/>
                </a:solidFill>
              </a:rPr>
              <a:t>information technology projects</a:t>
            </a:r>
          </a:p>
          <a:p>
            <a:pPr marL="990600" lvl="1" indent="-533400">
              <a:lnSpc>
                <a:spcPct val="90000"/>
              </a:lnSpc>
            </a:pPr>
            <a:r>
              <a:rPr lang="en-US" dirty="0">
                <a:solidFill>
                  <a:srgbClr val="C00000"/>
                </a:solidFill>
              </a:rPr>
              <a:t>P</a:t>
            </a:r>
            <a:r>
              <a:rPr lang="en-US" dirty="0" smtClean="0">
                <a:solidFill>
                  <a:srgbClr val="C00000"/>
                </a:solidFill>
              </a:rPr>
              <a:t>erforming </a:t>
            </a:r>
            <a:r>
              <a:rPr lang="en-US" dirty="0">
                <a:solidFill>
                  <a:srgbClr val="C00000"/>
                </a:solidFill>
              </a:rPr>
              <a:t>net present value or other financial analyses</a:t>
            </a:r>
          </a:p>
          <a:p>
            <a:pPr marL="990600" lvl="1" indent="-533400">
              <a:lnSpc>
                <a:spcPct val="90000"/>
              </a:lnSpc>
            </a:pPr>
            <a:r>
              <a:rPr lang="en-US" dirty="0">
                <a:solidFill>
                  <a:srgbClr val="C00000"/>
                </a:solidFill>
              </a:rPr>
              <a:t>U</a:t>
            </a:r>
            <a:r>
              <a:rPr lang="en-US" dirty="0" smtClean="0">
                <a:solidFill>
                  <a:srgbClr val="C00000"/>
                </a:solidFill>
              </a:rPr>
              <a:t>sing </a:t>
            </a:r>
            <a:r>
              <a:rPr lang="en-US" dirty="0">
                <a:solidFill>
                  <a:srgbClr val="C00000"/>
                </a:solidFill>
              </a:rPr>
              <a:t>a weighted scoring model</a:t>
            </a:r>
          </a:p>
          <a:p>
            <a:pPr marL="990600" lvl="1" indent="-533400">
              <a:lnSpc>
                <a:spcPct val="90000"/>
              </a:lnSpc>
            </a:pPr>
            <a:r>
              <a:rPr lang="en-US" dirty="0">
                <a:solidFill>
                  <a:srgbClr val="C00000"/>
                </a:solidFill>
              </a:rPr>
              <a:t>I</a:t>
            </a:r>
            <a:r>
              <a:rPr lang="en-US" dirty="0" smtClean="0">
                <a:solidFill>
                  <a:srgbClr val="C00000"/>
                </a:solidFill>
              </a:rPr>
              <a:t>mplementing </a:t>
            </a:r>
            <a:r>
              <a:rPr lang="en-US" dirty="0">
                <a:solidFill>
                  <a:srgbClr val="C00000"/>
                </a:solidFill>
              </a:rPr>
              <a:t>a balanced scorecard</a:t>
            </a:r>
          </a:p>
        </p:txBody>
      </p:sp>
      <p:sp>
        <p:nvSpPr>
          <p:cNvPr id="20482" name="Footer Placeholder 3"/>
          <p:cNvSpPr>
            <a:spLocks noGrp="1"/>
          </p:cNvSpPr>
          <p:nvPr>
            <p:ph type="ftr" sz="quarter" idx="11"/>
          </p:nvPr>
        </p:nvSpPr>
        <p:spPr bwMode="auto">
          <a:xfrm>
            <a:off x="1524001" y="6248401"/>
            <a:ext cx="2350681" cy="6096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FEE05452-1580-4FA5-B9D2-8062EB9CC5EC}" type="slidenum">
              <a:rPr lang="en-US"/>
              <a:pPr>
                <a:defRPr/>
              </a:pPr>
              <a:t>8</a:t>
            </a:fld>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8" name="Rectangle 2"/>
          <p:cNvSpPr>
            <a:spLocks noGrp="1" noChangeArrowheads="1"/>
          </p:cNvSpPr>
          <p:nvPr>
            <p:ph type="title"/>
          </p:nvPr>
        </p:nvSpPr>
        <p:spPr>
          <a:xfrm>
            <a:off x="457200" y="381000"/>
            <a:ext cx="10210800" cy="715962"/>
          </a:xfrm>
        </p:spPr>
        <p:txBody>
          <a:bodyPr>
            <a:noAutofit/>
          </a:bodyPr>
          <a:lstStyle/>
          <a:p>
            <a:r>
              <a:rPr lang="en-US" sz="3500" dirty="0">
                <a:solidFill>
                  <a:srgbClr val="C00000"/>
                </a:solidFill>
              </a:rPr>
              <a:t>Focusing on Broad Organizational Needs</a:t>
            </a:r>
          </a:p>
        </p:txBody>
      </p:sp>
      <p:sp>
        <p:nvSpPr>
          <p:cNvPr id="21509" name="Rectangle 3"/>
          <p:cNvSpPr>
            <a:spLocks noGrp="1" noChangeArrowheads="1"/>
          </p:cNvSpPr>
          <p:nvPr>
            <p:ph idx="1"/>
          </p:nvPr>
        </p:nvSpPr>
        <p:spPr>
          <a:xfrm>
            <a:off x="609600" y="1481329"/>
            <a:ext cx="10287000" cy="3700272"/>
          </a:xfrm>
        </p:spPr>
        <p:txBody>
          <a:bodyPr/>
          <a:lstStyle/>
          <a:p>
            <a:pPr algn="just">
              <a:lnSpc>
                <a:spcPct val="90000"/>
              </a:lnSpc>
            </a:pPr>
            <a:r>
              <a:rPr lang="en-US" dirty="0"/>
              <a:t>It is often difficult to provide strong justification for many IT projects, but everyone agrees they have a high value</a:t>
            </a:r>
          </a:p>
          <a:p>
            <a:pPr>
              <a:lnSpc>
                <a:spcPct val="90000"/>
              </a:lnSpc>
            </a:pPr>
            <a:endParaRPr lang="en-US" dirty="0"/>
          </a:p>
          <a:p>
            <a:pPr>
              <a:lnSpc>
                <a:spcPct val="90000"/>
              </a:lnSpc>
            </a:pPr>
            <a:r>
              <a:rPr lang="en-US" dirty="0"/>
              <a:t>Three important criteria for projects:</a:t>
            </a:r>
          </a:p>
          <a:p>
            <a:pPr lvl="1">
              <a:lnSpc>
                <a:spcPct val="90000"/>
              </a:lnSpc>
            </a:pPr>
            <a:r>
              <a:rPr lang="en-US" dirty="0"/>
              <a:t>There is a</a:t>
            </a:r>
            <a:r>
              <a:rPr lang="en-US" b="1" dirty="0"/>
              <a:t> </a:t>
            </a:r>
            <a:r>
              <a:rPr lang="en-US" b="1" i="1" dirty="0"/>
              <a:t>need</a:t>
            </a:r>
            <a:r>
              <a:rPr lang="en-US" dirty="0"/>
              <a:t> for the project</a:t>
            </a:r>
          </a:p>
          <a:p>
            <a:pPr lvl="1">
              <a:lnSpc>
                <a:spcPct val="90000"/>
              </a:lnSpc>
            </a:pPr>
            <a:r>
              <a:rPr lang="en-US" dirty="0"/>
              <a:t>There are</a:t>
            </a:r>
            <a:r>
              <a:rPr lang="en-US" b="1" dirty="0"/>
              <a:t> </a:t>
            </a:r>
            <a:r>
              <a:rPr lang="en-US" b="1" i="1" dirty="0"/>
              <a:t>funds</a:t>
            </a:r>
            <a:r>
              <a:rPr lang="en-US" dirty="0"/>
              <a:t> available</a:t>
            </a:r>
          </a:p>
          <a:p>
            <a:pPr lvl="1">
              <a:lnSpc>
                <a:spcPct val="90000"/>
              </a:lnSpc>
            </a:pPr>
            <a:r>
              <a:rPr lang="en-US" dirty="0"/>
              <a:t>There’s a strong </a:t>
            </a:r>
            <a:r>
              <a:rPr lang="en-US" b="1" i="1" dirty="0"/>
              <a:t>will</a:t>
            </a:r>
            <a:r>
              <a:rPr lang="en-US" b="1" dirty="0"/>
              <a:t> </a:t>
            </a:r>
            <a:r>
              <a:rPr lang="en-US" dirty="0"/>
              <a:t>to make the project succeed</a:t>
            </a:r>
          </a:p>
        </p:txBody>
      </p:sp>
      <p:sp>
        <p:nvSpPr>
          <p:cNvPr id="21506"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BD863B1E-0E63-4264-9EFC-2B1CDFD972A3}" type="slidenum">
              <a:rPr lang="en-US"/>
              <a:pPr>
                <a:defRPr/>
              </a:pPr>
              <a:t>9</a:t>
            </a:fld>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2" name="Rectangle 2"/>
          <p:cNvSpPr>
            <a:spLocks noGrp="1" noChangeArrowheads="1"/>
          </p:cNvSpPr>
          <p:nvPr>
            <p:ph type="title"/>
          </p:nvPr>
        </p:nvSpPr>
        <p:spPr>
          <a:xfrm>
            <a:off x="609600" y="533400"/>
            <a:ext cx="9829800" cy="673100"/>
          </a:xfrm>
        </p:spPr>
        <p:txBody>
          <a:bodyPr>
            <a:normAutofit fontScale="90000"/>
          </a:bodyPr>
          <a:lstStyle/>
          <a:p>
            <a:r>
              <a:rPr lang="en-US" dirty="0">
                <a:solidFill>
                  <a:srgbClr val="C00000"/>
                </a:solidFill>
              </a:rPr>
              <a:t>Categorizing IT Projects</a:t>
            </a:r>
          </a:p>
        </p:txBody>
      </p:sp>
      <p:sp>
        <p:nvSpPr>
          <p:cNvPr id="22533" name="Rectangle 3"/>
          <p:cNvSpPr>
            <a:spLocks noGrp="1" noChangeArrowheads="1"/>
          </p:cNvSpPr>
          <p:nvPr>
            <p:ph idx="1"/>
          </p:nvPr>
        </p:nvSpPr>
        <p:spPr>
          <a:xfrm>
            <a:off x="609600" y="1655064"/>
            <a:ext cx="9601200" cy="4136136"/>
          </a:xfrm>
        </p:spPr>
        <p:txBody>
          <a:bodyPr>
            <a:normAutofit/>
          </a:bodyPr>
          <a:lstStyle/>
          <a:p>
            <a:r>
              <a:rPr lang="en-US" dirty="0"/>
              <a:t>One categorization is whether the project addresses</a:t>
            </a:r>
          </a:p>
          <a:p>
            <a:pPr lvl="1"/>
            <a:r>
              <a:rPr lang="en-US" dirty="0">
                <a:solidFill>
                  <a:srgbClr val="FF0000"/>
                </a:solidFill>
              </a:rPr>
              <a:t>a </a:t>
            </a:r>
            <a:r>
              <a:rPr lang="en-US" dirty="0" smtClean="0">
                <a:solidFill>
                  <a:srgbClr val="FF0000"/>
                </a:solidFill>
              </a:rPr>
              <a:t>problem </a:t>
            </a:r>
            <a:r>
              <a:rPr lang="en-US" dirty="0" smtClean="0"/>
              <a:t>(</a:t>
            </a:r>
            <a:r>
              <a:rPr lang="en-US" dirty="0"/>
              <a:t>solve an existing issue that negatively </a:t>
            </a:r>
            <a:r>
              <a:rPr lang="en-US" dirty="0" smtClean="0"/>
              <a:t>affects)</a:t>
            </a:r>
            <a:endParaRPr lang="en-US" dirty="0"/>
          </a:p>
          <a:p>
            <a:pPr lvl="1"/>
            <a:r>
              <a:rPr lang="en-US" dirty="0">
                <a:solidFill>
                  <a:srgbClr val="FF0000"/>
                </a:solidFill>
              </a:rPr>
              <a:t>an </a:t>
            </a:r>
            <a:r>
              <a:rPr lang="en-US" dirty="0" smtClean="0">
                <a:solidFill>
                  <a:srgbClr val="FF0000"/>
                </a:solidFill>
              </a:rPr>
              <a:t>opportunity</a:t>
            </a:r>
            <a:r>
              <a:rPr lang="en-US" dirty="0">
                <a:solidFill>
                  <a:srgbClr val="FF0000"/>
                </a:solidFill>
              </a:rPr>
              <a:t> </a:t>
            </a:r>
            <a:r>
              <a:rPr lang="en-US" dirty="0" smtClean="0"/>
              <a:t>(</a:t>
            </a:r>
            <a:r>
              <a:rPr lang="en-US" dirty="0"/>
              <a:t>take advantage of new technologies, trends, or business chances to improve competitiveness or growth)</a:t>
            </a:r>
            <a:endParaRPr lang="en-US" dirty="0"/>
          </a:p>
          <a:p>
            <a:pPr lvl="1"/>
            <a:r>
              <a:rPr lang="en-US" dirty="0">
                <a:solidFill>
                  <a:srgbClr val="FF0000"/>
                </a:solidFill>
              </a:rPr>
              <a:t>a </a:t>
            </a:r>
            <a:r>
              <a:rPr lang="en-US" dirty="0" smtClean="0">
                <a:solidFill>
                  <a:srgbClr val="FF0000"/>
                </a:solidFill>
              </a:rPr>
              <a:t>directive </a:t>
            </a:r>
            <a:r>
              <a:rPr lang="en-US" dirty="0" smtClean="0"/>
              <a:t>(</a:t>
            </a:r>
            <a:r>
              <a:rPr lang="en-US" dirty="0" smtClean="0"/>
              <a:t>initiated </a:t>
            </a:r>
            <a:r>
              <a:rPr lang="en-US" dirty="0"/>
              <a:t>because of a mandate, regulation, or top-level management order, not necessarily because of a problem or </a:t>
            </a:r>
            <a:r>
              <a:rPr lang="en-US" dirty="0" smtClean="0"/>
              <a:t>opportunity)</a:t>
            </a:r>
            <a:endParaRPr lang="en-US" dirty="0">
              <a:solidFill>
                <a:srgbClr val="FF0000"/>
              </a:solidFill>
            </a:endParaRPr>
          </a:p>
          <a:p>
            <a:r>
              <a:rPr lang="en-US" dirty="0"/>
              <a:t>Another categorization is how long it will take to do and when it is needed</a:t>
            </a:r>
          </a:p>
          <a:p>
            <a:r>
              <a:rPr lang="en-US" dirty="0"/>
              <a:t>Another is the overall priority of the project</a:t>
            </a:r>
          </a:p>
        </p:txBody>
      </p:sp>
      <p:sp>
        <p:nvSpPr>
          <p:cNvPr id="22530"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4742D106-47AC-47A2-94D4-42582EA97261}" type="slidenum">
              <a:rPr lang="en-US"/>
              <a:pPr>
                <a:defRPr/>
              </a:pPr>
              <a:t>10</a:t>
            </a:fld>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a:xfrm>
            <a:off x="661737" y="609600"/>
            <a:ext cx="9982200" cy="615950"/>
          </a:xfrm>
        </p:spPr>
        <p:txBody>
          <a:bodyPr>
            <a:normAutofit fontScale="90000"/>
          </a:bodyPr>
          <a:lstStyle/>
          <a:p>
            <a:r>
              <a:rPr lang="en-US" dirty="0">
                <a:solidFill>
                  <a:srgbClr val="C00000"/>
                </a:solidFill>
              </a:rPr>
              <a:t>Financial Analysis of Projects</a:t>
            </a:r>
          </a:p>
        </p:txBody>
      </p:sp>
      <p:sp>
        <p:nvSpPr>
          <p:cNvPr id="23557" name="Rectangle 3"/>
          <p:cNvSpPr>
            <a:spLocks noGrp="1" noChangeArrowheads="1"/>
          </p:cNvSpPr>
          <p:nvPr>
            <p:ph idx="1"/>
          </p:nvPr>
        </p:nvSpPr>
        <p:spPr>
          <a:xfrm>
            <a:off x="762000" y="1752600"/>
            <a:ext cx="9906000" cy="3200400"/>
          </a:xfrm>
        </p:spPr>
        <p:txBody>
          <a:bodyPr/>
          <a:lstStyle/>
          <a:p>
            <a:r>
              <a:rPr lang="en-US" dirty="0"/>
              <a:t>Financial considerations are often an important consideration in selecting projects</a:t>
            </a:r>
          </a:p>
          <a:p>
            <a:r>
              <a:rPr lang="en-US" dirty="0"/>
              <a:t>Three primary methods for determining the projected financial value of projects:</a:t>
            </a:r>
          </a:p>
          <a:p>
            <a:pPr lvl="1"/>
            <a:r>
              <a:rPr lang="en-US" dirty="0">
                <a:solidFill>
                  <a:schemeClr val="accent4"/>
                </a:solidFill>
              </a:rPr>
              <a:t>Net present value (NPV) analysis</a:t>
            </a:r>
          </a:p>
          <a:p>
            <a:pPr lvl="1"/>
            <a:r>
              <a:rPr lang="en-US" dirty="0">
                <a:solidFill>
                  <a:schemeClr val="accent4"/>
                </a:solidFill>
              </a:rPr>
              <a:t>Return on investment (ROI)</a:t>
            </a:r>
          </a:p>
          <a:p>
            <a:pPr lvl="1"/>
            <a:r>
              <a:rPr lang="en-US" dirty="0">
                <a:solidFill>
                  <a:schemeClr val="accent4"/>
                </a:solidFill>
              </a:rPr>
              <a:t>Payback analysis</a:t>
            </a:r>
          </a:p>
        </p:txBody>
      </p:sp>
      <p:sp>
        <p:nvSpPr>
          <p:cNvPr id="23554"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588128BF-149D-4319-94D1-D4CE54B0BB53}" type="slidenum">
              <a:rPr lang="en-US"/>
              <a:pPr>
                <a:defRPr/>
              </a:pPr>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2"/>
          <p:cNvSpPr>
            <a:spLocks noGrp="1" noChangeArrowheads="1"/>
          </p:cNvSpPr>
          <p:nvPr>
            <p:ph type="title"/>
          </p:nvPr>
        </p:nvSpPr>
        <p:spPr>
          <a:xfrm>
            <a:off x="1066800" y="641350"/>
            <a:ext cx="8686800" cy="615950"/>
          </a:xfrm>
        </p:spPr>
        <p:txBody>
          <a:bodyPr>
            <a:normAutofit fontScale="90000"/>
          </a:bodyPr>
          <a:lstStyle/>
          <a:p>
            <a:r>
              <a:rPr lang="en-US" dirty="0">
                <a:solidFill>
                  <a:schemeClr val="accent4"/>
                </a:solidFill>
              </a:rPr>
              <a:t>Net Present Value Analysis</a:t>
            </a:r>
          </a:p>
        </p:txBody>
      </p:sp>
      <p:sp>
        <p:nvSpPr>
          <p:cNvPr id="24581" name="Rectangle 3"/>
          <p:cNvSpPr>
            <a:spLocks noGrp="1" noChangeArrowheads="1"/>
          </p:cNvSpPr>
          <p:nvPr>
            <p:ph idx="1"/>
          </p:nvPr>
        </p:nvSpPr>
        <p:spPr>
          <a:xfrm>
            <a:off x="1066800" y="1752600"/>
            <a:ext cx="10058400" cy="4267200"/>
          </a:xfrm>
        </p:spPr>
        <p:txBody>
          <a:bodyPr>
            <a:normAutofit fontScale="92500" lnSpcReduction="10000"/>
          </a:bodyPr>
          <a:lstStyle/>
          <a:p>
            <a:pPr algn="just"/>
            <a:r>
              <a:rPr lang="en-US" b="1" dirty="0"/>
              <a:t>Net present value</a:t>
            </a:r>
            <a:r>
              <a:rPr lang="en-US" dirty="0"/>
              <a:t> (NPV) analysis is a method of calculating the expected net monetary gain or loss from a project by discounting all expected future cash inflows and outflows to the present point in time</a:t>
            </a:r>
          </a:p>
          <a:p>
            <a:pPr algn="just"/>
            <a:r>
              <a:rPr lang="en-US" dirty="0"/>
              <a:t>It is a </a:t>
            </a:r>
            <a:r>
              <a:rPr lang="en-US" b="1" dirty="0"/>
              <a:t>financial metric</a:t>
            </a:r>
            <a:r>
              <a:rPr lang="en-US" dirty="0"/>
              <a:t> used to evaluate the profitability of an investment, project, or decision by comparing the value of expected future cash inflows to the initial investment cost, after adjusting for the </a:t>
            </a:r>
            <a:r>
              <a:rPr lang="en-US" b="1" dirty="0"/>
              <a:t>time value of money</a:t>
            </a:r>
            <a:r>
              <a:rPr lang="en-US" dirty="0"/>
              <a:t>.</a:t>
            </a:r>
          </a:p>
          <a:p>
            <a:r>
              <a:rPr lang="en-US" dirty="0"/>
              <a:t>Projects with a positive NPV should be considered if financial value is a key criterion</a:t>
            </a:r>
          </a:p>
          <a:p>
            <a:r>
              <a:rPr lang="en-US" dirty="0"/>
              <a:t>The higher the NPV, the better</a:t>
            </a:r>
          </a:p>
        </p:txBody>
      </p:sp>
      <p:sp>
        <p:nvSpPr>
          <p:cNvPr id="24578"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DEEB2DC9-A02A-47AF-ADCC-E99239ADE465}" type="slidenum">
              <a:rPr lang="en-US"/>
              <a:pPr>
                <a:defRPr/>
              </a:pPr>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B89CCC50-4C56-400E-BD87-178FCF0AFBB8}"/>
              </a:ext>
            </a:extLst>
          </p:cNvPr>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a:extLst>
              <a:ext uri="{FF2B5EF4-FFF2-40B4-BE49-F238E27FC236}">
                <a16:creationId xmlns:a16="http://schemas.microsoft.com/office/drawing/2014/main" id="{7ECC46A0-0004-4490-A26E-75813D903C6A}"/>
              </a:ext>
            </a:extLst>
          </p:cNvPr>
          <p:cNvSpPr>
            <a:spLocks noGrp="1"/>
          </p:cNvSpPr>
          <p:nvPr>
            <p:ph type="sldNum" sz="quarter" idx="12"/>
          </p:nvPr>
        </p:nvSpPr>
        <p:spPr/>
        <p:txBody>
          <a:bodyPr/>
          <a:lstStyle/>
          <a:p>
            <a:pPr>
              <a:defRPr/>
            </a:pPr>
            <a:fld id="{1953F6A9-037C-4679-A974-5A2F60203CED}" type="slidenum">
              <a:rPr lang="en-US" smtClean="0"/>
              <a:pPr>
                <a:defRPr/>
              </a:pPr>
              <a:t>13</a:t>
            </a:fld>
            <a:endParaRPr lang="en-US" dirty="0"/>
          </a:p>
        </p:txBody>
      </p:sp>
      <p:sp>
        <p:nvSpPr>
          <p:cNvPr id="5" name="Title 4">
            <a:extLst>
              <a:ext uri="{FF2B5EF4-FFF2-40B4-BE49-F238E27FC236}">
                <a16:creationId xmlns:a16="http://schemas.microsoft.com/office/drawing/2014/main" id="{AA7A39E3-65A1-4BB3-AEE4-A2D6CE050153}"/>
              </a:ext>
            </a:extLst>
          </p:cNvPr>
          <p:cNvSpPr>
            <a:spLocks noGrp="1"/>
          </p:cNvSpPr>
          <p:nvPr>
            <p:ph type="title"/>
          </p:nvPr>
        </p:nvSpPr>
        <p:spPr/>
        <p:txBody>
          <a:bodyPr/>
          <a:lstStyle/>
          <a:p>
            <a:r>
              <a:rPr lang="en-US" dirty="0">
                <a:solidFill>
                  <a:schemeClr val="accent4"/>
                </a:solidFill>
              </a:rPr>
              <a:t>Net Present Value Analysis</a:t>
            </a:r>
            <a:endParaRPr lang="en-US" dirty="0"/>
          </a:p>
        </p:txBody>
      </p:sp>
      <p:pic>
        <p:nvPicPr>
          <p:cNvPr id="8" name="Picture 7">
            <a:extLst>
              <a:ext uri="{FF2B5EF4-FFF2-40B4-BE49-F238E27FC236}">
                <a16:creationId xmlns:a16="http://schemas.microsoft.com/office/drawing/2014/main" id="{D4FB7C26-0EA3-4EBE-B0E7-735CED5652A7}"/>
              </a:ext>
            </a:extLst>
          </p:cNvPr>
          <p:cNvPicPr>
            <a:picLocks noChangeAspect="1"/>
          </p:cNvPicPr>
          <p:nvPr/>
        </p:nvPicPr>
        <p:blipFill>
          <a:blip r:embed="rId2"/>
          <a:stretch>
            <a:fillRect/>
          </a:stretch>
        </p:blipFill>
        <p:spPr>
          <a:xfrm>
            <a:off x="1676400" y="1417638"/>
            <a:ext cx="8719879" cy="4916663"/>
          </a:xfrm>
          <a:prstGeom prst="rect">
            <a:avLst/>
          </a:prstGeom>
        </p:spPr>
      </p:pic>
    </p:spTree>
    <p:extLst>
      <p:ext uri="{BB962C8B-B14F-4D97-AF65-F5344CB8AC3E}">
        <p14:creationId xmlns:p14="http://schemas.microsoft.com/office/powerpoint/2010/main" val="14711305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524BAA9-531A-40EF-996E-90615001389F}"/>
              </a:ext>
            </a:extLst>
          </p:cNvPr>
          <p:cNvSpPr>
            <a:spLocks noGrp="1"/>
          </p:cNvSpPr>
          <p:nvPr>
            <p:ph idx="1"/>
          </p:nvPr>
        </p:nvSpPr>
        <p:spPr/>
        <p:txBody>
          <a:bodyPr/>
          <a:lstStyle/>
          <a:p>
            <a:r>
              <a:rPr lang="en-US" dirty="0"/>
              <a:t>Suppose you invest </a:t>
            </a:r>
            <a:r>
              <a:rPr lang="en-US" b="1" dirty="0"/>
              <a:t>$1,000</a:t>
            </a:r>
            <a:r>
              <a:rPr lang="en-US" dirty="0"/>
              <a:t> today in a project that will return </a:t>
            </a:r>
            <a:r>
              <a:rPr lang="en-US" b="1" dirty="0"/>
              <a:t>$400 per year</a:t>
            </a:r>
            <a:r>
              <a:rPr lang="en-US" dirty="0"/>
              <a:t> for 3 years. The discount rate is </a:t>
            </a:r>
            <a:r>
              <a:rPr lang="en-US" b="1" dirty="0"/>
              <a:t>10%</a:t>
            </a:r>
            <a:r>
              <a:rPr lang="en-US" dirty="0"/>
              <a:t>.</a:t>
            </a:r>
          </a:p>
          <a:p>
            <a:endParaRPr lang="en-US" dirty="0"/>
          </a:p>
          <a:p>
            <a:endParaRPr lang="en-US" dirty="0"/>
          </a:p>
        </p:txBody>
      </p:sp>
      <p:sp>
        <p:nvSpPr>
          <p:cNvPr id="3" name="Footer Placeholder 2">
            <a:extLst>
              <a:ext uri="{FF2B5EF4-FFF2-40B4-BE49-F238E27FC236}">
                <a16:creationId xmlns:a16="http://schemas.microsoft.com/office/drawing/2014/main" id="{A55D1154-2CE6-45E7-9E8E-082FAA5549EB}"/>
              </a:ext>
            </a:extLst>
          </p:cNvPr>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a:extLst>
              <a:ext uri="{FF2B5EF4-FFF2-40B4-BE49-F238E27FC236}">
                <a16:creationId xmlns:a16="http://schemas.microsoft.com/office/drawing/2014/main" id="{5FA47A85-BFB6-4E10-B645-C1C0876A071A}"/>
              </a:ext>
            </a:extLst>
          </p:cNvPr>
          <p:cNvSpPr>
            <a:spLocks noGrp="1"/>
          </p:cNvSpPr>
          <p:nvPr>
            <p:ph type="sldNum" sz="quarter" idx="12"/>
          </p:nvPr>
        </p:nvSpPr>
        <p:spPr/>
        <p:txBody>
          <a:bodyPr/>
          <a:lstStyle/>
          <a:p>
            <a:pPr>
              <a:defRPr/>
            </a:pPr>
            <a:fld id="{1953F6A9-037C-4679-A974-5A2F60203CED}" type="slidenum">
              <a:rPr lang="en-US" smtClean="0"/>
              <a:pPr>
                <a:defRPr/>
              </a:pPr>
              <a:t>14</a:t>
            </a:fld>
            <a:endParaRPr lang="en-US" dirty="0"/>
          </a:p>
        </p:txBody>
      </p:sp>
      <p:sp>
        <p:nvSpPr>
          <p:cNvPr id="5" name="Title 4">
            <a:extLst>
              <a:ext uri="{FF2B5EF4-FFF2-40B4-BE49-F238E27FC236}">
                <a16:creationId xmlns:a16="http://schemas.microsoft.com/office/drawing/2014/main" id="{1A1E1EDA-118B-45C5-9E34-B14BD46AFAA2}"/>
              </a:ext>
            </a:extLst>
          </p:cNvPr>
          <p:cNvSpPr>
            <a:spLocks noGrp="1"/>
          </p:cNvSpPr>
          <p:nvPr>
            <p:ph type="title"/>
          </p:nvPr>
        </p:nvSpPr>
        <p:spPr/>
        <p:txBody>
          <a:bodyPr/>
          <a:lstStyle/>
          <a:p>
            <a:r>
              <a:rPr lang="en-US" dirty="0">
                <a:solidFill>
                  <a:schemeClr val="accent4"/>
                </a:solidFill>
              </a:rPr>
              <a:t>Net Present Value Analysis (Example)</a:t>
            </a:r>
            <a:endParaRPr lang="en-US" dirty="0"/>
          </a:p>
        </p:txBody>
      </p:sp>
      <p:pic>
        <p:nvPicPr>
          <p:cNvPr id="6" name="Picture 5">
            <a:extLst>
              <a:ext uri="{FF2B5EF4-FFF2-40B4-BE49-F238E27FC236}">
                <a16:creationId xmlns:a16="http://schemas.microsoft.com/office/drawing/2014/main" id="{1A3B22F4-8324-4DB8-9040-6A0FDCB4C20C}"/>
              </a:ext>
            </a:extLst>
          </p:cNvPr>
          <p:cNvPicPr>
            <a:picLocks noChangeAspect="1"/>
          </p:cNvPicPr>
          <p:nvPr/>
        </p:nvPicPr>
        <p:blipFill>
          <a:blip r:embed="rId2"/>
          <a:stretch>
            <a:fillRect/>
          </a:stretch>
        </p:blipFill>
        <p:spPr>
          <a:xfrm>
            <a:off x="2133600" y="2743200"/>
            <a:ext cx="8134350" cy="1806371"/>
          </a:xfrm>
          <a:prstGeom prst="rect">
            <a:avLst/>
          </a:prstGeom>
        </p:spPr>
      </p:pic>
    </p:spTree>
    <p:extLst>
      <p:ext uri="{BB962C8B-B14F-4D97-AF65-F5344CB8AC3E}">
        <p14:creationId xmlns:p14="http://schemas.microsoft.com/office/powerpoint/2010/main" val="1797155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31365FF-E33E-4653-8EC1-A94B8F9A0CC3}"/>
              </a:ext>
            </a:extLst>
          </p:cNvPr>
          <p:cNvSpPr>
            <a:spLocks noGrp="1"/>
          </p:cNvSpPr>
          <p:nvPr>
            <p:ph idx="1"/>
          </p:nvPr>
        </p:nvSpPr>
        <p:spPr/>
        <p:txBody>
          <a:bodyPr/>
          <a:lstStyle/>
          <a:p>
            <a:r>
              <a:rPr lang="en-US" dirty="0"/>
              <a:t>Project R requires an initial investment of $45,000 and expects to generate $30,000 annually for two years, with an 8% discount rate. To estimate the NPV, the company that wants to invest in Project R finds the individual NPV of both cash flows and adds the results. Then, it deducts the initial investment from the sum of the NPVs.</a:t>
            </a:r>
          </a:p>
          <a:p>
            <a:endParaRPr lang="en-US" dirty="0"/>
          </a:p>
          <a:p>
            <a:r>
              <a:rPr lang="en-US" b="1" dirty="0"/>
              <a:t>NPV of Project R = [$30,000 / (1+0.08)^1] + [$30,000 / (1+0.08)^2] - $45,000</a:t>
            </a:r>
            <a:r>
              <a:rPr lang="en-US" dirty="0"/>
              <a:t/>
            </a:r>
            <a:br>
              <a:rPr lang="en-US" dirty="0"/>
            </a:br>
            <a:r>
              <a:rPr lang="en-US" b="1" dirty="0"/>
              <a:t>NPV = ($27,777.78 + $25,720.17) - $45,000 = $8,497.95</a:t>
            </a:r>
            <a:endParaRPr lang="en-US" dirty="0"/>
          </a:p>
        </p:txBody>
      </p:sp>
      <p:sp>
        <p:nvSpPr>
          <p:cNvPr id="3" name="Footer Placeholder 2">
            <a:extLst>
              <a:ext uri="{FF2B5EF4-FFF2-40B4-BE49-F238E27FC236}">
                <a16:creationId xmlns:a16="http://schemas.microsoft.com/office/drawing/2014/main" id="{0A70374B-7555-45D9-8855-12E2419AB5C1}"/>
              </a:ext>
            </a:extLst>
          </p:cNvPr>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a:extLst>
              <a:ext uri="{FF2B5EF4-FFF2-40B4-BE49-F238E27FC236}">
                <a16:creationId xmlns:a16="http://schemas.microsoft.com/office/drawing/2014/main" id="{96E110CA-DB21-42EB-8980-040264F3BCD0}"/>
              </a:ext>
            </a:extLst>
          </p:cNvPr>
          <p:cNvSpPr>
            <a:spLocks noGrp="1"/>
          </p:cNvSpPr>
          <p:nvPr>
            <p:ph type="sldNum" sz="quarter" idx="12"/>
          </p:nvPr>
        </p:nvSpPr>
        <p:spPr/>
        <p:txBody>
          <a:bodyPr/>
          <a:lstStyle/>
          <a:p>
            <a:pPr>
              <a:defRPr/>
            </a:pPr>
            <a:fld id="{1953F6A9-037C-4679-A974-5A2F60203CED}" type="slidenum">
              <a:rPr lang="en-US" smtClean="0"/>
              <a:pPr>
                <a:defRPr/>
              </a:pPr>
              <a:t>15</a:t>
            </a:fld>
            <a:endParaRPr lang="en-US" dirty="0"/>
          </a:p>
        </p:txBody>
      </p:sp>
      <p:sp>
        <p:nvSpPr>
          <p:cNvPr id="5" name="Title 4">
            <a:extLst>
              <a:ext uri="{FF2B5EF4-FFF2-40B4-BE49-F238E27FC236}">
                <a16:creationId xmlns:a16="http://schemas.microsoft.com/office/drawing/2014/main" id="{117A826F-0DA8-455D-8DFE-2CE3D2A5F15B}"/>
              </a:ext>
            </a:extLst>
          </p:cNvPr>
          <p:cNvSpPr>
            <a:spLocks noGrp="1"/>
          </p:cNvSpPr>
          <p:nvPr>
            <p:ph type="title"/>
          </p:nvPr>
        </p:nvSpPr>
        <p:spPr/>
        <p:txBody>
          <a:bodyPr/>
          <a:lstStyle/>
          <a:p>
            <a:r>
              <a:rPr lang="en-US" dirty="0">
                <a:solidFill>
                  <a:schemeClr val="accent4"/>
                </a:solidFill>
              </a:rPr>
              <a:t>Net Present Value Analysis (Example)</a:t>
            </a:r>
            <a:endParaRPr lang="en-US" dirty="0"/>
          </a:p>
        </p:txBody>
      </p:sp>
    </p:spTree>
    <p:extLst>
      <p:ext uri="{BB962C8B-B14F-4D97-AF65-F5344CB8AC3E}">
        <p14:creationId xmlns:p14="http://schemas.microsoft.com/office/powerpoint/2010/main" val="4089429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2"/>
          <p:cNvSpPr>
            <a:spLocks noGrp="1" noChangeArrowheads="1"/>
          </p:cNvSpPr>
          <p:nvPr>
            <p:ph type="title"/>
          </p:nvPr>
        </p:nvSpPr>
        <p:spPr>
          <a:xfrm>
            <a:off x="762000" y="292100"/>
            <a:ext cx="9372600" cy="674688"/>
          </a:xfrm>
        </p:spPr>
        <p:txBody>
          <a:bodyPr>
            <a:normAutofit fontScale="90000"/>
          </a:bodyPr>
          <a:lstStyle/>
          <a:p>
            <a:r>
              <a:rPr lang="en-US" sz="4800" dirty="0">
                <a:solidFill>
                  <a:schemeClr val="accent4"/>
                </a:solidFill>
              </a:rPr>
              <a:t>Return on Investment</a:t>
            </a:r>
          </a:p>
        </p:txBody>
      </p:sp>
      <p:sp>
        <p:nvSpPr>
          <p:cNvPr id="28677" name="Rectangle 3"/>
          <p:cNvSpPr>
            <a:spLocks noGrp="1" noChangeArrowheads="1"/>
          </p:cNvSpPr>
          <p:nvPr>
            <p:ph idx="1"/>
          </p:nvPr>
        </p:nvSpPr>
        <p:spPr>
          <a:xfrm>
            <a:off x="685800" y="1524000"/>
            <a:ext cx="9934074" cy="4968876"/>
          </a:xfrm>
        </p:spPr>
        <p:txBody>
          <a:bodyPr>
            <a:normAutofit fontScale="92500" lnSpcReduction="20000"/>
          </a:bodyPr>
          <a:lstStyle/>
          <a:p>
            <a:pPr algn="just">
              <a:lnSpc>
                <a:spcPct val="90000"/>
              </a:lnSpc>
            </a:pPr>
            <a:r>
              <a:rPr lang="en-US" b="1" dirty="0" smtClean="0"/>
              <a:t>Return </a:t>
            </a:r>
            <a:r>
              <a:rPr lang="en-US" b="1" dirty="0"/>
              <a:t>on investment</a:t>
            </a:r>
            <a:r>
              <a:rPr lang="en-US" dirty="0"/>
              <a:t> (ROI)</a:t>
            </a:r>
            <a:r>
              <a:rPr lang="en-US" dirty="0" smtClean="0"/>
              <a:t> </a:t>
            </a:r>
            <a:r>
              <a:rPr lang="en-US" dirty="0"/>
              <a:t>is a </a:t>
            </a:r>
            <a:r>
              <a:rPr lang="en-US" b="1" dirty="0"/>
              <a:t>performance measure</a:t>
            </a:r>
            <a:r>
              <a:rPr lang="en-US" dirty="0"/>
              <a:t> that tells you how much profit or benefit you gain from an investment compared to its cost</a:t>
            </a:r>
            <a:r>
              <a:rPr lang="en-US" dirty="0" smtClean="0"/>
              <a:t>.</a:t>
            </a:r>
          </a:p>
          <a:p>
            <a:pPr algn="just">
              <a:lnSpc>
                <a:spcPct val="90000"/>
              </a:lnSpc>
            </a:pPr>
            <a:endParaRPr lang="en-US" b="1" dirty="0" smtClean="0"/>
          </a:p>
          <a:p>
            <a:pPr>
              <a:lnSpc>
                <a:spcPct val="90000"/>
              </a:lnSpc>
            </a:pPr>
            <a:r>
              <a:rPr lang="en-US" dirty="0" smtClean="0"/>
              <a:t>It is </a:t>
            </a:r>
            <a:r>
              <a:rPr lang="en-US" dirty="0"/>
              <a:t>calculated by subtracting the project costs from the benefits and then dividing by the </a:t>
            </a:r>
            <a:r>
              <a:rPr lang="en-US" dirty="0" smtClean="0"/>
              <a:t>costs</a:t>
            </a:r>
          </a:p>
          <a:p>
            <a:pPr>
              <a:lnSpc>
                <a:spcPct val="90000"/>
              </a:lnSpc>
            </a:pPr>
            <a:endParaRPr lang="en-US" dirty="0"/>
          </a:p>
          <a:p>
            <a:pPr lvl="1">
              <a:lnSpc>
                <a:spcPct val="90000"/>
              </a:lnSpc>
              <a:buFontTx/>
              <a:buNone/>
            </a:pPr>
            <a:r>
              <a:rPr lang="en-US" dirty="0"/>
              <a:t>   </a:t>
            </a:r>
            <a:endParaRPr lang="en-US" dirty="0" smtClean="0"/>
          </a:p>
          <a:p>
            <a:pPr>
              <a:lnSpc>
                <a:spcPct val="90000"/>
              </a:lnSpc>
            </a:pPr>
            <a:endParaRPr lang="en-US" dirty="0" smtClean="0"/>
          </a:p>
          <a:p>
            <a:pPr marL="109728" indent="0">
              <a:lnSpc>
                <a:spcPct val="90000"/>
              </a:lnSpc>
              <a:buNone/>
            </a:pPr>
            <a:endParaRPr lang="en-US" dirty="0" smtClean="0"/>
          </a:p>
          <a:p>
            <a:pPr>
              <a:lnSpc>
                <a:spcPct val="90000"/>
              </a:lnSpc>
            </a:pPr>
            <a:r>
              <a:rPr lang="en-US" sz="2600" dirty="0" smtClean="0"/>
              <a:t>The </a:t>
            </a:r>
            <a:r>
              <a:rPr lang="en-US" sz="2600" dirty="0"/>
              <a:t>higher the ROI, the better	</a:t>
            </a:r>
          </a:p>
          <a:p>
            <a:pPr>
              <a:lnSpc>
                <a:spcPct val="90000"/>
              </a:lnSpc>
            </a:pPr>
            <a:r>
              <a:rPr lang="en-US" sz="2600" dirty="0"/>
              <a:t>Many organizations have a </a:t>
            </a:r>
            <a:r>
              <a:rPr lang="en-US" sz="2600" b="1" dirty="0"/>
              <a:t>required rate of return </a:t>
            </a:r>
            <a:r>
              <a:rPr lang="en-US" sz="2600" dirty="0"/>
              <a:t>or minimum acceptable rate of return on investment for projects	</a:t>
            </a:r>
          </a:p>
          <a:p>
            <a:pPr>
              <a:lnSpc>
                <a:spcPct val="90000"/>
              </a:lnSpc>
            </a:pPr>
            <a:r>
              <a:rPr lang="en-US" sz="2600" b="1" dirty="0"/>
              <a:t>Internal rate of return </a:t>
            </a:r>
            <a:r>
              <a:rPr lang="en-US" sz="2600" dirty="0"/>
              <a:t>(IRR) can by calculated by finding the discount rate that makes the NPV equal to zero</a:t>
            </a:r>
          </a:p>
        </p:txBody>
      </p:sp>
      <p:sp>
        <p:nvSpPr>
          <p:cNvPr id="28674"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AAA01C81-05FE-4C62-8FDC-A53A3FB0485C}" type="slidenum">
              <a:rPr lang="en-US"/>
              <a:pPr>
                <a:defRPr/>
              </a:pPr>
              <a:t>16</a:t>
            </a:fld>
            <a:endParaRPr lang="en-US" dirty="0"/>
          </a:p>
        </p:txBody>
      </p:sp>
      <p:pic>
        <p:nvPicPr>
          <p:cNvPr id="2" name="Picture 1"/>
          <p:cNvPicPr>
            <a:picLocks noChangeAspect="1"/>
          </p:cNvPicPr>
          <p:nvPr/>
        </p:nvPicPr>
        <p:blipFill>
          <a:blip r:embed="rId2"/>
          <a:stretch>
            <a:fillRect/>
          </a:stretch>
        </p:blipFill>
        <p:spPr>
          <a:xfrm>
            <a:off x="1905000" y="3352800"/>
            <a:ext cx="6909342" cy="85476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pPr>
              <a:defRPr/>
            </a:pPr>
            <a:r>
              <a:rPr lang="en-US" smtClean="0"/>
              <a:t>Information Technology Project Management, Eighth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17</a:t>
            </a:fld>
            <a:endParaRPr lang="en-US" dirty="0"/>
          </a:p>
        </p:txBody>
      </p:sp>
      <p:sp>
        <p:nvSpPr>
          <p:cNvPr id="5" name="Title 4"/>
          <p:cNvSpPr>
            <a:spLocks noGrp="1"/>
          </p:cNvSpPr>
          <p:nvPr>
            <p:ph type="title"/>
          </p:nvPr>
        </p:nvSpPr>
        <p:spPr/>
        <p:txBody>
          <a:bodyPr/>
          <a:lstStyle/>
          <a:p>
            <a:r>
              <a:rPr lang="en-US" sz="4400" dirty="0">
                <a:solidFill>
                  <a:schemeClr val="accent4"/>
                </a:solidFill>
              </a:rPr>
              <a:t>Return on </a:t>
            </a:r>
            <a:r>
              <a:rPr lang="en-US" sz="4400" dirty="0" smtClean="0">
                <a:solidFill>
                  <a:schemeClr val="accent4"/>
                </a:solidFill>
              </a:rPr>
              <a:t>Investment (Example)</a:t>
            </a:r>
            <a:endParaRPr lang="en-US" dirty="0"/>
          </a:p>
        </p:txBody>
      </p:sp>
      <p:sp>
        <p:nvSpPr>
          <p:cNvPr id="6" name="Rectangle 1"/>
          <p:cNvSpPr>
            <a:spLocks noGrp="1" noChangeArrowheads="1"/>
          </p:cNvSpPr>
          <p:nvPr>
            <p:ph idx="1"/>
          </p:nvPr>
        </p:nvSpPr>
        <p:spPr bwMode="auto">
          <a:xfrm>
            <a:off x="609600" y="2936398"/>
            <a:ext cx="8954695"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You invest </a:t>
            </a:r>
            <a:r>
              <a:rPr kumimoji="0" lang="en-US" altLang="en-US" sz="2400" b="1" i="0" u="none" strike="noStrike" cap="none" normalizeH="0" baseline="0" dirty="0" smtClean="0">
                <a:ln>
                  <a:noFill/>
                </a:ln>
                <a:solidFill>
                  <a:schemeClr val="tx1"/>
                </a:solidFill>
                <a:effectLst/>
                <a:latin typeface="Arial" panose="020B0604020202020204" pitchFamily="34" charset="0"/>
              </a:rPr>
              <a:t>$10,000</a:t>
            </a:r>
            <a:r>
              <a:rPr kumimoji="0" lang="en-US" altLang="en-US" sz="2400" b="0" i="0" u="none" strike="noStrike" cap="none" normalizeH="0" baseline="0" dirty="0" smtClean="0">
                <a:ln>
                  <a:noFill/>
                </a:ln>
                <a:solidFill>
                  <a:schemeClr val="tx1"/>
                </a:solidFill>
                <a:effectLst/>
                <a:latin typeface="Arial" panose="020B0604020202020204" pitchFamily="34" charset="0"/>
              </a:rPr>
              <a:t> in a project.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The project generates </a:t>
            </a:r>
            <a:r>
              <a:rPr kumimoji="0" lang="en-US" altLang="en-US" sz="2400" b="1" i="0" u="none" strike="noStrike" cap="none" normalizeH="0" baseline="0" dirty="0" smtClean="0">
                <a:ln>
                  <a:noFill/>
                </a:ln>
                <a:solidFill>
                  <a:schemeClr val="tx1"/>
                </a:solidFill>
                <a:effectLst/>
                <a:latin typeface="Arial" panose="020B0604020202020204" pitchFamily="34" charset="0"/>
              </a:rPr>
              <a:t>$15,000</a:t>
            </a:r>
            <a:r>
              <a:rPr kumimoji="0" lang="en-US" altLang="en-US" sz="2400" b="0" i="0" u="none" strike="noStrike" cap="none" normalizeH="0" baseline="0" dirty="0" smtClean="0">
                <a:ln>
                  <a:noFill/>
                </a:ln>
                <a:solidFill>
                  <a:schemeClr val="tx1"/>
                </a:solidFill>
                <a:effectLst/>
                <a:latin typeface="Arial" panose="020B0604020202020204" pitchFamily="34" charset="0"/>
              </a:rPr>
              <a:t> in benefits (savings or revenue).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smtClean="0">
                <a:ln>
                  <a:noFill/>
                </a:ln>
                <a:solidFill>
                  <a:schemeClr val="tx1"/>
                </a:solidFill>
                <a:effectLst/>
                <a:latin typeface="Arial" panose="020B0604020202020204" pitchFamily="34" charset="0"/>
              </a:rPr>
              <a:t>Net benefit = 15,000 – 10,000 = </a:t>
            </a:r>
            <a:r>
              <a:rPr kumimoji="0" lang="en-US" altLang="en-US" sz="2400" b="1" i="0" u="none" strike="noStrike" cap="none" normalizeH="0" baseline="0" dirty="0" smtClean="0">
                <a:ln>
                  <a:noFill/>
                </a:ln>
                <a:solidFill>
                  <a:schemeClr val="tx1"/>
                </a:solidFill>
                <a:effectLst/>
                <a:latin typeface="Arial" panose="020B0604020202020204" pitchFamily="34" charset="0"/>
              </a:rPr>
              <a:t>$5,000</a:t>
            </a:r>
          </a:p>
          <a:p>
            <a:pPr marL="0" lvl="0" indent="0" eaLnBrk="0" fontAlgn="base" hangingPunct="0">
              <a:spcBef>
                <a:spcPct val="0"/>
              </a:spcBef>
              <a:spcAft>
                <a:spcPct val="0"/>
              </a:spcAft>
              <a:buClrTx/>
              <a:buSzTx/>
              <a:buFontTx/>
              <a:buChar char="•"/>
            </a:pPr>
            <a:r>
              <a:rPr lang="en-US" sz="2400" dirty="0" smtClean="0"/>
              <a:t>ROI=(5000​/10000)×100% = 50</a:t>
            </a:r>
            <a:r>
              <a:rPr lang="en-US" sz="2400" dirty="0"/>
              <a:t>%</a:t>
            </a:r>
            <a:endParaRPr kumimoji="0" lang="en-US" altLang="en-US" sz="24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380716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0" name="Rectangle 2"/>
          <p:cNvSpPr>
            <a:spLocks noGrp="1" noChangeArrowheads="1"/>
          </p:cNvSpPr>
          <p:nvPr>
            <p:ph type="title"/>
          </p:nvPr>
        </p:nvSpPr>
        <p:spPr>
          <a:xfrm>
            <a:off x="381000" y="292100"/>
            <a:ext cx="10287000" cy="674688"/>
          </a:xfrm>
        </p:spPr>
        <p:txBody>
          <a:bodyPr>
            <a:normAutofit fontScale="90000"/>
          </a:bodyPr>
          <a:lstStyle/>
          <a:p>
            <a:r>
              <a:rPr lang="en-US" sz="4800" dirty="0">
                <a:solidFill>
                  <a:schemeClr val="accent4"/>
                </a:solidFill>
              </a:rPr>
              <a:t>Payback Analysis</a:t>
            </a:r>
          </a:p>
        </p:txBody>
      </p:sp>
      <p:sp>
        <p:nvSpPr>
          <p:cNvPr id="29701" name="Rectangle 3"/>
          <p:cNvSpPr>
            <a:spLocks noGrp="1" noChangeArrowheads="1"/>
          </p:cNvSpPr>
          <p:nvPr>
            <p:ph idx="1"/>
          </p:nvPr>
        </p:nvSpPr>
        <p:spPr>
          <a:xfrm>
            <a:off x="1066800" y="1778794"/>
            <a:ext cx="9906000" cy="4088606"/>
          </a:xfrm>
        </p:spPr>
        <p:txBody>
          <a:bodyPr>
            <a:normAutofit/>
          </a:bodyPr>
          <a:lstStyle/>
          <a:p>
            <a:pPr>
              <a:lnSpc>
                <a:spcPct val="90000"/>
              </a:lnSpc>
            </a:pPr>
            <a:r>
              <a:rPr lang="en-US" dirty="0"/>
              <a:t>Another important financial consideration is payback analysis</a:t>
            </a:r>
          </a:p>
          <a:p>
            <a:pPr lvl="1">
              <a:lnSpc>
                <a:spcPct val="90000"/>
              </a:lnSpc>
            </a:pPr>
            <a:r>
              <a:rPr lang="en-US" i="1" dirty="0">
                <a:solidFill>
                  <a:schemeClr val="accent4"/>
                </a:solidFill>
              </a:rPr>
              <a:t>“How many years (or months) will it take until I get my money back?”</a:t>
            </a:r>
          </a:p>
          <a:p>
            <a:pPr>
              <a:lnSpc>
                <a:spcPct val="90000"/>
              </a:lnSpc>
            </a:pPr>
            <a:r>
              <a:rPr lang="en-US" dirty="0"/>
              <a:t>The </a:t>
            </a:r>
            <a:r>
              <a:rPr lang="en-US" b="1" dirty="0"/>
              <a:t>payback period</a:t>
            </a:r>
            <a:r>
              <a:rPr lang="en-US" dirty="0"/>
              <a:t> is the amount of time it will take to recoup, in the form of net cash inflows, the total dollars invested in a project</a:t>
            </a:r>
          </a:p>
          <a:p>
            <a:pPr>
              <a:lnSpc>
                <a:spcPct val="90000"/>
              </a:lnSpc>
            </a:pPr>
            <a:r>
              <a:rPr lang="en-US" dirty="0"/>
              <a:t>Payback occurs when the net cumulative discounted benefits </a:t>
            </a:r>
            <a:r>
              <a:rPr lang="en-US" dirty="0" smtClean="0"/>
              <a:t>equal </a:t>
            </a:r>
            <a:r>
              <a:rPr lang="en-US" dirty="0"/>
              <a:t>the costs</a:t>
            </a:r>
          </a:p>
          <a:p>
            <a:pPr>
              <a:lnSpc>
                <a:spcPct val="90000"/>
              </a:lnSpc>
            </a:pPr>
            <a:r>
              <a:rPr lang="en-US" dirty="0"/>
              <a:t>Many organizations want IT projects to have a fairly short payback period</a:t>
            </a:r>
          </a:p>
        </p:txBody>
      </p:sp>
      <p:sp>
        <p:nvSpPr>
          <p:cNvPr id="29698"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57D43B53-6966-430E-9FEE-F57AAE6D637A}" type="slidenum">
              <a:rPr lang="en-US"/>
              <a:pPr>
                <a:defRPr/>
              </a:pPr>
              <a:t>18</a:t>
            </a:fld>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8" name="Rectangle 2"/>
          <p:cNvSpPr>
            <a:spLocks noGrp="1" noChangeArrowheads="1"/>
          </p:cNvSpPr>
          <p:nvPr>
            <p:ph type="title"/>
          </p:nvPr>
        </p:nvSpPr>
        <p:spPr>
          <a:xfrm>
            <a:off x="737937" y="571501"/>
            <a:ext cx="8839200" cy="533400"/>
          </a:xfrm>
        </p:spPr>
        <p:txBody>
          <a:bodyPr>
            <a:normAutofit fontScale="90000"/>
          </a:bodyPr>
          <a:lstStyle/>
          <a:p>
            <a:r>
              <a:rPr lang="en-US" dirty="0">
                <a:solidFill>
                  <a:srgbClr val="C00000"/>
                </a:solidFill>
              </a:rPr>
              <a:t>Weighted Scoring Model</a:t>
            </a:r>
          </a:p>
        </p:txBody>
      </p:sp>
      <p:sp>
        <p:nvSpPr>
          <p:cNvPr id="31749" name="Rectangle 3"/>
          <p:cNvSpPr>
            <a:spLocks noGrp="1" noChangeArrowheads="1"/>
          </p:cNvSpPr>
          <p:nvPr>
            <p:ph idx="1"/>
          </p:nvPr>
        </p:nvSpPr>
        <p:spPr>
          <a:xfrm>
            <a:off x="762000" y="1600200"/>
            <a:ext cx="10515600" cy="4419599"/>
          </a:xfrm>
        </p:spPr>
        <p:txBody>
          <a:bodyPr/>
          <a:lstStyle/>
          <a:p>
            <a:pPr marL="609600" indent="-609600">
              <a:lnSpc>
                <a:spcPct val="90000"/>
              </a:lnSpc>
            </a:pPr>
            <a:r>
              <a:rPr lang="en-US" dirty="0"/>
              <a:t>A weighted scoring model is a tool that provides a systematic process for selecting projects based on many criteria</a:t>
            </a:r>
          </a:p>
          <a:p>
            <a:pPr marL="1371600" lvl="2" indent="-457200">
              <a:lnSpc>
                <a:spcPct val="90000"/>
              </a:lnSpc>
              <a:buClrTx/>
            </a:pPr>
            <a:r>
              <a:rPr lang="en-US" dirty="0"/>
              <a:t>Identify criteria important to the project selection process</a:t>
            </a:r>
          </a:p>
          <a:p>
            <a:pPr marL="1371600" lvl="2" indent="-457200">
              <a:lnSpc>
                <a:spcPct val="90000"/>
              </a:lnSpc>
              <a:buClrTx/>
            </a:pPr>
            <a:r>
              <a:rPr lang="en-US" dirty="0"/>
              <a:t>Assign weights (percentages) to each criterion so they add up to 100%</a:t>
            </a:r>
          </a:p>
          <a:p>
            <a:pPr marL="1371600" lvl="2" indent="-457200">
              <a:lnSpc>
                <a:spcPct val="90000"/>
              </a:lnSpc>
              <a:buClrTx/>
            </a:pPr>
            <a:r>
              <a:rPr lang="en-US" dirty="0"/>
              <a:t>Assign scores to each criterion for each project</a:t>
            </a:r>
          </a:p>
          <a:p>
            <a:pPr marL="1371600" lvl="2" indent="-457200">
              <a:lnSpc>
                <a:spcPct val="90000"/>
              </a:lnSpc>
              <a:buClrTx/>
            </a:pPr>
            <a:r>
              <a:rPr lang="en-US" dirty="0"/>
              <a:t>Multiply the scores by the weights and get the total weighted scores</a:t>
            </a:r>
          </a:p>
          <a:p>
            <a:pPr marL="609600" indent="-609600">
              <a:lnSpc>
                <a:spcPct val="90000"/>
              </a:lnSpc>
            </a:pPr>
            <a:r>
              <a:rPr lang="en-US" dirty="0"/>
              <a:t>The higher the weighted score, the better</a:t>
            </a:r>
          </a:p>
        </p:txBody>
      </p:sp>
      <p:sp>
        <p:nvSpPr>
          <p:cNvPr id="31746"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999D12CE-7206-489B-BD53-1272D63E99CD}" type="slidenum">
              <a:rPr lang="en-US"/>
              <a:pPr>
                <a:defRPr/>
              </a:pPr>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457200" y="-1"/>
            <a:ext cx="11734800" cy="990601"/>
          </a:xfrm>
        </p:spPr>
        <p:txBody>
          <a:bodyPr>
            <a:normAutofit fontScale="90000"/>
          </a:bodyPr>
          <a:lstStyle/>
          <a:p>
            <a:r>
              <a:rPr lang="en-US" sz="3600" dirty="0"/>
              <a:t>Sample Weighted Scoring Model for Project Selection</a:t>
            </a:r>
            <a:endParaRPr lang="en-US" sz="6000" dirty="0"/>
          </a:p>
        </p:txBody>
      </p:sp>
      <p:graphicFrame>
        <p:nvGraphicFramePr>
          <p:cNvPr id="8" name="Table 7" descr="A table with seven columns and 10 rows. The column headers are Empty cell, A, B, C, D, E, and F."/>
          <p:cNvGraphicFramePr>
            <a:graphicFrameLocks noGrp="1"/>
          </p:cNvGraphicFramePr>
          <p:nvPr>
            <p:extLst>
              <p:ext uri="{D42A27DB-BD31-4B8C-83A1-F6EECF244321}">
                <p14:modId xmlns:p14="http://schemas.microsoft.com/office/powerpoint/2010/main" val="1484029736"/>
              </p:ext>
            </p:extLst>
          </p:nvPr>
        </p:nvGraphicFramePr>
        <p:xfrm>
          <a:off x="3512091" y="1778739"/>
          <a:ext cx="5167819" cy="4060157"/>
        </p:xfrm>
        <a:graphic>
          <a:graphicData uri="http://schemas.openxmlformats.org/drawingml/2006/table">
            <a:tbl>
              <a:tblPr firstRow="1" bandRow="1"/>
              <a:tblGrid>
                <a:gridCol w="281420">
                  <a:extLst>
                    <a:ext uri="{9D8B030D-6E8A-4147-A177-3AD203B41FA5}">
                      <a16:colId xmlns:a16="http://schemas.microsoft.com/office/drawing/2014/main" val="20000"/>
                    </a:ext>
                  </a:extLst>
                </a:gridCol>
                <a:gridCol w="1769090">
                  <a:extLst>
                    <a:ext uri="{9D8B030D-6E8A-4147-A177-3AD203B41FA5}">
                      <a16:colId xmlns:a16="http://schemas.microsoft.com/office/drawing/2014/main" val="20001"/>
                    </a:ext>
                  </a:extLst>
                </a:gridCol>
                <a:gridCol w="831309">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533400">
                  <a:extLst>
                    <a:ext uri="{9D8B030D-6E8A-4147-A177-3AD203B41FA5}">
                      <a16:colId xmlns:a16="http://schemas.microsoft.com/office/drawing/2014/main" val="20004"/>
                    </a:ext>
                  </a:extLst>
                </a:gridCol>
                <a:gridCol w="609600">
                  <a:extLst>
                    <a:ext uri="{9D8B030D-6E8A-4147-A177-3AD203B41FA5}">
                      <a16:colId xmlns:a16="http://schemas.microsoft.com/office/drawing/2014/main" val="20005"/>
                    </a:ext>
                  </a:extLst>
                </a:gridCol>
                <a:gridCol w="533400">
                  <a:extLst>
                    <a:ext uri="{9D8B030D-6E8A-4147-A177-3AD203B41FA5}">
                      <a16:colId xmlns:a16="http://schemas.microsoft.com/office/drawing/2014/main" val="20006"/>
                    </a:ext>
                  </a:extLst>
                </a:gridCol>
              </a:tblGrid>
              <a:tr h="358249">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algn="l"/>
                      <a:r>
                        <a:rPr lang="en-US" sz="600" dirty="0">
                          <a:solidFill>
                            <a:schemeClr val="tx1"/>
                          </a:solidFill>
                        </a:rPr>
                        <a:t>Empty cell</a:t>
                      </a:r>
                      <a:endParaRPr sz="600" dirty="0">
                        <a:solidFill>
                          <a:schemeClr val="tx1"/>
                        </a:solidFill>
                      </a:endParaRP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A</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Arial Unicode MS"/>
                        </a:rPr>
                        <a:t>B</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Arial Unicode MS"/>
                        </a:rPr>
                        <a:t>C</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Arial Unicode MS"/>
                        </a:rPr>
                        <a:t>D</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Arial Unicode MS"/>
                        </a:rPr>
                        <a:t>E</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Arial Unicode MS"/>
                        </a:rPr>
                        <a:t>F</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extLst>
                  <a:ext uri="{0D108BD9-81ED-4DB2-BD59-A6C34878D82A}">
                    <a16:rowId xmlns:a16="http://schemas.microsoft.com/office/drawing/2014/main" val="10000"/>
                  </a:ext>
                </a:extLst>
              </a:tr>
              <a:tr h="43288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1</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Tahoma"/>
                        </a:rPr>
                        <a:t>Criteria</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Weight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Project 1</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Project 2</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Project 3</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Project 4</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38810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2</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Supports key business objectives</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3288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3</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Has strong internal sponsor</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15%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70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38810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4</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Has strong customer support</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15%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38810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Uses realistic level of technology</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10%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70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3288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6</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Can be implemented in one year or less</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r h="403030">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7</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Provides positive NPV</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70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7"/>
                  </a:ext>
                </a:extLst>
              </a:tr>
              <a:tr h="403030">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8</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dirty="0">
                          <a:solidFill>
                            <a:schemeClr val="tx1"/>
                          </a:solidFill>
                          <a:latin typeface="Tahoma"/>
                        </a:rPr>
                        <a:t>Has low risk in meeting scope, time, and cost goals</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10%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20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dirty="0">
                          <a:solidFill>
                            <a:schemeClr val="tx1"/>
                          </a:solidFill>
                          <a:latin typeface="Tahoma"/>
                        </a:rPr>
                        <a:t>90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8"/>
                  </a:ext>
                </a:extLst>
              </a:tr>
              <a:tr h="432884">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Arial Unicode MS"/>
                        </a:rPr>
                        <a:t>9</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rgbClr val="EBEBEB"/>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l"/>
                      <a:r>
                        <a:rPr lang="en-US" sz="600" b="1" dirty="0">
                          <a:solidFill>
                            <a:schemeClr val="tx1"/>
                          </a:solidFill>
                          <a:latin typeface="Tahoma"/>
                        </a:rPr>
                        <a:t>Weighted Project Scores</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100%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56</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78.5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50</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lvl1pPr marL="0" algn="l" rtl="0" eaLnBrk="1" latinLnBrk="0" hangingPunct="1">
                        <a:defRPr kumimoji="0" kern="1200">
                          <a:solidFill>
                            <a:schemeClr val="tx1"/>
                          </a:solidFill>
                          <a:latin typeface="Calibri" panose="020F0502020204030204"/>
                        </a:defRPr>
                      </a:lvl1pPr>
                      <a:lvl2pPr marL="457200" algn="l" rtl="0" eaLnBrk="1" latinLnBrk="0" hangingPunct="1">
                        <a:defRPr kumimoji="0" kern="1200">
                          <a:solidFill>
                            <a:schemeClr val="tx1"/>
                          </a:solidFill>
                          <a:latin typeface="Calibri" panose="020F0502020204030204"/>
                        </a:defRPr>
                      </a:lvl2pPr>
                      <a:lvl3pPr marL="914400" algn="l" rtl="0" eaLnBrk="1" latinLnBrk="0" hangingPunct="1">
                        <a:defRPr kumimoji="0" kern="1200">
                          <a:solidFill>
                            <a:schemeClr val="tx1"/>
                          </a:solidFill>
                          <a:latin typeface="Calibri" panose="020F0502020204030204"/>
                        </a:defRPr>
                      </a:lvl3pPr>
                      <a:lvl4pPr marL="1371600" algn="l" rtl="0" eaLnBrk="1" latinLnBrk="0" hangingPunct="1">
                        <a:defRPr kumimoji="0" kern="1200">
                          <a:solidFill>
                            <a:schemeClr val="tx1"/>
                          </a:solidFill>
                          <a:latin typeface="Calibri" panose="020F0502020204030204"/>
                        </a:defRPr>
                      </a:lvl4pPr>
                      <a:lvl5pPr marL="1828800" algn="l" rtl="0" eaLnBrk="1" latinLnBrk="0" hangingPunct="1">
                        <a:defRPr kumimoji="0" kern="1200">
                          <a:solidFill>
                            <a:schemeClr val="tx1"/>
                          </a:solidFill>
                          <a:latin typeface="Calibri" panose="020F0502020204030204"/>
                        </a:defRPr>
                      </a:lvl5pPr>
                      <a:lvl6pPr marL="2286000" algn="l" rtl="0" eaLnBrk="1" latinLnBrk="0" hangingPunct="1">
                        <a:defRPr kumimoji="0" kern="1200">
                          <a:solidFill>
                            <a:schemeClr val="tx1"/>
                          </a:solidFill>
                          <a:latin typeface="Calibri" panose="020F0502020204030204"/>
                        </a:defRPr>
                      </a:lvl6pPr>
                      <a:lvl7pPr marL="2743200" algn="l" rtl="0" eaLnBrk="1" latinLnBrk="0" hangingPunct="1">
                        <a:defRPr kumimoji="0" kern="1200">
                          <a:solidFill>
                            <a:schemeClr val="tx1"/>
                          </a:solidFill>
                          <a:latin typeface="Calibri" panose="020F0502020204030204"/>
                        </a:defRPr>
                      </a:lvl7pPr>
                      <a:lvl8pPr marL="3200400" algn="l" rtl="0" eaLnBrk="1" latinLnBrk="0" hangingPunct="1">
                        <a:defRPr kumimoji="0" kern="1200">
                          <a:solidFill>
                            <a:schemeClr val="tx1"/>
                          </a:solidFill>
                          <a:latin typeface="Calibri" panose="020F0502020204030204"/>
                        </a:defRPr>
                      </a:lvl8pPr>
                      <a:lvl9pPr marL="3657600" algn="l" rtl="0" eaLnBrk="1" latinLnBrk="0" hangingPunct="1">
                        <a:defRPr kumimoji="0" kern="1200">
                          <a:solidFill>
                            <a:schemeClr val="tx1"/>
                          </a:solidFill>
                          <a:latin typeface="Calibri" panose="020F0502020204030204"/>
                        </a:defRPr>
                      </a:lvl9pPr>
                    </a:lstStyle>
                    <a:p>
                      <a:pPr indent="0" algn="ctr"/>
                      <a:r>
                        <a:rPr lang="en-US" sz="600" b="1" dirty="0">
                          <a:solidFill>
                            <a:schemeClr val="tx1"/>
                          </a:solidFill>
                          <a:latin typeface="Tahoma"/>
                        </a:rPr>
                        <a:t>41.5</a:t>
                      </a:r>
                    </a:p>
                  </a:txBody>
                  <a:tcPr marL="0" marR="0" marT="0" marB="0">
                    <a:lnL w="12700" cap="flat" cmpd="sng" algn="ctr">
                      <a:solidFill>
                        <a:schemeClr val="bg1">
                          <a:lumMod val="65000"/>
                        </a:schemeClr>
                      </a:solidFill>
                      <a:prstDash val="solid"/>
                      <a:round/>
                      <a:headEnd type="none" w="med" len="med"/>
                      <a:tailEnd type="none" w="med" len="med"/>
                    </a:lnL>
                    <a:lnR w="12700" cap="flat" cmpd="sng" algn="ctr">
                      <a:solidFill>
                        <a:schemeClr val="bg1">
                          <a:lumMod val="65000"/>
                        </a:schemeClr>
                      </a:solidFill>
                      <a:prstDash val="solid"/>
                      <a:round/>
                      <a:headEnd type="none" w="med" len="med"/>
                      <a:tailEnd type="none" w="med" len="med"/>
                    </a:lnR>
                    <a:lnT w="12700" cap="flat" cmpd="sng" algn="ctr">
                      <a:solidFill>
                        <a:schemeClr val="bg1">
                          <a:lumMod val="65000"/>
                        </a:schemeClr>
                      </a:solidFill>
                      <a:prstDash val="solid"/>
                      <a:round/>
                      <a:headEnd type="none" w="med" len="med"/>
                      <a:tailEnd type="none" w="med" len="med"/>
                    </a:lnT>
                    <a:lnB w="12700" cap="flat" cmpd="sng" algn="ctr">
                      <a:solidFill>
                        <a:schemeClr val="bg1">
                          <a:lumMod val="6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9"/>
                  </a:ext>
                </a:extLst>
              </a:tr>
            </a:tbl>
          </a:graphicData>
        </a:graphic>
      </p:graphicFrame>
      <p:pic>
        <p:nvPicPr>
          <p:cNvPr id="2" name="Picture 1" descr="A weighted scoring projection presented in an excel spreadsheet and a bar graph titled weighted score by project. The x axis has the numbers 0 to 100 in increments of 20 and the y axis is labeled project 1 to 4. Project 1 has a score of 55, project 2 has a score of 75, project 3 has a score of 45, and project 4 has a score of 4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9400" y="838200"/>
            <a:ext cx="6705600" cy="6216284"/>
          </a:xfrm>
          <a:prstGeom prst="rect">
            <a:avLst/>
          </a:prstGeom>
        </p:spPr>
      </p:pic>
      <p:sp>
        <p:nvSpPr>
          <p:cNvPr id="7" name="Footer Placeholder 6"/>
          <p:cNvSpPr>
            <a:spLocks noGrp="1"/>
          </p:cNvSpPr>
          <p:nvPr>
            <p:ph type="ftr" sz="quarter" idx="11"/>
          </p:nvPr>
        </p:nvSpPr>
        <p:spPr>
          <a:xfrm>
            <a:off x="1524001" y="6414052"/>
            <a:ext cx="2350681" cy="443949"/>
          </a:xfrm>
        </p:spPr>
        <p:txBody>
          <a:bodyPr/>
          <a:lstStyle/>
          <a:p>
            <a:pPr>
              <a:defRPr/>
            </a:pPr>
            <a:r>
              <a:rPr lang="en-US" dirty="0"/>
              <a:t>Information Technology Project Management, Eighth Edition</a:t>
            </a:r>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Rectangle 2"/>
          <p:cNvSpPr>
            <a:spLocks noGrp="1" noChangeArrowheads="1"/>
          </p:cNvSpPr>
          <p:nvPr>
            <p:ph type="title"/>
          </p:nvPr>
        </p:nvSpPr>
        <p:spPr>
          <a:xfrm>
            <a:off x="990600" y="457200"/>
            <a:ext cx="9372600" cy="838200"/>
          </a:xfrm>
        </p:spPr>
        <p:txBody>
          <a:bodyPr>
            <a:normAutofit/>
          </a:bodyPr>
          <a:lstStyle/>
          <a:p>
            <a:r>
              <a:rPr lang="en-US" dirty="0">
                <a:solidFill>
                  <a:srgbClr val="C00000"/>
                </a:solidFill>
              </a:rPr>
              <a:t>Implementing a Balanced Scorecard</a:t>
            </a:r>
          </a:p>
        </p:txBody>
      </p:sp>
      <p:sp>
        <p:nvSpPr>
          <p:cNvPr id="33797" name="Rectangle 3"/>
          <p:cNvSpPr>
            <a:spLocks noGrp="1" noChangeArrowheads="1"/>
          </p:cNvSpPr>
          <p:nvPr>
            <p:ph idx="1"/>
          </p:nvPr>
        </p:nvSpPr>
        <p:spPr>
          <a:xfrm>
            <a:off x="990600" y="1447800"/>
            <a:ext cx="10363200" cy="4343400"/>
          </a:xfrm>
        </p:spPr>
        <p:txBody>
          <a:bodyPr>
            <a:normAutofit lnSpcReduction="10000"/>
          </a:bodyPr>
          <a:lstStyle/>
          <a:p>
            <a:pPr>
              <a:lnSpc>
                <a:spcPct val="90000"/>
              </a:lnSpc>
            </a:pPr>
            <a:r>
              <a:rPr lang="en-US" dirty="0"/>
              <a:t>Drs. Robert Kaplan and David Norton developed this approach to help select and manage projects that align with business strategy</a:t>
            </a:r>
          </a:p>
          <a:p>
            <a:pPr>
              <a:lnSpc>
                <a:spcPct val="90000"/>
              </a:lnSpc>
            </a:pPr>
            <a:endParaRPr lang="en-US" dirty="0"/>
          </a:p>
          <a:p>
            <a:pPr algn="just">
              <a:lnSpc>
                <a:spcPct val="90000"/>
              </a:lnSpc>
            </a:pPr>
            <a:r>
              <a:rPr lang="en-US" dirty="0"/>
              <a:t>The </a:t>
            </a:r>
            <a:r>
              <a:rPr lang="en-US" b="1" dirty="0"/>
              <a:t>Balanced Scorecard</a:t>
            </a:r>
            <a:r>
              <a:rPr lang="en-US" dirty="0"/>
              <a:t> is a framework that tracks organizational performance across </a:t>
            </a:r>
            <a:r>
              <a:rPr lang="en-US" b="1" dirty="0"/>
              <a:t>financial, customer, internal process, and learning/growth</a:t>
            </a:r>
            <a:r>
              <a:rPr lang="en-US" dirty="0"/>
              <a:t> perspectives—ensuring balance between short-term results and long-term sustainability</a:t>
            </a:r>
            <a:r>
              <a:rPr lang="en-US" dirty="0" smtClean="0"/>
              <a:t>.</a:t>
            </a:r>
          </a:p>
          <a:p>
            <a:pPr algn="just">
              <a:lnSpc>
                <a:spcPct val="90000"/>
              </a:lnSpc>
            </a:pPr>
            <a:endParaRPr lang="en-US" dirty="0"/>
          </a:p>
          <a:p>
            <a:pPr algn="just">
              <a:lnSpc>
                <a:spcPct val="90000"/>
              </a:lnSpc>
            </a:pPr>
            <a:r>
              <a:rPr lang="en-US" dirty="0"/>
              <a:t>A framework that measures success across </a:t>
            </a:r>
            <a:r>
              <a:rPr lang="en-US" b="1" dirty="0"/>
              <a:t>Financial, Customer, Internal Process, and Learning &amp; Growth</a:t>
            </a:r>
            <a:r>
              <a:rPr lang="en-US" dirty="0"/>
              <a:t> perspectives, instead of looking only at money.</a:t>
            </a:r>
            <a:endParaRPr lang="en-US" dirty="0"/>
          </a:p>
          <a:p>
            <a:pPr>
              <a:lnSpc>
                <a:spcPct val="90000"/>
              </a:lnSpc>
            </a:pPr>
            <a:endParaRPr lang="en-US" dirty="0"/>
          </a:p>
        </p:txBody>
      </p:sp>
      <p:sp>
        <p:nvSpPr>
          <p:cNvPr id="33794"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5477F33D-FF34-45ED-8C63-A1AF432AC4C0}" type="slidenum">
              <a:rPr lang="en-US"/>
              <a:pPr>
                <a:defRPr/>
              </a:pPr>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55A9C57-624A-4DA7-ABF2-4AEB231D023B}"/>
              </a:ext>
            </a:extLst>
          </p:cNvPr>
          <p:cNvSpPr>
            <a:spLocks noGrp="1"/>
          </p:cNvSpPr>
          <p:nvPr>
            <p:ph idx="1"/>
          </p:nvPr>
        </p:nvSpPr>
        <p:spPr/>
        <p:txBody>
          <a:bodyPr/>
          <a:lstStyle/>
          <a:p>
            <a:r>
              <a:rPr lang="en-US" dirty="0"/>
              <a:t>Organizations often have many project proposals but </a:t>
            </a:r>
            <a:r>
              <a:rPr lang="en-US" b="1" dirty="0"/>
              <a:t>limited resources</a:t>
            </a:r>
            <a:r>
              <a:rPr lang="en-US" dirty="0"/>
              <a:t>.</a:t>
            </a:r>
            <a:br>
              <a:rPr lang="en-US" dirty="0"/>
            </a:br>
            <a:r>
              <a:rPr lang="en-US" dirty="0"/>
              <a:t>The Balanced Scorecard helps by checking:</a:t>
            </a:r>
          </a:p>
          <a:p>
            <a:endParaRPr lang="en-US" dirty="0"/>
          </a:p>
          <a:p>
            <a:pPr lvl="2">
              <a:buFont typeface="Wingdings" panose="05000000000000000000" pitchFamily="2" charset="2"/>
              <a:buChar char="q"/>
            </a:pPr>
            <a:r>
              <a:rPr lang="en-US" sz="2400" dirty="0"/>
              <a:t>Does the project align with </a:t>
            </a:r>
            <a:r>
              <a:rPr lang="en-US" sz="2400" dirty="0" smtClean="0"/>
              <a:t>the </a:t>
            </a:r>
            <a:r>
              <a:rPr lang="en-US" sz="2400" b="1" dirty="0" smtClean="0"/>
              <a:t>strategy</a:t>
            </a:r>
            <a:r>
              <a:rPr lang="en-US" sz="2400" dirty="0"/>
              <a:t>?</a:t>
            </a:r>
          </a:p>
          <a:p>
            <a:pPr lvl="2">
              <a:buFont typeface="Wingdings" panose="05000000000000000000" pitchFamily="2" charset="2"/>
              <a:buChar char="q"/>
            </a:pPr>
            <a:r>
              <a:rPr lang="en-US" sz="2400" dirty="0"/>
              <a:t>Does it contribute across </a:t>
            </a:r>
            <a:r>
              <a:rPr lang="en-US" sz="2400" b="1" dirty="0"/>
              <a:t>all four perspectives</a:t>
            </a:r>
            <a:r>
              <a:rPr lang="en-US" sz="2400" dirty="0"/>
              <a:t> (not just financial)?</a:t>
            </a:r>
          </a:p>
          <a:p>
            <a:pPr lvl="2">
              <a:buFont typeface="Wingdings" panose="05000000000000000000" pitchFamily="2" charset="2"/>
              <a:buChar char="q"/>
            </a:pPr>
            <a:r>
              <a:rPr lang="en-US" sz="2400" dirty="0"/>
              <a:t>This ensures that the chosen projects are not only profitable but also support </a:t>
            </a:r>
            <a:r>
              <a:rPr lang="en-US" sz="2400" b="1" dirty="0"/>
              <a:t>customer satisfaction, internal efficiency, and long-term growth</a:t>
            </a:r>
            <a:r>
              <a:rPr lang="en-US" sz="2400" dirty="0"/>
              <a:t>.</a:t>
            </a:r>
          </a:p>
          <a:p>
            <a:endParaRPr lang="en-US" dirty="0"/>
          </a:p>
        </p:txBody>
      </p:sp>
      <p:sp>
        <p:nvSpPr>
          <p:cNvPr id="3" name="Footer Placeholder 2">
            <a:extLst>
              <a:ext uri="{FF2B5EF4-FFF2-40B4-BE49-F238E27FC236}">
                <a16:creationId xmlns:a16="http://schemas.microsoft.com/office/drawing/2014/main" id="{AD43EC01-9037-4DF0-90B8-9004CA5E8AF8}"/>
              </a:ext>
            </a:extLst>
          </p:cNvPr>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a:extLst>
              <a:ext uri="{FF2B5EF4-FFF2-40B4-BE49-F238E27FC236}">
                <a16:creationId xmlns:a16="http://schemas.microsoft.com/office/drawing/2014/main" id="{0C2A8D52-0DFF-4D27-99B3-FBBD7DBAAD17}"/>
              </a:ext>
            </a:extLst>
          </p:cNvPr>
          <p:cNvSpPr>
            <a:spLocks noGrp="1"/>
          </p:cNvSpPr>
          <p:nvPr>
            <p:ph type="sldNum" sz="quarter" idx="12"/>
          </p:nvPr>
        </p:nvSpPr>
        <p:spPr/>
        <p:txBody>
          <a:bodyPr/>
          <a:lstStyle/>
          <a:p>
            <a:pPr>
              <a:defRPr/>
            </a:pPr>
            <a:fld id="{1953F6A9-037C-4679-A974-5A2F60203CED}" type="slidenum">
              <a:rPr lang="en-US" smtClean="0"/>
              <a:pPr>
                <a:defRPr/>
              </a:pPr>
              <a:t>22</a:t>
            </a:fld>
            <a:endParaRPr lang="en-US" dirty="0"/>
          </a:p>
        </p:txBody>
      </p:sp>
      <p:sp>
        <p:nvSpPr>
          <p:cNvPr id="5" name="Title 4">
            <a:extLst>
              <a:ext uri="{FF2B5EF4-FFF2-40B4-BE49-F238E27FC236}">
                <a16:creationId xmlns:a16="http://schemas.microsoft.com/office/drawing/2014/main" id="{4F8B77B0-976E-4F90-98EF-916EE6D6C67A}"/>
              </a:ext>
            </a:extLst>
          </p:cNvPr>
          <p:cNvSpPr>
            <a:spLocks noGrp="1"/>
          </p:cNvSpPr>
          <p:nvPr>
            <p:ph type="title"/>
          </p:nvPr>
        </p:nvSpPr>
        <p:spPr/>
        <p:txBody>
          <a:bodyPr/>
          <a:lstStyle/>
          <a:p>
            <a:r>
              <a:rPr lang="en-US" dirty="0">
                <a:solidFill>
                  <a:srgbClr val="C00000"/>
                </a:solidFill>
              </a:rPr>
              <a:t>Implementing a Balanced Scorecard</a:t>
            </a:r>
            <a:endParaRPr lang="en-US" dirty="0"/>
          </a:p>
        </p:txBody>
      </p:sp>
    </p:spTree>
    <p:extLst>
      <p:ext uri="{BB962C8B-B14F-4D97-AF65-F5344CB8AC3E}">
        <p14:creationId xmlns:p14="http://schemas.microsoft.com/office/powerpoint/2010/main" val="1933762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E7CF21B6-930B-4266-A2B6-EB53709BB402}"/>
              </a:ext>
            </a:extLst>
          </p:cNvPr>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a:extLst>
              <a:ext uri="{FF2B5EF4-FFF2-40B4-BE49-F238E27FC236}">
                <a16:creationId xmlns:a16="http://schemas.microsoft.com/office/drawing/2014/main" id="{F772A7D0-C34D-4CE0-BFC9-5E3D5054688C}"/>
              </a:ext>
            </a:extLst>
          </p:cNvPr>
          <p:cNvSpPr>
            <a:spLocks noGrp="1"/>
          </p:cNvSpPr>
          <p:nvPr>
            <p:ph type="sldNum" sz="quarter" idx="12"/>
          </p:nvPr>
        </p:nvSpPr>
        <p:spPr/>
        <p:txBody>
          <a:bodyPr/>
          <a:lstStyle/>
          <a:p>
            <a:pPr>
              <a:defRPr/>
            </a:pPr>
            <a:fld id="{1953F6A9-037C-4679-A974-5A2F60203CED}" type="slidenum">
              <a:rPr lang="en-US" smtClean="0"/>
              <a:pPr>
                <a:defRPr/>
              </a:pPr>
              <a:t>23</a:t>
            </a:fld>
            <a:endParaRPr lang="en-US" dirty="0"/>
          </a:p>
        </p:txBody>
      </p:sp>
      <p:sp>
        <p:nvSpPr>
          <p:cNvPr id="5" name="Title 4">
            <a:extLst>
              <a:ext uri="{FF2B5EF4-FFF2-40B4-BE49-F238E27FC236}">
                <a16:creationId xmlns:a16="http://schemas.microsoft.com/office/drawing/2014/main" id="{0E966CA6-97E2-46A7-97F0-6A871C93CA9F}"/>
              </a:ext>
            </a:extLst>
          </p:cNvPr>
          <p:cNvSpPr>
            <a:spLocks noGrp="1"/>
          </p:cNvSpPr>
          <p:nvPr>
            <p:ph type="title"/>
          </p:nvPr>
        </p:nvSpPr>
        <p:spPr/>
        <p:txBody>
          <a:bodyPr>
            <a:normAutofit fontScale="90000"/>
          </a:bodyPr>
          <a:lstStyle/>
          <a:p>
            <a:r>
              <a:rPr lang="en-US" dirty="0"/>
              <a:t>How </a:t>
            </a:r>
            <a:r>
              <a:rPr lang="en-US" dirty="0">
                <a:solidFill>
                  <a:srgbClr val="C00000"/>
                </a:solidFill>
              </a:rPr>
              <a:t>Balanced Scorecard</a:t>
            </a:r>
            <a:r>
              <a:rPr lang="en-US" dirty="0" smtClean="0"/>
              <a:t> </a:t>
            </a:r>
            <a:r>
              <a:rPr lang="en-US" dirty="0"/>
              <a:t>Guides Project Selection</a:t>
            </a:r>
          </a:p>
        </p:txBody>
      </p:sp>
      <p:sp>
        <p:nvSpPr>
          <p:cNvPr id="6" name="Rectangle 1">
            <a:extLst>
              <a:ext uri="{FF2B5EF4-FFF2-40B4-BE49-F238E27FC236}">
                <a16:creationId xmlns:a16="http://schemas.microsoft.com/office/drawing/2014/main" id="{D0225EFA-7197-485E-BE33-D243B026CDCE}"/>
              </a:ext>
            </a:extLst>
          </p:cNvPr>
          <p:cNvSpPr>
            <a:spLocks noGrp="1" noChangeArrowheads="1"/>
          </p:cNvSpPr>
          <p:nvPr>
            <p:ph idx="1"/>
          </p:nvPr>
        </p:nvSpPr>
        <p:spPr bwMode="auto">
          <a:xfrm>
            <a:off x="609600" y="1889300"/>
            <a:ext cx="10668000" cy="406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Financial Perspective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Does the project increase revenue, reduce costs, or improve ROI?</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A project that automates billing may save costs and improve margins.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Customer Perspective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Will it improve customer experience, satisfaction, or market share?</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A project introducing faster delivery improves customer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Internal Process Perspective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Does it streamline operations, reduce defects, or speed up processes?</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A supply chain optimization project reduces delays and waste.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Arial" panose="020B0604020202020204" pitchFamily="34" charset="0"/>
              </a:rPr>
              <a:t>Learning &amp; Growth Perspective</a:t>
            </a:r>
            <a:r>
              <a:rPr kumimoji="0" lang="en-US" altLang="en-US" sz="2000" b="0" i="0" u="none" strike="noStrike" cap="none" normalizeH="0" baseline="0" dirty="0">
                <a:ln>
                  <a:noFill/>
                </a:ln>
                <a:solidFill>
                  <a:schemeClr val="tx1"/>
                </a:solidFill>
                <a:effectLst/>
                <a:latin typeface="Arial" panose="020B0604020202020204" pitchFamily="34" charset="0"/>
              </a:rPr>
              <a:t> </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Does it enhance employee skills, innovation, or organizational capabilities?</a:t>
            </a:r>
          </a:p>
          <a:p>
            <a:pPr marL="256032" lvl="1" indent="0" eaLnBrk="0" fontAlgn="base" hangingPunct="0">
              <a:spcBef>
                <a:spcPct val="0"/>
              </a:spcBef>
              <a:spcAft>
                <a:spcPct val="0"/>
              </a:spcAft>
              <a:buClrTx/>
              <a:buFontTx/>
              <a:buChar char="•"/>
            </a:pPr>
            <a:r>
              <a:rPr kumimoji="0" lang="en-US" altLang="en-US" sz="2000" b="0" i="0" u="none" strike="noStrike" cap="none" normalizeH="0" baseline="0" dirty="0">
                <a:ln>
                  <a:noFill/>
                </a:ln>
                <a:solidFill>
                  <a:schemeClr val="tx1"/>
                </a:solidFill>
                <a:effectLst/>
                <a:latin typeface="Arial" panose="020B0604020202020204" pitchFamily="34" charset="0"/>
              </a:rPr>
              <a:t>Example: A digital training platform project improves staff knowledge and adaptability.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58769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4" name="Rectangle 2"/>
          <p:cNvSpPr>
            <a:spLocks noGrp="1" noChangeArrowheads="1"/>
          </p:cNvSpPr>
          <p:nvPr>
            <p:ph type="title"/>
          </p:nvPr>
        </p:nvSpPr>
        <p:spPr>
          <a:xfrm>
            <a:off x="533400" y="381000"/>
            <a:ext cx="9448800" cy="673100"/>
          </a:xfrm>
        </p:spPr>
        <p:txBody>
          <a:bodyPr>
            <a:normAutofit fontScale="90000"/>
          </a:bodyPr>
          <a:lstStyle/>
          <a:p>
            <a:r>
              <a:rPr lang="en-US" sz="4800" dirty="0"/>
              <a:t>Developing a Project Charter</a:t>
            </a:r>
          </a:p>
        </p:txBody>
      </p:sp>
      <p:sp>
        <p:nvSpPr>
          <p:cNvPr id="35845" name="Rectangle 3"/>
          <p:cNvSpPr>
            <a:spLocks noGrp="1" noChangeArrowheads="1"/>
          </p:cNvSpPr>
          <p:nvPr>
            <p:ph idx="1"/>
          </p:nvPr>
        </p:nvSpPr>
        <p:spPr>
          <a:xfrm>
            <a:off x="685800" y="1828800"/>
            <a:ext cx="10515600" cy="4038600"/>
          </a:xfrm>
        </p:spPr>
        <p:txBody>
          <a:bodyPr/>
          <a:lstStyle/>
          <a:p>
            <a:pPr>
              <a:lnSpc>
                <a:spcPct val="90000"/>
              </a:lnSpc>
            </a:pPr>
            <a:r>
              <a:rPr lang="en-US" dirty="0"/>
              <a:t>After deciding what project to work on, it is important to let the rest of the organization know</a:t>
            </a:r>
          </a:p>
          <a:p>
            <a:pPr>
              <a:lnSpc>
                <a:spcPct val="90000"/>
              </a:lnSpc>
            </a:pPr>
            <a:r>
              <a:rPr lang="en-US" dirty="0"/>
              <a:t>A </a:t>
            </a:r>
            <a:r>
              <a:rPr lang="en-US" b="1" dirty="0"/>
              <a:t>project charter</a:t>
            </a:r>
            <a:r>
              <a:rPr lang="en-US" dirty="0"/>
              <a:t> is a document that formally recognizes the existence of a project and provides direction on the project’s objectives and management</a:t>
            </a:r>
          </a:p>
          <a:p>
            <a:pPr>
              <a:lnSpc>
                <a:spcPct val="90000"/>
              </a:lnSpc>
            </a:pPr>
            <a:r>
              <a:rPr lang="en-US" dirty="0"/>
              <a:t>Key project stakeholders should sign a project charter to acknowledge agreement on the need and intent of the project; a signed charter is a key output of project integration management</a:t>
            </a:r>
          </a:p>
        </p:txBody>
      </p:sp>
      <p:sp>
        <p:nvSpPr>
          <p:cNvPr id="35842" name="Footer Placeholder 3"/>
          <p:cNvSpPr>
            <a:spLocks noGrp="1"/>
          </p:cNvSpPr>
          <p:nvPr>
            <p:ph type="ftr" sz="quarter" idx="11"/>
          </p:nvPr>
        </p:nvSpPr>
        <p:spPr bwMode="auto">
          <a:xfrm>
            <a:off x="1524001" y="6324600"/>
            <a:ext cx="2350681" cy="533401"/>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875FEF86-65B9-457B-A3B9-FD65226500C3}" type="slidenum">
              <a:rPr lang="en-US"/>
              <a:pPr>
                <a:defRPr/>
              </a:pPr>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a:t>Inputs for Developing a Project Charter</a:t>
            </a:r>
          </a:p>
        </p:txBody>
      </p:sp>
      <p:sp>
        <p:nvSpPr>
          <p:cNvPr id="2" name="Content Placeholder 1"/>
          <p:cNvSpPr>
            <a:spLocks noGrp="1"/>
          </p:cNvSpPr>
          <p:nvPr>
            <p:ph idx="1"/>
          </p:nvPr>
        </p:nvSpPr>
        <p:spPr>
          <a:xfrm>
            <a:off x="1981200" y="1481329"/>
            <a:ext cx="8229600" cy="4157472"/>
          </a:xfrm>
        </p:spPr>
        <p:txBody>
          <a:bodyPr/>
          <a:lstStyle/>
          <a:p>
            <a:r>
              <a:rPr lang="en-US" dirty="0"/>
              <a:t>A project statement of work</a:t>
            </a:r>
          </a:p>
          <a:p>
            <a:r>
              <a:rPr lang="en-US" dirty="0"/>
              <a:t>A business case</a:t>
            </a:r>
          </a:p>
          <a:p>
            <a:r>
              <a:rPr lang="en-US" dirty="0"/>
              <a:t>Agreements</a:t>
            </a:r>
          </a:p>
          <a:p>
            <a:r>
              <a:rPr lang="en-US" dirty="0"/>
              <a:t>Enterprise environmental factors</a:t>
            </a:r>
          </a:p>
          <a:p>
            <a:r>
              <a:rPr lang="en-US" b="1" dirty="0"/>
              <a:t>Organizational process assets</a:t>
            </a:r>
            <a:r>
              <a:rPr lang="en-US" dirty="0"/>
              <a:t>, which include formal and informal plans, policies, procedures, guidelines, information systems, financial systems, management systems, lessons learned, and historical information</a:t>
            </a:r>
          </a:p>
        </p:txBody>
      </p:sp>
      <p:sp>
        <p:nvSpPr>
          <p:cNvPr id="3" name="Footer Placeholder 2"/>
          <p:cNvSpPr>
            <a:spLocks noGrp="1"/>
          </p:cNvSpPr>
          <p:nvPr>
            <p:ph type="ftr" sz="quarter" idx="11"/>
          </p:nvPr>
        </p:nvSpPr>
        <p:spPr>
          <a:xfrm>
            <a:off x="1524001" y="6324601"/>
            <a:ext cx="2350681" cy="533400"/>
          </a:xfrm>
        </p:spPr>
        <p:txBody>
          <a:bodyPr/>
          <a:lstStyle/>
          <a:p>
            <a:pPr>
              <a:defRPr/>
            </a:pPr>
            <a:r>
              <a:rPr lang="en-US" dirty="0"/>
              <a:t>Information Technology Project Management, Eighth Edition</a:t>
            </a:r>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25</a:t>
            </a:fld>
            <a:endParaRPr lang="en-US" dirty="0"/>
          </a:p>
        </p:txBody>
      </p:sp>
    </p:spTree>
    <p:extLst>
      <p:ext uri="{BB962C8B-B14F-4D97-AF65-F5344CB8AC3E}">
        <p14:creationId xmlns:p14="http://schemas.microsoft.com/office/powerpoint/2010/main" val="20524868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14400" y="0"/>
            <a:ext cx="9525000" cy="1066800"/>
          </a:xfrm>
        </p:spPr>
        <p:txBody>
          <a:bodyPr>
            <a:normAutofit fontScale="90000"/>
          </a:bodyPr>
          <a:lstStyle/>
          <a:p>
            <a:r>
              <a:rPr lang="en-US" sz="3600" dirty="0" smtClean="0"/>
              <a:t>Project </a:t>
            </a:r>
            <a:r>
              <a:rPr lang="en-US" sz="3600" dirty="0"/>
              <a:t>Charter for the DNA-Sequencing Instrument Completion Project</a:t>
            </a:r>
            <a:endParaRPr lang="en-US" dirty="0"/>
          </a:p>
        </p:txBody>
      </p:sp>
      <p:graphicFrame>
        <p:nvGraphicFramePr>
          <p:cNvPr id="2" name="Table 1" descr="A table with 1 column and 6 rows."/>
          <p:cNvGraphicFramePr>
            <a:graphicFrameLocks noGrp="1"/>
          </p:cNvGraphicFramePr>
          <p:nvPr>
            <p:extLst>
              <p:ext uri="{D42A27DB-BD31-4B8C-83A1-F6EECF244321}">
                <p14:modId xmlns:p14="http://schemas.microsoft.com/office/powerpoint/2010/main" val="2946895532"/>
              </p:ext>
            </p:extLst>
          </p:nvPr>
        </p:nvGraphicFramePr>
        <p:xfrm>
          <a:off x="2266951" y="1161228"/>
          <a:ext cx="7572375" cy="4858573"/>
        </p:xfrm>
        <a:graphic>
          <a:graphicData uri="http://schemas.openxmlformats.org/drawingml/2006/table">
            <a:tbl>
              <a:tblPr firstRow="1" bandRow="1">
                <a:tableStyleId>{5C22544A-7EE6-4342-B048-85BDC9FD1C3A}</a:tableStyleId>
              </a:tblPr>
              <a:tblGrid>
                <a:gridCol w="7572375">
                  <a:extLst>
                    <a:ext uri="{9D8B030D-6E8A-4147-A177-3AD203B41FA5}">
                      <a16:colId xmlns:a16="http://schemas.microsoft.com/office/drawing/2014/main" val="20000"/>
                    </a:ext>
                  </a:extLst>
                </a:gridCol>
              </a:tblGrid>
              <a:tr h="836149">
                <a:tc>
                  <a:txBody>
                    <a:bodyPr/>
                    <a:lstStyle/>
                    <a:p>
                      <a:r>
                        <a:rPr lang="en-US" sz="1600" dirty="0">
                          <a:solidFill>
                            <a:schemeClr val="tx1"/>
                          </a:solidFill>
                          <a:latin typeface="Times New Roman" panose="02020603050405020304" pitchFamily="18" charset="0"/>
                          <a:cs typeface="Times New Roman" panose="02020603050405020304" pitchFamily="18" charset="0"/>
                        </a:rPr>
                        <a:t>Project Title: </a:t>
                      </a:r>
                      <a:r>
                        <a:rPr lang="en-US" sz="1600" b="0" dirty="0">
                          <a:solidFill>
                            <a:schemeClr val="tx1"/>
                          </a:solidFill>
                          <a:latin typeface="Times New Roman" panose="02020603050405020304" pitchFamily="18" charset="0"/>
                          <a:cs typeface="Times New Roman" panose="02020603050405020304" pitchFamily="18" charset="0"/>
                        </a:rPr>
                        <a:t>DNA-Sequencing</a:t>
                      </a:r>
                      <a:r>
                        <a:rPr lang="en-US" sz="1600" b="0" baseline="0" dirty="0">
                          <a:solidFill>
                            <a:schemeClr val="tx1"/>
                          </a:solidFill>
                          <a:latin typeface="Times New Roman" panose="02020603050405020304" pitchFamily="18" charset="0"/>
                          <a:cs typeface="Times New Roman" panose="02020603050405020304" pitchFamily="18" charset="0"/>
                        </a:rPr>
                        <a:t> Instrument Completion Project</a:t>
                      </a:r>
                    </a:p>
                    <a:p>
                      <a:r>
                        <a:rPr lang="en-US" sz="1600" baseline="0" dirty="0">
                          <a:solidFill>
                            <a:schemeClr val="tx1"/>
                          </a:solidFill>
                          <a:latin typeface="Times New Roman" panose="02020603050405020304" pitchFamily="18" charset="0"/>
                          <a:cs typeface="Times New Roman" panose="02020603050405020304" pitchFamily="18" charset="0"/>
                        </a:rPr>
                        <a:t>Date of Authorization: </a:t>
                      </a:r>
                      <a:r>
                        <a:rPr lang="en-US" sz="1600" b="0" baseline="0" dirty="0">
                          <a:solidFill>
                            <a:schemeClr val="tx1"/>
                          </a:solidFill>
                          <a:latin typeface="Times New Roman" panose="02020603050405020304" pitchFamily="18" charset="0"/>
                          <a:cs typeface="Times New Roman" panose="02020603050405020304" pitchFamily="18" charset="0"/>
                        </a:rPr>
                        <a:t>February 1</a:t>
                      </a:r>
                    </a:p>
                    <a:p>
                      <a:pPr algn="l"/>
                      <a:r>
                        <a:rPr lang="en-US" sz="1600" baseline="0" dirty="0">
                          <a:solidFill>
                            <a:schemeClr val="tx1"/>
                          </a:solidFill>
                          <a:latin typeface="Times New Roman" panose="02020603050405020304" pitchFamily="18" charset="0"/>
                          <a:cs typeface="Times New Roman" panose="02020603050405020304" pitchFamily="18" charset="0"/>
                        </a:rPr>
                        <a:t>Project Start Date: </a:t>
                      </a:r>
                      <a:r>
                        <a:rPr lang="en-US" sz="1600" b="0" baseline="0" dirty="0">
                          <a:solidFill>
                            <a:schemeClr val="tx1"/>
                          </a:solidFill>
                          <a:latin typeface="Times New Roman" panose="02020603050405020304" pitchFamily="18" charset="0"/>
                          <a:cs typeface="Times New Roman" panose="02020603050405020304" pitchFamily="18" charset="0"/>
                        </a:rPr>
                        <a:t>February 1  </a:t>
                      </a:r>
                      <a:r>
                        <a:rPr lang="en-US" sz="1600" baseline="0" dirty="0">
                          <a:solidFill>
                            <a:schemeClr val="tx1"/>
                          </a:solidFill>
                          <a:latin typeface="Times New Roman" panose="02020603050405020304" pitchFamily="18" charset="0"/>
                          <a:cs typeface="Times New Roman" panose="02020603050405020304" pitchFamily="18" charset="0"/>
                        </a:rPr>
                        <a:t>                        Projected Finish Date: </a:t>
                      </a:r>
                      <a:r>
                        <a:rPr lang="en-US" sz="1600" b="0" baseline="0" dirty="0">
                          <a:solidFill>
                            <a:schemeClr val="tx1"/>
                          </a:solidFill>
                          <a:latin typeface="Times New Roman" panose="02020603050405020304" pitchFamily="18" charset="0"/>
                          <a:cs typeface="Times New Roman" panose="02020603050405020304" pitchFamily="18" charset="0"/>
                        </a:rPr>
                        <a:t>November 1</a:t>
                      </a:r>
                      <a:endParaRPr lang="en-US" sz="16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rgbClr val="C1E3F2"/>
                    </a:solidFill>
                  </a:tcPr>
                </a:tc>
                <a:extLst>
                  <a:ext uri="{0D108BD9-81ED-4DB2-BD59-A6C34878D82A}">
                    <a16:rowId xmlns:a16="http://schemas.microsoft.com/office/drawing/2014/main" val="10000"/>
                  </a:ext>
                </a:extLst>
              </a:tr>
              <a:tr h="912162">
                <a:tc>
                  <a:txBody>
                    <a:bodyPr/>
                    <a:lstStyle/>
                    <a:p>
                      <a:r>
                        <a:rPr lang="en-US" sz="1600" b="1" dirty="0">
                          <a:solidFill>
                            <a:schemeClr val="tx1"/>
                          </a:solidFill>
                          <a:latin typeface="Times New Roman" panose="02020603050405020304" pitchFamily="18" charset="0"/>
                          <a:cs typeface="Times New Roman" panose="02020603050405020304" pitchFamily="18" charset="0"/>
                        </a:rPr>
                        <a:t>Key Schedule Milestones:</a:t>
                      </a:r>
                    </a:p>
                    <a:p>
                      <a:pPr marL="285750" indent="-285750">
                        <a:buFont typeface="Arial" panose="020B0604020202020204" pitchFamily="34" charset="0"/>
                        <a:buChar char="•"/>
                      </a:pPr>
                      <a:r>
                        <a:rPr lang="en-US" sz="1600" b="0" dirty="0">
                          <a:solidFill>
                            <a:schemeClr val="tx1"/>
                          </a:solidFill>
                          <a:latin typeface="Times New Roman" panose="02020603050405020304" pitchFamily="18" charset="0"/>
                          <a:cs typeface="Times New Roman" panose="02020603050405020304" pitchFamily="18" charset="0"/>
                        </a:rPr>
                        <a:t>Complete</a:t>
                      </a:r>
                      <a:r>
                        <a:rPr lang="en-US" sz="1600" b="0" baseline="0" dirty="0">
                          <a:solidFill>
                            <a:schemeClr val="tx1"/>
                          </a:solidFill>
                          <a:latin typeface="Times New Roman" panose="02020603050405020304" pitchFamily="18" charset="0"/>
                          <a:cs typeface="Times New Roman" panose="02020603050405020304" pitchFamily="18" charset="0"/>
                        </a:rPr>
                        <a:t> first version of the software by June 1</a:t>
                      </a:r>
                    </a:p>
                    <a:p>
                      <a:pPr marL="285750" indent="-285750">
                        <a:buFont typeface="Arial" panose="020B0604020202020204" pitchFamily="34" charset="0"/>
                        <a:buChar char="•"/>
                      </a:pPr>
                      <a:r>
                        <a:rPr lang="en-US" sz="1600" b="0" baseline="0" dirty="0">
                          <a:solidFill>
                            <a:schemeClr val="tx1"/>
                          </a:solidFill>
                          <a:latin typeface="Times New Roman" panose="02020603050405020304" pitchFamily="18" charset="0"/>
                          <a:cs typeface="Times New Roman" panose="02020603050405020304" pitchFamily="18" charset="0"/>
                        </a:rPr>
                        <a:t>Complete production version of the software by November 1</a:t>
                      </a:r>
                      <a:endParaRPr lang="en-US" sz="1600" b="0" dirty="0">
                        <a:solidFill>
                          <a:schemeClr val="tx1"/>
                        </a:solidFill>
                        <a:latin typeface="Times New Roman" panose="02020603050405020304" pitchFamily="18" charset="0"/>
                        <a:cs typeface="Times New Roman" panose="0202060305040502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rgbClr val="A4D6EA"/>
                    </a:solidFill>
                  </a:tcPr>
                </a:tc>
                <a:extLst>
                  <a:ext uri="{0D108BD9-81ED-4DB2-BD59-A6C34878D82A}">
                    <a16:rowId xmlns:a16="http://schemas.microsoft.com/office/drawing/2014/main" val="10001"/>
                  </a:ext>
                </a:extLst>
              </a:tr>
              <a:tr h="836149">
                <a:tc>
                  <a:txBody>
                    <a:bodyPr/>
                    <a:lstStyle/>
                    <a:p>
                      <a:r>
                        <a:rPr lang="en-US" sz="1600" b="1" dirty="0">
                          <a:latin typeface="Times New Roman" panose="02020603050405020304" pitchFamily="18" charset="0"/>
                          <a:cs typeface="Times New Roman" panose="02020603050405020304" pitchFamily="18" charset="0"/>
                        </a:rPr>
                        <a:t>Budget Information: </a:t>
                      </a:r>
                      <a:r>
                        <a:rPr lang="en-US" sz="1600" dirty="0">
                          <a:latin typeface="Times New Roman" panose="02020603050405020304" pitchFamily="18" charset="0"/>
                          <a:cs typeface="Times New Roman" panose="02020603050405020304" pitchFamily="18" charset="0"/>
                        </a:rPr>
                        <a:t>The firm has allocated $1.5 million for this project, and more funds are available if needed. The majority of costs for this project will be internal labor. All hardware</a:t>
                      </a:r>
                      <a:r>
                        <a:rPr lang="en-US" sz="1600" baseline="0" dirty="0">
                          <a:latin typeface="Times New Roman" panose="02020603050405020304" pitchFamily="18" charset="0"/>
                          <a:cs typeface="Times New Roman" panose="02020603050405020304" pitchFamily="18" charset="0"/>
                        </a:rPr>
                        <a:t> will be outsourced.</a:t>
                      </a:r>
                      <a:endParaRPr lang="en-US" sz="16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1E3F2"/>
                    </a:solidFill>
                  </a:tcPr>
                </a:tc>
                <a:extLst>
                  <a:ext uri="{0D108BD9-81ED-4DB2-BD59-A6C34878D82A}">
                    <a16:rowId xmlns:a16="http://schemas.microsoft.com/office/drawing/2014/main" val="10002"/>
                  </a:ext>
                </a:extLst>
              </a:tr>
              <a:tr h="376828">
                <a:tc>
                  <a:txBody>
                    <a:bodyPr/>
                    <a:lstStyle/>
                    <a:p>
                      <a:r>
                        <a:rPr lang="en-US" sz="1600" b="1" dirty="0">
                          <a:latin typeface="Times New Roman" panose="02020603050405020304" pitchFamily="18" charset="0"/>
                          <a:cs typeface="Times New Roman" panose="02020603050405020304" pitchFamily="18" charset="0"/>
                        </a:rPr>
                        <a:t>Project</a:t>
                      </a:r>
                      <a:r>
                        <a:rPr lang="en-US" sz="1600" b="1" baseline="0" dirty="0">
                          <a:latin typeface="Times New Roman" panose="02020603050405020304" pitchFamily="18" charset="0"/>
                          <a:cs typeface="Times New Roman" panose="02020603050405020304" pitchFamily="18" charset="0"/>
                        </a:rPr>
                        <a:t> Manager: </a:t>
                      </a:r>
                      <a:r>
                        <a:rPr lang="en-US" sz="1600" baseline="0" dirty="0">
                          <a:latin typeface="Times New Roman" panose="02020603050405020304" pitchFamily="18" charset="0"/>
                          <a:cs typeface="Times New Roman" panose="02020603050405020304" pitchFamily="18" charset="0"/>
                        </a:rPr>
                        <a:t>Nick Carson, (650) 949-0707, ncarson@dnaconsulting.com</a:t>
                      </a:r>
                      <a:endParaRPr lang="en-US" sz="16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4D6EA"/>
                    </a:solidFill>
                  </a:tcPr>
                </a:tc>
                <a:extLst>
                  <a:ext uri="{0D108BD9-81ED-4DB2-BD59-A6C34878D82A}">
                    <a16:rowId xmlns:a16="http://schemas.microsoft.com/office/drawing/2014/main" val="10003"/>
                  </a:ext>
                </a:extLst>
              </a:tr>
              <a:tr h="1074325">
                <a:tc>
                  <a:txBody>
                    <a:bodyPr/>
                    <a:lstStyle/>
                    <a:p>
                      <a:r>
                        <a:rPr lang="en-US" sz="1600" b="1" dirty="0">
                          <a:latin typeface="Times New Roman" panose="02020603050405020304" pitchFamily="18" charset="0"/>
                          <a:cs typeface="Times New Roman" panose="02020603050405020304" pitchFamily="18" charset="0"/>
                        </a:rPr>
                        <a:t>Project Objectives:  </a:t>
                      </a:r>
                      <a:r>
                        <a:rPr lang="en-US" sz="1600" dirty="0">
                          <a:latin typeface="Times New Roman" panose="02020603050405020304" pitchFamily="18" charset="0"/>
                          <a:cs typeface="Times New Roman" panose="02020603050405020304" pitchFamily="18" charset="0"/>
                        </a:rPr>
                        <a:t>The DNA-sequencing instrument project has been underway for three years. It is a</a:t>
                      </a:r>
                      <a:r>
                        <a:rPr lang="en-US" sz="1600" baseline="0" dirty="0">
                          <a:latin typeface="Times New Roman" panose="02020603050405020304" pitchFamily="18" charset="0"/>
                          <a:cs typeface="Times New Roman" panose="02020603050405020304" pitchFamily="18" charset="0"/>
                        </a:rPr>
                        <a:t> crucial project for our company. This is the first charter for the project, and the objective is to complete the first version of the software for the instrument</a:t>
                      </a:r>
                    </a:p>
                    <a:p>
                      <a:r>
                        <a:rPr lang="en-US" sz="1600" baseline="0" dirty="0">
                          <a:latin typeface="Times New Roman" panose="02020603050405020304" pitchFamily="18" charset="0"/>
                          <a:cs typeface="Times New Roman" panose="02020603050405020304" pitchFamily="18" charset="0"/>
                        </a:rPr>
                        <a:t>in four months and a production version in nine months.</a:t>
                      </a:r>
                      <a:endParaRPr lang="en-US" sz="16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C1E3F2"/>
                    </a:solidFill>
                  </a:tcPr>
                </a:tc>
                <a:extLst>
                  <a:ext uri="{0D108BD9-81ED-4DB2-BD59-A6C34878D82A}">
                    <a16:rowId xmlns:a16="http://schemas.microsoft.com/office/drawing/2014/main" val="10004"/>
                  </a:ext>
                </a:extLst>
              </a:tr>
              <a:tr h="760136">
                <a:tc>
                  <a:txBody>
                    <a:bodyPr/>
                    <a:lstStyle/>
                    <a:p>
                      <a:r>
                        <a:rPr lang="en-US" sz="1600" dirty="0">
                          <a:latin typeface="Times New Roman" panose="02020603050405020304" pitchFamily="18" charset="0"/>
                          <a:cs typeface="Times New Roman" panose="02020603050405020304" pitchFamily="18" charset="0"/>
                        </a:rPr>
                        <a:t>Main</a:t>
                      </a:r>
                      <a:r>
                        <a:rPr lang="en-US" sz="1600" baseline="0" dirty="0">
                          <a:latin typeface="Times New Roman" panose="02020603050405020304" pitchFamily="18" charset="0"/>
                          <a:cs typeface="Times New Roman" panose="02020603050405020304" pitchFamily="18" charset="0"/>
                        </a:rPr>
                        <a:t> Project Success Criteria: The software must meet all written specifications, be thoroughly tested, and be completed on time. The CEO will formally approve the project with advice from other key stakeholders.</a:t>
                      </a:r>
                      <a:endParaRPr lang="en-US" sz="1600" dirty="0">
                        <a:latin typeface="Times New Roman" panose="02020603050405020304" pitchFamily="18" charset="0"/>
                        <a:cs typeface="Times New Roman" panose="0202060305040502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rgbClr val="A4D6EA"/>
                    </a:solidFill>
                  </a:tcPr>
                </a:tc>
                <a:extLst>
                  <a:ext uri="{0D108BD9-81ED-4DB2-BD59-A6C34878D82A}">
                    <a16:rowId xmlns:a16="http://schemas.microsoft.com/office/drawing/2014/main" val="10005"/>
                  </a:ext>
                </a:extLst>
              </a:tr>
            </a:tbl>
          </a:graphicData>
        </a:graphic>
      </p:graphicFrame>
      <p:sp>
        <p:nvSpPr>
          <p:cNvPr id="3" name="Footer Placeholder 2"/>
          <p:cNvSpPr>
            <a:spLocks noGrp="1"/>
          </p:cNvSpPr>
          <p:nvPr>
            <p:ph type="ftr" sz="quarter" idx="11"/>
          </p:nvPr>
        </p:nvSpPr>
        <p:spPr>
          <a:xfrm>
            <a:off x="1524001" y="6324601"/>
            <a:ext cx="2350681" cy="533400"/>
          </a:xfrm>
        </p:spPr>
        <p:txBody>
          <a:bodyPr/>
          <a:lstStyle/>
          <a:p>
            <a:pPr>
              <a:defRPr/>
            </a:pPr>
            <a:r>
              <a:rPr lang="en-US" dirty="0"/>
              <a:t>Information Technology Project Management, Eighth Edition</a:t>
            </a:r>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533400" y="0"/>
            <a:ext cx="9677400" cy="635794"/>
          </a:xfrm>
        </p:spPr>
        <p:txBody>
          <a:bodyPr>
            <a:normAutofit fontScale="90000"/>
          </a:bodyPr>
          <a:lstStyle/>
          <a:p>
            <a:r>
              <a:rPr lang="en-US" sz="4400" dirty="0" smtClean="0"/>
              <a:t>Project Charter (cont..)</a:t>
            </a:r>
            <a:endParaRPr lang="en-US" dirty="0"/>
          </a:p>
        </p:txBody>
      </p:sp>
      <p:graphicFrame>
        <p:nvGraphicFramePr>
          <p:cNvPr id="2" name="Table 1" descr="A table with 4 columns and 8 rows. The column headers are Name, Role, Position, and Contact Information."/>
          <p:cNvGraphicFramePr>
            <a:graphicFrameLocks noGrp="1"/>
          </p:cNvGraphicFramePr>
          <p:nvPr>
            <p:extLst>
              <p:ext uri="{D42A27DB-BD31-4B8C-83A1-F6EECF244321}">
                <p14:modId xmlns:p14="http://schemas.microsoft.com/office/powerpoint/2010/main" val="3511703092"/>
              </p:ext>
            </p:extLst>
          </p:nvPr>
        </p:nvGraphicFramePr>
        <p:xfrm>
          <a:off x="4114800" y="2514600"/>
          <a:ext cx="4953000" cy="2748214"/>
        </p:xfrm>
        <a:graphic>
          <a:graphicData uri="http://schemas.openxmlformats.org/drawingml/2006/table">
            <a:tbl>
              <a:tblPr firstRow="1" bandRow="1">
                <a:tableStyleId>{2D5ABB26-0587-4C30-8999-92F81FD0307C}</a:tableStyleId>
              </a:tblPr>
              <a:tblGrid>
                <a:gridCol w="1238250">
                  <a:extLst>
                    <a:ext uri="{9D8B030D-6E8A-4147-A177-3AD203B41FA5}">
                      <a16:colId xmlns:a16="http://schemas.microsoft.com/office/drawing/2014/main" val="20000"/>
                    </a:ext>
                  </a:extLst>
                </a:gridCol>
                <a:gridCol w="1238250">
                  <a:extLst>
                    <a:ext uri="{9D8B030D-6E8A-4147-A177-3AD203B41FA5}">
                      <a16:colId xmlns:a16="http://schemas.microsoft.com/office/drawing/2014/main" val="20001"/>
                    </a:ext>
                  </a:extLst>
                </a:gridCol>
                <a:gridCol w="1238250">
                  <a:extLst>
                    <a:ext uri="{9D8B030D-6E8A-4147-A177-3AD203B41FA5}">
                      <a16:colId xmlns:a16="http://schemas.microsoft.com/office/drawing/2014/main" val="20002"/>
                    </a:ext>
                  </a:extLst>
                </a:gridCol>
                <a:gridCol w="1238250">
                  <a:extLst>
                    <a:ext uri="{9D8B030D-6E8A-4147-A177-3AD203B41FA5}">
                      <a16:colId xmlns:a16="http://schemas.microsoft.com/office/drawing/2014/main" val="20003"/>
                    </a:ext>
                  </a:extLst>
                </a:gridCol>
              </a:tblGrid>
              <a:tr h="208344">
                <a:tc>
                  <a:txBody>
                    <a:bodyPr/>
                    <a:lstStyle/>
                    <a:p>
                      <a:r>
                        <a:rPr lang="en-US" sz="800" dirty="0"/>
                        <a:t>Name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Role</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Position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Contact Information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62122">
                <a:tc>
                  <a:txBody>
                    <a:bodyPr/>
                    <a:lstStyle/>
                    <a:p>
                      <a:r>
                        <a:rPr lang="en-US" sz="800" dirty="0"/>
                        <a:t>Ahmed</a:t>
                      </a:r>
                      <a:r>
                        <a:rPr lang="en-US" sz="800" baseline="0" dirty="0"/>
                        <a:t> Abrams</a:t>
                      </a:r>
                      <a:endParaRPr lang="en-US" sz="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Sponsor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CEO</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aabrams@dnaconsulting.com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62122">
                <a:tc>
                  <a:txBody>
                    <a:bodyPr/>
                    <a:lstStyle/>
                    <a:p>
                      <a:r>
                        <a:rPr lang="en-US" sz="800" dirty="0"/>
                        <a:t>Nick Carson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Project Manager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Manager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ncarson@dnaconsulting.com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2122">
                <a:tc>
                  <a:txBody>
                    <a:bodyPr/>
                    <a:lstStyle/>
                    <a:p>
                      <a:r>
                        <a:rPr lang="en-US" sz="800" dirty="0"/>
                        <a:t>Susan Johnson</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Team Member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DNA</a:t>
                      </a:r>
                      <a:r>
                        <a:rPr lang="en-US" sz="800" baseline="0" dirty="0"/>
                        <a:t> expert</a:t>
                      </a:r>
                      <a:endParaRPr lang="en-US" sz="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sjohnson@dnaconsulting.com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2122">
                <a:tc>
                  <a:txBody>
                    <a:bodyPr/>
                    <a:lstStyle/>
                    <a:p>
                      <a:r>
                        <a:rPr lang="en-US" sz="800" dirty="0" err="1"/>
                        <a:t>Renyong</a:t>
                      </a:r>
                      <a:r>
                        <a:rPr lang="en-US" sz="800" dirty="0"/>
                        <a:t> Chi</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Team Member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Testing expert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rchi@dnaconsulting.com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62122">
                <a:tc>
                  <a:txBody>
                    <a:bodyPr/>
                    <a:lstStyle/>
                    <a:p>
                      <a:r>
                        <a:rPr lang="en-US" sz="800" dirty="0"/>
                        <a:t>Erik </a:t>
                      </a:r>
                      <a:r>
                        <a:rPr lang="en-US" sz="800" dirty="0" err="1"/>
                        <a:t>Haus</a:t>
                      </a:r>
                      <a:endParaRPr lang="en-US" sz="800" dirty="0"/>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Team Member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Programmer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ehaus@dnaconsulting.com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62122">
                <a:tc>
                  <a:txBody>
                    <a:bodyPr/>
                    <a:lstStyle/>
                    <a:p>
                      <a:r>
                        <a:rPr lang="en-US" sz="800" dirty="0"/>
                        <a:t>Bill Strom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Team Member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Programmer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bstrom@dnaconsulting.com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362122">
                <a:tc>
                  <a:txBody>
                    <a:bodyPr/>
                    <a:lstStyle/>
                    <a:p>
                      <a:r>
                        <a:rPr lang="en-US" sz="800" dirty="0"/>
                        <a:t>Maggie Elliot</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Team Member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Programmer</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sz="800" dirty="0"/>
                        <a:t>melliot@dnaconsulting.com</a:t>
                      </a:r>
                    </a:p>
                  </a:txBody>
                  <a:tcP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bl>
          </a:graphicData>
        </a:graphic>
      </p:graphicFrame>
      <p:pic>
        <p:nvPicPr>
          <p:cNvPr id="89090" name="Picture 2" descr="A project charter with four sections: Approach, a table with Roles and Responsibilities, Sign-off with signatures of stakeholders, and comments at the bottom. The Approach is a bulleted list: Hire a technical replacement for Nick Carson and a part-time assistant as soon as possible. Within one month, develop a clear work breakdown structure, scope statement, and Gantt chart detailing the work required to complete the DNA sequencing instrument. Purchase all required hardware upgrades within two months. Hold weekly progress review meetings with the core project team and the sponsor. Conduct thorough software testing per the approved test plans. Roles and Responsibilities: a table. Sign-off: (Signature of all the above stakeholders) Ahmed Abrams, Susan Johnson, Erik Haus, Maggie Elliot, Nick Carson, Renyong Chi, and Bill Strom. Comments: (Handwritten or typed comments from above stakeholders, if applicable) &quot;I want to be heavily involved in this project. It is crucial to our company's success, and I expect everyone to help make it succeed.&quot; -Ahmed Abrams. &quot;The software test plans are complete and well documented. If anyone has questions, do not hesitate to contact me.&quot; -Renyong Chi."/>
          <p:cNvPicPr>
            <a:picLocks noChangeAspect="1" noChangeArrowheads="1"/>
          </p:cNvPicPr>
          <p:nvPr/>
        </p:nvPicPr>
        <p:blipFill>
          <a:blip r:embed="rId2"/>
          <a:srcRect/>
          <a:stretch>
            <a:fillRect/>
          </a:stretch>
        </p:blipFill>
        <p:spPr bwMode="auto">
          <a:xfrm>
            <a:off x="3810000" y="711994"/>
            <a:ext cx="5334000" cy="5917406"/>
          </a:xfrm>
          <a:prstGeom prst="rect">
            <a:avLst/>
          </a:prstGeom>
          <a:noFill/>
          <a:ln w="9525">
            <a:noFill/>
            <a:miter lim="800000"/>
            <a:headEnd/>
            <a:tailEnd/>
          </a:ln>
          <a:effectLst/>
        </p:spPr>
      </p:pic>
      <p:sp>
        <p:nvSpPr>
          <p:cNvPr id="3" name="Footer Placeholder 2"/>
          <p:cNvSpPr>
            <a:spLocks noGrp="1"/>
          </p:cNvSpPr>
          <p:nvPr>
            <p:ph type="ftr" sz="quarter" idx="11"/>
          </p:nvPr>
        </p:nvSpPr>
        <p:spPr>
          <a:xfrm>
            <a:off x="1524001" y="6248401"/>
            <a:ext cx="2350681" cy="609600"/>
          </a:xfrm>
        </p:spPr>
        <p:txBody>
          <a:bodyPr/>
          <a:lstStyle/>
          <a:p>
            <a:pPr>
              <a:defRPr/>
            </a:pPr>
            <a:r>
              <a:rPr lang="en-US" dirty="0"/>
              <a:t>Information Technology Project Management, Eighth Edition</a:t>
            </a:r>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6" name="Rectangle 2"/>
          <p:cNvSpPr>
            <a:spLocks noGrp="1" noChangeArrowheads="1"/>
          </p:cNvSpPr>
          <p:nvPr>
            <p:ph type="title"/>
          </p:nvPr>
        </p:nvSpPr>
        <p:spPr>
          <a:xfrm>
            <a:off x="609600" y="304800"/>
            <a:ext cx="9601200" cy="1066800"/>
          </a:xfrm>
        </p:spPr>
        <p:txBody>
          <a:bodyPr>
            <a:normAutofit fontScale="90000"/>
          </a:bodyPr>
          <a:lstStyle/>
          <a:p>
            <a:r>
              <a:rPr lang="en-US" dirty="0">
                <a:solidFill>
                  <a:srgbClr val="FF0000"/>
                </a:solidFill>
              </a:rPr>
              <a:t>Developing a Project Management Plan</a:t>
            </a:r>
          </a:p>
        </p:txBody>
      </p:sp>
      <p:sp>
        <p:nvSpPr>
          <p:cNvPr id="38917" name="Rectangle 3"/>
          <p:cNvSpPr>
            <a:spLocks noGrp="1" noChangeArrowheads="1"/>
          </p:cNvSpPr>
          <p:nvPr>
            <p:ph idx="1"/>
          </p:nvPr>
        </p:nvSpPr>
        <p:spPr>
          <a:xfrm>
            <a:off x="990600" y="2057400"/>
            <a:ext cx="9024938" cy="2666999"/>
          </a:xfrm>
        </p:spPr>
        <p:txBody>
          <a:bodyPr>
            <a:normAutofit/>
          </a:bodyPr>
          <a:lstStyle/>
          <a:p>
            <a:r>
              <a:rPr lang="en-US" dirty="0"/>
              <a:t>A </a:t>
            </a:r>
            <a:r>
              <a:rPr lang="en-US" b="1" dirty="0"/>
              <a:t>project management plan</a:t>
            </a:r>
            <a:r>
              <a:rPr lang="en-US" dirty="0"/>
              <a:t> is a document used to coordinate all project planning documents and help guide a project’s execution and control</a:t>
            </a:r>
          </a:p>
          <a:p>
            <a:r>
              <a:rPr lang="en-US" dirty="0"/>
              <a:t>Plans created in the other knowledge areas are subsidiary parts of the overall project management plan</a:t>
            </a:r>
            <a:endParaRPr lang="en-US" i="1" dirty="0"/>
          </a:p>
        </p:txBody>
      </p:sp>
      <p:sp>
        <p:nvSpPr>
          <p:cNvPr id="38914"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63DB4198-CCAC-43FA-8923-E4A089AD5897}" type="slidenum">
              <a:rPr lang="en-US"/>
              <a:pPr>
                <a:defRPr/>
              </a:pPr>
              <a:t>28</a:t>
            </a:fld>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0" name="Rectangle 2"/>
          <p:cNvSpPr>
            <a:spLocks noGrp="1" noChangeArrowheads="1"/>
          </p:cNvSpPr>
          <p:nvPr>
            <p:ph type="title"/>
          </p:nvPr>
        </p:nvSpPr>
        <p:spPr>
          <a:xfrm>
            <a:off x="381000" y="457200"/>
            <a:ext cx="10287000" cy="1143000"/>
          </a:xfrm>
        </p:spPr>
        <p:txBody>
          <a:bodyPr>
            <a:normAutofit fontScale="90000"/>
          </a:bodyPr>
          <a:lstStyle/>
          <a:p>
            <a:r>
              <a:rPr lang="en-US" dirty="0"/>
              <a:t>Common Elements of a Project Management Plan</a:t>
            </a:r>
          </a:p>
        </p:txBody>
      </p:sp>
      <p:sp>
        <p:nvSpPr>
          <p:cNvPr id="39941" name="Rectangle 3"/>
          <p:cNvSpPr>
            <a:spLocks noGrp="1" noChangeArrowheads="1"/>
          </p:cNvSpPr>
          <p:nvPr>
            <p:ph idx="1"/>
          </p:nvPr>
        </p:nvSpPr>
        <p:spPr>
          <a:xfrm>
            <a:off x="914400" y="2133600"/>
            <a:ext cx="9525000" cy="2819400"/>
          </a:xfrm>
        </p:spPr>
        <p:txBody>
          <a:bodyPr/>
          <a:lstStyle/>
          <a:p>
            <a:r>
              <a:rPr lang="en-US" dirty="0"/>
              <a:t>Introduction or overview of the project</a:t>
            </a:r>
          </a:p>
          <a:p>
            <a:r>
              <a:rPr lang="en-US" dirty="0"/>
              <a:t>Description of how the project is organized</a:t>
            </a:r>
          </a:p>
          <a:p>
            <a:r>
              <a:rPr lang="en-US" dirty="0"/>
              <a:t>Management and technical processes used on the project</a:t>
            </a:r>
          </a:p>
          <a:p>
            <a:r>
              <a:rPr lang="en-US" dirty="0"/>
              <a:t>Work to be done, schedule, and budget information</a:t>
            </a:r>
          </a:p>
        </p:txBody>
      </p:sp>
      <p:sp>
        <p:nvSpPr>
          <p:cNvPr id="39938" name="Footer Placeholder 3"/>
          <p:cNvSpPr>
            <a:spLocks noGrp="1"/>
          </p:cNvSpPr>
          <p:nvPr>
            <p:ph type="ftr" sz="quarter" idx="11"/>
          </p:nvPr>
        </p:nvSpPr>
        <p:spPr bwMode="auto">
          <a:xfrm>
            <a:off x="1524001" y="6400800"/>
            <a:ext cx="2350681" cy="4572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9DFA013D-BAF6-4C0C-9785-08FC13FA94EA}" type="slidenum">
              <a:rPr lang="en-US"/>
              <a:pPr>
                <a:defRPr/>
              </a:pPr>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5"/>
          <p:cNvSpPr>
            <a:spLocks noGrp="1" noChangeArrowheads="1"/>
          </p:cNvSpPr>
          <p:nvPr>
            <p:ph type="title"/>
          </p:nvPr>
        </p:nvSpPr>
        <p:spPr>
          <a:xfrm>
            <a:off x="1981200" y="228600"/>
            <a:ext cx="8229600" cy="1143000"/>
          </a:xfrm>
        </p:spPr>
        <p:txBody>
          <a:bodyPr/>
          <a:lstStyle/>
          <a:p>
            <a:r>
              <a:rPr lang="en-US" sz="2800" dirty="0"/>
              <a:t>Table 4-2. Sample Contents for a Software Project Management Plan (SPMP)</a:t>
            </a:r>
          </a:p>
        </p:txBody>
      </p:sp>
      <p:graphicFrame>
        <p:nvGraphicFramePr>
          <p:cNvPr id="2" name="Table 1" descr="A table with 2 columns and 7 rows. The column headers are Major Section Headings and Section Topics."/>
          <p:cNvGraphicFramePr>
            <a:graphicFrameLocks noGrp="1"/>
          </p:cNvGraphicFramePr>
          <p:nvPr>
            <p:extLst>
              <p:ext uri="{D42A27DB-BD31-4B8C-83A1-F6EECF244321}">
                <p14:modId xmlns:p14="http://schemas.microsoft.com/office/powerpoint/2010/main" val="3169728277"/>
              </p:ext>
            </p:extLst>
          </p:nvPr>
        </p:nvGraphicFramePr>
        <p:xfrm>
          <a:off x="2019300" y="1468864"/>
          <a:ext cx="8153400" cy="4737468"/>
        </p:xfrm>
        <a:graphic>
          <a:graphicData uri="http://schemas.openxmlformats.org/drawingml/2006/table">
            <a:tbl>
              <a:tblPr firstRow="1" bandRow="1">
                <a:tableStyleId>{2D5ABB26-0587-4C30-8999-92F81FD0307C}</a:tableStyleId>
              </a:tblPr>
              <a:tblGrid>
                <a:gridCol w="2795451">
                  <a:extLst>
                    <a:ext uri="{9D8B030D-6E8A-4147-A177-3AD203B41FA5}">
                      <a16:colId xmlns:a16="http://schemas.microsoft.com/office/drawing/2014/main" val="20000"/>
                    </a:ext>
                  </a:extLst>
                </a:gridCol>
                <a:gridCol w="5357949">
                  <a:extLst>
                    <a:ext uri="{9D8B030D-6E8A-4147-A177-3AD203B41FA5}">
                      <a16:colId xmlns:a16="http://schemas.microsoft.com/office/drawing/2014/main" val="20001"/>
                    </a:ext>
                  </a:extLst>
                </a:gridCol>
              </a:tblGrid>
              <a:tr h="327184">
                <a:tc>
                  <a:txBody>
                    <a:bodyPr/>
                    <a:lstStyle/>
                    <a:p>
                      <a:pPr>
                        <a:spcBef>
                          <a:spcPts val="1800"/>
                        </a:spcBef>
                      </a:pPr>
                      <a:r>
                        <a:rPr lang="en-US" sz="1300" b="1" spc="100" dirty="0"/>
                        <a:t>MAJOR</a:t>
                      </a:r>
                      <a:r>
                        <a:rPr lang="en-US" sz="500" b="1" spc="100" dirty="0"/>
                        <a:t> </a:t>
                      </a:r>
                      <a:r>
                        <a:rPr lang="en-US" sz="1300" b="1" spc="100" dirty="0"/>
                        <a:t>SECTION</a:t>
                      </a:r>
                      <a:r>
                        <a:rPr lang="en-US" sz="500" b="1" spc="100" dirty="0"/>
                        <a:t> </a:t>
                      </a:r>
                      <a:r>
                        <a:rPr lang="en-US" sz="1300" b="1" spc="100" baseline="0" dirty="0"/>
                        <a:t>HEADINGS</a:t>
                      </a:r>
                      <a:endParaRPr lang="en-US" sz="1300" b="1" spc="100" dirty="0"/>
                    </a:p>
                  </a:txBody>
                  <a:tcPr marB="0" anchor="b">
                    <a:lnL>
                      <a:noFill/>
                    </a:lnL>
                    <a:lnR w="28575" cap="flat" cmpd="sng" algn="ctr">
                      <a:noFill/>
                      <a:prstDash val="solid"/>
                      <a:round/>
                      <a:headEnd type="none" w="med" len="med"/>
                      <a:tailEnd type="none" w="med" len="med"/>
                    </a:lnR>
                    <a:lnT>
                      <a:noFill/>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350" b="1" spc="100" dirty="0"/>
                        <a:t>SECTION</a:t>
                      </a:r>
                      <a:r>
                        <a:rPr lang="en-US" sz="1350" b="1" spc="100" baseline="0" dirty="0"/>
                        <a:t> TOPICS</a:t>
                      </a:r>
                      <a:endParaRPr lang="en-US" sz="1350" b="1" spc="100" dirty="0"/>
                    </a:p>
                  </a:txBody>
                  <a:tcPr marB="0" anchor="b">
                    <a:lnL w="28575" cap="flat" cmpd="sng" algn="ctr">
                      <a:noFill/>
                      <a:prstDash val="solid"/>
                      <a:round/>
                      <a:headEnd type="none" w="med" len="med"/>
                      <a:tailEnd type="none" w="med" len="med"/>
                    </a:lnL>
                    <a:lnR>
                      <a:noFill/>
                    </a:lnR>
                    <a:lnT>
                      <a:noFill/>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751683">
                <a:tc>
                  <a:txBody>
                    <a:bodyPr/>
                    <a:lstStyle/>
                    <a:p>
                      <a:r>
                        <a:rPr lang="en-US" sz="1400" b="1" spc="100" dirty="0">
                          <a:latin typeface="Times New Roman" panose="02020603050405020304" pitchFamily="18" charset="0"/>
                          <a:cs typeface="Times New Roman" panose="02020603050405020304" pitchFamily="18" charset="0"/>
                        </a:rPr>
                        <a:t>Overview</a:t>
                      </a:r>
                    </a:p>
                  </a:txBody>
                  <a:tcPr>
                    <a:lnL>
                      <a:noFill/>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spc="100" dirty="0">
                          <a:latin typeface="Times New Roman" panose="02020603050405020304" pitchFamily="18" charset="0"/>
                          <a:cs typeface="Times New Roman" panose="02020603050405020304" pitchFamily="18" charset="0"/>
                        </a:rPr>
                        <a:t>Purpose, scope, and objectives; assumptions and</a:t>
                      </a:r>
                      <a:r>
                        <a:rPr lang="en-US" sz="1400" spc="100" baseline="0" dirty="0">
                          <a:latin typeface="Times New Roman" panose="02020603050405020304" pitchFamily="18" charset="0"/>
                          <a:cs typeface="Times New Roman" panose="02020603050405020304" pitchFamily="18" charset="0"/>
                        </a:rPr>
                        <a:t> </a:t>
                      </a:r>
                      <a:r>
                        <a:rPr lang="en-US" sz="1400" spc="100" dirty="0">
                          <a:latin typeface="Times New Roman" panose="02020603050405020304" pitchFamily="18" charset="0"/>
                          <a:cs typeface="Times New Roman" panose="02020603050405020304" pitchFamily="18" charset="0"/>
                        </a:rPr>
                        <a:t>constraints;</a:t>
                      </a:r>
                    </a:p>
                    <a:p>
                      <a:r>
                        <a:rPr lang="en-US" sz="1400" spc="100" dirty="0">
                          <a:latin typeface="Times New Roman" panose="02020603050405020304" pitchFamily="18" charset="0"/>
                          <a:cs typeface="Times New Roman" panose="02020603050405020304" pitchFamily="18" charset="0"/>
                        </a:rPr>
                        <a:t>project deliverables; schedule and budget</a:t>
                      </a:r>
                      <a:r>
                        <a:rPr lang="en-US" sz="1400" spc="100" baseline="0" dirty="0">
                          <a:latin typeface="Times New Roman" panose="02020603050405020304" pitchFamily="18" charset="0"/>
                          <a:cs typeface="Times New Roman" panose="02020603050405020304" pitchFamily="18" charset="0"/>
                        </a:rPr>
                        <a:t> summary; evolution</a:t>
                      </a:r>
                    </a:p>
                    <a:p>
                      <a:r>
                        <a:rPr lang="en-US" sz="1400" spc="100" baseline="0" dirty="0">
                          <a:latin typeface="Times New Roman" panose="02020603050405020304" pitchFamily="18" charset="0"/>
                          <a:cs typeface="Times New Roman" panose="02020603050405020304" pitchFamily="18" charset="0"/>
                        </a:rPr>
                        <a:t>of  the plan</a:t>
                      </a:r>
                      <a:endParaRPr lang="en-US" sz="1400" spc="100" dirty="0">
                        <a:latin typeface="Times New Roman" panose="02020603050405020304" pitchFamily="18" charset="0"/>
                        <a:cs typeface="Times New Roman" panose="02020603050405020304" pitchFamily="18" charset="0"/>
                      </a:endParaRPr>
                    </a:p>
                  </a:txBody>
                  <a:tcPr>
                    <a:lnL w="19050" cap="flat" cmpd="sng" algn="ctr">
                      <a:solidFill>
                        <a:schemeClr val="bg1">
                          <a:lumMod val="75000"/>
                        </a:schemeClr>
                      </a:solidFill>
                      <a:prstDash val="solid"/>
                      <a:round/>
                      <a:headEnd type="none" w="med" len="med"/>
                      <a:tailEnd type="none" w="med" len="med"/>
                    </a:lnL>
                    <a:lnR>
                      <a:noFill/>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1"/>
                  </a:ext>
                </a:extLst>
              </a:tr>
              <a:tr h="578219">
                <a:tc>
                  <a:txBody>
                    <a:bodyPr/>
                    <a:lstStyle/>
                    <a:p>
                      <a:r>
                        <a:rPr lang="en-US" sz="1400" b="1" spc="100" dirty="0">
                          <a:latin typeface="Times New Roman" panose="02020603050405020304" pitchFamily="18" charset="0"/>
                          <a:cs typeface="Times New Roman" panose="02020603050405020304" pitchFamily="18" charset="0"/>
                        </a:rPr>
                        <a:t>Project</a:t>
                      </a:r>
                      <a:r>
                        <a:rPr lang="en-US" sz="1400" b="1" spc="100" baseline="0" dirty="0">
                          <a:latin typeface="Times New Roman" panose="02020603050405020304" pitchFamily="18" charset="0"/>
                          <a:cs typeface="Times New Roman" panose="02020603050405020304" pitchFamily="18" charset="0"/>
                        </a:rPr>
                        <a:t> Organization</a:t>
                      </a:r>
                      <a:endParaRPr lang="en-US" sz="1400" b="1" spc="100" dirty="0">
                        <a:latin typeface="Times New Roman" panose="02020603050405020304" pitchFamily="18" charset="0"/>
                        <a:cs typeface="Times New Roman" panose="02020603050405020304" pitchFamily="18" charset="0"/>
                      </a:endParaRPr>
                    </a:p>
                  </a:txBody>
                  <a:tcPr>
                    <a:lnL>
                      <a:noFill/>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spc="100" dirty="0">
                          <a:latin typeface="Times New Roman" panose="02020603050405020304" pitchFamily="18" charset="0"/>
                          <a:cs typeface="Times New Roman" panose="02020603050405020304" pitchFamily="18" charset="0"/>
                        </a:rPr>
                        <a:t>External interfaces; internal structure; roles and</a:t>
                      </a:r>
                    </a:p>
                    <a:p>
                      <a:r>
                        <a:rPr lang="en-US" sz="1400" spc="100" dirty="0">
                          <a:latin typeface="Times New Roman" panose="02020603050405020304" pitchFamily="18" charset="0"/>
                          <a:cs typeface="Times New Roman" panose="02020603050405020304" pitchFamily="18" charset="0"/>
                        </a:rPr>
                        <a:t>Responsibilities</a:t>
                      </a:r>
                    </a:p>
                  </a:txBody>
                  <a:tcPr>
                    <a:lnL w="19050" cap="flat" cmpd="sng" algn="ctr">
                      <a:solidFill>
                        <a:schemeClr val="bg1">
                          <a:lumMod val="75000"/>
                        </a:schemeClr>
                      </a:solidFill>
                      <a:prstDash val="solid"/>
                      <a:round/>
                      <a:headEnd type="none" w="med" len="med"/>
                      <a:tailEnd type="none" w="med" len="med"/>
                    </a:lnL>
                    <a:lnR>
                      <a:noFill/>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939604">
                <a:tc>
                  <a:txBody>
                    <a:bodyPr/>
                    <a:lstStyle/>
                    <a:p>
                      <a:r>
                        <a:rPr lang="en-US" sz="1400" b="1" spc="100" dirty="0">
                          <a:latin typeface="Times New Roman" panose="02020603050405020304" pitchFamily="18" charset="0"/>
                          <a:cs typeface="Times New Roman" panose="02020603050405020304" pitchFamily="18" charset="0"/>
                        </a:rPr>
                        <a:t>Managerial Process Plan</a:t>
                      </a:r>
                    </a:p>
                  </a:txBody>
                  <a:tcPr>
                    <a:lnL>
                      <a:noFill/>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spc="100" dirty="0">
                          <a:latin typeface="Times New Roman" panose="02020603050405020304" pitchFamily="18" charset="0"/>
                          <a:cs typeface="Times New Roman" panose="02020603050405020304" pitchFamily="18" charset="0"/>
                        </a:rPr>
                        <a:t>Start-up plans (estimation, staffing, resource acquisition;</a:t>
                      </a:r>
                    </a:p>
                    <a:p>
                      <a:r>
                        <a:rPr lang="en-US" sz="1400" spc="100" dirty="0">
                          <a:latin typeface="Times New Roman" panose="02020603050405020304" pitchFamily="18" charset="0"/>
                          <a:cs typeface="Times New Roman" panose="02020603050405020304" pitchFamily="18" charset="0"/>
                        </a:rPr>
                        <a:t>and project staff training plans); work plan (work activities,</a:t>
                      </a:r>
                    </a:p>
                    <a:p>
                      <a:r>
                        <a:rPr lang="en-US" sz="1400" spc="100" dirty="0">
                          <a:latin typeface="Times New Roman" panose="02020603050405020304" pitchFamily="18" charset="0"/>
                          <a:cs typeface="Times New Roman" panose="02020603050405020304" pitchFamily="18" charset="0"/>
                        </a:rPr>
                        <a:t>schedule, resource, and budget</a:t>
                      </a:r>
                      <a:r>
                        <a:rPr lang="en-US" sz="1400" spc="100" baseline="0" dirty="0">
                          <a:latin typeface="Times New Roman" panose="02020603050405020304" pitchFamily="18" charset="0"/>
                          <a:cs typeface="Times New Roman" panose="02020603050405020304" pitchFamily="18" charset="0"/>
                        </a:rPr>
                        <a:t> allocation); control plan;</a:t>
                      </a:r>
                    </a:p>
                    <a:p>
                      <a:r>
                        <a:rPr lang="en-US" sz="1400" spc="100" baseline="0" dirty="0">
                          <a:latin typeface="Times New Roman" panose="02020603050405020304" pitchFamily="18" charset="0"/>
                          <a:cs typeface="Times New Roman" panose="02020603050405020304" pitchFamily="18" charset="0"/>
                        </a:rPr>
                        <a:t>risk management plan; closeout plan</a:t>
                      </a:r>
                      <a:endParaRPr lang="en-US" sz="1400" spc="100" dirty="0">
                        <a:latin typeface="Times New Roman" panose="02020603050405020304" pitchFamily="18" charset="0"/>
                        <a:cs typeface="Times New Roman" panose="02020603050405020304" pitchFamily="18" charset="0"/>
                      </a:endParaRPr>
                    </a:p>
                  </a:txBody>
                  <a:tcPr>
                    <a:lnL w="19050" cap="flat" cmpd="sng" algn="ctr">
                      <a:solidFill>
                        <a:schemeClr val="bg1">
                          <a:lumMod val="75000"/>
                        </a:schemeClr>
                      </a:solidFill>
                      <a:prstDash val="solid"/>
                      <a:round/>
                      <a:headEnd type="none" w="med" len="med"/>
                      <a:tailEnd type="none" w="med" len="med"/>
                    </a:lnL>
                    <a:lnR>
                      <a:noFill/>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3"/>
                  </a:ext>
                </a:extLst>
              </a:tr>
              <a:tr h="563762">
                <a:tc>
                  <a:txBody>
                    <a:bodyPr/>
                    <a:lstStyle/>
                    <a:p>
                      <a:r>
                        <a:rPr lang="en-US" sz="1400" b="1" spc="100" dirty="0">
                          <a:latin typeface="Times New Roman" panose="02020603050405020304" pitchFamily="18" charset="0"/>
                          <a:cs typeface="Times New Roman" panose="02020603050405020304" pitchFamily="18" charset="0"/>
                        </a:rPr>
                        <a:t>Technical Process Plans</a:t>
                      </a:r>
                    </a:p>
                  </a:txBody>
                  <a:tcPr>
                    <a:lnL>
                      <a:noFill/>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spc="100" dirty="0">
                          <a:latin typeface="Times New Roman" panose="02020603050405020304" pitchFamily="18" charset="0"/>
                          <a:cs typeface="Times New Roman" panose="02020603050405020304" pitchFamily="18" charset="0"/>
                        </a:rPr>
                        <a:t>Process model; methods, tools, and techniques; infrastructure</a:t>
                      </a:r>
                    </a:p>
                    <a:p>
                      <a:r>
                        <a:rPr lang="en-US" sz="1400" spc="100" dirty="0">
                          <a:latin typeface="Times New Roman" panose="02020603050405020304" pitchFamily="18" charset="0"/>
                          <a:cs typeface="Times New Roman" panose="02020603050405020304" pitchFamily="18" charset="0"/>
                        </a:rPr>
                        <a:t>Plan; product acceptance plan</a:t>
                      </a:r>
                    </a:p>
                  </a:txBody>
                  <a:tcPr>
                    <a:lnL w="19050" cap="flat" cmpd="sng" algn="ctr">
                      <a:solidFill>
                        <a:schemeClr val="bg1">
                          <a:lumMod val="75000"/>
                        </a:schemeClr>
                      </a:solidFill>
                      <a:prstDash val="solid"/>
                      <a:round/>
                      <a:headEnd type="none" w="med" len="med"/>
                      <a:tailEnd type="none" w="med" len="med"/>
                    </a:lnL>
                    <a:lnR>
                      <a:noFill/>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4"/>
                  </a:ext>
                </a:extLst>
              </a:tr>
              <a:tr h="939604">
                <a:tc>
                  <a:txBody>
                    <a:bodyPr/>
                    <a:lstStyle/>
                    <a:p>
                      <a:r>
                        <a:rPr lang="en-US" sz="1400" b="1" spc="100" dirty="0">
                          <a:latin typeface="Times New Roman" panose="02020603050405020304" pitchFamily="18" charset="0"/>
                          <a:cs typeface="Times New Roman" panose="02020603050405020304" pitchFamily="18" charset="0"/>
                        </a:rPr>
                        <a:t>Supporting Process Plans</a:t>
                      </a:r>
                    </a:p>
                  </a:txBody>
                  <a:tcPr>
                    <a:lnL>
                      <a:noFill/>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1400" spc="100" dirty="0">
                          <a:latin typeface="Times New Roman" panose="02020603050405020304" pitchFamily="18" charset="0"/>
                          <a:cs typeface="Times New Roman" panose="02020603050405020304" pitchFamily="18" charset="0"/>
                        </a:rPr>
                        <a:t>Configuration</a:t>
                      </a:r>
                      <a:r>
                        <a:rPr lang="en-US" sz="1400" spc="100" baseline="0" dirty="0">
                          <a:latin typeface="Times New Roman" panose="02020603050405020304" pitchFamily="18" charset="0"/>
                          <a:cs typeface="Times New Roman" panose="02020603050405020304" pitchFamily="18" charset="0"/>
                        </a:rPr>
                        <a:t> management plan; verification and validation</a:t>
                      </a:r>
                    </a:p>
                    <a:p>
                      <a:r>
                        <a:rPr lang="en-US" sz="1400" spc="100" baseline="0" dirty="0">
                          <a:latin typeface="Times New Roman" panose="02020603050405020304" pitchFamily="18" charset="0"/>
                          <a:cs typeface="Times New Roman" panose="02020603050405020304" pitchFamily="18" charset="0"/>
                        </a:rPr>
                        <a:t>plan; documentation plan; quality assurance plan; reviews</a:t>
                      </a:r>
                    </a:p>
                    <a:p>
                      <a:r>
                        <a:rPr lang="en-US" sz="1400" spc="100" baseline="0" dirty="0">
                          <a:latin typeface="Times New Roman" panose="02020603050405020304" pitchFamily="18" charset="0"/>
                          <a:cs typeface="Times New Roman" panose="02020603050405020304" pitchFamily="18" charset="0"/>
                        </a:rPr>
                        <a:t>And audits; problem resolution plan; subcontractor manage-</a:t>
                      </a:r>
                    </a:p>
                    <a:p>
                      <a:r>
                        <a:rPr lang="en-US" sz="1400" spc="100" baseline="0" dirty="0" err="1">
                          <a:latin typeface="Times New Roman" panose="02020603050405020304" pitchFamily="18" charset="0"/>
                          <a:cs typeface="Times New Roman" panose="02020603050405020304" pitchFamily="18" charset="0"/>
                        </a:rPr>
                        <a:t>ment</a:t>
                      </a:r>
                      <a:r>
                        <a:rPr lang="en-US" sz="1400" spc="100" baseline="0" dirty="0">
                          <a:latin typeface="Times New Roman" panose="02020603050405020304" pitchFamily="18" charset="0"/>
                          <a:cs typeface="Times New Roman" panose="02020603050405020304" pitchFamily="18" charset="0"/>
                        </a:rPr>
                        <a:t> plan; process improvement plan</a:t>
                      </a:r>
                      <a:endParaRPr lang="en-US" sz="1400" spc="100" dirty="0">
                        <a:latin typeface="Times New Roman" panose="02020603050405020304" pitchFamily="18" charset="0"/>
                        <a:cs typeface="Times New Roman" panose="02020603050405020304" pitchFamily="18" charset="0"/>
                      </a:endParaRPr>
                    </a:p>
                  </a:txBody>
                  <a:tcPr>
                    <a:lnL w="19050" cap="flat" cmpd="sng" algn="ctr">
                      <a:solidFill>
                        <a:schemeClr val="bg1">
                          <a:lumMod val="75000"/>
                        </a:schemeClr>
                      </a:solidFill>
                      <a:prstDash val="solid"/>
                      <a:round/>
                      <a:headEnd type="none" w="med" len="med"/>
                      <a:tailEnd type="none" w="med" len="med"/>
                    </a:lnL>
                    <a:lnR>
                      <a:noFill/>
                    </a:lnR>
                    <a:lnT w="19050" cap="flat" cmpd="sng" algn="ctr">
                      <a:solidFill>
                        <a:schemeClr val="bg1">
                          <a:lumMod val="75000"/>
                        </a:schemeClr>
                      </a:solidFill>
                      <a:prstDash val="solid"/>
                      <a:round/>
                      <a:headEnd type="none" w="med" len="med"/>
                      <a:tailEnd type="none" w="med" len="med"/>
                    </a:lnT>
                    <a:lnB w="1905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5"/>
                  </a:ext>
                </a:extLst>
              </a:tr>
              <a:tr h="433663">
                <a:tc>
                  <a:txBody>
                    <a:bodyPr/>
                    <a:lstStyle/>
                    <a:p>
                      <a:r>
                        <a:rPr lang="en-US" sz="1500" spc="100" dirty="0">
                          <a:latin typeface="Times New Roman" panose="02020603050405020304" pitchFamily="18" charset="0"/>
                          <a:cs typeface="Times New Roman" panose="02020603050405020304" pitchFamily="18" charset="0"/>
                        </a:rPr>
                        <a:t>IEEE Standard 1058-1998.</a:t>
                      </a:r>
                    </a:p>
                  </a:txBody>
                  <a:tcPr anchor="ctr">
                    <a:lnL>
                      <a:noFill/>
                    </a:lnL>
                    <a:lnR w="19050" cap="flat" cmpd="sng" algn="ctr">
                      <a:solidFill>
                        <a:schemeClr val="bg1">
                          <a:lumMod val="75000"/>
                        </a:schemeClr>
                      </a:solidFill>
                      <a:prstDash val="solid"/>
                      <a:round/>
                      <a:headEnd type="none" w="med" len="med"/>
                      <a:tailEnd type="none" w="med" len="med"/>
                    </a:lnR>
                    <a:lnT w="19050" cap="flat" cmpd="sng" algn="ctr">
                      <a:solidFill>
                        <a:schemeClr val="bg1">
                          <a:lumMod val="75000"/>
                        </a:schemeClr>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tc>
                  <a:txBody>
                    <a:bodyPr/>
                    <a:lstStyle/>
                    <a:p>
                      <a:r>
                        <a:rPr lang="en-US" spc="100" dirty="0">
                          <a:solidFill>
                            <a:schemeClr val="bg1"/>
                          </a:solidFill>
                        </a:rPr>
                        <a:t>Empty cell</a:t>
                      </a:r>
                    </a:p>
                  </a:txBody>
                  <a:tcPr>
                    <a:lnL w="19050" cap="flat" cmpd="sng" algn="ctr">
                      <a:solidFill>
                        <a:schemeClr val="bg1">
                          <a:lumMod val="75000"/>
                        </a:schemeClr>
                      </a:solidFill>
                      <a:prstDash val="solid"/>
                      <a:round/>
                      <a:headEnd type="none" w="med" len="med"/>
                      <a:tailEnd type="none" w="med" len="med"/>
                    </a:lnL>
                    <a:lnR>
                      <a:noFill/>
                    </a:lnR>
                    <a:lnT w="19050" cap="flat" cmpd="sng" algn="ctr">
                      <a:solidFill>
                        <a:schemeClr val="bg1">
                          <a:lumMod val="75000"/>
                        </a:schemeClr>
                      </a:solidFill>
                      <a:prstDash val="solid"/>
                      <a:round/>
                      <a:headEnd type="none" w="med" len="med"/>
                      <a:tailEnd type="none" w="med" len="med"/>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6"/>
                  </a:ext>
                </a:extLst>
              </a:tr>
            </a:tbl>
          </a:graphicData>
        </a:graphic>
      </p:graphicFrame>
      <p:sp>
        <p:nvSpPr>
          <p:cNvPr id="7" name="Footer Placeholder 6"/>
          <p:cNvSpPr>
            <a:spLocks noGrp="1"/>
          </p:cNvSpPr>
          <p:nvPr>
            <p:ph type="ftr" sz="quarter" idx="11"/>
          </p:nvPr>
        </p:nvSpPr>
        <p:spPr>
          <a:xfrm>
            <a:off x="1524001" y="6324601"/>
            <a:ext cx="2350681" cy="533400"/>
          </a:xfrm>
        </p:spPr>
        <p:txBody>
          <a:bodyPr/>
          <a:lstStyle/>
          <a:p>
            <a:pPr>
              <a:defRPr/>
            </a:pPr>
            <a:r>
              <a:rPr lang="en-US" dirty="0"/>
              <a:t>Information Technology Project Management, Eighth Edition</a:t>
            </a:r>
          </a:p>
        </p:txBody>
      </p:sp>
      <p:sp>
        <p:nvSpPr>
          <p:cNvPr id="6" name="Slide Number Placeholder 5"/>
          <p:cNvSpPr>
            <a:spLocks noGrp="1"/>
          </p:cNvSpPr>
          <p:nvPr>
            <p:ph type="sldNum" sz="quarter" idx="12"/>
          </p:nvPr>
        </p:nvSpPr>
        <p:spPr/>
        <p:txBody>
          <a:bodyPr/>
          <a:lstStyle/>
          <a:p>
            <a:pPr>
              <a:defRPr/>
            </a:pPr>
            <a:fld id="{CAB078C3-AD74-4C69-8529-ABFACC42093C}" type="slidenum">
              <a:rPr lang="en-US" smtClean="0"/>
              <a:pPr>
                <a:defRPr/>
              </a:pPr>
              <a:t>30</a:t>
            </a:fld>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0" name="Rectangle 2"/>
          <p:cNvSpPr>
            <a:spLocks noGrp="1" noChangeArrowheads="1"/>
          </p:cNvSpPr>
          <p:nvPr>
            <p:ph type="title"/>
          </p:nvPr>
        </p:nvSpPr>
        <p:spPr>
          <a:xfrm>
            <a:off x="533400" y="304800"/>
            <a:ext cx="9753600" cy="1066800"/>
          </a:xfrm>
        </p:spPr>
        <p:txBody>
          <a:bodyPr>
            <a:normAutofit/>
          </a:bodyPr>
          <a:lstStyle/>
          <a:p>
            <a:r>
              <a:rPr lang="en-US" dirty="0">
                <a:solidFill>
                  <a:srgbClr val="FF0000"/>
                </a:solidFill>
              </a:rPr>
              <a:t>Directing and Managing Project Work</a:t>
            </a:r>
          </a:p>
        </p:txBody>
      </p:sp>
      <p:sp>
        <p:nvSpPr>
          <p:cNvPr id="45061" name="Rectangle 3"/>
          <p:cNvSpPr>
            <a:spLocks noGrp="1" noChangeArrowheads="1"/>
          </p:cNvSpPr>
          <p:nvPr>
            <p:ph idx="1"/>
          </p:nvPr>
        </p:nvSpPr>
        <p:spPr>
          <a:xfrm>
            <a:off x="304800" y="2087218"/>
            <a:ext cx="6477000" cy="3276599"/>
          </a:xfrm>
        </p:spPr>
        <p:txBody>
          <a:bodyPr>
            <a:normAutofit fontScale="92500" lnSpcReduction="20000"/>
          </a:bodyPr>
          <a:lstStyle/>
          <a:p>
            <a:r>
              <a:rPr lang="en-US" dirty="0"/>
              <a:t>Involves managing and performing the work described in the project management plan</a:t>
            </a:r>
          </a:p>
          <a:p>
            <a:r>
              <a:rPr lang="en-US" dirty="0"/>
              <a:t>The majority of time and money is usually spent on execution</a:t>
            </a:r>
          </a:p>
          <a:p>
            <a:r>
              <a:rPr lang="en-US" dirty="0"/>
              <a:t>The application area of the project directly affects project execution because the products of the project are produced during </a:t>
            </a:r>
            <a:r>
              <a:rPr lang="en-US" dirty="0" smtClean="0"/>
              <a:t>execution</a:t>
            </a:r>
          </a:p>
          <a:p>
            <a:endParaRPr lang="en-US" dirty="0"/>
          </a:p>
        </p:txBody>
      </p:sp>
      <p:sp>
        <p:nvSpPr>
          <p:cNvPr id="45058" name="Footer Placeholder 3"/>
          <p:cNvSpPr>
            <a:spLocks noGrp="1"/>
          </p:cNvSpPr>
          <p:nvPr>
            <p:ph type="ftr" sz="quarter" idx="11"/>
          </p:nvPr>
        </p:nvSpPr>
        <p:spPr bwMode="auto">
          <a:xfrm>
            <a:off x="1524001" y="6248401"/>
            <a:ext cx="2350681" cy="6096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FC99C88F-E74A-4C9A-BF8E-284267DD9072}" type="slidenum">
              <a:rPr lang="en-US"/>
              <a:pPr>
                <a:defRPr/>
              </a:pPr>
              <a:t>31</a:t>
            </a:fld>
            <a:endParaRPr lang="en-US" dirty="0"/>
          </a:p>
        </p:txBody>
      </p:sp>
      <p:pic>
        <p:nvPicPr>
          <p:cNvPr id="8" name="Google Shape;215;p5" descr="A horizontal bar chart that graphs other project managers and alpha project managers. Closing has 2 percent other project managers and 3 percent alpha project managers. Monitoring and Controlling has 4 percent other project managers and 5 percent alpha project managers. Executing has 82 percent other project managers and 69 percent alpha project managers. Planning has 11 percent other project managers and 21 percent alpha project managers. Initiating has 1 percent other project managers and 2 percent alpha project managers. An annotation points to the 69 percent in Executing and the 21 percent in Planning and reads: Spending more time on planning should pay off in execution. Source: Andy Crowe."/>
          <p:cNvPicPr preferRelativeResize="0"/>
          <p:nvPr/>
        </p:nvPicPr>
        <p:blipFill rotWithShape="1">
          <a:blip r:embed="rId2">
            <a:alphaModFix/>
          </a:blip>
          <a:srcRect b="6664"/>
          <a:stretch/>
        </p:blipFill>
        <p:spPr>
          <a:xfrm>
            <a:off x="7162800" y="1676400"/>
            <a:ext cx="4812118" cy="35814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4" name="Rectangle 2"/>
          <p:cNvSpPr>
            <a:spLocks noGrp="1" noChangeArrowheads="1"/>
          </p:cNvSpPr>
          <p:nvPr>
            <p:ph type="title"/>
          </p:nvPr>
        </p:nvSpPr>
        <p:spPr/>
        <p:txBody>
          <a:bodyPr>
            <a:normAutofit/>
          </a:bodyPr>
          <a:lstStyle/>
          <a:p>
            <a:r>
              <a:rPr lang="en-US" dirty="0">
                <a:solidFill>
                  <a:schemeClr val="tx1"/>
                </a:solidFill>
              </a:rPr>
              <a:t>Coordinating Planning and Execution</a:t>
            </a:r>
          </a:p>
        </p:txBody>
      </p:sp>
      <p:sp>
        <p:nvSpPr>
          <p:cNvPr id="46085" name="Rectangle 3"/>
          <p:cNvSpPr>
            <a:spLocks noGrp="1" noChangeArrowheads="1"/>
          </p:cNvSpPr>
          <p:nvPr>
            <p:ph idx="1"/>
          </p:nvPr>
        </p:nvSpPr>
        <p:spPr>
          <a:xfrm>
            <a:off x="914400" y="1905000"/>
            <a:ext cx="8915400" cy="2785872"/>
          </a:xfrm>
        </p:spPr>
        <p:txBody>
          <a:bodyPr/>
          <a:lstStyle/>
          <a:p>
            <a:r>
              <a:rPr lang="en-US" dirty="0"/>
              <a:t>Project planning and execution are intertwined and inseparable activities</a:t>
            </a:r>
          </a:p>
          <a:p>
            <a:r>
              <a:rPr lang="en-US" dirty="0"/>
              <a:t>Those who will do the work should help to plan the work</a:t>
            </a:r>
          </a:p>
          <a:p>
            <a:r>
              <a:rPr lang="en-US" dirty="0"/>
              <a:t>Project managers must solicit input from the team to develop realistic plans</a:t>
            </a:r>
          </a:p>
        </p:txBody>
      </p:sp>
      <p:sp>
        <p:nvSpPr>
          <p:cNvPr id="46082" name="Footer Placeholder 3"/>
          <p:cNvSpPr>
            <a:spLocks noGrp="1"/>
          </p:cNvSpPr>
          <p:nvPr>
            <p:ph type="ftr" sz="quarter" idx="11"/>
          </p:nvPr>
        </p:nvSpPr>
        <p:spPr bwMode="auto">
          <a:xfrm>
            <a:off x="1524001" y="6324601"/>
            <a:ext cx="2350681" cy="5334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F40BE96C-17B6-4520-AECC-26039ACE6158}" type="slidenum">
              <a:rPr lang="en-US"/>
              <a:pPr>
                <a:defRPr/>
              </a:pPr>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Rectangle 2"/>
          <p:cNvSpPr>
            <a:spLocks noGrp="1" noChangeArrowheads="1"/>
          </p:cNvSpPr>
          <p:nvPr>
            <p:ph type="title"/>
          </p:nvPr>
        </p:nvSpPr>
        <p:spPr/>
        <p:txBody>
          <a:bodyPr>
            <a:normAutofit fontScale="90000"/>
          </a:bodyPr>
          <a:lstStyle/>
          <a:p>
            <a:r>
              <a:rPr lang="en-US" dirty="0"/>
              <a:t>Providing Leadership and a Supportive Culture</a:t>
            </a:r>
          </a:p>
        </p:txBody>
      </p:sp>
      <p:sp>
        <p:nvSpPr>
          <p:cNvPr id="47109" name="Rectangle 3"/>
          <p:cNvSpPr>
            <a:spLocks noGrp="1" noChangeArrowheads="1"/>
          </p:cNvSpPr>
          <p:nvPr>
            <p:ph idx="1"/>
          </p:nvPr>
        </p:nvSpPr>
        <p:spPr>
          <a:xfrm>
            <a:off x="1143000" y="1524000"/>
            <a:ext cx="9220200" cy="3657600"/>
          </a:xfrm>
        </p:spPr>
        <p:txBody>
          <a:bodyPr/>
          <a:lstStyle/>
          <a:p>
            <a:pPr>
              <a:lnSpc>
                <a:spcPct val="90000"/>
              </a:lnSpc>
            </a:pPr>
            <a:r>
              <a:rPr lang="en-US" dirty="0"/>
              <a:t>Project managers must lead by example to demonstrate the importance of creating and then following good project plans</a:t>
            </a:r>
          </a:p>
          <a:p>
            <a:pPr>
              <a:lnSpc>
                <a:spcPct val="90000"/>
              </a:lnSpc>
            </a:pPr>
            <a:r>
              <a:rPr lang="en-US" dirty="0"/>
              <a:t>Organizational culture can help project execution by</a:t>
            </a:r>
          </a:p>
          <a:p>
            <a:pPr lvl="1">
              <a:lnSpc>
                <a:spcPct val="90000"/>
              </a:lnSpc>
            </a:pPr>
            <a:r>
              <a:rPr lang="en-US" dirty="0"/>
              <a:t>providing guidelines and templates</a:t>
            </a:r>
          </a:p>
          <a:p>
            <a:pPr lvl="1">
              <a:lnSpc>
                <a:spcPct val="90000"/>
              </a:lnSpc>
            </a:pPr>
            <a:r>
              <a:rPr lang="en-US" dirty="0"/>
              <a:t>tracking performance based on plans</a:t>
            </a:r>
          </a:p>
          <a:p>
            <a:pPr>
              <a:lnSpc>
                <a:spcPct val="90000"/>
              </a:lnSpc>
            </a:pPr>
            <a:r>
              <a:rPr lang="en-US" dirty="0"/>
              <a:t>Project managers may still need to break the rules to meet project goals, and senior managers must support those actions</a:t>
            </a:r>
          </a:p>
        </p:txBody>
      </p:sp>
      <p:sp>
        <p:nvSpPr>
          <p:cNvPr id="47106" name="Footer Placeholder 3"/>
          <p:cNvSpPr>
            <a:spLocks noGrp="1"/>
          </p:cNvSpPr>
          <p:nvPr>
            <p:ph type="ftr" sz="quarter" idx="11"/>
          </p:nvPr>
        </p:nvSpPr>
        <p:spPr bwMode="auto">
          <a:xfrm>
            <a:off x="1524001" y="6248401"/>
            <a:ext cx="2350681" cy="6096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7391D2BE-CDDA-4CBB-8A50-E60F7F84E2F8}" type="slidenum">
              <a:rPr lang="en-US"/>
              <a:pPr>
                <a:defRPr/>
              </a:pPr>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6" name="Rectangle 2"/>
          <p:cNvSpPr>
            <a:spLocks noGrp="1" noChangeArrowheads="1"/>
          </p:cNvSpPr>
          <p:nvPr>
            <p:ph type="title"/>
          </p:nvPr>
        </p:nvSpPr>
        <p:spPr/>
        <p:txBody>
          <a:bodyPr>
            <a:normAutofit/>
          </a:bodyPr>
          <a:lstStyle/>
          <a:p>
            <a:r>
              <a:rPr lang="en-US" dirty="0"/>
              <a:t>Project Execution Tools and Techniques</a:t>
            </a:r>
          </a:p>
        </p:txBody>
      </p:sp>
      <p:sp>
        <p:nvSpPr>
          <p:cNvPr id="49157" name="Rectangle 3"/>
          <p:cNvSpPr>
            <a:spLocks noGrp="1" noChangeArrowheads="1"/>
          </p:cNvSpPr>
          <p:nvPr>
            <p:ph idx="1"/>
          </p:nvPr>
        </p:nvSpPr>
        <p:spPr>
          <a:xfrm>
            <a:off x="1143000" y="1524001"/>
            <a:ext cx="9220200" cy="4343400"/>
          </a:xfrm>
        </p:spPr>
        <p:txBody>
          <a:bodyPr>
            <a:normAutofit/>
          </a:bodyPr>
          <a:lstStyle/>
          <a:p>
            <a:pPr>
              <a:lnSpc>
                <a:spcPct val="80000"/>
              </a:lnSpc>
            </a:pPr>
            <a:r>
              <a:rPr lang="en-US" sz="2400" b="1" dirty="0"/>
              <a:t>Expert judgment</a:t>
            </a:r>
            <a:r>
              <a:rPr lang="en-US" sz="2400" dirty="0"/>
              <a:t>: Experts can help project managers and their teams make many decisions related to project execution</a:t>
            </a:r>
          </a:p>
          <a:p>
            <a:r>
              <a:rPr lang="en-US" sz="2400" b="1" dirty="0"/>
              <a:t>Meetings: </a:t>
            </a:r>
            <a:r>
              <a:rPr lang="en-US" sz="2400" dirty="0"/>
              <a:t>Meetings allow people to develop relationships, pick up on important body language or tone of voice, and have a dialogue to help resolve problems.</a:t>
            </a:r>
            <a:endParaRPr lang="en-US" sz="2400" b="1" dirty="0"/>
          </a:p>
          <a:p>
            <a:pPr>
              <a:lnSpc>
                <a:spcPct val="80000"/>
              </a:lnSpc>
            </a:pPr>
            <a:r>
              <a:rPr lang="en-US" sz="2400" b="1" dirty="0"/>
              <a:t>Project management information systems</a:t>
            </a:r>
            <a:r>
              <a:rPr lang="en-US" sz="2400" dirty="0"/>
              <a:t>: There are hundreds of project management software products available on the market today, and many organizations are moving toward powerful enterprise project management systems that are accessible via the Internet</a:t>
            </a:r>
          </a:p>
          <a:p>
            <a:pPr>
              <a:lnSpc>
                <a:spcPct val="80000"/>
              </a:lnSpc>
            </a:pPr>
            <a:r>
              <a:rPr lang="en-US" sz="2400" dirty="0"/>
              <a:t>See the What Went Right? example of Kuala Lumpur’s Integrated Transport Information System on p. 169</a:t>
            </a:r>
          </a:p>
        </p:txBody>
      </p:sp>
      <p:sp>
        <p:nvSpPr>
          <p:cNvPr id="49154" name="Footer Placeholder 3"/>
          <p:cNvSpPr>
            <a:spLocks noGrp="1"/>
          </p:cNvSpPr>
          <p:nvPr>
            <p:ph type="ftr" sz="quarter" idx="11"/>
          </p:nvPr>
        </p:nvSpPr>
        <p:spPr bwMode="auto">
          <a:xfrm>
            <a:off x="1524001" y="6421437"/>
            <a:ext cx="2350681" cy="436564"/>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AFDD198B-9674-48C3-ACD4-753DB8EA2AE8}" type="slidenum">
              <a:rPr lang="en-US"/>
              <a:pPr>
                <a:defRPr/>
              </a:pPr>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0" name="Rectangle 2"/>
          <p:cNvSpPr>
            <a:spLocks noGrp="1" noChangeArrowheads="1"/>
          </p:cNvSpPr>
          <p:nvPr>
            <p:ph type="title"/>
          </p:nvPr>
        </p:nvSpPr>
        <p:spPr>
          <a:xfrm>
            <a:off x="685800" y="228600"/>
            <a:ext cx="9525000" cy="990600"/>
          </a:xfrm>
        </p:spPr>
        <p:txBody>
          <a:bodyPr>
            <a:normAutofit fontScale="90000"/>
          </a:bodyPr>
          <a:lstStyle/>
          <a:p>
            <a:r>
              <a:rPr lang="en-US" dirty="0">
                <a:solidFill>
                  <a:srgbClr val="FF0000"/>
                </a:solidFill>
              </a:rPr>
              <a:t>Monitoring and Controlling Project Work</a:t>
            </a:r>
          </a:p>
        </p:txBody>
      </p:sp>
      <p:sp>
        <p:nvSpPr>
          <p:cNvPr id="50181" name="Rectangle 3"/>
          <p:cNvSpPr>
            <a:spLocks noGrp="1" noChangeArrowheads="1"/>
          </p:cNvSpPr>
          <p:nvPr>
            <p:ph idx="1"/>
          </p:nvPr>
        </p:nvSpPr>
        <p:spPr>
          <a:xfrm>
            <a:off x="1371600" y="1524000"/>
            <a:ext cx="8872538" cy="3581400"/>
          </a:xfrm>
        </p:spPr>
        <p:txBody>
          <a:bodyPr/>
          <a:lstStyle/>
          <a:p>
            <a:r>
              <a:rPr lang="en-US" dirty="0"/>
              <a:t>Changes are inevitable on most projects, so it’s important to develop and follow a process to monitor and control changes</a:t>
            </a:r>
          </a:p>
          <a:p>
            <a:r>
              <a:rPr lang="en-US" dirty="0"/>
              <a:t>Monitoring project work includes collecting, measuring, and disseminating performance information</a:t>
            </a:r>
          </a:p>
          <a:p>
            <a:r>
              <a:rPr lang="en-US" dirty="0"/>
              <a:t>A </a:t>
            </a:r>
            <a:r>
              <a:rPr lang="en-US" b="1" dirty="0"/>
              <a:t>baseline</a:t>
            </a:r>
            <a:r>
              <a:rPr lang="en-US" dirty="0"/>
              <a:t> is the approved project management plan plus approved changes</a:t>
            </a:r>
          </a:p>
        </p:txBody>
      </p:sp>
      <p:sp>
        <p:nvSpPr>
          <p:cNvPr id="50178" name="Footer Placeholder 3"/>
          <p:cNvSpPr>
            <a:spLocks noGrp="1"/>
          </p:cNvSpPr>
          <p:nvPr>
            <p:ph type="ftr" sz="quarter" idx="11"/>
          </p:nvPr>
        </p:nvSpPr>
        <p:spPr bwMode="auto">
          <a:xfrm>
            <a:off x="1524001" y="6400801"/>
            <a:ext cx="2350681" cy="457200"/>
          </a:xfrm>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F0500734-7A97-4DE9-BADB-70D27B29DC61}" type="slidenum">
              <a:rPr lang="en-US"/>
              <a:pPr>
                <a:defRPr/>
              </a:pPr>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8" name="Rectangle 2"/>
          <p:cNvSpPr>
            <a:spLocks noGrp="1" noChangeArrowheads="1"/>
          </p:cNvSpPr>
          <p:nvPr>
            <p:ph type="title"/>
          </p:nvPr>
        </p:nvSpPr>
        <p:spPr/>
        <p:txBody>
          <a:bodyPr>
            <a:normAutofit/>
          </a:bodyPr>
          <a:lstStyle/>
          <a:p>
            <a:r>
              <a:rPr lang="en-US" dirty="0">
                <a:solidFill>
                  <a:srgbClr val="FF0000"/>
                </a:solidFill>
              </a:rPr>
              <a:t>Performing Integrated Change Control</a:t>
            </a:r>
          </a:p>
        </p:txBody>
      </p:sp>
      <p:sp>
        <p:nvSpPr>
          <p:cNvPr id="52229" name="Rectangle 3"/>
          <p:cNvSpPr>
            <a:spLocks noGrp="1" noChangeArrowheads="1"/>
          </p:cNvSpPr>
          <p:nvPr>
            <p:ph idx="1"/>
          </p:nvPr>
        </p:nvSpPr>
        <p:spPr>
          <a:xfrm>
            <a:off x="1066800" y="1981200"/>
            <a:ext cx="9906000" cy="2481072"/>
          </a:xfrm>
        </p:spPr>
        <p:txBody>
          <a:bodyPr>
            <a:normAutofit/>
          </a:bodyPr>
          <a:lstStyle/>
          <a:p>
            <a:pPr marL="609600" indent="-609600"/>
            <a:r>
              <a:rPr lang="en-US" sz="2800" dirty="0"/>
              <a:t>Three main objectives are:</a:t>
            </a:r>
          </a:p>
          <a:p>
            <a:pPr marL="990600" lvl="1" indent="-533400"/>
            <a:r>
              <a:rPr lang="en-US" sz="2400" dirty="0"/>
              <a:t>Influencing the factors that create changes to ensure that changes are beneficial</a:t>
            </a:r>
          </a:p>
          <a:p>
            <a:pPr marL="990600" lvl="1" indent="-533400"/>
            <a:r>
              <a:rPr lang="en-US" sz="2400" dirty="0"/>
              <a:t>Determining that a change has occurred</a:t>
            </a:r>
          </a:p>
          <a:p>
            <a:pPr marL="990600" lvl="1" indent="-533400"/>
            <a:r>
              <a:rPr lang="en-US" sz="2400" dirty="0"/>
              <a:t>Managing actual changes as they occur</a:t>
            </a:r>
          </a:p>
        </p:txBody>
      </p:sp>
      <p:sp>
        <p:nvSpPr>
          <p:cNvPr id="52226"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D6A99360-D0C3-4752-A276-D993F1CB9E68}" type="slidenum">
              <a:rPr lang="en-US"/>
              <a:pPr>
                <a:defRPr/>
              </a:pPr>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2" name="Rectangle 2"/>
          <p:cNvSpPr>
            <a:spLocks noGrp="1" noChangeArrowheads="1"/>
          </p:cNvSpPr>
          <p:nvPr>
            <p:ph type="title"/>
          </p:nvPr>
        </p:nvSpPr>
        <p:spPr/>
        <p:txBody>
          <a:bodyPr>
            <a:normAutofit fontScale="90000"/>
          </a:bodyPr>
          <a:lstStyle/>
          <a:p>
            <a:r>
              <a:rPr lang="en-US" dirty="0"/>
              <a:t>Change Control on Information Technology Projects</a:t>
            </a:r>
          </a:p>
        </p:txBody>
      </p:sp>
      <p:sp>
        <p:nvSpPr>
          <p:cNvPr id="53253" name="Rectangle 3"/>
          <p:cNvSpPr>
            <a:spLocks noGrp="1" noChangeArrowheads="1"/>
          </p:cNvSpPr>
          <p:nvPr>
            <p:ph idx="1"/>
          </p:nvPr>
        </p:nvSpPr>
        <p:spPr/>
        <p:txBody>
          <a:bodyPr/>
          <a:lstStyle/>
          <a:p>
            <a:r>
              <a:rPr lang="en-US" dirty="0"/>
              <a:t>Former view: The project team should strive to do exactly what was planned on time and within budget</a:t>
            </a:r>
          </a:p>
          <a:p>
            <a:r>
              <a:rPr lang="en-US" dirty="0"/>
              <a:t>Problem: Stakeholders rarely agreed up-front on the project scope, and time and cost estimates were inaccurate</a:t>
            </a:r>
          </a:p>
          <a:p>
            <a:r>
              <a:rPr lang="en-US" dirty="0"/>
              <a:t>Modern view: Project management is a process of constant communication and negotiation</a:t>
            </a:r>
          </a:p>
          <a:p>
            <a:r>
              <a:rPr lang="en-US" dirty="0"/>
              <a:t>Solution:  Changes are often beneficial, and the project team should plan for them</a:t>
            </a:r>
          </a:p>
        </p:txBody>
      </p:sp>
      <p:sp>
        <p:nvSpPr>
          <p:cNvPr id="53250" name="Footer Placeholder 3"/>
          <p:cNvSpPr>
            <a:spLocks noGrp="1"/>
          </p:cNvSpPr>
          <p:nvPr>
            <p:ph type="ftr" sz="quarter" idx="11"/>
          </p:nvPr>
        </p:nvSpPr>
        <p:spPr bwMode="auto">
          <a:noFill/>
          <a:ln>
            <a:miter lim="800000"/>
            <a:headEnd/>
            <a:tailEnd/>
          </a:ln>
        </p:spPr>
        <p:txBody>
          <a:bodyPr/>
          <a:lstStyle/>
          <a:p>
            <a:r>
              <a:rPr lang="en-US" dirty="0"/>
              <a:t>Information Technology Project Management, Eighth Edition</a:t>
            </a:r>
          </a:p>
        </p:txBody>
      </p:sp>
      <p:sp>
        <p:nvSpPr>
          <p:cNvPr id="5" name="Slide Number Placeholder 4"/>
          <p:cNvSpPr>
            <a:spLocks noGrp="1"/>
          </p:cNvSpPr>
          <p:nvPr>
            <p:ph type="sldNum" sz="quarter" idx="12"/>
          </p:nvPr>
        </p:nvSpPr>
        <p:spPr/>
        <p:txBody>
          <a:bodyPr/>
          <a:lstStyle/>
          <a:p>
            <a:pPr>
              <a:defRPr/>
            </a:pPr>
            <a:fld id="{7BF51A45-B78F-43E4-8C68-BC192A207CCB}" type="slidenum">
              <a:rPr lang="en-US"/>
              <a:pPr>
                <a:defRPr/>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2"/>
          <p:cNvSpPr>
            <a:spLocks noGrp="1" noChangeArrowheads="1"/>
          </p:cNvSpPr>
          <p:nvPr>
            <p:ph type="title"/>
          </p:nvPr>
        </p:nvSpPr>
        <p:spPr/>
        <p:txBody>
          <a:bodyPr/>
          <a:lstStyle/>
          <a:p>
            <a:r>
              <a:rPr lang="en-US" dirty="0"/>
              <a:t>Change Control System</a:t>
            </a:r>
          </a:p>
        </p:txBody>
      </p:sp>
      <p:sp>
        <p:nvSpPr>
          <p:cNvPr id="54277" name="Rectangle 3"/>
          <p:cNvSpPr>
            <a:spLocks noGrp="1" noChangeArrowheads="1"/>
          </p:cNvSpPr>
          <p:nvPr>
            <p:ph idx="1"/>
          </p:nvPr>
        </p:nvSpPr>
        <p:spPr>
          <a:xfrm>
            <a:off x="1981200" y="1481329"/>
            <a:ext cx="8458200" cy="2481072"/>
          </a:xfrm>
        </p:spPr>
        <p:txBody>
          <a:bodyPr/>
          <a:lstStyle/>
          <a:p>
            <a:r>
              <a:rPr lang="en-US" dirty="0"/>
              <a:t>A </a:t>
            </a:r>
            <a:r>
              <a:rPr lang="en-US" b="1" dirty="0"/>
              <a:t>change control system </a:t>
            </a:r>
            <a:r>
              <a:rPr lang="en-US" dirty="0"/>
              <a:t>is a formal, documented process that describes when and how official project documents and work may be changed</a:t>
            </a:r>
          </a:p>
          <a:p>
            <a:r>
              <a:rPr lang="en-US" dirty="0"/>
              <a:t>Describes who is authorized to make changes and how to make them</a:t>
            </a:r>
          </a:p>
        </p:txBody>
      </p:sp>
      <p:sp>
        <p:nvSpPr>
          <p:cNvPr id="54274"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20EB7EED-8A3B-4E44-8A3C-892AC7DB1E15}" type="slidenum">
              <a:rPr lang="en-US"/>
              <a:pPr>
                <a:defRPr/>
              </a:pPr>
              <a:t>38</a:t>
            </a:fld>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300" name="Rectangle 2"/>
          <p:cNvSpPr>
            <a:spLocks noGrp="1" noChangeArrowheads="1"/>
          </p:cNvSpPr>
          <p:nvPr>
            <p:ph type="title"/>
          </p:nvPr>
        </p:nvSpPr>
        <p:spPr/>
        <p:txBody>
          <a:bodyPr/>
          <a:lstStyle/>
          <a:p>
            <a:r>
              <a:rPr lang="en-US" dirty="0"/>
              <a:t>Change Control Board (CCB)</a:t>
            </a:r>
          </a:p>
        </p:txBody>
      </p:sp>
      <p:sp>
        <p:nvSpPr>
          <p:cNvPr id="55301" name="Rectangle 3"/>
          <p:cNvSpPr>
            <a:spLocks noGrp="1" noChangeArrowheads="1"/>
          </p:cNvSpPr>
          <p:nvPr>
            <p:ph idx="1"/>
          </p:nvPr>
        </p:nvSpPr>
        <p:spPr>
          <a:xfrm>
            <a:off x="838200" y="1633728"/>
            <a:ext cx="10058400" cy="3090672"/>
          </a:xfrm>
        </p:spPr>
        <p:txBody>
          <a:bodyPr/>
          <a:lstStyle/>
          <a:p>
            <a:r>
              <a:rPr lang="en-US" dirty="0"/>
              <a:t>A </a:t>
            </a:r>
            <a:r>
              <a:rPr lang="en-US" b="1" dirty="0"/>
              <a:t>change control board </a:t>
            </a:r>
            <a:r>
              <a:rPr lang="en-US" dirty="0"/>
              <a:t>is a formal group of people responsible for approving or rejecting changes on a project</a:t>
            </a:r>
          </a:p>
          <a:p>
            <a:r>
              <a:rPr lang="en-US" dirty="0"/>
              <a:t>CCBs provide guidelines for preparing change requests, evaluate change requests, and manage the implementation of approved changes</a:t>
            </a:r>
          </a:p>
          <a:p>
            <a:r>
              <a:rPr lang="en-US" dirty="0"/>
              <a:t>Includes stakeholders from the entire organization</a:t>
            </a:r>
          </a:p>
        </p:txBody>
      </p:sp>
      <p:sp>
        <p:nvSpPr>
          <p:cNvPr id="55298"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63573DC6-EB44-4256-B5C3-90167C634BEE}" type="slidenum">
              <a:rPr lang="en-US"/>
              <a:pPr>
                <a:defRPr/>
              </a:pPr>
              <a:t>39</a:t>
            </a:fld>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4" name="Rectangle 2"/>
          <p:cNvSpPr>
            <a:spLocks noGrp="1" noChangeArrowheads="1"/>
          </p:cNvSpPr>
          <p:nvPr>
            <p:ph type="title"/>
          </p:nvPr>
        </p:nvSpPr>
        <p:spPr>
          <a:xfrm>
            <a:off x="685800" y="274638"/>
            <a:ext cx="9525000" cy="944562"/>
          </a:xfrm>
        </p:spPr>
        <p:txBody>
          <a:bodyPr/>
          <a:lstStyle/>
          <a:p>
            <a:r>
              <a:rPr lang="en-US" dirty="0"/>
              <a:t>Making Timely Changes</a:t>
            </a:r>
          </a:p>
        </p:txBody>
      </p:sp>
      <p:sp>
        <p:nvSpPr>
          <p:cNvPr id="56325" name="Rectangle 3"/>
          <p:cNvSpPr>
            <a:spLocks noGrp="1" noChangeArrowheads="1"/>
          </p:cNvSpPr>
          <p:nvPr>
            <p:ph idx="1"/>
          </p:nvPr>
        </p:nvSpPr>
        <p:spPr>
          <a:xfrm>
            <a:off x="1981200" y="1481329"/>
            <a:ext cx="8229600" cy="3928872"/>
          </a:xfrm>
        </p:spPr>
        <p:txBody>
          <a:bodyPr/>
          <a:lstStyle/>
          <a:p>
            <a:r>
              <a:rPr lang="en-US" dirty="0"/>
              <a:t>Some CCBs only meet occasionally, so it may take too long for changes to occur</a:t>
            </a:r>
          </a:p>
          <a:p>
            <a:r>
              <a:rPr lang="en-US" dirty="0"/>
              <a:t>Some organizations have policies in place for time-sensitive changes</a:t>
            </a:r>
          </a:p>
          <a:p>
            <a:pPr lvl="1"/>
            <a:r>
              <a:rPr lang="en-US" dirty="0"/>
              <a:t>“48-hour policy” allows project team members to make decisions, then they have 48 hours to reverse the decision pending senior management approval</a:t>
            </a:r>
          </a:p>
          <a:p>
            <a:pPr lvl="1"/>
            <a:r>
              <a:rPr lang="en-US" dirty="0"/>
              <a:t>Delegate changes to the lowest level possible, but keep everyone informed of changes</a:t>
            </a:r>
          </a:p>
        </p:txBody>
      </p:sp>
      <p:sp>
        <p:nvSpPr>
          <p:cNvPr id="56322"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96169F49-7017-498E-9A3E-E7143631DB8B}" type="slidenum">
              <a:rPr lang="en-US"/>
              <a:pPr>
                <a:defRPr/>
              </a:pPr>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8" name="Rectangle 2"/>
          <p:cNvSpPr>
            <a:spLocks noGrp="1" noChangeArrowheads="1"/>
          </p:cNvSpPr>
          <p:nvPr>
            <p:ph type="title"/>
          </p:nvPr>
        </p:nvSpPr>
        <p:spPr>
          <a:xfrm>
            <a:off x="762000" y="152400"/>
            <a:ext cx="9448800" cy="914400"/>
          </a:xfrm>
        </p:spPr>
        <p:txBody>
          <a:bodyPr/>
          <a:lstStyle/>
          <a:p>
            <a:r>
              <a:rPr lang="en-US" dirty="0"/>
              <a:t>Configuration Management</a:t>
            </a:r>
          </a:p>
        </p:txBody>
      </p:sp>
      <p:sp>
        <p:nvSpPr>
          <p:cNvPr id="57349" name="Rectangle 3"/>
          <p:cNvSpPr>
            <a:spLocks noGrp="1" noChangeArrowheads="1"/>
          </p:cNvSpPr>
          <p:nvPr>
            <p:ph idx="1"/>
          </p:nvPr>
        </p:nvSpPr>
        <p:spPr>
          <a:xfrm>
            <a:off x="1752600" y="1143001"/>
            <a:ext cx="8186738" cy="4791075"/>
          </a:xfrm>
        </p:spPr>
        <p:txBody>
          <a:bodyPr/>
          <a:lstStyle/>
          <a:p>
            <a:pPr>
              <a:lnSpc>
                <a:spcPct val="90000"/>
              </a:lnSpc>
            </a:pPr>
            <a:r>
              <a:rPr lang="en-US" b="1" dirty="0"/>
              <a:t>Configuration management </a:t>
            </a:r>
            <a:r>
              <a:rPr lang="en-US" dirty="0"/>
              <a:t>ensures that the descriptions of the project’s products are correct and complete</a:t>
            </a:r>
          </a:p>
          <a:p>
            <a:pPr>
              <a:lnSpc>
                <a:spcPct val="90000"/>
              </a:lnSpc>
            </a:pPr>
            <a:r>
              <a:rPr lang="en-US" dirty="0"/>
              <a:t>Involves identifying and controlling the functional and physical design characteristics of products and their support documentation</a:t>
            </a:r>
          </a:p>
          <a:p>
            <a:pPr>
              <a:lnSpc>
                <a:spcPct val="90000"/>
              </a:lnSpc>
            </a:pPr>
            <a:r>
              <a:rPr lang="en-US" dirty="0"/>
              <a:t>Configuration management specialists identify and document configuration requirements, control changes, record and report changes, and audit the products to verify conformance to requirements</a:t>
            </a:r>
          </a:p>
          <a:p>
            <a:pPr>
              <a:lnSpc>
                <a:spcPct val="90000"/>
              </a:lnSpc>
            </a:pPr>
            <a:r>
              <a:rPr lang="en-US" dirty="0"/>
              <a:t>See www.icmhq.com for more information</a:t>
            </a:r>
          </a:p>
        </p:txBody>
      </p:sp>
      <p:sp>
        <p:nvSpPr>
          <p:cNvPr id="57346"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67F50EE5-DD00-42CF-B186-FA289432DED5}" type="slidenum">
              <a:rPr lang="en-US"/>
              <a:pPr>
                <a:defRPr/>
              </a:pPr>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6" name="Rectangle 2"/>
          <p:cNvSpPr>
            <a:spLocks noGrp="1" noChangeArrowheads="1"/>
          </p:cNvSpPr>
          <p:nvPr>
            <p:ph type="title"/>
          </p:nvPr>
        </p:nvSpPr>
        <p:spPr/>
        <p:txBody>
          <a:bodyPr/>
          <a:lstStyle/>
          <a:p>
            <a:r>
              <a:rPr lang="en-US" dirty="0"/>
              <a:t>Closing Projects or Phases</a:t>
            </a:r>
          </a:p>
        </p:txBody>
      </p:sp>
      <p:sp>
        <p:nvSpPr>
          <p:cNvPr id="59397" name="Rectangle 3"/>
          <p:cNvSpPr>
            <a:spLocks noGrp="1" noChangeArrowheads="1"/>
          </p:cNvSpPr>
          <p:nvPr>
            <p:ph idx="1"/>
          </p:nvPr>
        </p:nvSpPr>
        <p:spPr>
          <a:xfrm>
            <a:off x="1981200" y="1481329"/>
            <a:ext cx="8229600" cy="2785872"/>
          </a:xfrm>
        </p:spPr>
        <p:txBody>
          <a:bodyPr/>
          <a:lstStyle/>
          <a:p>
            <a:r>
              <a:rPr lang="en-US" dirty="0"/>
              <a:t>To close a project or phase, you must finalize all activities and transfer the completed or cancelled work to the appropriate people</a:t>
            </a:r>
          </a:p>
          <a:p>
            <a:r>
              <a:rPr lang="en-US" dirty="0"/>
              <a:t>Main outputs include</a:t>
            </a:r>
          </a:p>
          <a:p>
            <a:pPr lvl="1"/>
            <a:r>
              <a:rPr lang="en-US" dirty="0"/>
              <a:t>Final product, service, or result transition</a:t>
            </a:r>
          </a:p>
          <a:p>
            <a:pPr lvl="1"/>
            <a:r>
              <a:rPr lang="en-US" dirty="0"/>
              <a:t>Organizational process asset updates</a:t>
            </a:r>
          </a:p>
        </p:txBody>
      </p:sp>
      <p:sp>
        <p:nvSpPr>
          <p:cNvPr id="59394"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C9A08B3E-F93B-46D5-90C8-0EFC6622AEB1}" type="slidenum">
              <a:rPr lang="en-US"/>
              <a:pPr>
                <a:defRPr/>
              </a:pPr>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20" name="Rectangle 2"/>
          <p:cNvSpPr>
            <a:spLocks noGrp="1" noChangeArrowheads="1"/>
          </p:cNvSpPr>
          <p:nvPr>
            <p:ph type="title"/>
          </p:nvPr>
        </p:nvSpPr>
        <p:spPr/>
        <p:txBody>
          <a:bodyPr>
            <a:normAutofit fontScale="90000"/>
          </a:bodyPr>
          <a:lstStyle/>
          <a:p>
            <a:r>
              <a:rPr lang="en-US" dirty="0"/>
              <a:t>Using Software to Assist in Project Integration Management</a:t>
            </a:r>
          </a:p>
        </p:txBody>
      </p:sp>
      <p:sp>
        <p:nvSpPr>
          <p:cNvPr id="60421" name="Rectangle 3"/>
          <p:cNvSpPr>
            <a:spLocks noGrp="1" noChangeArrowheads="1"/>
          </p:cNvSpPr>
          <p:nvPr>
            <p:ph idx="1"/>
          </p:nvPr>
        </p:nvSpPr>
        <p:spPr>
          <a:xfrm>
            <a:off x="1905000" y="1676400"/>
            <a:ext cx="8458200" cy="3124200"/>
          </a:xfrm>
        </p:spPr>
        <p:txBody>
          <a:bodyPr/>
          <a:lstStyle/>
          <a:p>
            <a:pPr>
              <a:lnSpc>
                <a:spcPct val="90000"/>
              </a:lnSpc>
            </a:pPr>
            <a:r>
              <a:rPr lang="en-US" dirty="0"/>
              <a:t>Several types of software can be used to assist in project integration management</a:t>
            </a:r>
          </a:p>
          <a:p>
            <a:pPr lvl="1">
              <a:lnSpc>
                <a:spcPct val="90000"/>
              </a:lnSpc>
            </a:pPr>
            <a:r>
              <a:rPr lang="en-US" dirty="0"/>
              <a:t>Documents can be created with word processing software</a:t>
            </a:r>
          </a:p>
          <a:p>
            <a:pPr lvl="1">
              <a:lnSpc>
                <a:spcPct val="90000"/>
              </a:lnSpc>
            </a:pPr>
            <a:r>
              <a:rPr lang="en-US" dirty="0"/>
              <a:t>Presentations are created with presentation software</a:t>
            </a:r>
          </a:p>
          <a:p>
            <a:pPr lvl="1">
              <a:lnSpc>
                <a:spcPct val="90000"/>
              </a:lnSpc>
            </a:pPr>
            <a:r>
              <a:rPr lang="en-US" dirty="0"/>
              <a:t>Tracking can be done with spreadsheets or databases</a:t>
            </a:r>
          </a:p>
          <a:p>
            <a:pPr lvl="1">
              <a:lnSpc>
                <a:spcPct val="90000"/>
              </a:lnSpc>
            </a:pPr>
            <a:r>
              <a:rPr lang="en-US" dirty="0"/>
              <a:t>Communication software can facilitate communications</a:t>
            </a:r>
          </a:p>
          <a:p>
            <a:pPr lvl="1">
              <a:lnSpc>
                <a:spcPct val="90000"/>
              </a:lnSpc>
            </a:pPr>
            <a:r>
              <a:rPr lang="en-US" dirty="0"/>
              <a:t>Project management software can pull everything together and show detailed and summarized information</a:t>
            </a:r>
          </a:p>
        </p:txBody>
      </p:sp>
      <p:sp>
        <p:nvSpPr>
          <p:cNvPr id="60418"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22A9576C-302C-46B8-9ADA-74B5D8EDAD33}" type="slidenum">
              <a:rPr lang="en-US"/>
              <a:pPr>
                <a:defRPr/>
              </a:pPr>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914400" y="76200"/>
            <a:ext cx="9296400" cy="1143000"/>
          </a:xfrm>
        </p:spPr>
        <p:txBody>
          <a:bodyPr>
            <a:normAutofit fontScale="90000"/>
          </a:bodyPr>
          <a:lstStyle/>
          <a:p>
            <a:r>
              <a:rPr lang="en-US" dirty="0" smtClean="0"/>
              <a:t>Sample </a:t>
            </a:r>
            <a:r>
              <a:rPr lang="en-US" dirty="0"/>
              <a:t>Portfolio Management Software Screen</a:t>
            </a:r>
          </a:p>
        </p:txBody>
      </p:sp>
      <p:pic>
        <p:nvPicPr>
          <p:cNvPr id="6" name="Picture 5" descr="A screenshot from the ProjectManager.com website has a link to Sign up now, and a project dashboard with tabs for details, tasks, resources, alerts, issues, changes, reports and documents, as well as a series of 9 graphs opened on the dashboard (table, bar charts, pie chart, progress bars, and statistic plots. On the right side of the screen there is a project health table with 6 columns and 7 rows with the headers: time, cost, resource, progress, and efficiency. Each cell has a color green representing good health, yellow representing moderate health, or red representing fair health. Underneath there is a bar chart showing cost: actual, planned, and baseline."/>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76245" y="1295400"/>
            <a:ext cx="7439511" cy="4630002"/>
          </a:xfrm>
          <a:prstGeom prst="rect">
            <a:avLst/>
          </a:prstGeom>
        </p:spPr>
      </p:pic>
      <p:sp>
        <p:nvSpPr>
          <p:cNvPr id="13" name="Content Placeholder 12"/>
          <p:cNvSpPr>
            <a:spLocks noGrp="1"/>
          </p:cNvSpPr>
          <p:nvPr>
            <p:ph idx="1"/>
          </p:nvPr>
        </p:nvSpPr>
        <p:spPr>
          <a:xfrm>
            <a:off x="6509340" y="6021474"/>
            <a:ext cx="3244260" cy="303126"/>
          </a:xfrm>
        </p:spPr>
        <p:txBody>
          <a:bodyPr>
            <a:normAutofit lnSpcReduction="10000"/>
          </a:bodyPr>
          <a:lstStyle/>
          <a:p>
            <a:pPr marL="109728" indent="0">
              <a:buNone/>
            </a:pPr>
            <a:r>
              <a:rPr lang="en-US" sz="1500" dirty="0"/>
              <a:t>Source: www.projectmanager.com</a:t>
            </a:r>
          </a:p>
        </p:txBody>
      </p:sp>
      <p:sp>
        <p:nvSpPr>
          <p:cNvPr id="3" name="Footer Placeholder 2"/>
          <p:cNvSpPr>
            <a:spLocks noGrp="1"/>
          </p:cNvSpPr>
          <p:nvPr>
            <p:ph type="ftr" sz="quarter" idx="11"/>
          </p:nvPr>
        </p:nvSpPr>
        <p:spPr/>
        <p:txBody>
          <a:bodyPr/>
          <a:lstStyle/>
          <a:p>
            <a:pPr>
              <a:defRPr/>
            </a:pPr>
            <a:r>
              <a:rPr lang="en-US"/>
              <a:t>Information Technology Project Management, Eighth Edition</a:t>
            </a:r>
            <a:endParaRPr lang="en-US" dirty="0"/>
          </a:p>
        </p:txBody>
      </p:sp>
      <p:sp>
        <p:nvSpPr>
          <p:cNvPr id="4" name="Slide Number Placeholder 3"/>
          <p:cNvSpPr>
            <a:spLocks noGrp="1"/>
          </p:cNvSpPr>
          <p:nvPr>
            <p:ph type="sldNum" sz="quarter" idx="12"/>
          </p:nvPr>
        </p:nvSpPr>
        <p:spPr/>
        <p:txBody>
          <a:bodyPr/>
          <a:lstStyle/>
          <a:p>
            <a:pPr>
              <a:defRPr/>
            </a:pPr>
            <a:fld id="{1953F6A9-037C-4679-A974-5A2F60203CED}" type="slidenum">
              <a:rPr lang="en-US" smtClean="0"/>
              <a:pPr>
                <a:defRPr/>
              </a:pPr>
              <a:t>44</a:t>
            </a:fld>
            <a:endParaRPr lang="en-US" dirty="0"/>
          </a:p>
        </p:txBody>
      </p:sp>
    </p:spTree>
    <p:extLst>
      <p:ext uri="{BB962C8B-B14F-4D97-AF65-F5344CB8AC3E}">
        <p14:creationId xmlns:p14="http://schemas.microsoft.com/office/powerpoint/2010/main" val="9599034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4" name="Rectangle 2"/>
          <p:cNvSpPr>
            <a:spLocks noGrp="1" noChangeArrowheads="1"/>
          </p:cNvSpPr>
          <p:nvPr>
            <p:ph type="title"/>
          </p:nvPr>
        </p:nvSpPr>
        <p:spPr/>
        <p:txBody>
          <a:bodyPr/>
          <a:lstStyle/>
          <a:p>
            <a:r>
              <a:rPr lang="en-US" dirty="0"/>
              <a:t>Chapter Summary</a:t>
            </a:r>
          </a:p>
        </p:txBody>
      </p:sp>
      <p:sp>
        <p:nvSpPr>
          <p:cNvPr id="61445" name="Rectangle 3"/>
          <p:cNvSpPr>
            <a:spLocks noGrp="1" noChangeArrowheads="1"/>
          </p:cNvSpPr>
          <p:nvPr>
            <p:ph idx="1"/>
          </p:nvPr>
        </p:nvSpPr>
        <p:spPr/>
        <p:txBody>
          <a:bodyPr/>
          <a:lstStyle/>
          <a:p>
            <a:r>
              <a:rPr lang="en-US" dirty="0"/>
              <a:t>Project integration management involves coordinating all of the other knowledge areas throughout a project’s life cycle</a:t>
            </a:r>
          </a:p>
          <a:p>
            <a:r>
              <a:rPr lang="en-US" dirty="0"/>
              <a:t>Main processes include</a:t>
            </a:r>
          </a:p>
          <a:p>
            <a:pPr lvl="1"/>
            <a:r>
              <a:rPr lang="en-US" dirty="0"/>
              <a:t>Develop the project charter</a:t>
            </a:r>
          </a:p>
          <a:p>
            <a:pPr lvl="1"/>
            <a:r>
              <a:rPr lang="en-US" dirty="0"/>
              <a:t>Develop the project management plan</a:t>
            </a:r>
          </a:p>
          <a:p>
            <a:pPr lvl="1"/>
            <a:r>
              <a:rPr lang="en-US" dirty="0"/>
              <a:t>Direct and manage project execution</a:t>
            </a:r>
          </a:p>
          <a:p>
            <a:pPr lvl="1"/>
            <a:r>
              <a:rPr lang="en-US" dirty="0"/>
              <a:t>Monitor and control project work</a:t>
            </a:r>
          </a:p>
          <a:p>
            <a:pPr lvl="1"/>
            <a:r>
              <a:rPr lang="en-US" dirty="0"/>
              <a:t>Perform integrated change control</a:t>
            </a:r>
          </a:p>
          <a:p>
            <a:pPr lvl="1"/>
            <a:r>
              <a:rPr lang="en-US" dirty="0"/>
              <a:t>Close the project or phase</a:t>
            </a:r>
          </a:p>
        </p:txBody>
      </p:sp>
      <p:sp>
        <p:nvSpPr>
          <p:cNvPr id="61442" name="Footer Placeholder 3"/>
          <p:cNvSpPr>
            <a:spLocks noGrp="1"/>
          </p:cNvSpPr>
          <p:nvPr>
            <p:ph type="ftr" sz="quarter" idx="11"/>
          </p:nvPr>
        </p:nvSpPr>
        <p:spPr bwMode="auto">
          <a:noFill/>
          <a:ln>
            <a:miter lim="800000"/>
            <a:headEnd/>
            <a:tailEnd/>
          </a:ln>
        </p:spPr>
        <p:txBody>
          <a:bodyPr/>
          <a:lstStyle/>
          <a:p>
            <a:r>
              <a:rPr lang="en-US"/>
              <a:t>Information Technology Project Management, Eighth Edition</a:t>
            </a:r>
            <a:endParaRPr lang="en-US" dirty="0"/>
          </a:p>
        </p:txBody>
      </p:sp>
      <p:sp>
        <p:nvSpPr>
          <p:cNvPr id="5" name="Slide Number Placeholder 4"/>
          <p:cNvSpPr>
            <a:spLocks noGrp="1"/>
          </p:cNvSpPr>
          <p:nvPr>
            <p:ph type="sldNum" sz="quarter" idx="12"/>
          </p:nvPr>
        </p:nvSpPr>
        <p:spPr/>
        <p:txBody>
          <a:bodyPr/>
          <a:lstStyle/>
          <a:p>
            <a:pPr>
              <a:defRPr/>
            </a:pPr>
            <a:fld id="{3CFDAB70-6E7B-45BB-9F36-0FA1270B4935}" type="slidenum">
              <a:rPr lang="en-US"/>
              <a:pPr>
                <a:defRPr/>
              </a:pPr>
              <a:t>45</a:t>
            </a:fld>
            <a:endParaRPr lang="en-US" dirty="0"/>
          </a:p>
        </p:txBody>
      </p:sp>
    </p:spTree>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95000" t="-106500" r="5000" b="2065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3.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3094</TotalTime>
  <Words>3080</Words>
  <Application>Microsoft Office PowerPoint</Application>
  <PresentationFormat>Widescreen</PresentationFormat>
  <Paragraphs>437</Paragraphs>
  <Slides>45</Slides>
  <Notes>1</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45</vt:i4>
      </vt:variant>
    </vt:vector>
  </HeadingPairs>
  <TitlesOfParts>
    <vt:vector size="60" baseType="lpstr">
      <vt:lpstr>Arial Unicode MS</vt:lpstr>
      <vt:lpstr>Arial</vt:lpstr>
      <vt:lpstr>Arial Rounded MT Bold</vt:lpstr>
      <vt:lpstr>Calibri</vt:lpstr>
      <vt:lpstr>Calibri Light</vt:lpstr>
      <vt:lpstr>Lucida Sans Unicode</vt:lpstr>
      <vt:lpstr>Tahoma</vt:lpstr>
      <vt:lpstr>Times New Roman</vt:lpstr>
      <vt:lpstr>Verdana</vt:lpstr>
      <vt:lpstr>Wingdings</vt:lpstr>
      <vt:lpstr>Wingdings 2</vt:lpstr>
      <vt:lpstr>Wingdings 3</vt:lpstr>
      <vt:lpstr>Custom Design</vt:lpstr>
      <vt:lpstr>Concourse</vt:lpstr>
      <vt:lpstr>Retrospect</vt:lpstr>
      <vt:lpstr>Project Integration Management</vt:lpstr>
      <vt:lpstr>The Key to Overall Project Success: Good Project Integration Management</vt:lpstr>
      <vt:lpstr>Project Integration Management Processes, Part 1</vt:lpstr>
      <vt:lpstr>Project Integration Management Processes, Part 2</vt:lpstr>
      <vt:lpstr>Project Integration Management Summary</vt:lpstr>
      <vt:lpstr>Strategic Planning and Project Selection</vt:lpstr>
      <vt:lpstr>Mind Map of a SWOT Analysis to Help Identify Potential Projects</vt:lpstr>
      <vt:lpstr>Methods for Selecting Projects</vt:lpstr>
      <vt:lpstr>Focusing on Broad Organizational Needs</vt:lpstr>
      <vt:lpstr>Categorizing IT Projects</vt:lpstr>
      <vt:lpstr>Financial Analysis of Projects</vt:lpstr>
      <vt:lpstr>Net Present Value Analysis</vt:lpstr>
      <vt:lpstr>Net Present Value Analysis</vt:lpstr>
      <vt:lpstr>Net Present Value Analysis (Example)</vt:lpstr>
      <vt:lpstr>Net Present Value Analysis (Example)</vt:lpstr>
      <vt:lpstr>Return on Investment</vt:lpstr>
      <vt:lpstr>Return on Investment (Example)</vt:lpstr>
      <vt:lpstr>Payback Analysis</vt:lpstr>
      <vt:lpstr>Weighted Scoring Model</vt:lpstr>
      <vt:lpstr>Sample Weighted Scoring Model for Project Selection</vt:lpstr>
      <vt:lpstr>Implementing a Balanced Scorecard</vt:lpstr>
      <vt:lpstr>Implementing a Balanced Scorecard</vt:lpstr>
      <vt:lpstr>How Balanced Scorecard Guides Project Selection</vt:lpstr>
      <vt:lpstr>Developing a Project Charter</vt:lpstr>
      <vt:lpstr>Inputs for Developing a Project Charter</vt:lpstr>
      <vt:lpstr>Project Charter for the DNA-Sequencing Instrument Completion Project</vt:lpstr>
      <vt:lpstr>Project Charter (cont..)</vt:lpstr>
      <vt:lpstr>Developing a Project Management Plan</vt:lpstr>
      <vt:lpstr>Common Elements of a Project Management Plan</vt:lpstr>
      <vt:lpstr>Table 4-2. Sample Contents for a Software Project Management Plan (SPMP)</vt:lpstr>
      <vt:lpstr>Directing and Managing Project Work</vt:lpstr>
      <vt:lpstr>Coordinating Planning and Execution</vt:lpstr>
      <vt:lpstr>Providing Leadership and a Supportive Culture</vt:lpstr>
      <vt:lpstr>Project Execution Tools and Techniques</vt:lpstr>
      <vt:lpstr>Monitoring and Controlling Project Work</vt:lpstr>
      <vt:lpstr>Performing Integrated Change Control</vt:lpstr>
      <vt:lpstr>Change Control on Information Technology Projects</vt:lpstr>
      <vt:lpstr>Change Control System</vt:lpstr>
      <vt:lpstr>Change Control Board (CCB)</vt:lpstr>
      <vt:lpstr>Making Timely Changes</vt:lpstr>
      <vt:lpstr>Configuration Management</vt:lpstr>
      <vt:lpstr>Closing Projects or Phases</vt:lpstr>
      <vt:lpstr>Using Software to Assist in Project Integration Management</vt:lpstr>
      <vt:lpstr>Sample Portfolio Management Software Screen</vt:lpstr>
      <vt:lpstr>Chapter Summary</vt:lpstr>
    </vt:vector>
  </TitlesOfParts>
  <Company>Augsburg College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Information  Technology</dc:creator>
  <cp:lastModifiedBy>Windows User</cp:lastModifiedBy>
  <cp:revision>257</cp:revision>
  <dcterms:created xsi:type="dcterms:W3CDTF">2001-07-05T23:10:12Z</dcterms:created>
  <dcterms:modified xsi:type="dcterms:W3CDTF">2025-09-21T12:18:57Z</dcterms:modified>
</cp:coreProperties>
</file>