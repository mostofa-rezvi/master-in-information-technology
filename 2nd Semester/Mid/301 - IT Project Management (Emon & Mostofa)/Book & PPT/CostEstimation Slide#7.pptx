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sldIdLst>
    <p:sldId id="256" r:id="rId2"/>
    <p:sldId id="307" r:id="rId3"/>
    <p:sldId id="308" r:id="rId4"/>
    <p:sldId id="264" r:id="rId5"/>
    <p:sldId id="265" r:id="rId6"/>
    <p:sldId id="266" r:id="rId7"/>
    <p:sldId id="267" r:id="rId8"/>
    <p:sldId id="268" r:id="rId9"/>
    <p:sldId id="269" r:id="rId10"/>
    <p:sldId id="270" r:id="rId11"/>
    <p:sldId id="271" r:id="rId12"/>
    <p:sldId id="272" r:id="rId13"/>
    <p:sldId id="273" r:id="rId14"/>
    <p:sldId id="305" r:id="rId15"/>
    <p:sldId id="306" r:id="rId16"/>
    <p:sldId id="275" r:id="rId17"/>
    <p:sldId id="297" r:id="rId18"/>
    <p:sldId id="298" r:id="rId19"/>
    <p:sldId id="299" r:id="rId20"/>
    <p:sldId id="310" r:id="rId21"/>
    <p:sldId id="311" r:id="rId22"/>
    <p:sldId id="312" r:id="rId23"/>
    <p:sldId id="313" r:id="rId24"/>
    <p:sldId id="314" r:id="rId25"/>
    <p:sldId id="315" r:id="rId26"/>
    <p:sldId id="309" r:id="rId27"/>
    <p:sldId id="281" r:id="rId28"/>
    <p:sldId id="282"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731" autoAdjust="0"/>
  </p:normalViewPr>
  <p:slideViewPr>
    <p:cSldViewPr>
      <p:cViewPr varScale="1">
        <p:scale>
          <a:sx n="98" d="100"/>
          <a:sy n="98" d="100"/>
        </p:scale>
        <p:origin x="1038" y="8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30186B-7695-4FBD-9197-4E08329D2CE9}" type="datetimeFigureOut">
              <a:rPr lang="en-US" smtClean="0"/>
              <a:pPr/>
              <a:t>10/19/2025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8E14FB-CFC2-4397-BE72-856D8EC15498}" type="slidenum">
              <a:rPr lang="en-US" smtClean="0"/>
              <a:pPr/>
              <a:t>‹#›</a:t>
            </a:fld>
            <a:endParaRPr lang="en-US"/>
          </a:p>
        </p:txBody>
      </p:sp>
    </p:spTree>
    <p:extLst>
      <p:ext uri="{BB962C8B-B14F-4D97-AF65-F5344CB8AC3E}">
        <p14:creationId xmlns:p14="http://schemas.microsoft.com/office/powerpoint/2010/main" val="60739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EFA805-30ED-4E1A-A035-64E943188991}" type="slidenum">
              <a:rPr lang="en-US"/>
              <a:pPr/>
              <a:t>18</a:t>
            </a:fld>
            <a:endParaRPr lang="en-US"/>
          </a:p>
        </p:txBody>
      </p:sp>
      <p:sp>
        <p:nvSpPr>
          <p:cNvPr id="123906" name="Rectangle 2"/>
          <p:cNvSpPr>
            <a:spLocks noGrp="1" noRot="1" noChangeAspect="1" noChangeArrowheads="1" noTextEdit="1"/>
          </p:cNvSpPr>
          <p:nvPr>
            <p:ph type="sldImg"/>
          </p:nvPr>
        </p:nvSpPr>
        <p:spPr>
          <a:xfrm>
            <a:off x="381000" y="685800"/>
            <a:ext cx="6096000" cy="3429000"/>
          </a:xfrm>
          <a:ln/>
        </p:spPr>
      </p:sp>
      <p:sp>
        <p:nvSpPr>
          <p:cNvPr id="123907" name="Rectangle 3"/>
          <p:cNvSpPr>
            <a:spLocks noGrp="1" noChangeArrowheads="1"/>
          </p:cNvSpPr>
          <p:nvPr>
            <p:ph type="body" idx="1"/>
          </p:nvPr>
        </p:nvSpPr>
        <p:spPr>
          <a:xfrm>
            <a:off x="914824" y="4342854"/>
            <a:ext cx="5028353" cy="4115268"/>
          </a:xfrm>
        </p:spPr>
        <p:txBody>
          <a:bodyPr>
            <a:normAutofit fontScale="70000" lnSpcReduction="20000"/>
          </a:bodyPr>
          <a:lstStyle/>
          <a:p>
            <a:r>
              <a:rPr lang="en-US" dirty="0"/>
              <a:t>The Intermediate Model estimates the software development effort by using fifteen cost driver variables besides the size variable used in Basic COCOMO.</a:t>
            </a:r>
          </a:p>
          <a:p>
            <a:endParaRPr lang="en-US" dirty="0"/>
          </a:p>
          <a:p>
            <a:r>
              <a:rPr lang="en-US" dirty="0"/>
              <a:t>Product Attributes </a:t>
            </a:r>
          </a:p>
          <a:p>
            <a:pPr>
              <a:buFontTx/>
              <a:buChar char="•"/>
            </a:pPr>
            <a:r>
              <a:rPr lang="en-US" dirty="0"/>
              <a:t>RELY:  Required Software Reliability</a:t>
            </a:r>
            <a:br>
              <a:rPr lang="en-US" dirty="0"/>
            </a:br>
            <a:r>
              <a:rPr lang="en-US" dirty="0"/>
              <a:t>The extent to which the software product must perform its intended functions satisfactorily over a period of time. </a:t>
            </a:r>
          </a:p>
          <a:p>
            <a:pPr>
              <a:buFontTx/>
              <a:buChar char="•"/>
            </a:pPr>
            <a:r>
              <a:rPr lang="en-US" dirty="0"/>
              <a:t>DATA:  Data Base Size</a:t>
            </a:r>
            <a:br>
              <a:rPr lang="en-US" dirty="0"/>
            </a:br>
            <a:r>
              <a:rPr lang="en-US" dirty="0"/>
              <a:t>The degree of the total amount of data to be assembled for the data base. </a:t>
            </a:r>
          </a:p>
          <a:p>
            <a:pPr>
              <a:buFontTx/>
              <a:buChar char="•"/>
            </a:pPr>
            <a:r>
              <a:rPr lang="en-US" dirty="0"/>
              <a:t>CPLX:  Software Product Complexity</a:t>
            </a:r>
            <a:br>
              <a:rPr lang="en-US" dirty="0"/>
            </a:br>
            <a:r>
              <a:rPr lang="en-US" dirty="0"/>
              <a:t>The level of complexity of the product to be developed. </a:t>
            </a:r>
          </a:p>
          <a:p>
            <a:endParaRPr lang="en-US" dirty="0"/>
          </a:p>
          <a:p>
            <a:r>
              <a:rPr lang="en-US" dirty="0"/>
              <a:t>Computer Attributes</a:t>
            </a:r>
          </a:p>
          <a:p>
            <a:pPr>
              <a:buFontTx/>
              <a:buChar char="•"/>
            </a:pPr>
            <a:r>
              <a:rPr lang="en-US" dirty="0"/>
              <a:t>TIME --- Execution Time Constraint</a:t>
            </a:r>
            <a:br>
              <a:rPr lang="en-US" dirty="0"/>
            </a:br>
            <a:r>
              <a:rPr lang="en-US" dirty="0"/>
              <a:t>The degree of the execution constraint imposed upon a software product. </a:t>
            </a:r>
          </a:p>
          <a:p>
            <a:pPr>
              <a:buFontTx/>
              <a:buChar char="•"/>
            </a:pPr>
            <a:r>
              <a:rPr lang="en-US" dirty="0"/>
              <a:t>STOR --- Main Storage Constraint</a:t>
            </a:r>
            <a:br>
              <a:rPr lang="en-US" dirty="0"/>
            </a:br>
            <a:r>
              <a:rPr lang="en-US" dirty="0"/>
              <a:t>The degree of main storage constraint imposed upon a software product. </a:t>
            </a:r>
          </a:p>
          <a:p>
            <a:pPr>
              <a:buFontTx/>
              <a:buChar char="•"/>
            </a:pPr>
            <a:r>
              <a:rPr lang="en-US" dirty="0"/>
              <a:t>VIRT --- Virtual Machine Volatility</a:t>
            </a:r>
            <a:br>
              <a:rPr lang="en-US" dirty="0"/>
            </a:br>
            <a:r>
              <a:rPr lang="en-US" dirty="0"/>
              <a:t>The level of the virtual machine underlying the product to be developed. </a:t>
            </a:r>
          </a:p>
          <a:p>
            <a:pPr>
              <a:buFontTx/>
              <a:buChar char="•"/>
            </a:pPr>
            <a:r>
              <a:rPr lang="en-US" dirty="0"/>
              <a:t>TURN --- Computer Turnaround Time</a:t>
            </a:r>
            <a:br>
              <a:rPr lang="en-US" dirty="0"/>
            </a:br>
            <a:r>
              <a:rPr lang="en-US" dirty="0"/>
              <a:t>The level of computer response time experienced by the project team developing the product. </a:t>
            </a:r>
          </a:p>
          <a:p>
            <a:endParaRPr lang="en-US" dirty="0"/>
          </a:p>
          <a:p>
            <a:r>
              <a:rPr lang="en-US" dirty="0"/>
              <a:t>Personnel Attributes</a:t>
            </a:r>
          </a:p>
          <a:p>
            <a:pPr>
              <a:buFontTx/>
              <a:buChar char="•"/>
            </a:pPr>
            <a:r>
              <a:rPr lang="en-US" dirty="0"/>
              <a:t>ACAP:  Analyst Capability</a:t>
            </a:r>
            <a:br>
              <a:rPr lang="en-US" dirty="0"/>
            </a:br>
            <a:r>
              <a:rPr lang="en-US" dirty="0"/>
              <a:t>The level of capability of the analysts working on a software product. </a:t>
            </a:r>
          </a:p>
          <a:p>
            <a:pPr>
              <a:buFontTx/>
              <a:buChar char="•"/>
            </a:pPr>
            <a:r>
              <a:rPr lang="en-US" dirty="0"/>
              <a:t>AEXP:  Applications Experience</a:t>
            </a:r>
            <a:br>
              <a:rPr lang="en-US" dirty="0"/>
            </a:br>
            <a:r>
              <a:rPr lang="en-US" dirty="0"/>
              <a:t>The level of applications experience of the project team developing the software product. </a:t>
            </a:r>
          </a:p>
          <a:p>
            <a:pPr>
              <a:buFontTx/>
              <a:buChar char="•"/>
            </a:pPr>
            <a:r>
              <a:rPr lang="en-US" dirty="0"/>
              <a:t>PCAP:  Programmer Capability</a:t>
            </a:r>
            <a:br>
              <a:rPr lang="en-US" dirty="0"/>
            </a:br>
            <a:r>
              <a:rPr lang="en-US" dirty="0"/>
              <a:t>The level of capability of the programmers working on the software product. </a:t>
            </a:r>
          </a:p>
          <a:p>
            <a:pPr>
              <a:buFontTx/>
              <a:buChar char="•"/>
            </a:pPr>
            <a:r>
              <a:rPr lang="en-US" dirty="0"/>
              <a:t>VEXP:  Virtual Machine Experience</a:t>
            </a:r>
            <a:br>
              <a:rPr lang="en-US" dirty="0"/>
            </a:br>
            <a:r>
              <a:rPr lang="en-US" dirty="0"/>
              <a:t>The level of virtual machine experience of the project team developing the product. </a:t>
            </a:r>
          </a:p>
          <a:p>
            <a:pPr>
              <a:buFontTx/>
              <a:buChar char="•"/>
            </a:pPr>
            <a:r>
              <a:rPr lang="en-US" dirty="0"/>
              <a:t>LEXP:  Programming Language Experience</a:t>
            </a:r>
            <a:br>
              <a:rPr lang="en-US" dirty="0"/>
            </a:br>
            <a:r>
              <a:rPr lang="en-US" dirty="0"/>
              <a:t>The level of programming language experience of the project team developing the product. </a:t>
            </a:r>
          </a:p>
          <a:p>
            <a:endParaRPr lang="en-US" dirty="0"/>
          </a:p>
          <a:p>
            <a:r>
              <a:rPr lang="en-US" dirty="0"/>
              <a:t>Project Attributes</a:t>
            </a:r>
          </a:p>
          <a:p>
            <a:pPr>
              <a:buFontTx/>
              <a:buChar char="•"/>
            </a:pPr>
            <a:r>
              <a:rPr lang="en-US" dirty="0"/>
              <a:t>MODP:  Use of Modern Programming Practices</a:t>
            </a:r>
            <a:br>
              <a:rPr lang="en-US" dirty="0"/>
            </a:br>
            <a:r>
              <a:rPr lang="en-US" dirty="0"/>
              <a:t>The degree to which modern programming practices (MPPs) are used in developing software product. </a:t>
            </a:r>
          </a:p>
          <a:p>
            <a:pPr>
              <a:buFontTx/>
              <a:buChar char="•"/>
            </a:pPr>
            <a:r>
              <a:rPr lang="en-US" dirty="0"/>
              <a:t>TOOL:  Use of Software Tools</a:t>
            </a:r>
            <a:br>
              <a:rPr lang="en-US" dirty="0"/>
            </a:br>
            <a:r>
              <a:rPr lang="en-US" dirty="0"/>
              <a:t>The degree to which software tools are used in developing the software product. </a:t>
            </a:r>
          </a:p>
          <a:p>
            <a:pPr>
              <a:buFontTx/>
              <a:buChar char="•"/>
            </a:pPr>
            <a:r>
              <a:rPr lang="en-US" dirty="0"/>
              <a:t>SCED:  Schedule Constraint</a:t>
            </a:r>
            <a:br>
              <a:rPr lang="en-US" dirty="0"/>
            </a:br>
            <a:r>
              <a:rPr lang="en-US" dirty="0"/>
              <a:t>The level of schedule constraint imposed upon the project team developing the software product.</a:t>
            </a:r>
          </a:p>
          <a:p>
            <a:endParaRPr lang="en-US" dirty="0"/>
          </a:p>
          <a:p>
            <a:endParaRPr lang="en-US" dirty="0"/>
          </a:p>
          <a:p>
            <a:endParaRPr lang="en-US" dirty="0"/>
          </a:p>
        </p:txBody>
      </p:sp>
    </p:spTree>
    <p:extLst>
      <p:ext uri="{BB962C8B-B14F-4D97-AF65-F5344CB8AC3E}">
        <p14:creationId xmlns:p14="http://schemas.microsoft.com/office/powerpoint/2010/main" val="151785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8E14FB-CFC2-4397-BE72-856D8EC15498}" type="slidenum">
              <a:rPr lang="en-US" smtClean="0"/>
              <a:pPr/>
              <a:t>21</a:t>
            </a:fld>
            <a:endParaRPr lang="en-US"/>
          </a:p>
        </p:txBody>
      </p:sp>
    </p:spTree>
    <p:extLst>
      <p:ext uri="{BB962C8B-B14F-4D97-AF65-F5344CB8AC3E}">
        <p14:creationId xmlns:p14="http://schemas.microsoft.com/office/powerpoint/2010/main" val="3758326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1828708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2623164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262038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4165878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871939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37284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390292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2033951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3346970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3049022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C1F1ED-45AF-4105-AACF-642D4554BF19}" type="datetimeFigureOut">
              <a:rPr lang="en-US" smtClean="0"/>
              <a:pPr/>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714CC4-5DF9-45B0-97C6-BB145EE19F48}" type="slidenum">
              <a:rPr lang="en-US" smtClean="0"/>
              <a:pPr/>
              <a:t>‹#›</a:t>
            </a:fld>
            <a:endParaRPr lang="en-US"/>
          </a:p>
        </p:txBody>
      </p:sp>
    </p:spTree>
    <p:extLst>
      <p:ext uri="{BB962C8B-B14F-4D97-AF65-F5344CB8AC3E}">
        <p14:creationId xmlns:p14="http://schemas.microsoft.com/office/powerpoint/2010/main" val="92637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C1F1ED-45AF-4105-AACF-642D4554BF19}" type="datetimeFigureOut">
              <a:rPr lang="en-US" smtClean="0"/>
              <a:pPr/>
              <a:t>10/19/2025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714CC4-5DF9-45B0-97C6-BB145EE19F48}" type="slidenum">
              <a:rPr lang="en-US" smtClean="0"/>
              <a:pPr/>
              <a:t>‹#›</a:t>
            </a:fld>
            <a:endParaRPr lang="en-US"/>
          </a:p>
        </p:txBody>
      </p:sp>
    </p:spTree>
    <p:extLst>
      <p:ext uri="{BB962C8B-B14F-4D97-AF65-F5344CB8AC3E}">
        <p14:creationId xmlns:p14="http://schemas.microsoft.com/office/powerpoint/2010/main" val="60904784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6.png"/><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Cost Estimation</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Project Cost Management</a:t>
            </a:r>
            <a:endParaRPr lang="en-US" dirty="0"/>
          </a:p>
        </p:txBody>
      </p:sp>
      <p:sp>
        <p:nvSpPr>
          <p:cNvPr id="3" name="Content Placeholder 2"/>
          <p:cNvSpPr>
            <a:spLocks noGrp="1"/>
          </p:cNvSpPr>
          <p:nvPr>
            <p:ph idx="1"/>
          </p:nvPr>
        </p:nvSpPr>
        <p:spPr/>
        <p:txBody>
          <a:bodyPr/>
          <a:lstStyle/>
          <a:p>
            <a:r>
              <a:rPr lang="en-US" b="1" dirty="0"/>
              <a:t>Project cost management </a:t>
            </a:r>
            <a:r>
              <a:rPr lang="en-US" dirty="0"/>
              <a:t>includes the processes required to ensure that a project team completes </a:t>
            </a:r>
            <a:r>
              <a:rPr lang="en-US" b="1" dirty="0">
                <a:solidFill>
                  <a:srgbClr val="FF0000"/>
                </a:solidFill>
              </a:rPr>
              <a:t>a project </a:t>
            </a:r>
            <a:r>
              <a:rPr lang="en-US" dirty="0"/>
              <a:t>within an </a:t>
            </a:r>
            <a:r>
              <a:rPr lang="en-US" b="1" dirty="0">
                <a:solidFill>
                  <a:srgbClr val="FF0000"/>
                </a:solidFill>
              </a:rPr>
              <a:t>approved budget</a:t>
            </a:r>
            <a:r>
              <a:rPr lang="en-US" dirty="0"/>
              <a:t>.</a:t>
            </a:r>
          </a:p>
          <a:p>
            <a:r>
              <a:rPr lang="en-US" dirty="0"/>
              <a:t>The project manager’s job is to satisfy project stakeholders while continuously striving to reduce and control costs.</a:t>
            </a:r>
          </a:p>
        </p:txBody>
      </p:sp>
    </p:spTree>
    <p:extLst>
      <p:ext uri="{BB962C8B-B14F-4D97-AF65-F5344CB8AC3E}">
        <p14:creationId xmlns:p14="http://schemas.microsoft.com/office/powerpoint/2010/main" val="3546009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Processes in Project Cost Management</a:t>
            </a:r>
          </a:p>
        </p:txBody>
      </p:sp>
      <p:sp>
        <p:nvSpPr>
          <p:cNvPr id="3" name="Content Placeholder 2"/>
          <p:cNvSpPr>
            <a:spLocks noGrp="1"/>
          </p:cNvSpPr>
          <p:nvPr>
            <p:ph idx="1"/>
          </p:nvPr>
        </p:nvSpPr>
        <p:spPr/>
        <p:txBody>
          <a:bodyPr/>
          <a:lstStyle/>
          <a:p>
            <a:r>
              <a:rPr lang="en-US" i="1" dirty="0"/>
              <a:t>Planning cost management</a:t>
            </a:r>
          </a:p>
          <a:p>
            <a:r>
              <a:rPr lang="en-US" i="1" dirty="0"/>
              <a:t>Estimating costs and determining the budget</a:t>
            </a:r>
          </a:p>
          <a:p>
            <a:r>
              <a:rPr lang="en-US" i="1" dirty="0"/>
              <a:t>Controlling costs</a:t>
            </a:r>
            <a:endParaRPr lang="en-US" dirty="0"/>
          </a:p>
        </p:txBody>
      </p:sp>
    </p:spTree>
    <p:extLst>
      <p:ext uri="{BB962C8B-B14F-4D97-AF65-F5344CB8AC3E}">
        <p14:creationId xmlns:p14="http://schemas.microsoft.com/office/powerpoint/2010/main" val="3174888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307977"/>
            <a:ext cx="10896600" cy="1139823"/>
          </a:xfrm>
        </p:spPr>
        <p:txBody>
          <a:bodyPr>
            <a:normAutofit/>
          </a:bodyPr>
          <a:lstStyle/>
          <a:p>
            <a:pPr eaLnBrk="1" hangingPunct="1">
              <a:defRPr/>
            </a:pPr>
            <a:r>
              <a:rPr lang="en-US" sz="4000" b="1" dirty="0"/>
              <a:t>Project/Software Cost- Parameters</a:t>
            </a:r>
            <a:endParaRPr lang="en-US" sz="3200" b="1" dirty="0"/>
          </a:p>
        </p:txBody>
      </p:sp>
      <p:sp>
        <p:nvSpPr>
          <p:cNvPr id="7171" name="Rectangle 3"/>
          <p:cNvSpPr>
            <a:spLocks noGrp="1" noChangeArrowheads="1"/>
          </p:cNvSpPr>
          <p:nvPr>
            <p:ph idx="1"/>
          </p:nvPr>
        </p:nvSpPr>
        <p:spPr>
          <a:xfrm>
            <a:off x="1447800" y="1828800"/>
            <a:ext cx="9220200" cy="4343400"/>
          </a:xfrm>
        </p:spPr>
        <p:txBody>
          <a:bodyPr>
            <a:normAutofit/>
          </a:bodyPr>
          <a:lstStyle/>
          <a:p>
            <a:pPr eaLnBrk="1" hangingPunct="1">
              <a:lnSpc>
                <a:spcPct val="80000"/>
              </a:lnSpc>
              <a:defRPr/>
            </a:pPr>
            <a:r>
              <a:rPr lang="en-US" sz="2400" u="sng" dirty="0"/>
              <a:t>Size</a:t>
            </a:r>
            <a:r>
              <a:rPr lang="en-US" sz="2400" dirty="0"/>
              <a:t>: Usually measured in </a:t>
            </a:r>
            <a:r>
              <a:rPr lang="en-US" sz="2400" b="1" i="1" dirty="0"/>
              <a:t>LOC</a:t>
            </a:r>
            <a:r>
              <a:rPr lang="en-US" sz="2400" dirty="0"/>
              <a:t> or the number of </a:t>
            </a:r>
            <a:r>
              <a:rPr lang="en-US" sz="2400" b="1" i="1" dirty="0"/>
              <a:t>Function Points </a:t>
            </a:r>
            <a:r>
              <a:rPr lang="en-US" sz="2400" dirty="0"/>
              <a:t>required to realize the desired capabilities.</a:t>
            </a:r>
          </a:p>
          <a:p>
            <a:pPr lvl="1" eaLnBrk="1" hangingPunct="1">
              <a:lnSpc>
                <a:spcPct val="80000"/>
              </a:lnSpc>
              <a:defRPr/>
            </a:pPr>
            <a:r>
              <a:rPr lang="en-US" sz="2400" dirty="0"/>
              <a:t>Function Points – a better metric earlier in the project</a:t>
            </a:r>
          </a:p>
          <a:p>
            <a:pPr lvl="1" eaLnBrk="1" hangingPunct="1">
              <a:lnSpc>
                <a:spcPct val="80000"/>
              </a:lnSpc>
              <a:defRPr/>
            </a:pPr>
            <a:r>
              <a:rPr lang="en-US" sz="2400" dirty="0"/>
              <a:t>LOC (SLOC, KLOC…) a better metric later in the project</a:t>
            </a:r>
          </a:p>
          <a:p>
            <a:pPr algn="just">
              <a:lnSpc>
                <a:spcPct val="80000"/>
              </a:lnSpc>
              <a:defRPr/>
            </a:pPr>
            <a:r>
              <a:rPr lang="en-US" dirty="0"/>
              <a:t>Project/Process Complexity:</a:t>
            </a:r>
            <a:r>
              <a:rPr lang="en-US" sz="2400" dirty="0"/>
              <a:t> – </a:t>
            </a:r>
            <a:r>
              <a:rPr lang="en-US" dirty="0"/>
              <a:t>Complex projects with intricate requirements, integration challenges, or advanced functionalities may require more resources and budget.</a:t>
            </a:r>
            <a:endParaRPr lang="en-US" sz="2400" dirty="0"/>
          </a:p>
        </p:txBody>
      </p:sp>
      <p:sp>
        <p:nvSpPr>
          <p:cNvPr id="6" name="Footer Placeholder 4"/>
          <p:cNvSpPr>
            <a:spLocks noGrp="1"/>
          </p:cNvSpPr>
          <p:nvPr>
            <p:ph type="ftr" sz="quarter" idx="11"/>
          </p:nvPr>
        </p:nvSpPr>
        <p:spPr/>
        <p:txBody>
          <a:bodyPr/>
          <a:lstStyle/>
          <a:p>
            <a:pPr>
              <a:defRPr/>
            </a:pPr>
            <a:r>
              <a:rPr lang="en-US"/>
              <a:t>23</a:t>
            </a:r>
          </a:p>
        </p:txBody>
      </p:sp>
      <p:sp>
        <p:nvSpPr>
          <p:cNvPr id="7" name="Slide Number Placeholder 5"/>
          <p:cNvSpPr>
            <a:spLocks noGrp="1"/>
          </p:cNvSpPr>
          <p:nvPr>
            <p:ph type="sldNum" sz="quarter" idx="12"/>
          </p:nvPr>
        </p:nvSpPr>
        <p:spPr/>
        <p:txBody>
          <a:bodyPr>
            <a:normAutofit/>
          </a:bodyPr>
          <a:lstStyle/>
          <a:p>
            <a:pPr>
              <a:defRPr/>
            </a:pPr>
            <a:fld id="{62CD0507-825A-4CF7-AEC2-36410C8F00E3}" type="slidenum">
              <a:rPr lang="en-US"/>
              <a:pPr>
                <a:defRPr/>
              </a:pPr>
              <a:t>4</a:t>
            </a:fld>
            <a:endParaRPr lang="en-US"/>
          </a:p>
        </p:txBody>
      </p:sp>
      <p:sp>
        <p:nvSpPr>
          <p:cNvPr id="6150" name="Text Box 4"/>
          <p:cNvSpPr txBox="1">
            <a:spLocks noChangeArrowheads="1"/>
          </p:cNvSpPr>
          <p:nvPr/>
        </p:nvSpPr>
        <p:spPr bwMode="auto">
          <a:xfrm>
            <a:off x="9296401" y="5410201"/>
            <a:ext cx="661463" cy="276999"/>
          </a:xfrm>
          <a:prstGeom prst="rect">
            <a:avLst/>
          </a:prstGeom>
          <a:noFill/>
          <a:ln w="9525">
            <a:noFill/>
            <a:miter lim="800000"/>
            <a:headEnd/>
            <a:tailEnd/>
          </a:ln>
        </p:spPr>
        <p:txBody>
          <a:bodyPr wrap="none">
            <a:spAutoFit/>
          </a:bodyPr>
          <a:lstStyle/>
          <a:p>
            <a:r>
              <a:rPr lang="en-US" sz="1200" dirty="0"/>
              <a:t>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04800" y="277815"/>
            <a:ext cx="11582400" cy="941386"/>
          </a:xfrm>
        </p:spPr>
        <p:txBody>
          <a:bodyPr>
            <a:normAutofit/>
          </a:bodyPr>
          <a:lstStyle/>
          <a:p>
            <a:pPr>
              <a:defRPr/>
            </a:pPr>
            <a:r>
              <a:rPr lang="en-US" sz="4000" b="1" dirty="0"/>
              <a:t>Project/Software Cost- Parameters</a:t>
            </a:r>
            <a:endParaRPr lang="en-US" sz="3200" b="1" dirty="0"/>
          </a:p>
        </p:txBody>
      </p:sp>
      <p:sp>
        <p:nvSpPr>
          <p:cNvPr id="23555" name="Rectangle 3"/>
          <p:cNvSpPr>
            <a:spLocks noGrp="1" noChangeArrowheads="1"/>
          </p:cNvSpPr>
          <p:nvPr>
            <p:ph idx="1"/>
          </p:nvPr>
        </p:nvSpPr>
        <p:spPr>
          <a:xfrm>
            <a:off x="914400" y="1600201"/>
            <a:ext cx="9982200" cy="4530725"/>
          </a:xfrm>
        </p:spPr>
        <p:txBody>
          <a:bodyPr/>
          <a:lstStyle/>
          <a:p>
            <a:pPr eaLnBrk="1" hangingPunct="1">
              <a:lnSpc>
                <a:spcPct val="90000"/>
              </a:lnSpc>
              <a:defRPr/>
            </a:pPr>
            <a:r>
              <a:rPr lang="en-US" sz="2800" u="sng" dirty="0"/>
              <a:t>Personnel</a:t>
            </a:r>
            <a:r>
              <a:rPr lang="en-US" sz="2800" dirty="0"/>
              <a:t> – capabilities of the personnel in general and in the application domain in particular</a:t>
            </a:r>
          </a:p>
          <a:p>
            <a:pPr>
              <a:defRPr/>
            </a:pPr>
            <a:r>
              <a:rPr lang="en-US" dirty="0"/>
              <a:t>All human resources involved in the project, from technical staff to project managers. Skilled labor is often the largest cost component, especially in technical or labor-intensive projects.</a:t>
            </a:r>
            <a:endParaRPr lang="en-US" sz="2800" dirty="0"/>
          </a:p>
          <a:p>
            <a:pPr lvl="1" eaLnBrk="1" hangingPunct="1">
              <a:lnSpc>
                <a:spcPct val="90000"/>
              </a:lnSpc>
              <a:defRPr/>
            </a:pPr>
            <a:r>
              <a:rPr lang="en-US" dirty="0"/>
              <a:t>There is much specialization nowadays.  Some are expensive.</a:t>
            </a:r>
          </a:p>
          <a:p>
            <a:pPr lvl="1" eaLnBrk="1" hangingPunct="1">
              <a:lnSpc>
                <a:spcPct val="90000"/>
              </a:lnSpc>
              <a:defRPr/>
            </a:pPr>
            <a:r>
              <a:rPr lang="en-US" dirty="0"/>
              <a:t>Emphasize ‘team’ and team responsibilities…Ability to work in a team;  </a:t>
            </a:r>
          </a:p>
          <a:p>
            <a:pPr lvl="2" eaLnBrk="1" hangingPunct="1">
              <a:lnSpc>
                <a:spcPct val="90000"/>
              </a:lnSpc>
              <a:defRPr/>
            </a:pPr>
            <a:r>
              <a:rPr lang="en-US" dirty="0"/>
              <a:t>Several newer lightweight methodologies are built around a team or tiny group of individuals…</a:t>
            </a:r>
          </a:p>
          <a:p>
            <a:pPr eaLnBrk="1" hangingPunct="1">
              <a:lnSpc>
                <a:spcPct val="90000"/>
              </a:lnSpc>
              <a:buFont typeface="Wingdings" pitchFamily="2" charset="2"/>
              <a:buNone/>
              <a:defRPr/>
            </a:pPr>
            <a:endParaRPr lang="en-US" sz="2400" dirty="0"/>
          </a:p>
        </p:txBody>
      </p:sp>
      <p:sp>
        <p:nvSpPr>
          <p:cNvPr id="5" name="Footer Placeholder 4"/>
          <p:cNvSpPr>
            <a:spLocks noGrp="1"/>
          </p:cNvSpPr>
          <p:nvPr>
            <p:ph type="ftr" sz="quarter" idx="11"/>
          </p:nvPr>
        </p:nvSpPr>
        <p:spPr/>
        <p:txBody>
          <a:bodyPr/>
          <a:lstStyle/>
          <a:p>
            <a:pPr>
              <a:defRPr/>
            </a:pPr>
            <a:r>
              <a:rPr lang="en-US"/>
              <a:t>23</a:t>
            </a:r>
          </a:p>
        </p:txBody>
      </p:sp>
      <p:sp>
        <p:nvSpPr>
          <p:cNvPr id="6" name="Slide Number Placeholder 5"/>
          <p:cNvSpPr>
            <a:spLocks noGrp="1"/>
          </p:cNvSpPr>
          <p:nvPr>
            <p:ph type="sldNum" sz="quarter" idx="12"/>
          </p:nvPr>
        </p:nvSpPr>
        <p:spPr/>
        <p:txBody>
          <a:bodyPr>
            <a:normAutofit/>
          </a:bodyPr>
          <a:lstStyle/>
          <a:p>
            <a:pPr>
              <a:defRPr/>
            </a:pPr>
            <a:fld id="{9A3D465F-DD9A-4752-8011-FEBECE65DEC2}" type="slidenum">
              <a:rPr lang="en-US"/>
              <a:pPr>
                <a:defRPr/>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04800" y="79377"/>
            <a:ext cx="11734800" cy="1063623"/>
          </a:xfrm>
        </p:spPr>
        <p:txBody>
          <a:bodyPr>
            <a:normAutofit/>
          </a:bodyPr>
          <a:lstStyle/>
          <a:p>
            <a:pPr>
              <a:defRPr/>
            </a:pPr>
            <a:r>
              <a:rPr lang="en-US" sz="4000" b="1" dirty="0"/>
              <a:t>Project/Software Cost- Parameters</a:t>
            </a:r>
            <a:endParaRPr lang="en-US" sz="3200" b="1" dirty="0"/>
          </a:p>
        </p:txBody>
      </p:sp>
      <p:sp>
        <p:nvSpPr>
          <p:cNvPr id="22531" name="Rectangle 3"/>
          <p:cNvSpPr>
            <a:spLocks noGrp="1" noChangeArrowheads="1"/>
          </p:cNvSpPr>
          <p:nvPr>
            <p:ph idx="1"/>
          </p:nvPr>
        </p:nvSpPr>
        <p:spPr>
          <a:xfrm>
            <a:off x="914400" y="1600200"/>
            <a:ext cx="10210800" cy="4073524"/>
          </a:xfrm>
        </p:spPr>
        <p:txBody>
          <a:bodyPr>
            <a:normAutofit/>
          </a:bodyPr>
          <a:lstStyle/>
          <a:p>
            <a:pPr eaLnBrk="1" hangingPunct="1">
              <a:lnSpc>
                <a:spcPct val="90000"/>
              </a:lnSpc>
              <a:defRPr/>
            </a:pPr>
            <a:r>
              <a:rPr lang="en-US" u="sng" dirty="0"/>
              <a:t>Environment</a:t>
            </a:r>
            <a:r>
              <a:rPr lang="en-US" dirty="0"/>
              <a:t> – The tools/techniques / automated procedures used to support the development effort.</a:t>
            </a:r>
          </a:p>
          <a:p>
            <a:pPr lvl="1" eaLnBrk="1" hangingPunct="1">
              <a:lnSpc>
                <a:spcPct val="90000"/>
              </a:lnSpc>
              <a:defRPr/>
            </a:pPr>
            <a:r>
              <a:rPr lang="en-US" dirty="0"/>
              <a:t>Integrated tools; automated tools for modelling, testing, configuration, managing change, defect tracking, etc…</a:t>
            </a:r>
          </a:p>
          <a:p>
            <a:pPr eaLnBrk="1" hangingPunct="1">
              <a:lnSpc>
                <a:spcPct val="90000"/>
              </a:lnSpc>
              <a:buFont typeface="Wingdings" pitchFamily="2" charset="2"/>
              <a:buNone/>
              <a:defRPr/>
            </a:pPr>
            <a:endParaRPr lang="en-US" dirty="0"/>
          </a:p>
          <a:p>
            <a:pPr eaLnBrk="1" hangingPunct="1">
              <a:lnSpc>
                <a:spcPct val="90000"/>
              </a:lnSpc>
              <a:defRPr/>
            </a:pPr>
            <a:r>
              <a:rPr lang="en-US" u="sng" dirty="0"/>
              <a:t>Required Quality of the Project</a:t>
            </a:r>
            <a:r>
              <a:rPr lang="en-US" dirty="0"/>
              <a:t> – the functionality provided;  performance, reliability, maintainability, scalability, portability, user interface utility;  usability…</a:t>
            </a:r>
          </a:p>
          <a:p>
            <a:pPr marL="0" indent="0" eaLnBrk="1" hangingPunct="1">
              <a:lnSpc>
                <a:spcPct val="90000"/>
              </a:lnSpc>
              <a:buNone/>
              <a:defRPr/>
            </a:pPr>
            <a:endParaRPr lang="en-US" dirty="0"/>
          </a:p>
        </p:txBody>
      </p:sp>
      <p:sp>
        <p:nvSpPr>
          <p:cNvPr id="5" name="Footer Placeholder 4"/>
          <p:cNvSpPr>
            <a:spLocks noGrp="1"/>
          </p:cNvSpPr>
          <p:nvPr>
            <p:ph type="ftr" sz="quarter" idx="11"/>
          </p:nvPr>
        </p:nvSpPr>
        <p:spPr/>
        <p:txBody>
          <a:bodyPr/>
          <a:lstStyle/>
          <a:p>
            <a:pPr>
              <a:defRPr/>
            </a:pPr>
            <a:r>
              <a:rPr lang="en-US"/>
              <a:t>23</a:t>
            </a:r>
          </a:p>
        </p:txBody>
      </p:sp>
      <p:sp>
        <p:nvSpPr>
          <p:cNvPr id="6" name="Slide Number Placeholder 5"/>
          <p:cNvSpPr>
            <a:spLocks noGrp="1"/>
          </p:cNvSpPr>
          <p:nvPr>
            <p:ph type="sldNum" sz="quarter" idx="12"/>
          </p:nvPr>
        </p:nvSpPr>
        <p:spPr/>
        <p:txBody>
          <a:bodyPr>
            <a:normAutofit/>
          </a:bodyPr>
          <a:lstStyle/>
          <a:p>
            <a:pPr>
              <a:defRPr/>
            </a:pPr>
            <a:fld id="{72216D05-75CB-4217-A440-A1F57E1D1C9F}" type="slidenum">
              <a:rPr lang="en-US"/>
              <a:pPr>
                <a:defRPr/>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8600" y="79376"/>
            <a:ext cx="11811000" cy="1139823"/>
          </a:xfrm>
        </p:spPr>
        <p:txBody>
          <a:bodyPr>
            <a:normAutofit/>
          </a:bodyPr>
          <a:lstStyle/>
          <a:p>
            <a:pPr>
              <a:defRPr/>
            </a:pPr>
            <a:r>
              <a:rPr lang="en-US" sz="4000" b="1" dirty="0"/>
              <a:t>Project/Software Cost- Parameters</a:t>
            </a:r>
            <a:endParaRPr lang="en-US" sz="3200" b="1" dirty="0"/>
          </a:p>
        </p:txBody>
      </p:sp>
      <p:sp>
        <p:nvSpPr>
          <p:cNvPr id="8195" name="Rectangle 3"/>
          <p:cNvSpPr>
            <a:spLocks noGrp="1" noChangeArrowheads="1"/>
          </p:cNvSpPr>
          <p:nvPr>
            <p:ph idx="1"/>
          </p:nvPr>
        </p:nvSpPr>
        <p:spPr>
          <a:xfrm>
            <a:off x="914400" y="1793876"/>
            <a:ext cx="10439400" cy="4530725"/>
          </a:xfrm>
        </p:spPr>
        <p:txBody>
          <a:bodyPr>
            <a:normAutofit/>
          </a:bodyPr>
          <a:lstStyle/>
          <a:p>
            <a:pPr eaLnBrk="1" hangingPunct="1">
              <a:buFont typeface="Wingdings" pitchFamily="2" charset="2"/>
              <a:buNone/>
              <a:defRPr/>
            </a:pPr>
            <a:endParaRPr lang="en-US" sz="2400" b="1" u="sng" dirty="0"/>
          </a:p>
          <a:p>
            <a:pPr eaLnBrk="1" hangingPunct="1">
              <a:buFont typeface="Wingdings" pitchFamily="2" charset="2"/>
              <a:buNone/>
              <a:defRPr/>
            </a:pPr>
            <a:endParaRPr lang="en-US" sz="2400" b="1" u="sng" dirty="0"/>
          </a:p>
          <a:p>
            <a:pPr eaLnBrk="1" hangingPunct="1">
              <a:buFont typeface="Wingdings" pitchFamily="2" charset="2"/>
              <a:buNone/>
              <a:defRPr/>
            </a:pPr>
            <a:r>
              <a:rPr lang="en-US" sz="2400" b="1" u="sng" dirty="0"/>
              <a:t>Effort</a:t>
            </a:r>
            <a:r>
              <a:rPr lang="en-US" sz="2400" dirty="0"/>
              <a:t> = (personnel)(environment)(quality)(size)(process)</a:t>
            </a:r>
          </a:p>
        </p:txBody>
      </p:sp>
      <p:sp>
        <p:nvSpPr>
          <p:cNvPr id="6" name="Footer Placeholder 4"/>
          <p:cNvSpPr>
            <a:spLocks noGrp="1"/>
          </p:cNvSpPr>
          <p:nvPr>
            <p:ph type="ftr" sz="quarter" idx="11"/>
          </p:nvPr>
        </p:nvSpPr>
        <p:spPr/>
        <p:txBody>
          <a:bodyPr/>
          <a:lstStyle/>
          <a:p>
            <a:pPr>
              <a:defRPr/>
            </a:pPr>
            <a:r>
              <a:rPr lang="en-US"/>
              <a:t>23</a:t>
            </a:r>
          </a:p>
        </p:txBody>
      </p:sp>
      <p:sp>
        <p:nvSpPr>
          <p:cNvPr id="7" name="Slide Number Placeholder 5"/>
          <p:cNvSpPr>
            <a:spLocks noGrp="1"/>
          </p:cNvSpPr>
          <p:nvPr>
            <p:ph type="sldNum" sz="quarter" idx="12"/>
          </p:nvPr>
        </p:nvSpPr>
        <p:spPr/>
        <p:txBody>
          <a:bodyPr>
            <a:normAutofit/>
          </a:bodyPr>
          <a:lstStyle/>
          <a:p>
            <a:pPr>
              <a:defRPr/>
            </a:pPr>
            <a:fld id="{B630AB05-A6B7-40AF-B751-F96D325EDB4C}" type="slidenum">
              <a:rPr lang="en-US"/>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b="1" dirty="0"/>
              <a:t>Cost of a Project</a:t>
            </a:r>
          </a:p>
        </p:txBody>
      </p:sp>
      <p:sp>
        <p:nvSpPr>
          <p:cNvPr id="5123" name="Rectangle 3"/>
          <p:cNvSpPr>
            <a:spLocks noGrp="1" noChangeArrowheads="1"/>
          </p:cNvSpPr>
          <p:nvPr>
            <p:ph idx="1"/>
          </p:nvPr>
        </p:nvSpPr>
        <p:spPr/>
        <p:txBody>
          <a:bodyPr/>
          <a:lstStyle/>
          <a:p>
            <a:r>
              <a:rPr lang="en-US" dirty="0"/>
              <a:t>The cost in a project is due to:</a:t>
            </a:r>
          </a:p>
          <a:p>
            <a:pPr lvl="1"/>
            <a:r>
              <a:rPr lang="en-US" dirty="0"/>
              <a:t>due to the requirements for software, hardware, and human resources</a:t>
            </a:r>
          </a:p>
          <a:p>
            <a:pPr lvl="1"/>
            <a:r>
              <a:rPr lang="en-US" dirty="0"/>
              <a:t>the cost of software development is due to the human resources needed</a:t>
            </a:r>
          </a:p>
          <a:p>
            <a:pPr lvl="1"/>
            <a:r>
              <a:rPr lang="en-US" dirty="0"/>
              <a:t>most cost estimates are measured in </a:t>
            </a:r>
            <a:r>
              <a:rPr lang="en-US" b="1" i="1" dirty="0"/>
              <a:t>person-months  (PM)</a:t>
            </a:r>
          </a:p>
          <a:p>
            <a:pPr>
              <a:spcBef>
                <a:spcPts val="500"/>
              </a:spcBef>
              <a:spcAft>
                <a:spcPts val="500"/>
              </a:spcAft>
            </a:pPr>
            <a:r>
              <a:rPr lang="en-US" altLang="tr-TR" dirty="0"/>
              <a:t>The cost of the project depends on the </a:t>
            </a:r>
            <a:r>
              <a:rPr lang="en-US" altLang="tr-TR" dirty="0">
                <a:solidFill>
                  <a:srgbClr val="FF0000"/>
                </a:solidFill>
              </a:rPr>
              <a:t>nature</a:t>
            </a:r>
            <a:r>
              <a:rPr lang="en-US" altLang="tr-TR" dirty="0"/>
              <a:t> and </a:t>
            </a:r>
            <a:r>
              <a:rPr lang="en-US" altLang="tr-TR" dirty="0">
                <a:solidFill>
                  <a:srgbClr val="FF0000"/>
                </a:solidFill>
              </a:rPr>
              <a:t>characteristics</a:t>
            </a:r>
            <a:r>
              <a:rPr lang="en-US" altLang="tr-TR" dirty="0"/>
              <a:t> of the project, </a:t>
            </a:r>
            <a:endParaRPr lang="tr-TR" altLang="tr-TR" dirty="0"/>
          </a:p>
          <a:p>
            <a:pPr>
              <a:spcBef>
                <a:spcPts val="500"/>
              </a:spcBef>
              <a:spcAft>
                <a:spcPts val="500"/>
              </a:spcAft>
            </a:pPr>
            <a:r>
              <a:rPr lang="en-US" altLang="tr-TR" dirty="0"/>
              <a:t>At any point, the estimate’s accuracy will depend on the amount of </a:t>
            </a:r>
            <a:r>
              <a:rPr lang="en-US" altLang="tr-TR" dirty="0">
                <a:solidFill>
                  <a:srgbClr val="FF0000"/>
                </a:solidFill>
              </a:rPr>
              <a:t>reliable information</a:t>
            </a:r>
            <a:r>
              <a:rPr lang="en-US" altLang="tr-TR" dirty="0"/>
              <a:t> we have about the final product.</a:t>
            </a:r>
          </a:p>
          <a:p>
            <a:pPr lvl="1"/>
            <a:endParaRPr lang="en-US" b="1" i="1" dirty="0"/>
          </a:p>
        </p:txBody>
      </p:sp>
      <p:sp>
        <p:nvSpPr>
          <p:cNvPr id="6" name="Slide Number Placeholder 5"/>
          <p:cNvSpPr>
            <a:spLocks noGrp="1"/>
          </p:cNvSpPr>
          <p:nvPr>
            <p:ph type="sldNum" sz="quarter" idx="12"/>
          </p:nvPr>
        </p:nvSpPr>
        <p:spPr/>
        <p:txBody>
          <a:bodyPr/>
          <a:lstStyle/>
          <a:p>
            <a:fld id="{CD904B6C-90BA-40A4-A817-24AEB8EA2DE6}" type="slidenum">
              <a:rPr lang="en-US"/>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t>Software/Project Cost Estimation</a:t>
            </a:r>
          </a:p>
        </p:txBody>
      </p:sp>
      <p:graphicFrame>
        <p:nvGraphicFramePr>
          <p:cNvPr id="18435" name="Object 3"/>
          <p:cNvGraphicFramePr>
            <a:graphicFrameLocks noGrp="1" noChangeAspect="1"/>
          </p:cNvGraphicFramePr>
          <p:nvPr>
            <p:ph idx="1"/>
            <p:extLst>
              <p:ext uri="{D42A27DB-BD31-4B8C-83A1-F6EECF244321}">
                <p14:modId xmlns:p14="http://schemas.microsoft.com/office/powerpoint/2010/main" val="2907853087"/>
              </p:ext>
            </p:extLst>
          </p:nvPr>
        </p:nvGraphicFramePr>
        <p:xfrm>
          <a:off x="574184" y="2057401"/>
          <a:ext cx="9789015" cy="3438010"/>
        </p:xfrm>
        <a:graphic>
          <a:graphicData uri="http://schemas.openxmlformats.org/presentationml/2006/ole">
            <mc:AlternateContent xmlns:mc="http://schemas.openxmlformats.org/markup-compatibility/2006">
              <mc:Choice xmlns:v="urn:schemas-microsoft-com:vml" Requires="v">
                <p:oleObj spid="_x0000_s1134" name="Bitmap Image" r:id="rId3" imgW="5504762" imgH="1933333" progId="PBrush">
                  <p:embed/>
                </p:oleObj>
              </mc:Choice>
              <mc:Fallback>
                <p:oleObj name="Bitmap Image" r:id="rId3" imgW="5504762" imgH="1933333"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184" y="2057401"/>
                        <a:ext cx="9789015" cy="3438010"/>
                      </a:xfrm>
                      <a:prstGeom prst="rect">
                        <a:avLst/>
                      </a:prstGeom>
                      <a:noFill/>
                      <a:extLst/>
                    </p:spPr>
                  </p:pic>
                </p:oleObj>
              </mc:Fallback>
            </mc:AlternateContent>
          </a:graphicData>
        </a:graphic>
      </p:graphicFrame>
      <p:sp>
        <p:nvSpPr>
          <p:cNvPr id="6" name="Slide Number Placeholder 5"/>
          <p:cNvSpPr>
            <a:spLocks noGrp="1"/>
          </p:cNvSpPr>
          <p:nvPr>
            <p:ph type="sldNum" sz="quarter" idx="12"/>
          </p:nvPr>
        </p:nvSpPr>
        <p:spPr/>
        <p:txBody>
          <a:bodyPr/>
          <a:lstStyle/>
          <a:p>
            <a:fld id="{4E839A32-BDB1-450E-8002-425BBF7AA0EC}" type="slidenum">
              <a:rPr lang="en-US"/>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Introduction to COCOMO models</a:t>
            </a:r>
          </a:p>
        </p:txBody>
      </p:sp>
      <p:sp>
        <p:nvSpPr>
          <p:cNvPr id="7171" name="Rectangle 3"/>
          <p:cNvSpPr>
            <a:spLocks noGrp="1" noChangeArrowheads="1"/>
          </p:cNvSpPr>
          <p:nvPr>
            <p:ph idx="1"/>
          </p:nvPr>
        </p:nvSpPr>
        <p:spPr/>
        <p:txBody>
          <a:bodyPr/>
          <a:lstStyle/>
          <a:p>
            <a:pPr>
              <a:spcBef>
                <a:spcPts val="500"/>
              </a:spcBef>
              <a:spcAft>
                <a:spcPts val="500"/>
              </a:spcAft>
            </a:pPr>
            <a:r>
              <a:rPr lang="en-US" dirty="0"/>
              <a:t>The </a:t>
            </a:r>
            <a:r>
              <a:rPr lang="en-US" b="1" dirty="0" err="1">
                <a:solidFill>
                  <a:srgbClr val="FF0000"/>
                </a:solidFill>
              </a:rPr>
              <a:t>COstructive</a:t>
            </a:r>
            <a:r>
              <a:rPr lang="en-US" b="1" dirty="0">
                <a:solidFill>
                  <a:srgbClr val="FF0000"/>
                </a:solidFill>
              </a:rPr>
              <a:t> </a:t>
            </a:r>
            <a:r>
              <a:rPr lang="en-US" b="1" dirty="0" err="1">
                <a:solidFill>
                  <a:srgbClr val="FF0000"/>
                </a:solidFill>
              </a:rPr>
              <a:t>COst</a:t>
            </a:r>
            <a:r>
              <a:rPr lang="en-US" b="1" dirty="0">
                <a:solidFill>
                  <a:srgbClr val="FF0000"/>
                </a:solidFill>
              </a:rPr>
              <a:t> Model</a:t>
            </a:r>
            <a:r>
              <a:rPr lang="en-US" dirty="0"/>
              <a:t> (COCOMO) is the most widely used software estimation model</a:t>
            </a:r>
          </a:p>
          <a:p>
            <a:pPr>
              <a:spcBef>
                <a:spcPts val="500"/>
              </a:spcBef>
              <a:spcAft>
                <a:spcPts val="500"/>
              </a:spcAft>
            </a:pPr>
            <a:r>
              <a:rPr lang="en-US" dirty="0"/>
              <a:t>The COCOMO model predicts the</a:t>
            </a:r>
            <a:r>
              <a:rPr lang="en-US" b="1" dirty="0"/>
              <a:t> </a:t>
            </a:r>
            <a:r>
              <a:rPr lang="en-US" b="1" dirty="0">
                <a:solidFill>
                  <a:srgbClr val="FF0000"/>
                </a:solidFill>
              </a:rPr>
              <a:t>effort, resource,</a:t>
            </a:r>
            <a:r>
              <a:rPr lang="en-US" dirty="0">
                <a:solidFill>
                  <a:srgbClr val="FF0000"/>
                </a:solidFill>
              </a:rPr>
              <a:t> </a:t>
            </a:r>
            <a:r>
              <a:rPr lang="en-US" dirty="0"/>
              <a:t>and </a:t>
            </a:r>
            <a:r>
              <a:rPr lang="en-US" b="1" dirty="0">
                <a:solidFill>
                  <a:srgbClr val="FF0000"/>
                </a:solidFill>
              </a:rPr>
              <a:t>duration</a:t>
            </a:r>
            <a:r>
              <a:rPr lang="en-US" dirty="0"/>
              <a:t> of a project based on inputs relating to the size of the resulting systems and a number of "</a:t>
            </a:r>
            <a:r>
              <a:rPr lang="en-US" b="1" dirty="0"/>
              <a:t>cost drives</a:t>
            </a:r>
            <a:r>
              <a:rPr lang="en-US" dirty="0"/>
              <a:t>" that affect productivity. </a:t>
            </a:r>
          </a:p>
        </p:txBody>
      </p:sp>
      <p:sp>
        <p:nvSpPr>
          <p:cNvPr id="6" name="Slide Number Placeholder 5"/>
          <p:cNvSpPr>
            <a:spLocks noGrp="1"/>
          </p:cNvSpPr>
          <p:nvPr>
            <p:ph type="sldNum" sz="quarter" idx="12"/>
          </p:nvPr>
        </p:nvSpPr>
        <p:spPr/>
        <p:txBody>
          <a:bodyPr/>
          <a:lstStyle/>
          <a:p>
            <a:fld id="{FBB7EB22-2C9A-43D1-859B-944AB903751B}" type="slidenum">
              <a:rPr lang="en-US"/>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Effort</a:t>
            </a:r>
          </a:p>
        </p:txBody>
      </p:sp>
      <p:sp>
        <p:nvSpPr>
          <p:cNvPr id="8195" name="Rectangle 3"/>
          <p:cNvSpPr>
            <a:spLocks noGrp="1" noChangeArrowheads="1"/>
          </p:cNvSpPr>
          <p:nvPr>
            <p:ph idx="1"/>
          </p:nvPr>
        </p:nvSpPr>
        <p:spPr/>
        <p:txBody>
          <a:bodyPr/>
          <a:lstStyle/>
          <a:p>
            <a:pPr>
              <a:spcBef>
                <a:spcPts val="500"/>
              </a:spcBef>
              <a:spcAft>
                <a:spcPts val="500"/>
              </a:spcAft>
            </a:pPr>
            <a:r>
              <a:rPr lang="en-US" dirty="0"/>
              <a:t>Effort Equation </a:t>
            </a:r>
          </a:p>
          <a:p>
            <a:pPr lvl="1">
              <a:spcBef>
                <a:spcPts val="500"/>
              </a:spcBef>
              <a:spcAft>
                <a:spcPts val="500"/>
              </a:spcAft>
            </a:pPr>
            <a:r>
              <a:rPr lang="en-US" b="1" dirty="0"/>
              <a:t>PM = C * (KDSI)</a:t>
            </a:r>
            <a:r>
              <a:rPr lang="en-US" b="1" baseline="30000" dirty="0"/>
              <a:t>n</a:t>
            </a:r>
            <a:r>
              <a:rPr lang="en-US" b="1" dirty="0"/>
              <a:t>   (</a:t>
            </a:r>
            <a:r>
              <a:rPr lang="en-US" dirty="0"/>
              <a:t>person-months)</a:t>
            </a:r>
          </a:p>
          <a:p>
            <a:pPr lvl="2">
              <a:spcBef>
                <a:spcPts val="500"/>
              </a:spcBef>
              <a:spcAft>
                <a:spcPts val="500"/>
              </a:spcAft>
            </a:pPr>
            <a:r>
              <a:rPr lang="en-US" dirty="0"/>
              <a:t>where </a:t>
            </a:r>
            <a:r>
              <a:rPr lang="en-US" b="1" dirty="0"/>
              <a:t>PM</a:t>
            </a:r>
            <a:r>
              <a:rPr lang="en-US" dirty="0"/>
              <a:t> = number of person-month (person-152 working hours), </a:t>
            </a:r>
          </a:p>
          <a:p>
            <a:pPr lvl="2">
              <a:spcBef>
                <a:spcPts val="500"/>
              </a:spcBef>
              <a:spcAft>
                <a:spcPts val="500"/>
              </a:spcAft>
            </a:pPr>
            <a:r>
              <a:rPr lang="en-US" b="1" dirty="0"/>
              <a:t>C</a:t>
            </a:r>
            <a:r>
              <a:rPr lang="en-US" dirty="0"/>
              <a:t> = a constant, </a:t>
            </a:r>
          </a:p>
          <a:p>
            <a:pPr lvl="2">
              <a:spcBef>
                <a:spcPts val="500"/>
              </a:spcBef>
              <a:spcAft>
                <a:spcPts val="500"/>
              </a:spcAft>
            </a:pPr>
            <a:r>
              <a:rPr lang="en-US" b="1" dirty="0"/>
              <a:t>KDSI</a:t>
            </a:r>
            <a:r>
              <a:rPr lang="en-US" dirty="0"/>
              <a:t> = thousands of "delivered source instructions" (DSI) and</a:t>
            </a:r>
          </a:p>
          <a:p>
            <a:pPr lvl="2">
              <a:spcBef>
                <a:spcPts val="500"/>
              </a:spcBef>
              <a:spcAft>
                <a:spcPts val="500"/>
              </a:spcAft>
            </a:pPr>
            <a:r>
              <a:rPr lang="en-US" dirty="0"/>
              <a:t> </a:t>
            </a:r>
            <a:r>
              <a:rPr lang="en-US" b="1" dirty="0"/>
              <a:t>n</a:t>
            </a:r>
            <a:r>
              <a:rPr lang="en-US" dirty="0"/>
              <a:t> = a constant. </a:t>
            </a:r>
          </a:p>
        </p:txBody>
      </p:sp>
      <p:sp>
        <p:nvSpPr>
          <p:cNvPr id="4" name="Date Placeholder 3"/>
          <p:cNvSpPr>
            <a:spLocks noGrp="1"/>
          </p:cNvSpPr>
          <p:nvPr>
            <p:ph type="dt" sz="half" idx="10"/>
          </p:nvPr>
        </p:nvSpPr>
        <p:spPr/>
        <p:txBody>
          <a:bodyPr/>
          <a:lstStyle/>
          <a:p>
            <a:r>
              <a:rPr lang="en-US"/>
              <a:t>SEG3300 A&amp;B W2004</a:t>
            </a:r>
          </a:p>
        </p:txBody>
      </p:sp>
      <p:sp>
        <p:nvSpPr>
          <p:cNvPr id="5" name="Footer Placeholder 4"/>
          <p:cNvSpPr>
            <a:spLocks noGrp="1"/>
          </p:cNvSpPr>
          <p:nvPr>
            <p:ph type="ftr" sz="quarter" idx="11"/>
          </p:nvPr>
        </p:nvSpPr>
        <p:spPr/>
        <p:txBody>
          <a:bodyPr/>
          <a:lstStyle/>
          <a:p>
            <a:r>
              <a:rPr lang="en-US"/>
              <a:t>R.L. Probert</a:t>
            </a:r>
          </a:p>
        </p:txBody>
      </p:sp>
      <p:sp>
        <p:nvSpPr>
          <p:cNvPr id="6" name="Slide Number Placeholder 5"/>
          <p:cNvSpPr>
            <a:spLocks noGrp="1"/>
          </p:cNvSpPr>
          <p:nvPr>
            <p:ph type="sldNum" sz="quarter" idx="12"/>
          </p:nvPr>
        </p:nvSpPr>
        <p:spPr/>
        <p:txBody>
          <a:bodyPr/>
          <a:lstStyle/>
          <a:p>
            <a:fld id="{2F38A238-780F-4579-A0D5-3F75E94A6133}" type="slidenum">
              <a:rPr lang="en-US"/>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Productivity</a:t>
            </a:r>
          </a:p>
        </p:txBody>
      </p:sp>
      <p:sp>
        <p:nvSpPr>
          <p:cNvPr id="9219" name="Rectangle 3"/>
          <p:cNvSpPr>
            <a:spLocks noGrp="1" noChangeArrowheads="1"/>
          </p:cNvSpPr>
          <p:nvPr>
            <p:ph idx="1"/>
          </p:nvPr>
        </p:nvSpPr>
        <p:spPr/>
        <p:txBody>
          <a:bodyPr/>
          <a:lstStyle/>
          <a:p>
            <a:pPr>
              <a:spcBef>
                <a:spcPts val="500"/>
              </a:spcBef>
              <a:spcAft>
                <a:spcPts val="500"/>
              </a:spcAft>
            </a:pPr>
            <a:r>
              <a:rPr lang="en-US" dirty="0"/>
              <a:t>Productivity equation </a:t>
            </a:r>
          </a:p>
          <a:p>
            <a:pPr lvl="1">
              <a:spcBef>
                <a:spcPts val="500"/>
              </a:spcBef>
              <a:spcAft>
                <a:spcPts val="500"/>
              </a:spcAft>
            </a:pPr>
            <a:r>
              <a:rPr lang="en-US" b="1" dirty="0"/>
              <a:t>(DSI) / (PM) </a:t>
            </a:r>
          </a:p>
          <a:p>
            <a:pPr lvl="2">
              <a:spcBef>
                <a:spcPts val="500"/>
              </a:spcBef>
              <a:spcAft>
                <a:spcPts val="500"/>
              </a:spcAft>
            </a:pPr>
            <a:r>
              <a:rPr lang="en-US" dirty="0"/>
              <a:t>where </a:t>
            </a:r>
            <a:r>
              <a:rPr lang="en-US" b="1" dirty="0"/>
              <a:t>PM</a:t>
            </a:r>
            <a:r>
              <a:rPr lang="en-US" dirty="0"/>
              <a:t> = number of person-month (=152 working hours), </a:t>
            </a:r>
          </a:p>
          <a:p>
            <a:pPr lvl="2">
              <a:spcBef>
                <a:spcPts val="500"/>
              </a:spcBef>
              <a:spcAft>
                <a:spcPts val="500"/>
              </a:spcAft>
            </a:pPr>
            <a:endParaRPr lang="en-US" dirty="0"/>
          </a:p>
          <a:p>
            <a:pPr lvl="2">
              <a:spcBef>
                <a:spcPts val="500"/>
              </a:spcBef>
              <a:spcAft>
                <a:spcPts val="500"/>
              </a:spcAft>
            </a:pPr>
            <a:r>
              <a:rPr lang="en-US" b="1" dirty="0"/>
              <a:t>DSI</a:t>
            </a:r>
            <a:r>
              <a:rPr lang="en-US" dirty="0"/>
              <a:t> = "delivered source instructions"</a:t>
            </a:r>
          </a:p>
        </p:txBody>
      </p:sp>
      <p:sp>
        <p:nvSpPr>
          <p:cNvPr id="4" name="Date Placeholder 3"/>
          <p:cNvSpPr>
            <a:spLocks noGrp="1"/>
          </p:cNvSpPr>
          <p:nvPr>
            <p:ph type="dt" sz="half" idx="10"/>
          </p:nvPr>
        </p:nvSpPr>
        <p:spPr/>
        <p:txBody>
          <a:bodyPr/>
          <a:lstStyle/>
          <a:p>
            <a:r>
              <a:rPr lang="en-US"/>
              <a:t>SEG3300 A&amp;B W2004</a:t>
            </a:r>
          </a:p>
        </p:txBody>
      </p:sp>
      <p:sp>
        <p:nvSpPr>
          <p:cNvPr id="5" name="Footer Placeholder 4"/>
          <p:cNvSpPr>
            <a:spLocks noGrp="1"/>
          </p:cNvSpPr>
          <p:nvPr>
            <p:ph type="ftr" sz="quarter" idx="11"/>
          </p:nvPr>
        </p:nvSpPr>
        <p:spPr/>
        <p:txBody>
          <a:bodyPr/>
          <a:lstStyle/>
          <a:p>
            <a:r>
              <a:rPr lang="en-US"/>
              <a:t>R.L. Probert</a:t>
            </a:r>
          </a:p>
        </p:txBody>
      </p:sp>
      <p:sp>
        <p:nvSpPr>
          <p:cNvPr id="6" name="Slide Number Placeholder 5"/>
          <p:cNvSpPr>
            <a:spLocks noGrp="1"/>
          </p:cNvSpPr>
          <p:nvPr>
            <p:ph type="sldNum" sz="quarter" idx="12"/>
          </p:nvPr>
        </p:nvSpPr>
        <p:spPr/>
        <p:txBody>
          <a:bodyPr/>
          <a:lstStyle/>
          <a:p>
            <a:fld id="{839B7920-CF14-4D76-974B-F9B737FA4F70}" type="slidenum">
              <a:rPr lang="en-US"/>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Schedule</a:t>
            </a:r>
          </a:p>
        </p:txBody>
      </p:sp>
      <p:sp>
        <p:nvSpPr>
          <p:cNvPr id="10243" name="Rectangle 3"/>
          <p:cNvSpPr>
            <a:spLocks noGrp="1" noChangeArrowheads="1"/>
          </p:cNvSpPr>
          <p:nvPr>
            <p:ph idx="1"/>
          </p:nvPr>
        </p:nvSpPr>
        <p:spPr/>
        <p:txBody>
          <a:bodyPr/>
          <a:lstStyle/>
          <a:p>
            <a:pPr>
              <a:spcBef>
                <a:spcPts val="500"/>
              </a:spcBef>
              <a:spcAft>
                <a:spcPts val="500"/>
              </a:spcAft>
            </a:pPr>
            <a:r>
              <a:rPr lang="en-US"/>
              <a:t>Schedule equation </a:t>
            </a:r>
          </a:p>
          <a:p>
            <a:pPr lvl="1">
              <a:spcBef>
                <a:spcPts val="500"/>
              </a:spcBef>
              <a:spcAft>
                <a:spcPts val="500"/>
              </a:spcAft>
            </a:pPr>
            <a:r>
              <a:rPr lang="en-US" b="1"/>
              <a:t>TDEV = C * (PM)</a:t>
            </a:r>
            <a:r>
              <a:rPr lang="en-US" b="1" baseline="30000"/>
              <a:t>n</a:t>
            </a:r>
            <a:r>
              <a:rPr lang="en-US" b="1"/>
              <a:t> (</a:t>
            </a:r>
            <a:r>
              <a:rPr lang="en-US"/>
              <a:t>months)</a:t>
            </a:r>
            <a:r>
              <a:rPr lang="en-US" b="1"/>
              <a:t> </a:t>
            </a:r>
            <a:endParaRPr lang="en-US"/>
          </a:p>
          <a:p>
            <a:pPr lvl="2">
              <a:spcBef>
                <a:spcPts val="500"/>
              </a:spcBef>
              <a:spcAft>
                <a:spcPts val="500"/>
              </a:spcAft>
            </a:pPr>
            <a:r>
              <a:rPr lang="en-US"/>
              <a:t>where TDEV = number of months estimated for software development. </a:t>
            </a:r>
          </a:p>
        </p:txBody>
      </p:sp>
      <p:sp>
        <p:nvSpPr>
          <p:cNvPr id="6" name="Slide Number Placeholder 5"/>
          <p:cNvSpPr>
            <a:spLocks noGrp="1"/>
          </p:cNvSpPr>
          <p:nvPr>
            <p:ph type="sldNum" sz="quarter" idx="12"/>
          </p:nvPr>
        </p:nvSpPr>
        <p:spPr/>
        <p:txBody>
          <a:bodyPr/>
          <a:lstStyle/>
          <a:p>
            <a:fld id="{FC0C66D2-F3A3-4BD4-95ED-2175968F3E33}" type="slidenum">
              <a:rPr lang="en-US"/>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defRPr/>
            </a:pPr>
            <a:r>
              <a:rPr lang="en-US" altLang="tr-TR"/>
              <a:t>Average Staffing</a:t>
            </a:r>
          </a:p>
        </p:txBody>
      </p:sp>
      <p:sp>
        <p:nvSpPr>
          <p:cNvPr id="16390" name="Rectangle 3"/>
          <p:cNvSpPr>
            <a:spLocks noGrp="1" noChangeArrowheads="1"/>
          </p:cNvSpPr>
          <p:nvPr>
            <p:ph idx="1"/>
          </p:nvPr>
        </p:nvSpPr>
        <p:spPr/>
        <p:txBody>
          <a:bodyPr/>
          <a:lstStyle/>
          <a:p>
            <a:r>
              <a:rPr lang="en-US" altLang="tr-TR"/>
              <a:t>Average Staffing Equation</a:t>
            </a:r>
          </a:p>
          <a:p>
            <a:pPr lvl="1">
              <a:spcBef>
                <a:spcPts val="500"/>
              </a:spcBef>
              <a:spcAft>
                <a:spcPts val="500"/>
              </a:spcAft>
            </a:pPr>
            <a:r>
              <a:rPr lang="en-US" altLang="tr-TR" b="1"/>
              <a:t>(PM) / (TDEV)		 (</a:t>
            </a:r>
            <a:r>
              <a:rPr lang="en-US" altLang="tr-TR"/>
              <a:t>FSP)</a:t>
            </a:r>
            <a:r>
              <a:rPr lang="en-US" altLang="tr-TR" b="1"/>
              <a:t> </a:t>
            </a:r>
          </a:p>
          <a:p>
            <a:pPr lvl="2">
              <a:spcBef>
                <a:spcPts val="500"/>
              </a:spcBef>
              <a:spcAft>
                <a:spcPts val="500"/>
              </a:spcAft>
            </a:pPr>
            <a:r>
              <a:rPr lang="en-US" altLang="tr-TR"/>
              <a:t>where FSP means Full-time-equivalent Software Personnel.</a:t>
            </a:r>
          </a:p>
          <a:p>
            <a:pPr lvl="1">
              <a:spcBef>
                <a:spcPts val="500"/>
              </a:spcBef>
              <a:spcAft>
                <a:spcPts val="500"/>
              </a:spcAft>
            </a:pPr>
            <a:endParaRPr lang="en-US" altLang="tr-TR"/>
          </a:p>
          <a:p>
            <a:pPr lvl="1"/>
            <a:endParaRPr lang="en-US" altLang="tr-TR"/>
          </a:p>
        </p:txBody>
      </p:sp>
      <p:sp>
        <p:nvSpPr>
          <p:cNvPr id="16388"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C69224E-617A-430D-8C5F-1DE896ED7661}" type="slidenum">
              <a:rPr lang="en-US" altLang="tr-TR" sz="1400"/>
              <a:pPr/>
              <a:t>14</a:t>
            </a:fld>
            <a:endParaRPr lang="en-US" altLang="tr-TR" sz="1400"/>
          </a:p>
        </p:txBody>
      </p:sp>
    </p:spTree>
    <p:extLst>
      <p:ext uri="{BB962C8B-B14F-4D97-AF65-F5344CB8AC3E}">
        <p14:creationId xmlns:p14="http://schemas.microsoft.com/office/powerpoint/2010/main" val="1994463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defRPr/>
            </a:pPr>
            <a:r>
              <a:rPr lang="en-US" altLang="tr-TR"/>
              <a:t>Cost Estimation Process</a:t>
            </a:r>
          </a:p>
        </p:txBody>
      </p:sp>
      <p:sp>
        <p:nvSpPr>
          <p:cNvPr id="18434" name="Date Placeholder 3"/>
          <p:cNvSpPr>
            <a:spLocks noGrp="1"/>
          </p:cNvSpPr>
          <p:nvPr>
            <p:ph type="dt" sz="half" idx="10"/>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tr-TR" sz="1400"/>
              <a:t>26/12/2016</a:t>
            </a:r>
          </a:p>
        </p:txBody>
      </p:sp>
      <p:sp>
        <p:nvSpPr>
          <p:cNvPr id="18436" name="Slide Number Placeholder 5"/>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0921C98-0B09-4438-AF58-99FDB055CAFD}" type="slidenum">
              <a:rPr lang="en-US" altLang="tr-TR" sz="1400"/>
              <a:pPr/>
              <a:t>15</a:t>
            </a:fld>
            <a:endParaRPr lang="en-US" altLang="tr-TR" sz="1400"/>
          </a:p>
        </p:txBody>
      </p:sp>
      <p:sp>
        <p:nvSpPr>
          <p:cNvPr id="18438" name="Rectangle 12"/>
          <p:cNvSpPr>
            <a:spLocks noChangeArrowheads="1"/>
          </p:cNvSpPr>
          <p:nvPr/>
        </p:nvSpPr>
        <p:spPr bwMode="auto">
          <a:xfrm>
            <a:off x="1524000" y="750889"/>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r"/>
                <a:tab pos="2743200" algn="ctr"/>
                <a:tab pos="5486400" algn="r"/>
              </a:tabLst>
              <a:defRPr sz="2400">
                <a:solidFill>
                  <a:schemeClr val="tx1"/>
                </a:solidFill>
                <a:latin typeface="Times New Roman" panose="02020603050405020304" pitchFamily="18" charset="0"/>
              </a:defRPr>
            </a:lvl1pPr>
            <a:lvl2pPr marL="742950" indent="-285750">
              <a:tabLst>
                <a:tab pos="457200" algn="r"/>
                <a:tab pos="2743200" algn="ctr"/>
                <a:tab pos="5486400" algn="r"/>
              </a:tabLst>
              <a:defRPr sz="2400">
                <a:solidFill>
                  <a:schemeClr val="tx1"/>
                </a:solidFill>
                <a:latin typeface="Times New Roman" panose="02020603050405020304" pitchFamily="18" charset="0"/>
              </a:defRPr>
            </a:lvl2pPr>
            <a:lvl3pPr marL="1143000" indent="-228600">
              <a:tabLst>
                <a:tab pos="457200" algn="r"/>
                <a:tab pos="2743200" algn="ctr"/>
                <a:tab pos="5486400" algn="r"/>
              </a:tabLst>
              <a:defRPr sz="2400">
                <a:solidFill>
                  <a:schemeClr val="tx1"/>
                </a:solidFill>
                <a:latin typeface="Times New Roman" panose="02020603050405020304" pitchFamily="18" charset="0"/>
              </a:defRPr>
            </a:lvl3pPr>
            <a:lvl4pPr marL="1600200" indent="-228600">
              <a:tabLst>
                <a:tab pos="457200" algn="r"/>
                <a:tab pos="2743200" algn="ctr"/>
                <a:tab pos="5486400" algn="r"/>
              </a:tabLst>
              <a:defRPr sz="2400">
                <a:solidFill>
                  <a:schemeClr val="tx1"/>
                </a:solidFill>
                <a:latin typeface="Times New Roman" panose="02020603050405020304" pitchFamily="18" charset="0"/>
              </a:defRPr>
            </a:lvl4pPr>
            <a:lvl5pPr marL="2057400" indent="-228600">
              <a:tabLst>
                <a:tab pos="457200" algn="r"/>
                <a:tab pos="2743200" algn="ctr"/>
                <a:tab pos="5486400" algn="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9pPr>
          </a:lstStyle>
          <a:p>
            <a:r>
              <a:rPr lang="en-CA" altLang="tr-TR" sz="1200" b="1">
                <a:solidFill>
                  <a:srgbClr val="000000"/>
                </a:solidFill>
                <a:latin typeface="Helvetica" panose="020B0604020202020204" pitchFamily="34" charset="0"/>
                <a:cs typeface="Times New Roman" panose="02020603050405020304" pitchFamily="18" charset="0"/>
              </a:rPr>
              <a:t> </a:t>
            </a:r>
            <a:endParaRPr lang="en-CA" altLang="tr-TR" sz="1200">
              <a:solidFill>
                <a:srgbClr val="000000"/>
              </a:solidFill>
              <a:latin typeface="Helvetica" panose="020B0604020202020204" pitchFamily="34" charset="0"/>
              <a:cs typeface="Times New Roman" panose="02020603050405020304" pitchFamily="18" charset="0"/>
            </a:endParaRPr>
          </a:p>
          <a:p>
            <a:endParaRPr lang="en-CA" altLang="tr-TR"/>
          </a:p>
        </p:txBody>
      </p:sp>
      <p:sp>
        <p:nvSpPr>
          <p:cNvPr id="18439" name="Rectangle 14"/>
          <p:cNvSpPr>
            <a:spLocks noChangeArrowheads="1"/>
          </p:cNvSpPr>
          <p:nvPr/>
        </p:nvSpPr>
        <p:spPr bwMode="auto">
          <a:xfrm>
            <a:off x="1524000" y="750889"/>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457200" algn="r"/>
                <a:tab pos="2743200" algn="ctr"/>
                <a:tab pos="5486400" algn="r"/>
              </a:tabLst>
              <a:defRPr sz="2400">
                <a:solidFill>
                  <a:schemeClr val="tx1"/>
                </a:solidFill>
                <a:latin typeface="Times New Roman" panose="02020603050405020304" pitchFamily="18" charset="0"/>
              </a:defRPr>
            </a:lvl1pPr>
            <a:lvl2pPr marL="742950" indent="-285750">
              <a:tabLst>
                <a:tab pos="457200" algn="r"/>
                <a:tab pos="2743200" algn="ctr"/>
                <a:tab pos="5486400" algn="r"/>
              </a:tabLst>
              <a:defRPr sz="2400">
                <a:solidFill>
                  <a:schemeClr val="tx1"/>
                </a:solidFill>
                <a:latin typeface="Times New Roman" panose="02020603050405020304" pitchFamily="18" charset="0"/>
              </a:defRPr>
            </a:lvl2pPr>
            <a:lvl3pPr marL="1143000" indent="-228600">
              <a:tabLst>
                <a:tab pos="457200" algn="r"/>
                <a:tab pos="2743200" algn="ctr"/>
                <a:tab pos="5486400" algn="r"/>
              </a:tabLst>
              <a:defRPr sz="2400">
                <a:solidFill>
                  <a:schemeClr val="tx1"/>
                </a:solidFill>
                <a:latin typeface="Times New Roman" panose="02020603050405020304" pitchFamily="18" charset="0"/>
              </a:defRPr>
            </a:lvl3pPr>
            <a:lvl4pPr marL="1600200" indent="-228600">
              <a:tabLst>
                <a:tab pos="457200" algn="r"/>
                <a:tab pos="2743200" algn="ctr"/>
                <a:tab pos="5486400" algn="r"/>
              </a:tabLst>
              <a:defRPr sz="2400">
                <a:solidFill>
                  <a:schemeClr val="tx1"/>
                </a:solidFill>
                <a:latin typeface="Times New Roman" panose="02020603050405020304" pitchFamily="18" charset="0"/>
              </a:defRPr>
            </a:lvl4pPr>
            <a:lvl5pPr marL="2057400" indent="-228600">
              <a:tabLst>
                <a:tab pos="457200" algn="r"/>
                <a:tab pos="2743200" algn="ctr"/>
                <a:tab pos="5486400" algn="r"/>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457200" algn="r"/>
                <a:tab pos="2743200" algn="ctr"/>
                <a:tab pos="5486400" algn="r"/>
              </a:tabLst>
              <a:defRPr sz="2400">
                <a:solidFill>
                  <a:schemeClr val="tx1"/>
                </a:solidFill>
                <a:latin typeface="Times New Roman" panose="02020603050405020304" pitchFamily="18" charset="0"/>
              </a:defRPr>
            </a:lvl9pPr>
          </a:lstStyle>
          <a:p>
            <a:r>
              <a:rPr lang="en-CA" altLang="tr-TR" sz="1200" b="1">
                <a:solidFill>
                  <a:srgbClr val="000000"/>
                </a:solidFill>
                <a:latin typeface="Helvetica" panose="020B0604020202020204" pitchFamily="34" charset="0"/>
                <a:cs typeface="Times New Roman" panose="02020603050405020304" pitchFamily="18" charset="0"/>
              </a:rPr>
              <a:t> </a:t>
            </a:r>
            <a:endParaRPr lang="en-CA" altLang="tr-TR" sz="1200">
              <a:solidFill>
                <a:srgbClr val="000000"/>
              </a:solidFill>
              <a:latin typeface="Helvetica" panose="020B0604020202020204" pitchFamily="34" charset="0"/>
              <a:cs typeface="Times New Roman" panose="02020603050405020304" pitchFamily="18" charset="0"/>
            </a:endParaRPr>
          </a:p>
          <a:p>
            <a:endParaRPr lang="en-CA" altLang="tr-TR"/>
          </a:p>
        </p:txBody>
      </p:sp>
      <p:sp>
        <p:nvSpPr>
          <p:cNvPr id="18440" name="Text Box 16"/>
          <p:cNvSpPr txBox="1">
            <a:spLocks noChangeArrowheads="1"/>
          </p:cNvSpPr>
          <p:nvPr/>
        </p:nvSpPr>
        <p:spPr bwMode="auto">
          <a:xfrm>
            <a:off x="7739063" y="4548188"/>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solidFill>
                  <a:srgbClr val="000000"/>
                </a:solidFill>
                <a:latin typeface="Verdana" panose="020B0604030504040204" pitchFamily="34" charset="0"/>
                <a:ea typeface="BatangChe" pitchFamily="49" charset="-128"/>
              </a:rPr>
              <a:t>Errors</a:t>
            </a:r>
            <a:endParaRPr lang="en-US" altLang="zh-CN" sz="1600" b="1">
              <a:latin typeface="Verdana" panose="020B0604030504040204" pitchFamily="34" charset="0"/>
              <a:ea typeface="BatangChe" pitchFamily="49" charset="-128"/>
            </a:endParaRPr>
          </a:p>
        </p:txBody>
      </p:sp>
      <p:sp>
        <p:nvSpPr>
          <p:cNvPr id="18441" name="Text Box 17"/>
          <p:cNvSpPr txBox="1">
            <a:spLocks noChangeArrowheads="1"/>
          </p:cNvSpPr>
          <p:nvPr/>
        </p:nvSpPr>
        <p:spPr bwMode="auto">
          <a:xfrm>
            <a:off x="7762875" y="2871788"/>
            <a:ext cx="10287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latin typeface="Verdana" panose="020B0604030504040204" pitchFamily="34" charset="0"/>
                <a:ea typeface="BatangChe" pitchFamily="49" charset="-128"/>
              </a:rPr>
              <a:t>Effort</a:t>
            </a:r>
          </a:p>
        </p:txBody>
      </p:sp>
      <p:sp>
        <p:nvSpPr>
          <p:cNvPr id="18442" name="Text Box 18"/>
          <p:cNvSpPr txBox="1">
            <a:spLocks noChangeArrowheads="1"/>
          </p:cNvSpPr>
          <p:nvPr/>
        </p:nvSpPr>
        <p:spPr bwMode="auto">
          <a:xfrm>
            <a:off x="7762875" y="3405188"/>
            <a:ext cx="2743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solidFill>
                  <a:srgbClr val="000000"/>
                </a:solidFill>
                <a:latin typeface="Verdana" panose="020B0604030504040204" pitchFamily="34" charset="0"/>
                <a:ea typeface="BatangChe" pitchFamily="49" charset="-128"/>
              </a:rPr>
              <a:t>Development Time</a:t>
            </a:r>
            <a:r>
              <a:rPr lang="en-US" altLang="zh-CN" sz="1600" b="1">
                <a:latin typeface="Verdana" panose="020B0604030504040204" pitchFamily="34" charset="0"/>
                <a:ea typeface="BatangChe" pitchFamily="49" charset="-128"/>
              </a:rPr>
              <a:t> </a:t>
            </a:r>
          </a:p>
        </p:txBody>
      </p:sp>
      <p:sp>
        <p:nvSpPr>
          <p:cNvPr id="18443" name="Text Box 19"/>
          <p:cNvSpPr txBox="1">
            <a:spLocks noChangeArrowheads="1"/>
          </p:cNvSpPr>
          <p:nvPr/>
        </p:nvSpPr>
        <p:spPr bwMode="auto">
          <a:xfrm>
            <a:off x="1952625" y="3024188"/>
            <a:ext cx="2514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zh-CN" sz="1600" b="1" dirty="0">
                <a:solidFill>
                  <a:srgbClr val="000000"/>
                </a:solidFill>
                <a:latin typeface="Verdana" panose="020B0604030504040204" pitchFamily="34" charset="0"/>
                <a:ea typeface="BatangChe" pitchFamily="49" charset="-128"/>
              </a:rPr>
              <a:t>Size Table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Lines of Code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Number of Use Case</a:t>
            </a:r>
          </a:p>
          <a:p>
            <a:pPr algn="r"/>
            <a:endParaRPr lang="en-US" altLang="zh-CN" sz="1600" b="1" dirty="0">
              <a:solidFill>
                <a:srgbClr val="000000"/>
              </a:solidFill>
              <a:latin typeface="Verdana" panose="020B0604030504040204" pitchFamily="34" charset="0"/>
              <a:ea typeface="BatangChe" pitchFamily="49" charset="-128"/>
            </a:endParaRPr>
          </a:p>
          <a:p>
            <a:pPr algn="r"/>
            <a:r>
              <a:rPr lang="en-US" altLang="zh-CN" sz="1600" b="1" dirty="0">
                <a:solidFill>
                  <a:srgbClr val="000000"/>
                </a:solidFill>
                <a:latin typeface="Verdana" panose="020B0604030504040204" pitchFamily="34" charset="0"/>
                <a:ea typeface="BatangChe" pitchFamily="49" charset="-128"/>
              </a:rPr>
              <a:t>Function Point</a:t>
            </a:r>
            <a:endParaRPr lang="en-US" altLang="zh-CN" sz="1600" b="1" dirty="0">
              <a:latin typeface="Verdana" panose="020B0604030504040204" pitchFamily="34" charset="0"/>
              <a:ea typeface="BatangChe" pitchFamily="49" charset="-128"/>
            </a:endParaRPr>
          </a:p>
        </p:txBody>
      </p:sp>
      <p:sp>
        <p:nvSpPr>
          <p:cNvPr id="18444" name="Line 20"/>
          <p:cNvSpPr>
            <a:spLocks noChangeShapeType="1"/>
          </p:cNvSpPr>
          <p:nvPr/>
        </p:nvSpPr>
        <p:spPr bwMode="auto">
          <a:xfrm>
            <a:off x="4410075" y="3862388"/>
            <a:ext cx="3810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5" name="Oval 21"/>
          <p:cNvSpPr>
            <a:spLocks noChangeArrowheads="1"/>
          </p:cNvSpPr>
          <p:nvPr/>
        </p:nvSpPr>
        <p:spPr bwMode="auto">
          <a:xfrm>
            <a:off x="4791075" y="3176588"/>
            <a:ext cx="2514600" cy="1371600"/>
          </a:xfrm>
          <a:prstGeom prst="ellipse">
            <a:avLst/>
          </a:prstGeom>
          <a:solidFill>
            <a:srgbClr val="CCFFCC"/>
          </a:solidFill>
          <a:ln w="9525">
            <a:solidFill>
              <a:schemeClr val="tx1"/>
            </a:solidFill>
            <a:round/>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tr-TR" altLang="en-US"/>
          </a:p>
        </p:txBody>
      </p:sp>
      <p:sp>
        <p:nvSpPr>
          <p:cNvPr id="18446" name="Text Box 22"/>
          <p:cNvSpPr txBox="1">
            <a:spLocks noChangeArrowheads="1"/>
          </p:cNvSpPr>
          <p:nvPr/>
        </p:nvSpPr>
        <p:spPr bwMode="auto">
          <a:xfrm>
            <a:off x="4867275" y="3709988"/>
            <a:ext cx="25146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a:r>
              <a:rPr lang="en-US" altLang="zh-CN" sz="1600" b="1">
                <a:latin typeface="Verdana" panose="020B0604030504040204" pitchFamily="34" charset="0"/>
                <a:ea typeface="BatangChe" pitchFamily="49" charset="-128"/>
              </a:rPr>
              <a:t>Estimation Process</a:t>
            </a:r>
          </a:p>
        </p:txBody>
      </p:sp>
      <p:sp>
        <p:nvSpPr>
          <p:cNvPr id="18447" name="Line 23"/>
          <p:cNvSpPr>
            <a:spLocks noChangeShapeType="1"/>
          </p:cNvSpPr>
          <p:nvPr/>
        </p:nvSpPr>
        <p:spPr bwMode="auto">
          <a:xfrm flipV="1">
            <a:off x="7153275" y="3024189"/>
            <a:ext cx="609600" cy="4984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Line 24"/>
          <p:cNvSpPr>
            <a:spLocks noChangeShapeType="1"/>
          </p:cNvSpPr>
          <p:nvPr/>
        </p:nvSpPr>
        <p:spPr bwMode="auto">
          <a:xfrm>
            <a:off x="7153275" y="4243388"/>
            <a:ext cx="609600"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Line 25"/>
          <p:cNvSpPr>
            <a:spLocks noChangeShapeType="1"/>
          </p:cNvSpPr>
          <p:nvPr/>
        </p:nvSpPr>
        <p:spPr bwMode="auto">
          <a:xfrm flipV="1">
            <a:off x="7305675" y="3557588"/>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0" name="Text Box 26"/>
          <p:cNvSpPr txBox="1">
            <a:spLocks noChangeArrowheads="1"/>
          </p:cNvSpPr>
          <p:nvPr/>
        </p:nvSpPr>
        <p:spPr bwMode="auto">
          <a:xfrm>
            <a:off x="7762875" y="3983038"/>
            <a:ext cx="2667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kumimoji="1" lang="en-US" altLang="zh-CN" sz="1600" b="1">
                <a:latin typeface="Verdana" panose="020B0604030504040204" pitchFamily="34" charset="0"/>
                <a:ea typeface="BatangChe" pitchFamily="49" charset="-128"/>
              </a:rPr>
              <a:t>Number of Personnel</a:t>
            </a:r>
          </a:p>
        </p:txBody>
      </p:sp>
      <p:sp>
        <p:nvSpPr>
          <p:cNvPr id="18451" name="Line 27"/>
          <p:cNvSpPr>
            <a:spLocks noChangeShapeType="1"/>
          </p:cNvSpPr>
          <p:nvPr/>
        </p:nvSpPr>
        <p:spPr bwMode="auto">
          <a:xfrm>
            <a:off x="7305675" y="3938588"/>
            <a:ext cx="53340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389793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b="1" dirty="0"/>
              <a:t>Types of Software Projects Mode</a:t>
            </a:r>
          </a:p>
        </p:txBody>
      </p:sp>
      <p:sp>
        <p:nvSpPr>
          <p:cNvPr id="13315" name="Rectangle 3"/>
          <p:cNvSpPr>
            <a:spLocks noGrp="1" noChangeArrowheads="1"/>
          </p:cNvSpPr>
          <p:nvPr>
            <p:ph idx="1"/>
          </p:nvPr>
        </p:nvSpPr>
        <p:spPr>
          <a:xfrm>
            <a:off x="838200" y="1825625"/>
            <a:ext cx="10210800" cy="4351338"/>
          </a:xfrm>
        </p:spPr>
        <p:txBody>
          <a:bodyPr/>
          <a:lstStyle/>
          <a:p>
            <a:pPr>
              <a:spcBef>
                <a:spcPts val="500"/>
              </a:spcBef>
              <a:spcAft>
                <a:spcPts val="500"/>
              </a:spcAft>
            </a:pPr>
            <a:r>
              <a:rPr lang="en-US" dirty="0"/>
              <a:t>The most important factor contributing to a project's duration and cost is the Development Mode</a:t>
            </a:r>
          </a:p>
          <a:p>
            <a:pPr lvl="2" algn="just">
              <a:spcBef>
                <a:spcPts val="500"/>
              </a:spcBef>
              <a:spcAft>
                <a:spcPts val="500"/>
              </a:spcAft>
            </a:pPr>
            <a:r>
              <a:rPr lang="en-US" b="1" dirty="0">
                <a:solidFill>
                  <a:srgbClr val="FF0000"/>
                </a:solidFill>
              </a:rPr>
              <a:t>Organic Mode</a:t>
            </a:r>
            <a:r>
              <a:rPr lang="en-US" b="1" dirty="0"/>
              <a:t>:</a:t>
            </a:r>
            <a:r>
              <a:rPr lang="en-US" dirty="0"/>
              <a:t> The project is developed in a familiar, stable environment, and the product is similar to previously developed products. The product is relatively small and requires little innovation. </a:t>
            </a:r>
          </a:p>
          <a:p>
            <a:pPr lvl="2" algn="just">
              <a:spcAft>
                <a:spcPts val="500"/>
              </a:spcAft>
            </a:pPr>
            <a:r>
              <a:rPr lang="en-US" b="1" dirty="0">
                <a:solidFill>
                  <a:srgbClr val="FF0000"/>
                </a:solidFill>
              </a:rPr>
              <a:t>Semidetached Mode</a:t>
            </a:r>
            <a:r>
              <a:rPr lang="en-US" b="1" dirty="0"/>
              <a:t>:</a:t>
            </a:r>
            <a:r>
              <a:rPr lang="en-US" dirty="0"/>
              <a:t> The project's characteristics are intermediate between Organic and Embedded. development consisting of a mix of experienced and inexperienced staff.</a:t>
            </a:r>
          </a:p>
          <a:p>
            <a:pPr lvl="2" algn="just">
              <a:spcAft>
                <a:spcPts val="500"/>
              </a:spcAft>
            </a:pPr>
            <a:r>
              <a:rPr lang="en-US" b="1" dirty="0">
                <a:solidFill>
                  <a:srgbClr val="FF0000"/>
                </a:solidFill>
              </a:rPr>
              <a:t>Embedded Mode</a:t>
            </a:r>
            <a:r>
              <a:rPr lang="en-US" b="1" dirty="0"/>
              <a:t>:</a:t>
            </a:r>
            <a:r>
              <a:rPr lang="en-US" dirty="0"/>
              <a:t> The project is characterized by tight, inflexible constraints and interface requirements. An embedded mode project will require a great deal of innovation. </a:t>
            </a:r>
          </a:p>
          <a:p>
            <a:pPr lvl="2">
              <a:spcBef>
                <a:spcPts val="500"/>
              </a:spcBef>
              <a:spcAft>
                <a:spcPts val="500"/>
              </a:spcAft>
            </a:pPr>
            <a:endParaRPr lang="en-US" dirty="0"/>
          </a:p>
          <a:p>
            <a:endParaRPr lang="en-US" dirty="0"/>
          </a:p>
        </p:txBody>
      </p:sp>
      <p:sp>
        <p:nvSpPr>
          <p:cNvPr id="6" name="Slide Number Placeholder 5"/>
          <p:cNvSpPr>
            <a:spLocks noGrp="1"/>
          </p:cNvSpPr>
          <p:nvPr>
            <p:ph type="sldNum" sz="quarter" idx="12"/>
          </p:nvPr>
        </p:nvSpPr>
        <p:spPr/>
        <p:txBody>
          <a:bodyPr/>
          <a:lstStyle/>
          <a:p>
            <a:fld id="{0A9B397E-A97A-4A70-913C-A0B34053B779}" type="slidenum">
              <a:rPr lang="en-US"/>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685800" y="228600"/>
            <a:ext cx="9372600" cy="1143000"/>
          </a:xfrm>
        </p:spPr>
        <p:txBody>
          <a:bodyPr/>
          <a:lstStyle/>
          <a:p>
            <a:r>
              <a:rPr lang="en-US" dirty="0"/>
              <a:t>COCOMO I</a:t>
            </a:r>
          </a:p>
        </p:txBody>
      </p:sp>
      <p:sp>
        <p:nvSpPr>
          <p:cNvPr id="28675" name="Rectangle 3"/>
          <p:cNvSpPr>
            <a:spLocks noGrp="1" noChangeArrowheads="1"/>
          </p:cNvSpPr>
          <p:nvPr>
            <p:ph idx="1"/>
          </p:nvPr>
        </p:nvSpPr>
        <p:spPr>
          <a:xfrm>
            <a:off x="914400" y="1371600"/>
            <a:ext cx="10210800" cy="487680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COCOMO 1 is primarily based on the number of lines of code (LOC) as the primary measure of software size.</a:t>
            </a:r>
          </a:p>
          <a:p>
            <a:r>
              <a:rPr lang="en-US" dirty="0">
                <a:latin typeface="Times New Roman" panose="02020603050405020304" pitchFamily="18" charset="0"/>
                <a:cs typeface="Times New Roman" panose="02020603050405020304" pitchFamily="18" charset="0"/>
              </a:rPr>
              <a:t>It provides a good rough estimation</a:t>
            </a:r>
            <a:endParaRPr lang="en-US" sz="2400" dirty="0">
              <a:latin typeface="Times New Roman" panose="02020603050405020304" pitchFamily="18" charset="0"/>
              <a:cs typeface="Times New Roman" panose="02020603050405020304" pitchFamily="18" charset="0"/>
            </a:endParaRPr>
          </a:p>
          <a:p>
            <a:pPr>
              <a:lnSpc>
                <a:spcPct val="90000"/>
              </a:lnSpc>
            </a:pPr>
            <a:r>
              <a:rPr lang="en-US" sz="2400" dirty="0">
                <a:latin typeface="Times New Roman" panose="02020603050405020304" pitchFamily="18" charset="0"/>
                <a:cs typeface="Times New Roman" panose="02020603050405020304" pitchFamily="18" charset="0"/>
              </a:rPr>
              <a:t>COCOMO has three different </a:t>
            </a:r>
            <a:r>
              <a:rPr lang="en-US" sz="2400" b="1" dirty="0">
                <a:solidFill>
                  <a:srgbClr val="FF0000"/>
                </a:solidFill>
                <a:latin typeface="Times New Roman" panose="02020603050405020304" pitchFamily="18" charset="0"/>
                <a:cs typeface="Times New Roman" panose="02020603050405020304" pitchFamily="18" charset="0"/>
              </a:rPr>
              <a:t>models</a:t>
            </a:r>
            <a:r>
              <a:rPr lang="en-US" sz="2400" dirty="0">
                <a:latin typeface="Times New Roman" panose="02020603050405020304" pitchFamily="18" charset="0"/>
                <a:cs typeface="Times New Roman" panose="02020603050405020304" pitchFamily="18" charset="0"/>
              </a:rPr>
              <a:t> (each one increasing with detail and accuracy):</a:t>
            </a:r>
          </a:p>
          <a:p>
            <a:pPr lvl="1"/>
            <a:r>
              <a:rPr lang="en-US" sz="2200" b="1" dirty="0">
                <a:latin typeface="Times New Roman" panose="02020603050405020304" pitchFamily="18" charset="0"/>
                <a:cs typeface="Times New Roman" panose="02020603050405020304" pitchFamily="18" charset="0"/>
              </a:rPr>
              <a:t>Basic</a:t>
            </a:r>
            <a:r>
              <a:rPr lang="en-US" sz="2200" dirty="0">
                <a:latin typeface="Times New Roman" panose="02020603050405020304" pitchFamily="18" charset="0"/>
                <a:cs typeface="Times New Roman" panose="02020603050405020304" pitchFamily="18" charset="0"/>
              </a:rPr>
              <a:t>, applied </a:t>
            </a:r>
            <a:r>
              <a:rPr lang="en-US" sz="2200" u="sng" dirty="0">
                <a:latin typeface="Times New Roman" panose="02020603050405020304" pitchFamily="18" charset="0"/>
                <a:cs typeface="Times New Roman" panose="02020603050405020304" pitchFamily="18" charset="0"/>
              </a:rPr>
              <a:t>early</a:t>
            </a:r>
            <a:r>
              <a:rPr lang="en-US" sz="2200" dirty="0">
                <a:latin typeface="Times New Roman" panose="02020603050405020304" pitchFamily="18" charset="0"/>
                <a:cs typeface="Times New Roman" panose="02020603050405020304" pitchFamily="18" charset="0"/>
              </a:rPr>
              <a:t> in a project. U</a:t>
            </a:r>
            <a:r>
              <a:rPr lang="en-US" dirty="0">
                <a:latin typeface="Times New Roman" panose="02020603050405020304" pitchFamily="18" charset="0"/>
                <a:cs typeface="Times New Roman" panose="02020603050405020304" pitchFamily="18" charset="0"/>
              </a:rPr>
              <a:t>se for quick and rough cost calculations for the software</a:t>
            </a:r>
            <a:endParaRPr lang="en-US" sz="2200" dirty="0">
              <a:latin typeface="Times New Roman" panose="02020603050405020304" pitchFamily="18" charset="0"/>
              <a:cs typeface="Times New Roman" panose="02020603050405020304" pitchFamily="18" charset="0"/>
            </a:endParaRPr>
          </a:p>
          <a:p>
            <a:pPr lvl="1">
              <a:lnSpc>
                <a:spcPct val="90000"/>
              </a:lnSpc>
            </a:pPr>
            <a:r>
              <a:rPr lang="en-US" sz="2200" b="1" dirty="0">
                <a:latin typeface="Times New Roman" panose="02020603050405020304" pitchFamily="18" charset="0"/>
                <a:cs typeface="Times New Roman" panose="02020603050405020304" pitchFamily="18" charset="0"/>
              </a:rPr>
              <a:t>Intermediate</a:t>
            </a:r>
            <a:r>
              <a:rPr lang="en-US" sz="2200" dirty="0">
                <a:latin typeface="Times New Roman" panose="02020603050405020304" pitchFamily="18" charset="0"/>
                <a:cs typeface="Times New Roman" panose="02020603050405020304" pitchFamily="18" charset="0"/>
              </a:rPr>
              <a:t>, applied after </a:t>
            </a:r>
            <a:r>
              <a:rPr lang="en-US" sz="2200" u="sng" dirty="0">
                <a:latin typeface="Times New Roman" panose="02020603050405020304" pitchFamily="18" charset="0"/>
                <a:cs typeface="Times New Roman" panose="02020603050405020304" pitchFamily="18" charset="0"/>
              </a:rPr>
              <a:t>requirements</a:t>
            </a:r>
            <a:r>
              <a:rPr lang="en-US" sz="2200" dirty="0">
                <a:latin typeface="Times New Roman" panose="02020603050405020304" pitchFamily="18" charset="0"/>
                <a:cs typeface="Times New Roman" panose="02020603050405020304" pitchFamily="18" charset="0"/>
              </a:rPr>
              <a:t> are specified.</a:t>
            </a:r>
          </a:p>
          <a:p>
            <a:pPr lvl="1">
              <a:lnSpc>
                <a:spcPct val="90000"/>
              </a:lnSpc>
            </a:pPr>
            <a:r>
              <a:rPr lang="en-US" sz="2200" b="1" dirty="0">
                <a:latin typeface="Times New Roman" panose="02020603050405020304" pitchFamily="18" charset="0"/>
                <a:cs typeface="Times New Roman" panose="02020603050405020304" pitchFamily="18" charset="0"/>
              </a:rPr>
              <a:t>Advanced</a:t>
            </a:r>
            <a:r>
              <a:rPr lang="en-US" sz="2200" dirty="0">
                <a:latin typeface="Times New Roman" panose="02020603050405020304" pitchFamily="18" charset="0"/>
                <a:cs typeface="Times New Roman" panose="02020603050405020304" pitchFamily="18" charset="0"/>
              </a:rPr>
              <a:t>, applied after the </a:t>
            </a:r>
            <a:r>
              <a:rPr lang="en-US" sz="2200" u="sng" dirty="0">
                <a:latin typeface="Times New Roman" panose="02020603050405020304" pitchFamily="18" charset="0"/>
                <a:cs typeface="Times New Roman" panose="02020603050405020304" pitchFamily="18" charset="0"/>
              </a:rPr>
              <a:t>design</a:t>
            </a:r>
            <a:r>
              <a:rPr lang="en-US" sz="2200" dirty="0">
                <a:latin typeface="Times New Roman" panose="02020603050405020304" pitchFamily="18" charset="0"/>
                <a:cs typeface="Times New Roman" panose="02020603050405020304" pitchFamily="18" charset="0"/>
              </a:rPr>
              <a:t> is complete</a:t>
            </a:r>
          </a:p>
          <a:p>
            <a:pPr>
              <a:lnSpc>
                <a:spcPct val="90000"/>
              </a:lnSpc>
            </a:pPr>
            <a:r>
              <a:rPr lang="en-US" sz="2400" dirty="0">
                <a:latin typeface="Times New Roman" panose="02020603050405020304" pitchFamily="18" charset="0"/>
                <a:cs typeface="Times New Roman" panose="02020603050405020304" pitchFamily="18" charset="0"/>
              </a:rPr>
              <a:t>COCOMO has three different </a:t>
            </a:r>
            <a:r>
              <a:rPr lang="en-US" sz="2400" b="1" dirty="0">
                <a:solidFill>
                  <a:srgbClr val="FF0000"/>
                </a:solidFill>
                <a:latin typeface="Times New Roman" panose="02020603050405020304" pitchFamily="18" charset="0"/>
                <a:cs typeface="Times New Roman" panose="02020603050405020304" pitchFamily="18" charset="0"/>
              </a:rPr>
              <a:t>modes</a:t>
            </a:r>
            <a:r>
              <a:rPr lang="en-US" sz="2400" dirty="0">
                <a:latin typeface="Times New Roman" panose="02020603050405020304" pitchFamily="18" charset="0"/>
                <a:cs typeface="Times New Roman" panose="02020603050405020304" pitchFamily="18" charset="0"/>
              </a:rPr>
              <a:t>:</a:t>
            </a:r>
          </a:p>
          <a:p>
            <a:pPr lvl="1">
              <a:lnSpc>
                <a:spcPct val="90000"/>
              </a:lnSpc>
            </a:pPr>
            <a:r>
              <a:rPr lang="en-US" sz="2200" b="1" dirty="0">
                <a:latin typeface="Times New Roman" panose="02020603050405020304" pitchFamily="18" charset="0"/>
                <a:cs typeface="Times New Roman" panose="02020603050405020304" pitchFamily="18" charset="0"/>
              </a:rPr>
              <a:t>Organic</a:t>
            </a:r>
            <a:r>
              <a:rPr lang="en-US" sz="2200" dirty="0">
                <a:latin typeface="Times New Roman" panose="02020603050405020304" pitchFamily="18" charset="0"/>
                <a:cs typeface="Times New Roman" panose="02020603050405020304" pitchFamily="18" charset="0"/>
              </a:rPr>
              <a:t> – “relatively small software teams develop software in a highly familiar, in-house environment” </a:t>
            </a:r>
          </a:p>
          <a:p>
            <a:pPr lvl="1">
              <a:lnSpc>
                <a:spcPct val="90000"/>
              </a:lnSpc>
            </a:pPr>
            <a:r>
              <a:rPr lang="en-US" sz="2200" b="1" dirty="0">
                <a:latin typeface="Times New Roman" panose="02020603050405020304" pitchFamily="18" charset="0"/>
                <a:cs typeface="Times New Roman" panose="02020603050405020304" pitchFamily="18" charset="0"/>
              </a:rPr>
              <a:t>Embedded</a:t>
            </a:r>
            <a:r>
              <a:rPr lang="en-US" sz="2200" dirty="0">
                <a:latin typeface="Times New Roman" panose="02020603050405020304" pitchFamily="18" charset="0"/>
                <a:cs typeface="Times New Roman" panose="02020603050405020304" pitchFamily="18" charset="0"/>
              </a:rPr>
              <a:t> – operate within tight constraints, product is strongly tied to “complex of hardware, software, regulations, and operational procedures” </a:t>
            </a:r>
          </a:p>
          <a:p>
            <a:pPr lvl="1">
              <a:lnSpc>
                <a:spcPct val="90000"/>
              </a:lnSpc>
            </a:pPr>
            <a:r>
              <a:rPr lang="en-US" sz="2200" b="1" dirty="0">
                <a:latin typeface="Times New Roman" panose="02020603050405020304" pitchFamily="18" charset="0"/>
                <a:cs typeface="Times New Roman" panose="02020603050405020304" pitchFamily="18" charset="0"/>
              </a:rPr>
              <a:t>Semi-detached</a:t>
            </a:r>
            <a:r>
              <a:rPr lang="en-US" sz="2200" dirty="0">
                <a:latin typeface="Times New Roman" panose="02020603050405020304" pitchFamily="18" charset="0"/>
                <a:cs typeface="Times New Roman" panose="02020603050405020304" pitchFamily="18" charset="0"/>
              </a:rPr>
              <a:t> – intermediate stage somewhere between organic and embedded.  Usually up to 300 KDSI</a:t>
            </a:r>
          </a:p>
        </p:txBody>
      </p:sp>
      <p:sp>
        <p:nvSpPr>
          <p:cNvPr id="5" name="Slide Number Placeholder 4"/>
          <p:cNvSpPr>
            <a:spLocks noGrp="1"/>
          </p:cNvSpPr>
          <p:nvPr>
            <p:ph type="sldNum" sz="quarter" idx="12"/>
          </p:nvPr>
        </p:nvSpPr>
        <p:spPr>
          <a:xfrm>
            <a:off x="8382000" y="6324600"/>
            <a:ext cx="2895600" cy="365125"/>
          </a:xfrm>
        </p:spPr>
        <p:txBody>
          <a:bodyPr/>
          <a:lstStyle/>
          <a:p>
            <a:fld id="{BF625870-F1BA-4FAC-B01D-0D9608A0F343}" type="slidenum">
              <a:rPr lang="en-US"/>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457200" y="228600"/>
            <a:ext cx="11201400" cy="1143000"/>
          </a:xfrm>
        </p:spPr>
        <p:txBody>
          <a:bodyPr/>
          <a:lstStyle/>
          <a:p>
            <a:r>
              <a:rPr lang="en-US" b="1" dirty="0"/>
              <a:t>BASIS COCOMO</a:t>
            </a:r>
          </a:p>
        </p:txBody>
      </p:sp>
      <p:sp>
        <p:nvSpPr>
          <p:cNvPr id="122883" name="Rectangle 3"/>
          <p:cNvSpPr>
            <a:spLocks noGrp="1" noChangeArrowheads="1"/>
          </p:cNvSpPr>
          <p:nvPr>
            <p:ph idx="1"/>
          </p:nvPr>
        </p:nvSpPr>
        <p:spPr>
          <a:xfrm>
            <a:off x="1066800" y="1752600"/>
            <a:ext cx="10363200" cy="3124200"/>
          </a:xfrm>
        </p:spPr>
        <p:txBody>
          <a:bodyPr>
            <a:normAutofit/>
          </a:bodyPr>
          <a:lstStyle/>
          <a:p>
            <a:r>
              <a:rPr lang="en-US" sz="2000" dirty="0"/>
              <a:t>COCOMO uses two equations to calculate effort in Person-Months (PM) and the number of months estimated for the project (TDEV)</a:t>
            </a:r>
          </a:p>
          <a:p>
            <a:r>
              <a:rPr lang="en-US" sz="2000" dirty="0"/>
              <a:t>PM (or Effort) is based on the number of thousand lines of delivered instructions/source (KDSI)</a:t>
            </a:r>
          </a:p>
          <a:p>
            <a:r>
              <a:rPr lang="en-US" sz="2000" dirty="0"/>
              <a:t>PM = a(KDSI)</a:t>
            </a:r>
            <a:r>
              <a:rPr lang="en-US" sz="2000" baseline="30000" dirty="0"/>
              <a:t>b</a:t>
            </a:r>
            <a:r>
              <a:rPr lang="en-US" sz="2000" dirty="0"/>
              <a:t> * </a:t>
            </a:r>
            <a:r>
              <a:rPr lang="en-US" sz="2000" dirty="0">
                <a:solidFill>
                  <a:srgbClr val="FF0000"/>
                </a:solidFill>
              </a:rPr>
              <a:t>EAF (EAF for intermediate model)</a:t>
            </a:r>
          </a:p>
          <a:p>
            <a:r>
              <a:rPr lang="en-US" sz="2000" dirty="0"/>
              <a:t>TDEV = c(PM)</a:t>
            </a:r>
            <a:r>
              <a:rPr lang="en-US" sz="2000" baseline="30000" dirty="0"/>
              <a:t>d</a:t>
            </a:r>
          </a:p>
          <a:p>
            <a:r>
              <a:rPr lang="en-US" sz="2000" dirty="0"/>
              <a:t>EAF is the </a:t>
            </a:r>
            <a:r>
              <a:rPr lang="en-US" sz="2000" b="1" dirty="0"/>
              <a:t>Effort Adjustment Factor </a:t>
            </a:r>
            <a:r>
              <a:rPr lang="en-US" sz="2000" dirty="0"/>
              <a:t>derived from the Cost Drivers, EAF for the basic model is 1</a:t>
            </a:r>
          </a:p>
          <a:p>
            <a:r>
              <a:rPr lang="en-US" sz="2000" dirty="0"/>
              <a:t>The values for a, b, c, and d differ depending on which mode you are using</a:t>
            </a:r>
            <a:endParaRPr lang="en-US" dirty="0"/>
          </a:p>
        </p:txBody>
      </p:sp>
      <p:sp>
        <p:nvSpPr>
          <p:cNvPr id="37" name="Slide Number Placeholder 4"/>
          <p:cNvSpPr>
            <a:spLocks noGrp="1"/>
          </p:cNvSpPr>
          <p:nvPr>
            <p:ph type="sldNum" sz="quarter" idx="12"/>
          </p:nvPr>
        </p:nvSpPr>
        <p:spPr>
          <a:xfrm>
            <a:off x="1524000" y="6356351"/>
            <a:ext cx="2895600" cy="365125"/>
          </a:xfrm>
        </p:spPr>
        <p:txBody>
          <a:bodyPr/>
          <a:lstStyle/>
          <a:p>
            <a:fld id="{95B1868F-10DD-488C-AEBC-C4E538144B42}" type="slidenum">
              <a:rPr lang="en-US"/>
              <a:pPr/>
              <a:t>18</a:t>
            </a:fld>
            <a:endParaRPr lang="en-US"/>
          </a:p>
        </p:txBody>
      </p:sp>
      <p:graphicFrame>
        <p:nvGraphicFramePr>
          <p:cNvPr id="122884" name="Group 4"/>
          <p:cNvGraphicFramePr>
            <a:graphicFrameLocks noGrp="1"/>
          </p:cNvGraphicFramePr>
          <p:nvPr/>
        </p:nvGraphicFramePr>
        <p:xfrm>
          <a:off x="2590800" y="4953001"/>
          <a:ext cx="6781800" cy="1593533"/>
        </p:xfrm>
        <a:graphic>
          <a:graphicData uri="http://schemas.openxmlformats.org/drawingml/2006/table">
            <a:tbl>
              <a:tblPr/>
              <a:tblGrid>
                <a:gridCol w="3557588">
                  <a:extLst>
                    <a:ext uri="{9D8B030D-6E8A-4147-A177-3AD203B41FA5}">
                      <a16:colId xmlns:a16="http://schemas.microsoft.com/office/drawing/2014/main" val="20000"/>
                    </a:ext>
                  </a:extLst>
                </a:gridCol>
                <a:gridCol w="889000">
                  <a:extLst>
                    <a:ext uri="{9D8B030D-6E8A-4147-A177-3AD203B41FA5}">
                      <a16:colId xmlns:a16="http://schemas.microsoft.com/office/drawing/2014/main" val="20001"/>
                    </a:ext>
                  </a:extLst>
                </a:gridCol>
                <a:gridCol w="779462">
                  <a:extLst>
                    <a:ext uri="{9D8B030D-6E8A-4147-A177-3AD203B41FA5}">
                      <a16:colId xmlns:a16="http://schemas.microsoft.com/office/drawing/2014/main" val="20002"/>
                    </a:ext>
                  </a:extLst>
                </a:gridCol>
                <a:gridCol w="776288">
                  <a:extLst>
                    <a:ext uri="{9D8B030D-6E8A-4147-A177-3AD203B41FA5}">
                      <a16:colId xmlns:a16="http://schemas.microsoft.com/office/drawing/2014/main" val="20003"/>
                    </a:ext>
                  </a:extLst>
                </a:gridCol>
                <a:gridCol w="779462">
                  <a:extLst>
                    <a:ext uri="{9D8B030D-6E8A-4147-A177-3AD203B41FA5}">
                      <a16:colId xmlns:a16="http://schemas.microsoft.com/office/drawing/2014/main" val="20004"/>
                    </a:ext>
                  </a:extLst>
                </a:gridCol>
              </a:tblGrid>
              <a:tr h="404813">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Mode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Organic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0.38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Semi-detached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0.35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Embedded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1.20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Tx/>
                        <a:buFont typeface="Wingdings" pitchFamily="2" charset="2"/>
                        <a:buNone/>
                        <a:tabLst/>
                      </a:pPr>
                      <a:r>
                        <a:rPr kumimoji="0" lang="en-US" sz="2000" b="0" i="0" u="none" strike="noStrike" cap="none" normalizeH="0" baseline="0">
                          <a:ln>
                            <a:noFill/>
                          </a:ln>
                          <a:solidFill>
                            <a:schemeClr val="tx1"/>
                          </a:solidFill>
                          <a:effectLst/>
                          <a:latin typeface="Arial" charset="0"/>
                        </a:rPr>
                        <a:t>0.32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COCOMO 1</a:t>
            </a:r>
          </a:p>
        </p:txBody>
      </p:sp>
      <p:sp>
        <p:nvSpPr>
          <p:cNvPr id="31747" name="Rectangle 3"/>
          <p:cNvSpPr>
            <a:spLocks noGrp="1" noChangeArrowheads="1"/>
          </p:cNvSpPr>
          <p:nvPr>
            <p:ph idx="1"/>
          </p:nvPr>
        </p:nvSpPr>
        <p:spPr>
          <a:xfrm>
            <a:off x="914400" y="2114551"/>
            <a:ext cx="10439400" cy="3529013"/>
          </a:xfrm>
        </p:spPr>
        <p:txBody>
          <a:bodyPr>
            <a:normAutofit/>
          </a:bodyPr>
          <a:lstStyle/>
          <a:p>
            <a:r>
              <a:rPr lang="en-US" dirty="0"/>
              <a:t>A simple example:</a:t>
            </a:r>
          </a:p>
          <a:p>
            <a:pPr>
              <a:buFont typeface="Wingdings" pitchFamily="2" charset="2"/>
              <a:buNone/>
            </a:pPr>
            <a:r>
              <a:rPr lang="en-US" sz="2400" dirty="0"/>
              <a:t>Project is a flight control system (mission critical) with 310,000 DSI in embedded mode</a:t>
            </a:r>
          </a:p>
          <a:p>
            <a:r>
              <a:rPr lang="en-US" sz="2400" dirty="0">
                <a:solidFill>
                  <a:srgbClr val="FF0000"/>
                </a:solidFill>
              </a:rPr>
              <a:t>Reliability must be very high (RELY=1.40).</a:t>
            </a:r>
            <a:r>
              <a:rPr lang="en-US" sz="2400" dirty="0"/>
              <a:t>  So we can calculate:</a:t>
            </a:r>
          </a:p>
          <a:p>
            <a:r>
              <a:rPr lang="en-US" sz="2400" b="1" dirty="0"/>
              <a:t>Effort</a:t>
            </a:r>
            <a:r>
              <a:rPr lang="en-US" sz="2400" dirty="0"/>
              <a:t> = 1.40*3.6*(310)</a:t>
            </a:r>
            <a:r>
              <a:rPr lang="en-US" sz="2400" baseline="30000" dirty="0"/>
              <a:t>1.20</a:t>
            </a:r>
            <a:r>
              <a:rPr lang="en-US" sz="2400" dirty="0"/>
              <a:t> = 5093 MM</a:t>
            </a:r>
          </a:p>
          <a:p>
            <a:r>
              <a:rPr lang="en-US" sz="2400" b="1" dirty="0"/>
              <a:t>Schedule</a:t>
            </a:r>
            <a:r>
              <a:rPr lang="en-US" sz="2400" dirty="0"/>
              <a:t> = 2.5*(5093)</a:t>
            </a:r>
            <a:r>
              <a:rPr lang="en-US" sz="2400" baseline="30000" dirty="0"/>
              <a:t>0.32</a:t>
            </a:r>
            <a:r>
              <a:rPr lang="en-US" sz="2400" dirty="0"/>
              <a:t> = 38.4 months</a:t>
            </a:r>
          </a:p>
          <a:p>
            <a:r>
              <a:rPr lang="en-US" sz="2400" b="1" dirty="0"/>
              <a:t>Average Staffing </a:t>
            </a:r>
            <a:r>
              <a:rPr lang="en-US" sz="2400" dirty="0"/>
              <a:t>= 5093 MM/38.4 months = 133 FSP</a:t>
            </a:r>
          </a:p>
        </p:txBody>
      </p:sp>
      <p:sp>
        <p:nvSpPr>
          <p:cNvPr id="5" name="Slide Number Placeholder 4"/>
          <p:cNvSpPr>
            <a:spLocks noGrp="1"/>
          </p:cNvSpPr>
          <p:nvPr>
            <p:ph type="sldNum" sz="quarter" idx="12"/>
          </p:nvPr>
        </p:nvSpPr>
        <p:spPr>
          <a:xfrm>
            <a:off x="1524000" y="6356351"/>
            <a:ext cx="2895600" cy="365125"/>
          </a:xfrm>
        </p:spPr>
        <p:txBody>
          <a:bodyPr/>
          <a:lstStyle/>
          <a:p>
            <a:fld id="{B136C852-C518-412C-B10D-F0052172920C}" type="slidenum">
              <a:rPr lang="en-US"/>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Intermediate COCOMO</a:t>
            </a:r>
          </a:p>
        </p:txBody>
      </p:sp>
      <p:sp>
        <p:nvSpPr>
          <p:cNvPr id="3" name="Content Placeholder 2"/>
          <p:cNvSpPr>
            <a:spLocks noGrp="1"/>
          </p:cNvSpPr>
          <p:nvPr>
            <p:ph idx="1"/>
          </p:nvPr>
        </p:nvSpPr>
        <p:spPr/>
        <p:txBody>
          <a:bodyPr/>
          <a:lstStyle/>
          <a:p>
            <a:pPr algn="just"/>
            <a:r>
              <a:rPr lang="en-US" dirty="0"/>
              <a:t>The </a:t>
            </a:r>
            <a:r>
              <a:rPr lang="en-US" b="1" dirty="0"/>
              <a:t>intermediate model</a:t>
            </a:r>
            <a:r>
              <a:rPr lang="en-US" dirty="0"/>
              <a:t> is an extension of the basic model and includes a set of cost drivers to calculate the estimates with better accuracy. The effort factor includes the </a:t>
            </a:r>
            <a:r>
              <a:rPr lang="en-US" b="1" dirty="0">
                <a:solidFill>
                  <a:srgbClr val="FF0000"/>
                </a:solidFill>
              </a:rPr>
              <a:t>effort adjustment factor (EAF) </a:t>
            </a:r>
            <a:r>
              <a:rPr lang="en-US" dirty="0"/>
              <a:t>that is calculated with the cost drivers.</a:t>
            </a:r>
          </a:p>
          <a:p>
            <a:endParaRPr lang="en-US" dirty="0"/>
          </a:p>
          <a:p>
            <a:r>
              <a:rPr lang="en-US" dirty="0"/>
              <a:t>        PM (or Effort) = a(KDSI)</a:t>
            </a:r>
            <a:r>
              <a:rPr lang="en-US" baseline="30000" dirty="0"/>
              <a:t>b</a:t>
            </a:r>
            <a:r>
              <a:rPr lang="en-US" dirty="0"/>
              <a:t> * </a:t>
            </a:r>
            <a:r>
              <a:rPr lang="en-US" dirty="0">
                <a:solidFill>
                  <a:srgbClr val="FF0000"/>
                </a:solidFill>
              </a:rPr>
              <a:t>EAF</a:t>
            </a:r>
          </a:p>
          <a:p>
            <a:r>
              <a:rPr lang="en-US" dirty="0"/>
              <a:t>        TDEV = c(PM)</a:t>
            </a:r>
            <a:r>
              <a:rPr lang="en-US" baseline="30000" dirty="0"/>
              <a:t>d</a:t>
            </a:r>
          </a:p>
          <a:p>
            <a:endParaRPr lang="en-US" dirty="0"/>
          </a:p>
          <a:p>
            <a:endParaRPr lang="en-US" dirty="0"/>
          </a:p>
          <a:p>
            <a:endParaRPr lang="en-US" dirty="0"/>
          </a:p>
        </p:txBody>
      </p:sp>
    </p:spTree>
    <p:extLst>
      <p:ext uri="{BB962C8B-B14F-4D97-AF65-F5344CB8AC3E}">
        <p14:creationId xmlns:p14="http://schemas.microsoft.com/office/powerpoint/2010/main" val="1102430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10515600" cy="1325563"/>
          </a:xfrm>
        </p:spPr>
        <p:txBody>
          <a:bodyPr/>
          <a:lstStyle/>
          <a:p>
            <a:r>
              <a:rPr lang="en-US" dirty="0"/>
              <a:t>Intermediate COCOMO-</a:t>
            </a:r>
            <a:r>
              <a:rPr lang="en-US" b="1" dirty="0"/>
              <a:t>Cost drivers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92691444"/>
              </p:ext>
            </p:extLst>
          </p:nvPr>
        </p:nvGraphicFramePr>
        <p:xfrm>
          <a:off x="865414" y="2069091"/>
          <a:ext cx="9905999" cy="3263423"/>
        </p:xfrm>
        <a:graphic>
          <a:graphicData uri="http://schemas.openxmlformats.org/drawingml/2006/table">
            <a:tbl>
              <a:tblPr/>
              <a:tblGrid>
                <a:gridCol w="1673540">
                  <a:extLst>
                    <a:ext uri="{9D8B030D-6E8A-4147-A177-3AD203B41FA5}">
                      <a16:colId xmlns:a16="http://schemas.microsoft.com/office/drawing/2014/main" val="660416771"/>
                    </a:ext>
                  </a:extLst>
                </a:gridCol>
                <a:gridCol w="1369259">
                  <a:extLst>
                    <a:ext uri="{9D8B030D-6E8A-4147-A177-3AD203B41FA5}">
                      <a16:colId xmlns:a16="http://schemas.microsoft.com/office/drawing/2014/main" val="3158270055"/>
                    </a:ext>
                  </a:extLst>
                </a:gridCol>
                <a:gridCol w="1386164">
                  <a:extLst>
                    <a:ext uri="{9D8B030D-6E8A-4147-A177-3AD203B41FA5}">
                      <a16:colId xmlns:a16="http://schemas.microsoft.com/office/drawing/2014/main" val="3972729368"/>
                    </a:ext>
                  </a:extLst>
                </a:gridCol>
                <a:gridCol w="1369259">
                  <a:extLst>
                    <a:ext uri="{9D8B030D-6E8A-4147-A177-3AD203B41FA5}">
                      <a16:colId xmlns:a16="http://schemas.microsoft.com/office/drawing/2014/main" val="77970320"/>
                    </a:ext>
                  </a:extLst>
                </a:gridCol>
                <a:gridCol w="1369259">
                  <a:extLst>
                    <a:ext uri="{9D8B030D-6E8A-4147-A177-3AD203B41FA5}">
                      <a16:colId xmlns:a16="http://schemas.microsoft.com/office/drawing/2014/main" val="3420157442"/>
                    </a:ext>
                  </a:extLst>
                </a:gridCol>
                <a:gridCol w="1369259">
                  <a:extLst>
                    <a:ext uri="{9D8B030D-6E8A-4147-A177-3AD203B41FA5}">
                      <a16:colId xmlns:a16="http://schemas.microsoft.com/office/drawing/2014/main" val="1861148655"/>
                    </a:ext>
                  </a:extLst>
                </a:gridCol>
                <a:gridCol w="1369259">
                  <a:extLst>
                    <a:ext uri="{9D8B030D-6E8A-4147-A177-3AD203B41FA5}">
                      <a16:colId xmlns:a16="http://schemas.microsoft.com/office/drawing/2014/main" val="283407819"/>
                    </a:ext>
                  </a:extLst>
                </a:gridCol>
              </a:tblGrid>
              <a:tr h="1343183">
                <a:tc>
                  <a:txBody>
                    <a:bodyPr/>
                    <a:lstStyle/>
                    <a:p>
                      <a:pPr algn="ctr" fontAlgn="t"/>
                      <a:endParaRPr lang="en-US" dirty="0">
                        <a:effectLst/>
                      </a:endParaRPr>
                    </a:p>
                    <a:p>
                      <a:pPr algn="ctr" fontAlgn="t"/>
                      <a:r>
                        <a:rPr lang="en-US" b="1" dirty="0">
                          <a:effectLst/>
                          <a:latin typeface="var(--font-family-body-lesson-markdown,&quot;Droid Serif&quot;)"/>
                        </a:rPr>
                        <a:t>Product Attributes</a:t>
                      </a:r>
                      <a:endParaRPr lang="en-US" dirty="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dirty="0">
                        <a:effectLst/>
                      </a:endParaRPr>
                    </a:p>
                    <a:p>
                      <a:pPr algn="ctr" fontAlgn="t"/>
                      <a:r>
                        <a:rPr lang="en-US" b="1" dirty="0">
                          <a:effectLst/>
                          <a:latin typeface="var(--font-family-body-lesson-markdown,&quot;Droid Serif&quot;)"/>
                        </a:rPr>
                        <a:t>Very Low</a:t>
                      </a:r>
                      <a:endParaRPr lang="en-US" dirty="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a:effectLst/>
                      </a:endParaRPr>
                    </a:p>
                    <a:p>
                      <a:pPr algn="ctr" fontAlgn="t"/>
                      <a:r>
                        <a:rPr lang="en-US" b="1">
                          <a:effectLst/>
                          <a:latin typeface="var(--font-family-body-lesson-markdown,&quot;Droid Serif&quot;)"/>
                        </a:rPr>
                        <a:t>Low</a:t>
                      </a:r>
                      <a:endParaRPr lang="en-US">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a:effectLst/>
                      </a:endParaRPr>
                    </a:p>
                    <a:p>
                      <a:pPr algn="ctr" fontAlgn="t"/>
                      <a:r>
                        <a:rPr lang="en-US" b="1">
                          <a:effectLst/>
                          <a:latin typeface="var(--font-family-body-lesson-markdown,&quot;Droid Serif&quot;)"/>
                        </a:rPr>
                        <a:t>Nominal</a:t>
                      </a:r>
                      <a:endParaRPr lang="en-US">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a:effectLst/>
                      </a:endParaRPr>
                    </a:p>
                    <a:p>
                      <a:pPr algn="ctr" fontAlgn="t"/>
                      <a:r>
                        <a:rPr lang="en-US" b="1">
                          <a:effectLst/>
                          <a:latin typeface="var(--font-family-body-lesson-markdown,&quot;Droid Serif&quot;)"/>
                        </a:rPr>
                        <a:t>High</a:t>
                      </a:r>
                      <a:endParaRPr lang="en-US">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a:effectLst/>
                      </a:endParaRPr>
                    </a:p>
                    <a:p>
                      <a:pPr algn="ctr" fontAlgn="t"/>
                      <a:r>
                        <a:rPr lang="en-US" b="1">
                          <a:effectLst/>
                          <a:latin typeface="var(--font-family-body-lesson-markdown,&quot;Droid Serif&quot;)"/>
                        </a:rPr>
                        <a:t>Very High</a:t>
                      </a:r>
                      <a:endParaRPr lang="en-US">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a:effectLst/>
                      </a:endParaRPr>
                    </a:p>
                    <a:p>
                      <a:pPr algn="ctr" fontAlgn="t"/>
                      <a:r>
                        <a:rPr lang="en-US" b="1">
                          <a:effectLst/>
                          <a:latin typeface="var(--font-family-body-lesson-markdown,&quot;Droid Serif&quot;)"/>
                        </a:rPr>
                        <a:t>Extra High</a:t>
                      </a:r>
                      <a:endParaRPr lang="en-US">
                        <a:effectLst/>
                        <a:latin typeface="var(--font-family-body-lesson-markdown,&quot;Droid Serif&quot;)"/>
                      </a:endParaRPr>
                    </a:p>
                  </a:txBody>
                  <a:tcPr>
                    <a:lnL>
                      <a:noFill/>
                    </a:lnL>
                    <a:lnR>
                      <a:noFill/>
                    </a:lnR>
                    <a:lnT>
                      <a:noFill/>
                    </a:lnT>
                    <a:lnB>
                      <a:noFill/>
                    </a:lnB>
                    <a:solidFill>
                      <a:srgbClr val="F5F5F5"/>
                    </a:solidFill>
                  </a:tcPr>
                </a:tc>
                <a:extLst>
                  <a:ext uri="{0D108BD9-81ED-4DB2-BD59-A6C34878D82A}">
                    <a16:rowId xmlns:a16="http://schemas.microsoft.com/office/drawing/2014/main" val="3906507361"/>
                  </a:ext>
                </a:extLst>
              </a:tr>
              <a:tr h="611188">
                <a:tc>
                  <a:txBody>
                    <a:bodyPr/>
                    <a:lstStyle/>
                    <a:p>
                      <a:pPr algn="ctr" fontAlgn="t"/>
                      <a:endParaRPr lang="en-US" dirty="0">
                        <a:effectLst/>
                      </a:endParaRPr>
                    </a:p>
                    <a:p>
                      <a:pPr algn="ctr" fontAlgn="t"/>
                      <a:r>
                        <a:rPr lang="en-US" b="1" dirty="0">
                          <a:effectLst/>
                          <a:latin typeface="var(--font-family-body-lesson-markdown,&quot;Droid Serif&quot;)"/>
                        </a:rPr>
                        <a:t>RELY</a:t>
                      </a:r>
                      <a:endParaRPr lang="en-US" dirty="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0.75</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0.88</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1.15</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1.40</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1214910305"/>
                  </a:ext>
                </a:extLst>
              </a:tr>
              <a:tr h="611188">
                <a:tc>
                  <a:txBody>
                    <a:bodyPr/>
                    <a:lstStyle/>
                    <a:p>
                      <a:pPr algn="ctr" fontAlgn="t"/>
                      <a:endParaRPr lang="en-US" dirty="0">
                        <a:effectLst/>
                      </a:endParaRPr>
                    </a:p>
                    <a:p>
                      <a:pPr algn="ctr" fontAlgn="t"/>
                      <a:r>
                        <a:rPr lang="en-US" b="1" dirty="0">
                          <a:effectLst/>
                          <a:latin typeface="var(--font-family-body-lesson-markdown,&quot;Droid Serif&quot;)"/>
                        </a:rPr>
                        <a:t>DATA</a:t>
                      </a:r>
                      <a:endParaRPr lang="en-US" dirty="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0.94</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1.08</a:t>
                      </a:r>
                    </a:p>
                  </a:txBody>
                  <a:tcPr>
                    <a:lnL>
                      <a:noFill/>
                    </a:lnL>
                    <a:lnR>
                      <a:noFill/>
                    </a:lnR>
                    <a:lnT>
                      <a:noFill/>
                    </a:lnT>
                    <a:lnB>
                      <a:noFill/>
                    </a:lnB>
                    <a:solidFill>
                      <a:srgbClr val="FFFFFF"/>
                    </a:solidFill>
                  </a:tcPr>
                </a:tc>
                <a:tc>
                  <a:txBody>
                    <a:bodyPr/>
                    <a:lstStyle/>
                    <a:p>
                      <a:pPr algn="ctr" fontAlgn="t"/>
                      <a:endParaRPr lang="en-US" dirty="0">
                        <a:effectLst/>
                      </a:endParaRPr>
                    </a:p>
                    <a:p>
                      <a:pPr algn="ctr" fontAlgn="t"/>
                      <a:r>
                        <a:rPr lang="en-US" dirty="0">
                          <a:effectLst/>
                          <a:latin typeface="var(--font-family-body-lesson-markdown,&quot;Droid Serif&quot;)"/>
                        </a:rPr>
                        <a:t>1.16</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3773203647"/>
                  </a:ext>
                </a:extLst>
              </a:tr>
              <a:tr h="611188">
                <a:tc>
                  <a:txBody>
                    <a:bodyPr/>
                    <a:lstStyle/>
                    <a:p>
                      <a:pPr algn="ctr" fontAlgn="t"/>
                      <a:endParaRPr lang="en-US">
                        <a:effectLst/>
                      </a:endParaRPr>
                    </a:p>
                    <a:p>
                      <a:pPr algn="ctr" fontAlgn="t"/>
                      <a:r>
                        <a:rPr lang="en-US" b="1">
                          <a:effectLst/>
                          <a:latin typeface="var(--font-family-body-lesson-markdown,&quot;Droid Serif&quot;)"/>
                        </a:rPr>
                        <a:t>CPLX</a:t>
                      </a:r>
                      <a:endParaRPr lang="en-US">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dirty="0">
                        <a:effectLst/>
                      </a:endParaRPr>
                    </a:p>
                    <a:p>
                      <a:pPr algn="ctr" fontAlgn="t"/>
                      <a:r>
                        <a:rPr lang="en-US" dirty="0">
                          <a:effectLst/>
                          <a:latin typeface="var(--font-family-body-lesson-markdown,&quot;Droid Serif&quot;)"/>
                        </a:rPr>
                        <a:t>0.70</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0.85</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1.15</a:t>
                      </a:r>
                    </a:p>
                  </a:txBody>
                  <a:tcPr>
                    <a:lnL>
                      <a:noFill/>
                    </a:lnL>
                    <a:lnR>
                      <a:noFill/>
                    </a:lnR>
                    <a:lnT>
                      <a:noFill/>
                    </a:lnT>
                    <a:lnB>
                      <a:noFill/>
                    </a:lnB>
                    <a:solidFill>
                      <a:srgbClr val="FFFFFF"/>
                    </a:solidFill>
                  </a:tcPr>
                </a:tc>
                <a:tc>
                  <a:txBody>
                    <a:bodyPr/>
                    <a:lstStyle/>
                    <a:p>
                      <a:pPr algn="ctr" fontAlgn="t"/>
                      <a:endParaRPr lang="en-US">
                        <a:effectLst/>
                      </a:endParaRPr>
                    </a:p>
                    <a:p>
                      <a:pPr algn="ctr" fontAlgn="t"/>
                      <a:r>
                        <a:rPr lang="en-US">
                          <a:effectLst/>
                          <a:latin typeface="var(--font-family-body-lesson-markdown,&quot;Droid Serif&quot;)"/>
                        </a:rPr>
                        <a:t>1.30</a:t>
                      </a:r>
                    </a:p>
                  </a:txBody>
                  <a:tcPr>
                    <a:lnL>
                      <a:noFill/>
                    </a:lnL>
                    <a:lnR>
                      <a:noFill/>
                    </a:lnR>
                    <a:lnT>
                      <a:noFill/>
                    </a:lnT>
                    <a:lnB>
                      <a:noFill/>
                    </a:lnB>
                    <a:solidFill>
                      <a:srgbClr val="FFFFFF"/>
                    </a:solidFill>
                  </a:tcPr>
                </a:tc>
                <a:tc>
                  <a:txBody>
                    <a:bodyPr/>
                    <a:lstStyle/>
                    <a:p>
                      <a:pPr algn="ctr" fontAlgn="t"/>
                      <a:endParaRPr lang="en-US" dirty="0">
                        <a:effectLst/>
                      </a:endParaRPr>
                    </a:p>
                    <a:p>
                      <a:pPr algn="ctr" fontAlgn="t"/>
                      <a:r>
                        <a:rPr lang="en-US" dirty="0">
                          <a:effectLst/>
                          <a:latin typeface="var(--font-family-body-lesson-markdown,&quot;Droid Serif&quot;)"/>
                        </a:rPr>
                        <a:t>1.65</a:t>
                      </a:r>
                    </a:p>
                  </a:txBody>
                  <a:tcPr>
                    <a:lnL>
                      <a:noFill/>
                    </a:lnL>
                    <a:lnR>
                      <a:noFill/>
                    </a:lnR>
                    <a:lnT>
                      <a:noFill/>
                    </a:lnT>
                    <a:lnB>
                      <a:noFill/>
                    </a:lnB>
                    <a:solidFill>
                      <a:srgbClr val="FFFFFF"/>
                    </a:solidFill>
                  </a:tcPr>
                </a:tc>
                <a:extLst>
                  <a:ext uri="{0D108BD9-81ED-4DB2-BD59-A6C34878D82A}">
                    <a16:rowId xmlns:a16="http://schemas.microsoft.com/office/drawing/2014/main" val="309625870"/>
                  </a:ext>
                </a:extLst>
              </a:tr>
            </a:tbl>
          </a:graphicData>
        </a:graphic>
      </p:graphicFrame>
      <p:sp>
        <p:nvSpPr>
          <p:cNvPr id="5" name="TextBox 4"/>
          <p:cNvSpPr txBox="1"/>
          <p:nvPr/>
        </p:nvSpPr>
        <p:spPr>
          <a:xfrm>
            <a:off x="2286000" y="5791200"/>
            <a:ext cx="6902531" cy="369332"/>
          </a:xfrm>
          <a:prstGeom prst="rect">
            <a:avLst/>
          </a:prstGeom>
          <a:noFill/>
        </p:spPr>
        <p:txBody>
          <a:bodyPr wrap="none" rtlCol="0">
            <a:spAutoFit/>
          </a:bodyPr>
          <a:lstStyle/>
          <a:p>
            <a:r>
              <a:rPr lang="en-US" dirty="0"/>
              <a:t>RELY: Reliability                   DATA: Data size                     CPLX = Complexity</a:t>
            </a:r>
          </a:p>
        </p:txBody>
      </p:sp>
      <p:sp>
        <p:nvSpPr>
          <p:cNvPr id="6" name="Rectangle 5"/>
          <p:cNvSpPr/>
          <p:nvPr/>
        </p:nvSpPr>
        <p:spPr>
          <a:xfrm>
            <a:off x="880487" y="1545871"/>
            <a:ext cx="3962400" cy="523220"/>
          </a:xfrm>
          <a:prstGeom prst="rect">
            <a:avLst/>
          </a:prstGeom>
        </p:spPr>
        <p:txBody>
          <a:bodyPr wrap="square">
            <a:spAutoFit/>
          </a:bodyPr>
          <a:lstStyle/>
          <a:p>
            <a:r>
              <a:rPr lang="en-US" sz="2800" b="1" dirty="0">
                <a:latin typeface="var(--font-family-heading-lesson-markdown)"/>
              </a:rPr>
              <a:t>Product Attributes</a:t>
            </a:r>
            <a:endParaRPr lang="en-US" sz="2800" b="1" i="0" dirty="0">
              <a:effectLst/>
              <a:latin typeface="var(--font-family-heading-lesson-markdown)"/>
            </a:endParaRPr>
          </a:p>
        </p:txBody>
      </p:sp>
    </p:spTree>
    <p:extLst>
      <p:ext uri="{BB962C8B-B14F-4D97-AF65-F5344CB8AC3E}">
        <p14:creationId xmlns:p14="http://schemas.microsoft.com/office/powerpoint/2010/main" val="891488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Intermediate COCOMO-</a:t>
            </a:r>
            <a:r>
              <a:rPr lang="en-US" b="1" dirty="0"/>
              <a:t>Cost drivers</a:t>
            </a:r>
            <a:endParaRPr lang="en-US" dirty="0"/>
          </a:p>
        </p:txBody>
      </p:sp>
      <p:sp>
        <p:nvSpPr>
          <p:cNvPr id="3" name="Content Placeholder 2"/>
          <p:cNvSpPr>
            <a:spLocks noGrp="1"/>
          </p:cNvSpPr>
          <p:nvPr>
            <p:ph idx="1"/>
          </p:nvPr>
        </p:nvSpPr>
        <p:spPr>
          <a:xfrm>
            <a:off x="838200" y="1447800"/>
            <a:ext cx="10515600" cy="4351338"/>
          </a:xfrm>
        </p:spPr>
        <p:txBody>
          <a:bodyPr/>
          <a:lstStyle/>
          <a:p>
            <a:r>
              <a:rPr lang="en-US" b="1" dirty="0"/>
              <a:t>Hardware attributes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83400042"/>
              </p:ext>
            </p:extLst>
          </p:nvPr>
        </p:nvGraphicFramePr>
        <p:xfrm>
          <a:off x="2209800" y="1846814"/>
          <a:ext cx="8153401" cy="3796197"/>
        </p:xfrm>
        <a:graphic>
          <a:graphicData uri="http://schemas.openxmlformats.org/drawingml/2006/table">
            <a:tbl>
              <a:tblPr/>
              <a:tblGrid>
                <a:gridCol w="1377451">
                  <a:extLst>
                    <a:ext uri="{9D8B030D-6E8A-4147-A177-3AD203B41FA5}">
                      <a16:colId xmlns:a16="http://schemas.microsoft.com/office/drawing/2014/main" val="874694200"/>
                    </a:ext>
                  </a:extLst>
                </a:gridCol>
                <a:gridCol w="1127006">
                  <a:extLst>
                    <a:ext uri="{9D8B030D-6E8A-4147-A177-3AD203B41FA5}">
                      <a16:colId xmlns:a16="http://schemas.microsoft.com/office/drawing/2014/main" val="846710627"/>
                    </a:ext>
                  </a:extLst>
                </a:gridCol>
                <a:gridCol w="1140920">
                  <a:extLst>
                    <a:ext uri="{9D8B030D-6E8A-4147-A177-3AD203B41FA5}">
                      <a16:colId xmlns:a16="http://schemas.microsoft.com/office/drawing/2014/main" val="1027845303"/>
                    </a:ext>
                  </a:extLst>
                </a:gridCol>
                <a:gridCol w="1127006">
                  <a:extLst>
                    <a:ext uri="{9D8B030D-6E8A-4147-A177-3AD203B41FA5}">
                      <a16:colId xmlns:a16="http://schemas.microsoft.com/office/drawing/2014/main" val="78177400"/>
                    </a:ext>
                  </a:extLst>
                </a:gridCol>
                <a:gridCol w="1127006">
                  <a:extLst>
                    <a:ext uri="{9D8B030D-6E8A-4147-A177-3AD203B41FA5}">
                      <a16:colId xmlns:a16="http://schemas.microsoft.com/office/drawing/2014/main" val="1822177960"/>
                    </a:ext>
                  </a:extLst>
                </a:gridCol>
                <a:gridCol w="1127006">
                  <a:extLst>
                    <a:ext uri="{9D8B030D-6E8A-4147-A177-3AD203B41FA5}">
                      <a16:colId xmlns:a16="http://schemas.microsoft.com/office/drawing/2014/main" val="2650473529"/>
                    </a:ext>
                  </a:extLst>
                </a:gridCol>
                <a:gridCol w="1127006">
                  <a:extLst>
                    <a:ext uri="{9D8B030D-6E8A-4147-A177-3AD203B41FA5}">
                      <a16:colId xmlns:a16="http://schemas.microsoft.com/office/drawing/2014/main" val="257224496"/>
                    </a:ext>
                  </a:extLst>
                </a:gridCol>
              </a:tblGrid>
              <a:tr h="1235877">
                <a:tc>
                  <a:txBody>
                    <a:bodyPr/>
                    <a:lstStyle/>
                    <a:p>
                      <a:pPr algn="ctr" fontAlgn="t"/>
                      <a:endParaRPr lang="en-US" dirty="0">
                        <a:effectLst/>
                      </a:endParaRPr>
                    </a:p>
                    <a:p>
                      <a:pPr algn="ctr" fontAlgn="t"/>
                      <a:r>
                        <a:rPr lang="en-US" b="1" dirty="0">
                          <a:effectLst/>
                          <a:latin typeface="var(--font-family-body-lesson-markdown,&quot;Droid Serif&quot;)"/>
                        </a:rPr>
                        <a:t>Hardware Attributes</a:t>
                      </a:r>
                      <a:endParaRPr lang="en-US" dirty="0">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b="1" dirty="0">
                          <a:effectLst/>
                          <a:latin typeface="var(--font-family-body-lesson-markdown,&quot;Droid Serif&quot;)"/>
                        </a:rPr>
                        <a:t>Very L</a:t>
                      </a:r>
                      <a:endParaRPr lang="en-US" dirty="0">
                        <a:effectLst/>
                        <a:latin typeface="var(--font-family-body-lesson-markdown,&quot;Droid Serif&quot;)"/>
                      </a:endParaRPr>
                    </a:p>
                    <a:p>
                      <a:pPr algn="ctr" fontAlgn="t"/>
                      <a:r>
                        <a:rPr lang="en-US" b="1" dirty="0">
                          <a:effectLst/>
                          <a:latin typeface="var(--font-family-body-lesson-markdown,&quot;Droid Serif&quot;)"/>
                        </a:rPr>
                        <a:t>﻿ow</a:t>
                      </a:r>
                      <a:endParaRPr lang="en-US" dirty="0">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b="1">
                          <a:effectLst/>
                          <a:latin typeface="var(--font-family-body-lesson-markdown,&quot;Droid Serif&quot;)"/>
                        </a:rPr>
                        <a:t>Low</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b="1" dirty="0">
                          <a:effectLst/>
                          <a:latin typeface="var(--font-family-body-lesson-markdown,&quot;Droid Serif&quot;)"/>
                        </a:rPr>
                        <a:t>Nominal</a:t>
                      </a:r>
                      <a:endParaRPr lang="en-US" dirty="0">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b="1">
                          <a:effectLst/>
                          <a:latin typeface="var(--font-family-body-lesson-markdown,&quot;Droid Serif&quot;)"/>
                        </a:rPr>
                        <a:t>High</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b="1">
                          <a:effectLst/>
                          <a:latin typeface="var(--font-family-body-lesson-markdown,&quot;Droid Serif&quot;)"/>
                        </a:rPr>
                        <a:t>Very High</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b="1">
                          <a:effectLst/>
                          <a:latin typeface="var(--font-family-body-lesson-markdown,&quot;Droid Serif&quot;)"/>
                        </a:rPr>
                        <a:t>Extra High</a:t>
                      </a:r>
                      <a:endParaRPr lang="en-US">
                        <a:effectLst/>
                        <a:latin typeface="var(--font-family-body-lesson-markdown,&quot;Droid Serif&quot;)"/>
                      </a:endParaRPr>
                    </a:p>
                  </a:txBody>
                  <a:tcPr>
                    <a:lnL>
                      <a:noFill/>
                    </a:lnL>
                    <a:lnR>
                      <a:noFill/>
                    </a:lnR>
                    <a:lnT>
                      <a:noFill/>
                    </a:lnT>
                    <a:lnB>
                      <a:noFill/>
                    </a:lnB>
                    <a:solidFill>
                      <a:srgbClr val="F5F5F5">
                        <a:alpha val="0"/>
                      </a:srgbClr>
                    </a:solidFill>
                  </a:tcPr>
                </a:tc>
                <a:extLst>
                  <a:ext uri="{0D108BD9-81ED-4DB2-BD59-A6C34878D82A}">
                    <a16:rowId xmlns:a16="http://schemas.microsoft.com/office/drawing/2014/main" val="669327900"/>
                  </a:ext>
                </a:extLst>
              </a:tr>
              <a:tr h="608851">
                <a:tc>
                  <a:txBody>
                    <a:bodyPr/>
                    <a:lstStyle/>
                    <a:p>
                      <a:pPr algn="ctr" fontAlgn="t"/>
                      <a:endParaRPr lang="en-US" dirty="0">
                        <a:effectLst/>
                      </a:endParaRPr>
                    </a:p>
                    <a:p>
                      <a:pPr algn="ctr" fontAlgn="t"/>
                      <a:r>
                        <a:rPr lang="en-US" b="1" dirty="0">
                          <a:effectLst/>
                          <a:latin typeface="var(--font-family-body-lesson-markdown,&quot;Droid Serif&quot;)"/>
                        </a:rPr>
                        <a:t>TIME</a:t>
                      </a:r>
                      <a:endParaRPr lang="en-US" dirty="0">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1.11</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1.30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1.66</a:t>
                      </a:r>
                    </a:p>
                  </a:txBody>
                  <a:tcPr>
                    <a:lnL>
                      <a:noFill/>
                    </a:lnL>
                    <a:lnR>
                      <a:noFill/>
                    </a:lnR>
                    <a:lnT>
                      <a:noFill/>
                    </a:lnT>
                    <a:lnB>
                      <a:noFill/>
                    </a:lnB>
                    <a:solidFill>
                      <a:srgbClr val="F5F5F5">
                        <a:alpha val="0"/>
                      </a:srgbClr>
                    </a:solidFill>
                  </a:tcPr>
                </a:tc>
                <a:extLst>
                  <a:ext uri="{0D108BD9-81ED-4DB2-BD59-A6C34878D82A}">
                    <a16:rowId xmlns:a16="http://schemas.microsoft.com/office/drawing/2014/main" val="2359356417"/>
                  </a:ext>
                </a:extLst>
              </a:tr>
              <a:tr h="608851">
                <a:tc>
                  <a:txBody>
                    <a:bodyPr/>
                    <a:lstStyle/>
                    <a:p>
                      <a:pPr algn="ctr" fontAlgn="t"/>
                      <a:endParaRPr lang="en-US">
                        <a:effectLst/>
                      </a:endParaRPr>
                    </a:p>
                    <a:p>
                      <a:pPr algn="ctr" fontAlgn="t"/>
                      <a:r>
                        <a:rPr lang="en-US" b="1">
                          <a:effectLst/>
                          <a:latin typeface="var(--font-family-body-lesson-markdown,&quot;Droid Serif&quot;)"/>
                        </a:rPr>
                        <a:t>STOR</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1.06</a:t>
                      </a: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1.21</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1.56</a:t>
                      </a:r>
                    </a:p>
                  </a:txBody>
                  <a:tcPr>
                    <a:lnL>
                      <a:noFill/>
                    </a:lnL>
                    <a:lnR>
                      <a:noFill/>
                    </a:lnR>
                    <a:lnT>
                      <a:noFill/>
                    </a:lnT>
                    <a:lnB>
                      <a:noFill/>
                    </a:lnB>
                    <a:solidFill>
                      <a:srgbClr val="F5F5F5">
                        <a:alpha val="0"/>
                      </a:srgbClr>
                    </a:solidFill>
                  </a:tcPr>
                </a:tc>
                <a:extLst>
                  <a:ext uri="{0D108BD9-81ED-4DB2-BD59-A6C34878D82A}">
                    <a16:rowId xmlns:a16="http://schemas.microsoft.com/office/drawing/2014/main" val="581075664"/>
                  </a:ext>
                </a:extLst>
              </a:tr>
              <a:tr h="608851">
                <a:tc>
                  <a:txBody>
                    <a:bodyPr/>
                    <a:lstStyle/>
                    <a:p>
                      <a:pPr algn="ctr" fontAlgn="t"/>
                      <a:endParaRPr lang="en-US">
                        <a:effectLst/>
                      </a:endParaRPr>
                    </a:p>
                    <a:p>
                      <a:pPr algn="ctr" fontAlgn="t"/>
                      <a:r>
                        <a:rPr lang="en-US" b="1">
                          <a:effectLst/>
                          <a:latin typeface="var(--font-family-body-lesson-markdown,&quot;Droid Serif&quot;)"/>
                        </a:rPr>
                        <a:t>VIRT</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0.87</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1.15</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1.30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a:t>
                      </a:r>
                    </a:p>
                  </a:txBody>
                  <a:tcPr>
                    <a:lnL>
                      <a:noFill/>
                    </a:lnL>
                    <a:lnR>
                      <a:noFill/>
                    </a:lnR>
                    <a:lnT>
                      <a:noFill/>
                    </a:lnT>
                    <a:lnB>
                      <a:noFill/>
                    </a:lnB>
                    <a:solidFill>
                      <a:srgbClr val="F5F5F5">
                        <a:alpha val="0"/>
                      </a:srgbClr>
                    </a:solidFill>
                  </a:tcPr>
                </a:tc>
                <a:extLst>
                  <a:ext uri="{0D108BD9-81ED-4DB2-BD59-A6C34878D82A}">
                    <a16:rowId xmlns:a16="http://schemas.microsoft.com/office/drawing/2014/main" val="3768899400"/>
                  </a:ext>
                </a:extLst>
              </a:tr>
              <a:tr h="608851">
                <a:tc>
                  <a:txBody>
                    <a:bodyPr/>
                    <a:lstStyle/>
                    <a:p>
                      <a:pPr algn="ctr" fontAlgn="t"/>
                      <a:endParaRPr lang="en-US">
                        <a:effectLst/>
                      </a:endParaRPr>
                    </a:p>
                    <a:p>
                      <a:pPr algn="ctr" fontAlgn="t"/>
                      <a:r>
                        <a:rPr lang="en-US" b="1">
                          <a:effectLst/>
                          <a:latin typeface="var(--font-family-body-lesson-markdown,&quot;Droid Serif&quot;)"/>
                        </a:rPr>
                        <a:t>TURN</a:t>
                      </a:r>
                      <a:endParaRPr lang="en-US">
                        <a:effectLst/>
                        <a:latin typeface="var(--font-family-body-lesson-markdown,&quot;Droid Serif&quot;)"/>
                      </a:endParaRP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0.87</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1.00</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1.07</a:t>
                      </a:r>
                    </a:p>
                  </a:txBody>
                  <a:tcPr>
                    <a:lnL>
                      <a:noFill/>
                    </a:lnL>
                    <a:lnR>
                      <a:noFill/>
                    </a:lnR>
                    <a:lnT>
                      <a:noFill/>
                    </a:lnT>
                    <a:lnB>
                      <a:noFill/>
                    </a:lnB>
                    <a:solidFill>
                      <a:srgbClr val="F5F5F5">
                        <a:alpha val="0"/>
                      </a:srgbClr>
                    </a:solidFill>
                  </a:tcPr>
                </a:tc>
                <a:tc>
                  <a:txBody>
                    <a:bodyPr/>
                    <a:lstStyle/>
                    <a:p>
                      <a:pPr algn="ctr" fontAlgn="t"/>
                      <a:endParaRPr lang="en-US">
                        <a:effectLst/>
                      </a:endParaRPr>
                    </a:p>
                    <a:p>
                      <a:pPr algn="ctr" fontAlgn="t"/>
                      <a:r>
                        <a:rPr lang="en-US">
                          <a:effectLst/>
                          <a:latin typeface="var(--font-family-body-lesson-markdown,&quot;Droid Serif&quot;)"/>
                        </a:rPr>
                        <a:t>1.15</a:t>
                      </a:r>
                    </a:p>
                  </a:txBody>
                  <a:tcPr>
                    <a:lnL>
                      <a:noFill/>
                    </a:lnL>
                    <a:lnR>
                      <a:noFill/>
                    </a:lnR>
                    <a:lnT>
                      <a:noFill/>
                    </a:lnT>
                    <a:lnB>
                      <a:noFill/>
                    </a:lnB>
                    <a:solidFill>
                      <a:srgbClr val="F5F5F5">
                        <a:alpha val="0"/>
                      </a:srgbClr>
                    </a:solidFill>
                  </a:tcPr>
                </a:tc>
                <a:tc>
                  <a:txBody>
                    <a:bodyPr/>
                    <a:lstStyle/>
                    <a:p>
                      <a:pPr algn="ctr" fontAlgn="t"/>
                      <a:endParaRPr lang="en-US" dirty="0">
                        <a:effectLst/>
                      </a:endParaRPr>
                    </a:p>
                    <a:p>
                      <a:pPr algn="ctr" fontAlgn="t"/>
                      <a:r>
                        <a:rPr lang="en-US" dirty="0">
                          <a:effectLst/>
                          <a:latin typeface="var(--font-family-body-lesson-markdown,&quot;Droid Serif&quot;)"/>
                        </a:rPr>
                        <a:t>...</a:t>
                      </a:r>
                    </a:p>
                  </a:txBody>
                  <a:tcPr>
                    <a:lnL>
                      <a:noFill/>
                    </a:lnL>
                    <a:lnR>
                      <a:noFill/>
                    </a:lnR>
                    <a:lnT>
                      <a:noFill/>
                    </a:lnT>
                    <a:lnB>
                      <a:noFill/>
                    </a:lnB>
                    <a:solidFill>
                      <a:srgbClr val="F5F5F5">
                        <a:alpha val="0"/>
                      </a:srgbClr>
                    </a:solidFill>
                  </a:tcPr>
                </a:tc>
                <a:extLst>
                  <a:ext uri="{0D108BD9-81ED-4DB2-BD59-A6C34878D82A}">
                    <a16:rowId xmlns:a16="http://schemas.microsoft.com/office/drawing/2014/main" val="2659156271"/>
                  </a:ext>
                </a:extLst>
              </a:tr>
            </a:tbl>
          </a:graphicData>
        </a:graphic>
      </p:graphicFrame>
      <p:sp>
        <p:nvSpPr>
          <p:cNvPr id="5" name="TextBox 4"/>
          <p:cNvSpPr txBox="1"/>
          <p:nvPr/>
        </p:nvSpPr>
        <p:spPr>
          <a:xfrm>
            <a:off x="920295" y="6096000"/>
            <a:ext cx="11472500" cy="646331"/>
          </a:xfrm>
          <a:prstGeom prst="rect">
            <a:avLst/>
          </a:prstGeom>
          <a:noFill/>
        </p:spPr>
        <p:txBody>
          <a:bodyPr wrap="none" rtlCol="0">
            <a:spAutoFit/>
          </a:bodyPr>
          <a:lstStyle/>
          <a:p>
            <a:r>
              <a:rPr lang="en-US" dirty="0"/>
              <a:t>Time= Run time performance constraints           STOR: Memory constraints                VIRT= Volatility of the virtual machine</a:t>
            </a:r>
          </a:p>
          <a:p>
            <a:r>
              <a:rPr lang="en-US" dirty="0"/>
              <a:t>TURN= Required turnaround time</a:t>
            </a:r>
          </a:p>
        </p:txBody>
      </p:sp>
    </p:spTree>
    <p:extLst>
      <p:ext uri="{BB962C8B-B14F-4D97-AF65-F5344CB8AC3E}">
        <p14:creationId xmlns:p14="http://schemas.microsoft.com/office/powerpoint/2010/main" val="195501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Intermediate COCOMO-</a:t>
            </a:r>
            <a:r>
              <a:rPr lang="en-US" b="1" dirty="0"/>
              <a:t>Cost drivers</a:t>
            </a:r>
            <a:endParaRPr lang="en-US" dirty="0"/>
          </a:p>
        </p:txBody>
      </p:sp>
      <p:sp>
        <p:nvSpPr>
          <p:cNvPr id="3" name="Content Placeholder 2"/>
          <p:cNvSpPr>
            <a:spLocks noGrp="1"/>
          </p:cNvSpPr>
          <p:nvPr>
            <p:ph idx="1"/>
          </p:nvPr>
        </p:nvSpPr>
        <p:spPr/>
        <p:txBody>
          <a:bodyPr/>
          <a:lstStyle/>
          <a:p>
            <a:pPr marL="0" indent="0">
              <a:buNone/>
            </a:pPr>
            <a:r>
              <a:rPr lang="en-US" b="1" dirty="0"/>
              <a:t>Personal attributes</a:t>
            </a:r>
          </a:p>
          <a:p>
            <a:r>
              <a:rPr lang="en-US" dirty="0"/>
              <a:t>Analyst capabilities</a:t>
            </a:r>
          </a:p>
          <a:p>
            <a:r>
              <a:rPr lang="en-US" dirty="0"/>
              <a:t>Software engineering capabilities</a:t>
            </a:r>
          </a:p>
          <a:p>
            <a:r>
              <a:rPr lang="en-US" dirty="0"/>
              <a:t>Applications experience</a:t>
            </a:r>
          </a:p>
          <a:p>
            <a:r>
              <a:rPr lang="en-US" dirty="0"/>
              <a:t>Virtual machine experience</a:t>
            </a:r>
          </a:p>
          <a:p>
            <a:r>
              <a:rPr lang="en-US" dirty="0"/>
              <a:t>Programming language experience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30423046"/>
              </p:ext>
            </p:extLst>
          </p:nvPr>
        </p:nvGraphicFramePr>
        <p:xfrm>
          <a:off x="6324600" y="2167346"/>
          <a:ext cx="5867400" cy="4663440"/>
        </p:xfrm>
        <a:graphic>
          <a:graphicData uri="http://schemas.openxmlformats.org/drawingml/2006/table">
            <a:tbl>
              <a:tblPr/>
              <a:tblGrid>
                <a:gridCol w="838200">
                  <a:extLst>
                    <a:ext uri="{9D8B030D-6E8A-4147-A177-3AD203B41FA5}">
                      <a16:colId xmlns:a16="http://schemas.microsoft.com/office/drawing/2014/main" val="355747626"/>
                    </a:ext>
                  </a:extLst>
                </a:gridCol>
                <a:gridCol w="838200">
                  <a:extLst>
                    <a:ext uri="{9D8B030D-6E8A-4147-A177-3AD203B41FA5}">
                      <a16:colId xmlns:a16="http://schemas.microsoft.com/office/drawing/2014/main" val="2443956394"/>
                    </a:ext>
                  </a:extLst>
                </a:gridCol>
                <a:gridCol w="838200">
                  <a:extLst>
                    <a:ext uri="{9D8B030D-6E8A-4147-A177-3AD203B41FA5}">
                      <a16:colId xmlns:a16="http://schemas.microsoft.com/office/drawing/2014/main" val="2678773511"/>
                    </a:ext>
                  </a:extLst>
                </a:gridCol>
                <a:gridCol w="838200">
                  <a:extLst>
                    <a:ext uri="{9D8B030D-6E8A-4147-A177-3AD203B41FA5}">
                      <a16:colId xmlns:a16="http://schemas.microsoft.com/office/drawing/2014/main" val="2881655588"/>
                    </a:ext>
                  </a:extLst>
                </a:gridCol>
                <a:gridCol w="838200">
                  <a:extLst>
                    <a:ext uri="{9D8B030D-6E8A-4147-A177-3AD203B41FA5}">
                      <a16:colId xmlns:a16="http://schemas.microsoft.com/office/drawing/2014/main" val="2565036403"/>
                    </a:ext>
                  </a:extLst>
                </a:gridCol>
                <a:gridCol w="838200">
                  <a:extLst>
                    <a:ext uri="{9D8B030D-6E8A-4147-A177-3AD203B41FA5}">
                      <a16:colId xmlns:a16="http://schemas.microsoft.com/office/drawing/2014/main" val="488488119"/>
                    </a:ext>
                  </a:extLst>
                </a:gridCol>
                <a:gridCol w="838200">
                  <a:extLst>
                    <a:ext uri="{9D8B030D-6E8A-4147-A177-3AD203B41FA5}">
                      <a16:colId xmlns:a16="http://schemas.microsoft.com/office/drawing/2014/main" val="369694823"/>
                    </a:ext>
                  </a:extLst>
                </a:gridCol>
              </a:tblGrid>
              <a:tr h="1300181">
                <a:tc>
                  <a:txBody>
                    <a:bodyPr/>
                    <a:lstStyle/>
                    <a:p>
                      <a:pPr algn="ctr" fontAlgn="t"/>
                      <a:br>
                        <a:rPr lang="en-US" sz="1800" b="1">
                          <a:effectLst/>
                          <a:latin typeface="var(--font-family-body-lesson-markdown,&quot;Droid Serif&quot;)"/>
                        </a:rPr>
                      </a:br>
                      <a:r>
                        <a:rPr lang="en-US" sz="1800" b="1">
                          <a:effectLst/>
                          <a:latin typeface="var(--font-family-body-lesson-markdown,&quot;Droid Serif&quot;)"/>
                        </a:rPr>
                        <a:t>Personal attributes</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Very Low</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Low</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Nominal</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High</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Very High</a:t>
                      </a:r>
                      <a:endParaRPr lang="en-US" sz="1800">
                        <a:effectLst/>
                        <a:latin typeface="var(--font-family-body-lesson-markdown,&quot;Droid Serif&quot;)"/>
                      </a:endParaRPr>
                    </a:p>
                  </a:txBody>
                  <a:tcPr>
                    <a:lnL>
                      <a:noFill/>
                    </a:lnL>
                    <a:lnR>
                      <a:noFill/>
                    </a:lnR>
                    <a:lnT>
                      <a:noFill/>
                    </a:lnT>
                    <a:lnB>
                      <a:noFill/>
                    </a:lnB>
                    <a:solidFill>
                      <a:srgbClr val="F5F5F5"/>
                    </a:solidFill>
                  </a:tcPr>
                </a:tc>
                <a:tc>
                  <a:txBody>
                    <a:bodyPr/>
                    <a:lstStyle/>
                    <a:p>
                      <a:pPr algn="ctr" fontAlgn="t"/>
                      <a:endParaRPr lang="en-US" sz="1800">
                        <a:effectLst/>
                      </a:endParaRPr>
                    </a:p>
                    <a:p>
                      <a:pPr algn="ctr" fontAlgn="t"/>
                      <a:r>
                        <a:rPr lang="en-US" sz="1800" b="1">
                          <a:effectLst/>
                          <a:latin typeface="var(--font-family-body-lesson-markdown,&quot;Droid Serif&quot;)"/>
                        </a:rPr>
                        <a:t>Extra High</a:t>
                      </a:r>
                      <a:endParaRPr lang="en-US" sz="1800">
                        <a:effectLst/>
                        <a:latin typeface="var(--font-family-body-lesson-markdown,&quot;Droid Serif&quot;)"/>
                      </a:endParaRPr>
                    </a:p>
                  </a:txBody>
                  <a:tcPr>
                    <a:lnL>
                      <a:noFill/>
                    </a:lnL>
                    <a:lnR>
                      <a:noFill/>
                    </a:lnR>
                    <a:lnT>
                      <a:noFill/>
                    </a:lnT>
                    <a:lnB>
                      <a:noFill/>
                    </a:lnB>
                    <a:solidFill>
                      <a:srgbClr val="F5F5F5"/>
                    </a:solidFill>
                  </a:tcPr>
                </a:tc>
                <a:extLst>
                  <a:ext uri="{0D108BD9-81ED-4DB2-BD59-A6C34878D82A}">
                    <a16:rowId xmlns:a16="http://schemas.microsoft.com/office/drawing/2014/main" val="2476629309"/>
                  </a:ext>
                </a:extLst>
              </a:tr>
              <a:tr h="568829">
                <a:tc>
                  <a:txBody>
                    <a:bodyPr/>
                    <a:lstStyle/>
                    <a:p>
                      <a:pPr algn="ctr" fontAlgn="t"/>
                      <a:endParaRPr lang="en-US" sz="1800">
                        <a:effectLst/>
                      </a:endParaRPr>
                    </a:p>
                    <a:p>
                      <a:pPr algn="ctr" fontAlgn="t"/>
                      <a:r>
                        <a:rPr lang="en-US" sz="1800" b="1">
                          <a:effectLst/>
                          <a:latin typeface="var(--font-family-body-lesson-markdown,&quot;Droid Serif&quot;)"/>
                        </a:rPr>
                        <a:t>ACAP</a:t>
                      </a:r>
                      <a:endParaRPr lang="en-US" sz="180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1.46</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1.19</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0.86</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0.71</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1779677533"/>
                  </a:ext>
                </a:extLst>
              </a:tr>
              <a:tr h="568829">
                <a:tc>
                  <a:txBody>
                    <a:bodyPr/>
                    <a:lstStyle/>
                    <a:p>
                      <a:pPr algn="ctr" fontAlgn="t"/>
                      <a:endParaRPr lang="en-US" sz="1800">
                        <a:effectLst/>
                      </a:endParaRPr>
                    </a:p>
                    <a:p>
                      <a:pPr algn="ctr" fontAlgn="t"/>
                      <a:r>
                        <a:rPr lang="en-US" sz="1800" b="1">
                          <a:effectLst/>
                          <a:latin typeface="var(--font-family-body-lesson-markdown,&quot;Droid Serif&quot;)"/>
                        </a:rPr>
                        <a:t>AXEP</a:t>
                      </a:r>
                      <a:endParaRPr lang="en-US" sz="180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1.29</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1.13</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0.91</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0.82</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1703813025"/>
                  </a:ext>
                </a:extLst>
              </a:tr>
              <a:tr h="568829">
                <a:tc>
                  <a:txBody>
                    <a:bodyPr/>
                    <a:lstStyle/>
                    <a:p>
                      <a:pPr algn="ctr" fontAlgn="t"/>
                      <a:endParaRPr lang="en-US" sz="1800">
                        <a:effectLst/>
                      </a:endParaRPr>
                    </a:p>
                    <a:p>
                      <a:pPr algn="ctr" fontAlgn="t"/>
                      <a:r>
                        <a:rPr lang="en-US" sz="1800" b="1">
                          <a:effectLst/>
                          <a:latin typeface="var(--font-family-body-lesson-markdown,&quot;Droid Serif&quot;)"/>
                        </a:rPr>
                        <a:t>PCAP</a:t>
                      </a:r>
                      <a:endParaRPr lang="en-US" sz="180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1.42</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1.17</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0.86</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0.70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3666580786"/>
                  </a:ext>
                </a:extLst>
              </a:tr>
              <a:tr h="568829">
                <a:tc>
                  <a:txBody>
                    <a:bodyPr/>
                    <a:lstStyle/>
                    <a:p>
                      <a:pPr algn="ctr" fontAlgn="t"/>
                      <a:endParaRPr lang="en-US" sz="1800">
                        <a:effectLst/>
                      </a:endParaRPr>
                    </a:p>
                    <a:p>
                      <a:pPr algn="ctr" fontAlgn="t"/>
                      <a:r>
                        <a:rPr lang="en-US" sz="1800" b="1">
                          <a:effectLst/>
                          <a:latin typeface="var(--font-family-body-lesson-markdown,&quot;Droid Serif&quot;)"/>
                        </a:rPr>
                        <a:t>VEXP</a:t>
                      </a:r>
                      <a:endParaRPr lang="en-US" sz="180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1.21</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1.10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0.90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2690734163"/>
                  </a:ext>
                </a:extLst>
              </a:tr>
              <a:tr h="568829">
                <a:tc>
                  <a:txBody>
                    <a:bodyPr/>
                    <a:lstStyle/>
                    <a:p>
                      <a:pPr algn="ctr" fontAlgn="t"/>
                      <a:endParaRPr lang="en-US" sz="1800">
                        <a:effectLst/>
                      </a:endParaRPr>
                    </a:p>
                    <a:p>
                      <a:pPr algn="ctr" fontAlgn="t"/>
                      <a:r>
                        <a:rPr lang="en-US" sz="1800" b="1">
                          <a:effectLst/>
                          <a:latin typeface="var(--font-family-body-lesson-markdown,&quot;Droid Serif&quot;)"/>
                        </a:rPr>
                        <a:t>LEXP</a:t>
                      </a:r>
                      <a:endParaRPr lang="en-US" sz="1800">
                        <a:effectLst/>
                        <a:latin typeface="var(--font-family-body-lesson-markdown,&quot;Droid Serif&quot;)"/>
                      </a:endParaRP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1.14</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1.07</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1.00</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0.95</a:t>
                      </a:r>
                    </a:p>
                  </a:txBody>
                  <a:tcPr>
                    <a:lnL>
                      <a:noFill/>
                    </a:lnL>
                    <a:lnR>
                      <a:noFill/>
                    </a:lnR>
                    <a:lnT>
                      <a:noFill/>
                    </a:lnT>
                    <a:lnB>
                      <a:noFill/>
                    </a:lnB>
                    <a:solidFill>
                      <a:srgbClr val="FFFFFF"/>
                    </a:solidFill>
                  </a:tcPr>
                </a:tc>
                <a:tc>
                  <a:txBody>
                    <a:bodyPr/>
                    <a:lstStyle/>
                    <a:p>
                      <a:pPr algn="ctr" fontAlgn="t"/>
                      <a:endParaRPr lang="en-US" sz="1800">
                        <a:effectLst/>
                      </a:endParaRPr>
                    </a:p>
                    <a:p>
                      <a:pPr algn="ctr" fontAlgn="t"/>
                      <a:r>
                        <a:rPr lang="en-US" sz="1800">
                          <a:effectLst/>
                          <a:latin typeface="var(--font-family-body-lesson-markdown,&quot;Droid Serif&quot;)"/>
                        </a:rPr>
                        <a:t>...</a:t>
                      </a:r>
                    </a:p>
                  </a:txBody>
                  <a:tcPr>
                    <a:lnL>
                      <a:noFill/>
                    </a:lnL>
                    <a:lnR>
                      <a:noFill/>
                    </a:lnR>
                    <a:lnT>
                      <a:noFill/>
                    </a:lnT>
                    <a:lnB>
                      <a:noFill/>
                    </a:lnB>
                    <a:solidFill>
                      <a:srgbClr val="FFFFFF"/>
                    </a:solidFill>
                  </a:tcPr>
                </a:tc>
                <a:tc>
                  <a:txBody>
                    <a:bodyPr/>
                    <a:lstStyle/>
                    <a:p>
                      <a:pPr algn="ctr" fontAlgn="t"/>
                      <a:endParaRPr lang="en-US" sz="1800" dirty="0">
                        <a:effectLst/>
                      </a:endParaRPr>
                    </a:p>
                    <a:p>
                      <a:pPr algn="ctr" fontAlgn="t"/>
                      <a:r>
                        <a:rPr lang="en-US" sz="1800" dirty="0">
                          <a:effectLst/>
                          <a:latin typeface="var(--font-family-body-lesson-markdown,&quot;Droid Serif&quot;)"/>
                        </a:rPr>
                        <a:t>...</a:t>
                      </a:r>
                    </a:p>
                  </a:txBody>
                  <a:tcPr>
                    <a:lnL>
                      <a:noFill/>
                    </a:lnL>
                    <a:lnR>
                      <a:noFill/>
                    </a:lnR>
                    <a:lnT>
                      <a:noFill/>
                    </a:lnT>
                    <a:lnB>
                      <a:noFill/>
                    </a:lnB>
                    <a:solidFill>
                      <a:srgbClr val="FFFFFF"/>
                    </a:solidFill>
                  </a:tcPr>
                </a:tc>
                <a:extLst>
                  <a:ext uri="{0D108BD9-81ED-4DB2-BD59-A6C34878D82A}">
                    <a16:rowId xmlns:a16="http://schemas.microsoft.com/office/drawing/2014/main" val="1823017998"/>
                  </a:ext>
                </a:extLst>
              </a:tr>
            </a:tbl>
          </a:graphicData>
        </a:graphic>
      </p:graphicFrame>
    </p:spTree>
    <p:extLst>
      <p:ext uri="{BB962C8B-B14F-4D97-AF65-F5344CB8AC3E}">
        <p14:creationId xmlns:p14="http://schemas.microsoft.com/office/powerpoint/2010/main" val="1809452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endParaRPr lang="en-US" dirty="0"/>
          </a:p>
        </p:txBody>
      </p:sp>
      <p:sp>
        <p:nvSpPr>
          <p:cNvPr id="3" name="Content Placeholder 2"/>
          <p:cNvSpPr>
            <a:spLocks noGrp="1"/>
          </p:cNvSpPr>
          <p:nvPr>
            <p:ph idx="1"/>
          </p:nvPr>
        </p:nvSpPr>
        <p:spPr>
          <a:xfrm>
            <a:off x="838200" y="1524000"/>
            <a:ext cx="10287000" cy="4652963"/>
          </a:xfrm>
        </p:spPr>
        <p:txBody>
          <a:bodyPr>
            <a:normAutofit lnSpcReduction="10000"/>
          </a:bodyPr>
          <a:lstStyle/>
          <a:p>
            <a:pPr algn="just"/>
            <a:r>
              <a:rPr lang="en-US" dirty="0"/>
              <a:t>Suppose a project was estimated to be made in 400 </a:t>
            </a:r>
            <a:r>
              <a:rPr lang="en-US" dirty="0" err="1"/>
              <a:t>kLOC</a:t>
            </a:r>
            <a:r>
              <a:rPr lang="en-US" dirty="0"/>
              <a:t>. let's calculate its effort, time, and the number of people required while considering the project is of organic type and has a nominal complexity. The developer has a high virtual machine experience.</a:t>
            </a:r>
          </a:p>
          <a:p>
            <a:pPr algn="just"/>
            <a:r>
              <a:rPr lang="en-US" dirty="0"/>
              <a:t>The value of the nominal complexity of a project is 1.00, and the high virtual experience of the developer is 0.90, according to the tables mentioned above:</a:t>
            </a:r>
          </a:p>
          <a:p>
            <a:pPr marL="0" indent="0">
              <a:buNone/>
            </a:pPr>
            <a:r>
              <a:rPr lang="en-US" i="1" dirty="0"/>
              <a:t>                                              EAF</a:t>
            </a:r>
            <a:r>
              <a:rPr lang="en-US" dirty="0"/>
              <a:t>=1.00∗0.90=0.9</a:t>
            </a:r>
          </a:p>
          <a:p>
            <a:pPr marL="0" indent="0">
              <a:buNone/>
            </a:pPr>
            <a:r>
              <a:rPr lang="en-US" i="1" dirty="0"/>
              <a:t>                    Effort</a:t>
            </a:r>
            <a:r>
              <a:rPr lang="en-US" dirty="0"/>
              <a:t>(</a:t>
            </a:r>
            <a:r>
              <a:rPr lang="en-US" i="1" dirty="0"/>
              <a:t>E</a:t>
            </a:r>
            <a:r>
              <a:rPr lang="en-US" dirty="0"/>
              <a:t>)=2.4(400 </a:t>
            </a:r>
            <a:r>
              <a:rPr lang="en-US" i="1" dirty="0" err="1"/>
              <a:t>kLOC</a:t>
            </a:r>
            <a:r>
              <a:rPr lang="en-US" dirty="0"/>
              <a:t>)1.05∗0.9=1554.37 </a:t>
            </a:r>
            <a:r>
              <a:rPr lang="en-US" i="1" dirty="0"/>
              <a:t>person</a:t>
            </a:r>
            <a:r>
              <a:rPr lang="en-US" dirty="0"/>
              <a:t>−</a:t>
            </a:r>
            <a:r>
              <a:rPr lang="en-US" i="1" dirty="0"/>
              <a:t>months</a:t>
            </a:r>
          </a:p>
          <a:p>
            <a:pPr marL="0" indent="0">
              <a:buNone/>
            </a:pPr>
            <a:r>
              <a:rPr lang="en-US" i="1" dirty="0"/>
              <a:t>                   Time</a:t>
            </a:r>
            <a:r>
              <a:rPr lang="en-US" dirty="0"/>
              <a:t>(</a:t>
            </a:r>
            <a:r>
              <a:rPr lang="en-US" i="1" dirty="0"/>
              <a:t>T</a:t>
            </a:r>
            <a:r>
              <a:rPr lang="en-US" dirty="0"/>
              <a:t>)=2.5(1554.37)0.38=40.80 </a:t>
            </a:r>
            <a:r>
              <a:rPr lang="en-US" i="1" dirty="0"/>
              <a:t>months</a:t>
            </a:r>
          </a:p>
          <a:p>
            <a:pPr marL="0" indent="0">
              <a:buNone/>
            </a:pPr>
            <a:r>
              <a:rPr lang="en-US" i="1" dirty="0"/>
              <a:t>                   People</a:t>
            </a:r>
            <a:r>
              <a:rPr lang="en-US" dirty="0"/>
              <a:t> </a:t>
            </a:r>
            <a:r>
              <a:rPr lang="en-US" i="1" dirty="0"/>
              <a:t>required</a:t>
            </a:r>
            <a:r>
              <a:rPr lang="en-US" dirty="0"/>
              <a:t>=1554.37/40.80​=38.09 </a:t>
            </a:r>
            <a:r>
              <a:rPr lang="en-US" i="1" dirty="0"/>
              <a:t>persons</a:t>
            </a:r>
            <a:endParaRPr lang="en-US" dirty="0"/>
          </a:p>
        </p:txBody>
      </p:sp>
    </p:spTree>
    <p:extLst>
      <p:ext uri="{BB962C8B-B14F-4D97-AF65-F5344CB8AC3E}">
        <p14:creationId xmlns:p14="http://schemas.microsoft.com/office/powerpoint/2010/main" val="1463250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Detailed Model of COCOMO</a:t>
            </a:r>
          </a:p>
        </p:txBody>
      </p:sp>
      <p:sp>
        <p:nvSpPr>
          <p:cNvPr id="3" name="Content Placeholder 2"/>
          <p:cNvSpPr>
            <a:spLocks noGrp="1"/>
          </p:cNvSpPr>
          <p:nvPr>
            <p:ph idx="1"/>
          </p:nvPr>
        </p:nvSpPr>
        <p:spPr/>
        <p:txBody>
          <a:bodyPr>
            <a:normAutofit lnSpcReduction="10000"/>
          </a:bodyPr>
          <a:lstStyle/>
          <a:p>
            <a:pPr algn="just"/>
            <a:r>
              <a:rPr lang="en-US" dirty="0"/>
              <a:t>Detailed COCOMO incorporates all characteristics of the intermediate version with an assessment of the cost driver’s impact on each step of the software engineering process. The Six phases of detailed COCOMO are:</a:t>
            </a:r>
          </a:p>
          <a:p>
            <a:pPr fontAlgn="base"/>
            <a:r>
              <a:rPr lang="en-US" dirty="0"/>
              <a:t>Planning and requirements</a:t>
            </a:r>
          </a:p>
          <a:p>
            <a:pPr fontAlgn="base"/>
            <a:r>
              <a:rPr lang="en-US" dirty="0"/>
              <a:t>System design</a:t>
            </a:r>
          </a:p>
          <a:p>
            <a:pPr fontAlgn="base"/>
            <a:r>
              <a:rPr lang="en-US" dirty="0"/>
              <a:t>Detailed design</a:t>
            </a:r>
          </a:p>
          <a:p>
            <a:pPr fontAlgn="base"/>
            <a:r>
              <a:rPr lang="en-US" dirty="0"/>
              <a:t>Module code and test</a:t>
            </a:r>
          </a:p>
          <a:p>
            <a:pPr fontAlgn="base"/>
            <a:r>
              <a:rPr lang="en-US" dirty="0"/>
              <a:t>Integration and test</a:t>
            </a:r>
          </a:p>
          <a:p>
            <a:pPr fontAlgn="base"/>
            <a:r>
              <a:rPr lang="en-US" dirty="0"/>
              <a:t>Cost Constructive model</a:t>
            </a:r>
          </a:p>
          <a:p>
            <a:endParaRPr lang="en-US" dirty="0"/>
          </a:p>
        </p:txBody>
      </p:sp>
    </p:spTree>
    <p:extLst>
      <p:ext uri="{BB962C8B-B14F-4D97-AF65-F5344CB8AC3E}">
        <p14:creationId xmlns:p14="http://schemas.microsoft.com/office/powerpoint/2010/main" val="7413998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 Point Analysis (FPA)</a:t>
            </a:r>
          </a:p>
        </p:txBody>
      </p:sp>
      <p:sp>
        <p:nvSpPr>
          <p:cNvPr id="3" name="Content Placeholder 2"/>
          <p:cNvSpPr>
            <a:spLocks noGrp="1"/>
          </p:cNvSpPr>
          <p:nvPr>
            <p:ph idx="1"/>
          </p:nvPr>
        </p:nvSpPr>
        <p:spPr/>
        <p:txBody>
          <a:bodyPr/>
          <a:lstStyle/>
          <a:p>
            <a:pPr algn="just"/>
            <a:r>
              <a:rPr lang="en-US" dirty="0"/>
              <a:t>A method used for software cost estimation based on the functionality provided by the software. It quantifies the software's functionality by measuring the number of function points, which represent the inputs, outputs, inquiries, internal logical files, and external interfaces.</a:t>
            </a:r>
          </a:p>
          <a:p>
            <a:endParaRPr lang="en-US" dirty="0"/>
          </a:p>
        </p:txBody>
      </p:sp>
    </p:spTree>
    <p:extLst>
      <p:ext uri="{BB962C8B-B14F-4D97-AF65-F5344CB8AC3E}">
        <p14:creationId xmlns:p14="http://schemas.microsoft.com/office/powerpoint/2010/main" val="3972455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b="1" dirty="0"/>
              <a:t>Function Point Analysis (FPA)..</a:t>
            </a:r>
          </a:p>
        </p:txBody>
      </p:sp>
      <p:sp>
        <p:nvSpPr>
          <p:cNvPr id="19459" name="Rectangle 3"/>
          <p:cNvSpPr>
            <a:spLocks noGrp="1" noChangeArrowheads="1"/>
          </p:cNvSpPr>
          <p:nvPr>
            <p:ph idx="1"/>
          </p:nvPr>
        </p:nvSpPr>
        <p:spPr/>
        <p:txBody>
          <a:bodyPr>
            <a:normAutofit/>
          </a:bodyPr>
          <a:lstStyle/>
          <a:p>
            <a:r>
              <a:rPr lang="en-US" sz="2400" b="1" u="sng" dirty="0"/>
              <a:t>STEP 1</a:t>
            </a:r>
            <a:r>
              <a:rPr lang="en-US" sz="2400" b="1" dirty="0"/>
              <a:t>: Identify Function Types</a:t>
            </a:r>
          </a:p>
          <a:p>
            <a:r>
              <a:rPr lang="en-US" sz="2400" dirty="0"/>
              <a:t>Function points are computed by first calculating an </a:t>
            </a:r>
            <a:r>
              <a:rPr lang="en-US" sz="2400" b="1" i="1" dirty="0"/>
              <a:t>unadjusted function point count </a:t>
            </a:r>
            <a:r>
              <a:rPr lang="en-US" sz="2400" b="1" dirty="0"/>
              <a:t>(UFC).</a:t>
            </a:r>
            <a:r>
              <a:rPr lang="en-US" sz="2400" dirty="0"/>
              <a:t> Counts are made for the following categories</a:t>
            </a:r>
          </a:p>
          <a:p>
            <a:pPr marL="0" indent="0">
              <a:buNone/>
            </a:pPr>
            <a:endParaRPr lang="en-US" sz="2400" dirty="0"/>
          </a:p>
          <a:p>
            <a:pPr lvl="1"/>
            <a:r>
              <a:rPr lang="en-US" i="1" dirty="0"/>
              <a:t>External inputs (User Input)</a:t>
            </a:r>
            <a:r>
              <a:rPr lang="en-US" dirty="0"/>
              <a:t> - Represent user inputs that affect the internal processing of the software and result in data being maintained or altered by the system. Examples include </a:t>
            </a:r>
            <a:r>
              <a:rPr lang="en-US" dirty="0">
                <a:solidFill>
                  <a:srgbClr val="FF0000"/>
                </a:solidFill>
              </a:rPr>
              <a:t>forms, data entry screens, or file imports.</a:t>
            </a:r>
          </a:p>
          <a:p>
            <a:pPr marL="457200" lvl="1" indent="0">
              <a:buNone/>
            </a:pPr>
            <a:endParaRPr lang="en-US" dirty="0">
              <a:solidFill>
                <a:srgbClr val="FF0000"/>
              </a:solidFill>
            </a:endParaRPr>
          </a:p>
          <a:p>
            <a:pPr lvl="1"/>
            <a:r>
              <a:rPr lang="en-US" i="1" dirty="0"/>
              <a:t>External outputs</a:t>
            </a:r>
            <a:r>
              <a:rPr lang="en-US" dirty="0"/>
              <a:t> – These are outputs the system provides to the user, which involve processing. Such as </a:t>
            </a:r>
            <a:r>
              <a:rPr lang="en-US" dirty="0">
                <a:solidFill>
                  <a:srgbClr val="FF0000"/>
                </a:solidFill>
              </a:rPr>
              <a:t>reports and messages</a:t>
            </a:r>
            <a:r>
              <a:rPr lang="en-US" dirty="0"/>
              <a:t>.</a:t>
            </a:r>
          </a:p>
        </p:txBody>
      </p:sp>
      <p:sp>
        <p:nvSpPr>
          <p:cNvPr id="6" name="Slide Number Placeholder 5"/>
          <p:cNvSpPr>
            <a:spLocks noGrp="1"/>
          </p:cNvSpPr>
          <p:nvPr>
            <p:ph type="sldNum" sz="quarter" idx="12"/>
          </p:nvPr>
        </p:nvSpPr>
        <p:spPr/>
        <p:txBody>
          <a:bodyPr/>
          <a:lstStyle/>
          <a:p>
            <a:fld id="{80C057E3-28E7-4A67-84D4-286178DB7AF0}" type="slidenum">
              <a:rPr lang="en-US"/>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b="1" dirty="0"/>
              <a:t>Function Point Analysis (FPA)..</a:t>
            </a:r>
          </a:p>
        </p:txBody>
      </p:sp>
      <p:sp>
        <p:nvSpPr>
          <p:cNvPr id="20483" name="Rectangle 3"/>
          <p:cNvSpPr>
            <a:spLocks noGrp="1" noChangeArrowheads="1"/>
          </p:cNvSpPr>
          <p:nvPr>
            <p:ph idx="1"/>
          </p:nvPr>
        </p:nvSpPr>
        <p:spPr/>
        <p:txBody>
          <a:bodyPr/>
          <a:lstStyle/>
          <a:p>
            <a:pPr lvl="1" algn="just"/>
            <a:r>
              <a:rPr lang="en-US" i="1" dirty="0"/>
              <a:t>External inquiries</a:t>
            </a:r>
            <a:r>
              <a:rPr lang="en-US" dirty="0"/>
              <a:t> – These are interactive inputs that retrieve data from the system without altering any data. External Inquiries capture user requests for information from the system and the system's response in providing that information. </a:t>
            </a:r>
            <a:r>
              <a:rPr lang="en-US" dirty="0">
                <a:solidFill>
                  <a:srgbClr val="FF0000"/>
                </a:solidFill>
              </a:rPr>
              <a:t>Examples are search forms or queries.</a:t>
            </a:r>
          </a:p>
          <a:p>
            <a:pPr marL="457200" lvl="1" indent="0">
              <a:buNone/>
            </a:pPr>
            <a:endParaRPr lang="en-US" dirty="0"/>
          </a:p>
          <a:p>
            <a:pPr lvl="1"/>
            <a:r>
              <a:rPr lang="en-US" i="1" dirty="0"/>
              <a:t>External Interface files</a:t>
            </a:r>
            <a:r>
              <a:rPr lang="en-US" dirty="0"/>
              <a:t> – These are external data files accessed by the system but not maintained by it. E.g., machine-readable interfaces to other systems </a:t>
            </a:r>
          </a:p>
          <a:p>
            <a:pPr marL="457200" lvl="1" indent="0">
              <a:buNone/>
            </a:pPr>
            <a:endParaRPr lang="en-US" dirty="0"/>
          </a:p>
          <a:p>
            <a:pPr lvl="1"/>
            <a:r>
              <a:rPr lang="en-US" i="1" dirty="0"/>
              <a:t>Internal files</a:t>
            </a:r>
            <a:r>
              <a:rPr lang="en-US" dirty="0"/>
              <a:t> – The internal data maintained by the system, like database tables or files created and used within the application. Logical master files in the system </a:t>
            </a:r>
          </a:p>
          <a:p>
            <a:endParaRPr lang="en-US" dirty="0"/>
          </a:p>
        </p:txBody>
      </p:sp>
      <p:sp>
        <p:nvSpPr>
          <p:cNvPr id="6" name="Slide Number Placeholder 5"/>
          <p:cNvSpPr>
            <a:spLocks noGrp="1"/>
          </p:cNvSpPr>
          <p:nvPr>
            <p:ph type="sldNum" sz="quarter" idx="12"/>
          </p:nvPr>
        </p:nvSpPr>
        <p:spPr/>
        <p:txBody>
          <a:bodyPr/>
          <a:lstStyle/>
          <a:p>
            <a:fld id="{74F497F7-B014-4101-AB1B-49A97247E5B0}" type="slidenum">
              <a:rPr lang="en-US"/>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b="1" dirty="0"/>
              <a:t>Function Point Analysis (FPA)..</a:t>
            </a:r>
            <a:endParaRPr lang="en-US" dirty="0"/>
          </a:p>
        </p:txBody>
      </p:sp>
      <p:sp>
        <p:nvSpPr>
          <p:cNvPr id="21507" name="Rectangle 3"/>
          <p:cNvSpPr>
            <a:spLocks noGrp="1" noChangeArrowheads="1"/>
          </p:cNvSpPr>
          <p:nvPr>
            <p:ph idx="1"/>
          </p:nvPr>
        </p:nvSpPr>
        <p:spPr/>
        <p:txBody>
          <a:bodyPr/>
          <a:lstStyle/>
          <a:p>
            <a:r>
              <a:rPr lang="en-US" sz="2400" b="1" u="sng" dirty="0"/>
              <a:t>STEP 2</a:t>
            </a:r>
            <a:r>
              <a:rPr lang="en-US" sz="2400" b="1" dirty="0"/>
              <a:t>: </a:t>
            </a:r>
            <a:r>
              <a:rPr lang="en-US" sz="2400" dirty="0"/>
              <a:t>Multiply each number by a weight factor, according to the complexity (</a:t>
            </a:r>
            <a:r>
              <a:rPr lang="en-US" sz="2400" b="1" dirty="0"/>
              <a:t>simple</a:t>
            </a:r>
            <a:r>
              <a:rPr lang="en-US" sz="2400" dirty="0"/>
              <a:t>, </a:t>
            </a:r>
            <a:r>
              <a:rPr lang="en-US" sz="2400" b="1" dirty="0"/>
              <a:t>average</a:t>
            </a:r>
            <a:r>
              <a:rPr lang="en-US" sz="2400" dirty="0"/>
              <a:t> or </a:t>
            </a:r>
            <a:r>
              <a:rPr lang="en-US" sz="2400" b="1" dirty="0"/>
              <a:t>complex</a:t>
            </a:r>
            <a:r>
              <a:rPr lang="en-US" sz="2400" dirty="0"/>
              <a:t>) of the parameter, associated with that number and find the Unadjusted Function Point </a:t>
            </a:r>
            <a:r>
              <a:rPr lang="en-US" sz="2400" b="1" dirty="0"/>
              <a:t>(UFP</a:t>
            </a:r>
            <a:r>
              <a:rPr lang="en-US" sz="2400" dirty="0"/>
              <a:t>). The value is given by a table:</a:t>
            </a:r>
          </a:p>
        </p:txBody>
      </p:sp>
      <p:sp>
        <p:nvSpPr>
          <p:cNvPr id="7" name="Slide Number Placeholder 5"/>
          <p:cNvSpPr>
            <a:spLocks noGrp="1"/>
          </p:cNvSpPr>
          <p:nvPr>
            <p:ph type="sldNum" sz="quarter" idx="12"/>
          </p:nvPr>
        </p:nvSpPr>
        <p:spPr/>
        <p:txBody>
          <a:bodyPr/>
          <a:lstStyle/>
          <a:p>
            <a:fld id="{A1DE5DBE-78CD-40CF-91CC-9111D57D60C8}" type="slidenum">
              <a:rPr lang="en-US"/>
              <a:pPr/>
              <a:t>29</a:t>
            </a:fld>
            <a:endParaRPr lang="en-US"/>
          </a:p>
        </p:txBody>
      </p:sp>
      <p:graphicFrame>
        <p:nvGraphicFramePr>
          <p:cNvPr id="21508" name="Object 4"/>
          <p:cNvGraphicFramePr>
            <a:graphicFrameLocks noChangeAspect="1"/>
          </p:cNvGraphicFramePr>
          <p:nvPr/>
        </p:nvGraphicFramePr>
        <p:xfrm>
          <a:off x="2971800" y="3567114"/>
          <a:ext cx="6019800" cy="2643187"/>
        </p:xfrm>
        <a:graphic>
          <a:graphicData uri="http://schemas.openxmlformats.org/presentationml/2006/ole">
            <mc:AlternateContent xmlns:mc="http://schemas.openxmlformats.org/markup-compatibility/2006">
              <mc:Choice xmlns:v="urn:schemas-microsoft-com:vml" Requires="v">
                <p:oleObj spid="_x0000_s3181" name="Bitmap Image" r:id="rId3" imgW="4315427" imgH="1895238" progId="PBrush">
                  <p:embed/>
                </p:oleObj>
              </mc:Choice>
              <mc:Fallback>
                <p:oleObj name="Bitmap Image" r:id="rId3" imgW="4315427" imgH="1895238"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3567114"/>
                        <a:ext cx="6019800" cy="264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b="1" dirty="0"/>
              <a:t>Function Point Analysis (FPA)..</a:t>
            </a:r>
            <a:endParaRPr lang="en-US" dirty="0"/>
          </a:p>
        </p:txBody>
      </p:sp>
      <p:sp>
        <p:nvSpPr>
          <p:cNvPr id="22531" name="Rectangle 3"/>
          <p:cNvSpPr>
            <a:spLocks noGrp="1" noChangeArrowheads="1"/>
          </p:cNvSpPr>
          <p:nvPr>
            <p:ph idx="1"/>
          </p:nvPr>
        </p:nvSpPr>
        <p:spPr/>
        <p:txBody>
          <a:bodyPr/>
          <a:lstStyle/>
          <a:p>
            <a:r>
              <a:rPr lang="en-US" sz="2400" b="1" u="sng" dirty="0"/>
              <a:t>STEP 3</a:t>
            </a:r>
            <a:r>
              <a:rPr lang="en-US" sz="2400" b="1" dirty="0"/>
              <a:t>: </a:t>
            </a:r>
            <a:r>
              <a:rPr lang="en-US" sz="2400" dirty="0"/>
              <a:t>Find </a:t>
            </a:r>
            <a:r>
              <a:rPr lang="en-US" sz="2400" b="1" dirty="0"/>
              <a:t>DI</a:t>
            </a:r>
            <a:r>
              <a:rPr lang="en-US" sz="2400" dirty="0"/>
              <a:t> (Degree of Influence) using the </a:t>
            </a:r>
            <a:r>
              <a:rPr lang="en-US" sz="2400" b="1" dirty="0"/>
              <a:t>TCF </a:t>
            </a:r>
            <a:r>
              <a:rPr lang="en-US" sz="2400" dirty="0"/>
              <a:t>table</a:t>
            </a:r>
            <a:r>
              <a:rPr lang="en-US" sz="2400" b="1" dirty="0"/>
              <a:t> </a:t>
            </a:r>
            <a:r>
              <a:rPr lang="en-US" sz="2000" i="1" dirty="0"/>
              <a:t>(a separate table)</a:t>
            </a:r>
          </a:p>
          <a:p>
            <a:endParaRPr lang="en-US" sz="2000" i="1" dirty="0"/>
          </a:p>
          <a:p>
            <a:r>
              <a:rPr lang="en-US" sz="2400" b="1" u="sng" dirty="0"/>
              <a:t>STEP 4</a:t>
            </a:r>
            <a:r>
              <a:rPr lang="en-US" sz="2400" b="1" dirty="0"/>
              <a:t>:</a:t>
            </a:r>
            <a:r>
              <a:rPr lang="en-US" sz="2400" dirty="0"/>
              <a:t> Final </a:t>
            </a:r>
            <a:r>
              <a:rPr lang="en-US" sz="2400" b="1" dirty="0"/>
              <a:t>TCF</a:t>
            </a:r>
            <a:r>
              <a:rPr lang="en-US" sz="2400" dirty="0"/>
              <a:t> (Technical Complexity Factor) given by  the formula</a:t>
            </a:r>
          </a:p>
          <a:p>
            <a:pPr lvl="1"/>
            <a:r>
              <a:rPr lang="en-US" b="1" i="1" dirty="0"/>
              <a:t>TCF=0.65+0.01*DI</a:t>
            </a:r>
          </a:p>
          <a:p>
            <a:pPr lvl="1"/>
            <a:endParaRPr lang="en-US" b="1" i="1" dirty="0"/>
          </a:p>
          <a:p>
            <a:r>
              <a:rPr lang="en-US" sz="2400" b="1" u="sng" dirty="0"/>
              <a:t>STEP 5</a:t>
            </a:r>
            <a:r>
              <a:rPr lang="en-US" sz="2400" b="1" dirty="0"/>
              <a:t>: </a:t>
            </a:r>
            <a:r>
              <a:rPr lang="en-US" sz="2400" dirty="0"/>
              <a:t>Function Points are given by  the formula</a:t>
            </a:r>
          </a:p>
          <a:p>
            <a:pPr lvl="1"/>
            <a:r>
              <a:rPr lang="en-US" b="1" i="1" dirty="0"/>
              <a:t>FP=UFP*TCF</a:t>
            </a:r>
            <a:endParaRPr lang="en-US" dirty="0"/>
          </a:p>
        </p:txBody>
      </p:sp>
      <p:sp>
        <p:nvSpPr>
          <p:cNvPr id="6" name="Slide Number Placeholder 5"/>
          <p:cNvSpPr>
            <a:spLocks noGrp="1"/>
          </p:cNvSpPr>
          <p:nvPr>
            <p:ph type="sldNum" sz="quarter" idx="12"/>
          </p:nvPr>
        </p:nvSpPr>
        <p:spPr/>
        <p:txBody>
          <a:bodyPr/>
          <a:lstStyle/>
          <a:p>
            <a:fld id="{7768A1FB-52FC-466B-A6C7-088F59E03893}" type="slidenum">
              <a:rPr lang="en-US"/>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6AE7CB05-7AEF-48CC-8402-984FB51DE89F}" type="slidenum">
              <a:rPr lang="en-US"/>
              <a:pPr/>
              <a:t>31</a:t>
            </a:fld>
            <a:endParaRPr lang="en-US"/>
          </a:p>
        </p:txBody>
      </p:sp>
      <p:graphicFrame>
        <p:nvGraphicFramePr>
          <p:cNvPr id="26628" name="Object 4"/>
          <p:cNvGraphicFramePr>
            <a:graphicFrameLocks noChangeAspect="1"/>
          </p:cNvGraphicFramePr>
          <p:nvPr>
            <p:extLst>
              <p:ext uri="{D42A27DB-BD31-4B8C-83A1-F6EECF244321}">
                <p14:modId xmlns:p14="http://schemas.microsoft.com/office/powerpoint/2010/main" val="1542605164"/>
              </p:ext>
            </p:extLst>
          </p:nvPr>
        </p:nvGraphicFramePr>
        <p:xfrm>
          <a:off x="1219200" y="652653"/>
          <a:ext cx="9372600" cy="5904681"/>
        </p:xfrm>
        <a:graphic>
          <a:graphicData uri="http://schemas.openxmlformats.org/presentationml/2006/ole">
            <mc:AlternateContent xmlns:mc="http://schemas.openxmlformats.org/markup-compatibility/2006">
              <mc:Choice xmlns:v="urn:schemas-microsoft-com:vml" Requires="v">
                <p:oleObj spid="_x0000_s4205" name="Bitmap Image" r:id="rId3" imgW="5401429" imgH="3610479" progId="PBrush">
                  <p:embed/>
                </p:oleObj>
              </mc:Choice>
              <mc:Fallback>
                <p:oleObj name="Bitmap Image" r:id="rId3" imgW="5401429" imgH="3610479"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652653"/>
                        <a:ext cx="9372600" cy="5904681"/>
                      </a:xfrm>
                      <a:prstGeom prst="rect">
                        <a:avLst/>
                      </a:prstGeom>
                      <a:noFill/>
                      <a:ln>
                        <a:noFill/>
                      </a:ln>
                      <a:effectLs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Example (.)</a:t>
            </a:r>
          </a:p>
        </p:txBody>
      </p:sp>
      <p:sp>
        <p:nvSpPr>
          <p:cNvPr id="7" name="Slide Number Placeholder 5"/>
          <p:cNvSpPr>
            <a:spLocks noGrp="1"/>
          </p:cNvSpPr>
          <p:nvPr>
            <p:ph type="sldNum" sz="quarter" idx="12"/>
          </p:nvPr>
        </p:nvSpPr>
        <p:spPr/>
        <p:txBody>
          <a:bodyPr/>
          <a:lstStyle/>
          <a:p>
            <a:fld id="{C11CBD08-B668-4DC1-AB80-144ACA75C57B}" type="slidenum">
              <a:rPr lang="en-US"/>
              <a:pPr/>
              <a:t>32</a:t>
            </a:fld>
            <a:endParaRPr lang="en-US"/>
          </a:p>
        </p:txBody>
      </p:sp>
      <p:graphicFrame>
        <p:nvGraphicFramePr>
          <p:cNvPr id="27652" name="Object 4"/>
          <p:cNvGraphicFramePr>
            <a:graphicFrameLocks noChangeAspect="1"/>
          </p:cNvGraphicFramePr>
          <p:nvPr/>
        </p:nvGraphicFramePr>
        <p:xfrm>
          <a:off x="2133600" y="1676401"/>
          <a:ext cx="7924800" cy="4340225"/>
        </p:xfrm>
        <a:graphic>
          <a:graphicData uri="http://schemas.openxmlformats.org/presentationml/2006/ole">
            <mc:AlternateContent xmlns:mc="http://schemas.openxmlformats.org/markup-compatibility/2006">
              <mc:Choice xmlns:v="urn:schemas-microsoft-com:vml" Requires="v">
                <p:oleObj spid="_x0000_s5229" name="Bitmap Image" r:id="rId3" imgW="5095238" imgH="2790476" progId="PBrush">
                  <p:embed/>
                </p:oleObj>
              </mc:Choice>
              <mc:Fallback>
                <p:oleObj name="Bitmap Image" r:id="rId3" imgW="5095238" imgH="2790476"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676401"/>
                        <a:ext cx="7924800"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t>Example  (..)</a:t>
            </a:r>
          </a:p>
        </p:txBody>
      </p:sp>
      <p:sp>
        <p:nvSpPr>
          <p:cNvPr id="29701" name="Rectangle 5"/>
          <p:cNvSpPr>
            <a:spLocks noGrp="1" noChangeArrowheads="1"/>
          </p:cNvSpPr>
          <p:nvPr>
            <p:ph sz="half" idx="1"/>
          </p:nvPr>
        </p:nvSpPr>
        <p:spPr>
          <a:xfrm>
            <a:off x="2239945" y="1600200"/>
            <a:ext cx="7772400" cy="4114800"/>
          </a:xfrm>
          <a:noFill/>
          <a:ln/>
        </p:spPr>
        <p:txBody>
          <a:bodyPr>
            <a:normAutofit lnSpcReduction="10000"/>
          </a:bodyPr>
          <a:lstStyle/>
          <a:p>
            <a:pPr marL="914400" lvl="2" indent="0">
              <a:buNone/>
            </a:pPr>
            <a:r>
              <a:rPr lang="en-US" b="1" u="sng" dirty="0">
                <a:latin typeface="Arial" charset="0"/>
              </a:rPr>
              <a:t>Technical Complexity Factors for Function Points: (0-5)</a:t>
            </a:r>
            <a:endParaRPr lang="en-US" sz="2400" b="1" u="sng" dirty="0">
              <a:latin typeface="Arial" charset="0"/>
            </a:endParaRPr>
          </a:p>
          <a:p>
            <a:pPr lvl="3"/>
            <a:r>
              <a:rPr lang="en-US" sz="1400" b="1" dirty="0">
                <a:latin typeface="Arial" charset="0"/>
                <a:cs typeface="Times New Roman" pitchFamily="18" charset="0"/>
              </a:rPr>
              <a:t>1.		</a:t>
            </a:r>
            <a:r>
              <a:rPr lang="en-US" sz="1400" b="1" dirty="0">
                <a:latin typeface="Arial" charset="0"/>
              </a:rPr>
              <a:t>Data Communication		3</a:t>
            </a:r>
          </a:p>
          <a:p>
            <a:pPr lvl="3"/>
            <a:r>
              <a:rPr lang="en-US" sz="1400" b="1" dirty="0">
                <a:latin typeface="Arial" charset="0"/>
                <a:cs typeface="Times New Roman" pitchFamily="18" charset="0"/>
              </a:rPr>
              <a:t>2.		</a:t>
            </a:r>
            <a:r>
              <a:rPr lang="en-US" sz="1400" b="1" dirty="0">
                <a:latin typeface="Arial" charset="0"/>
              </a:rPr>
              <a:t>Distributed Data Processing	0</a:t>
            </a:r>
          </a:p>
          <a:p>
            <a:pPr lvl="3"/>
            <a:r>
              <a:rPr lang="en-US" sz="1400" b="1" dirty="0">
                <a:latin typeface="Arial" charset="0"/>
                <a:cs typeface="Times New Roman" pitchFamily="18" charset="0"/>
              </a:rPr>
              <a:t>3.		</a:t>
            </a:r>
            <a:r>
              <a:rPr lang="en-US" sz="1400" b="1" dirty="0">
                <a:latin typeface="Arial" charset="0"/>
              </a:rPr>
              <a:t>Performance Criteria		4</a:t>
            </a:r>
          </a:p>
          <a:p>
            <a:pPr lvl="3"/>
            <a:r>
              <a:rPr lang="en-US" sz="1400" b="1" dirty="0">
                <a:latin typeface="Arial" charset="0"/>
                <a:cs typeface="Times New Roman" pitchFamily="18" charset="0"/>
              </a:rPr>
              <a:t>4.		</a:t>
            </a:r>
            <a:r>
              <a:rPr lang="en-US" sz="1400" b="1" dirty="0">
                <a:latin typeface="Arial" charset="0"/>
              </a:rPr>
              <a:t>Heavily Utilized Hardware	0</a:t>
            </a:r>
          </a:p>
          <a:p>
            <a:pPr lvl="3"/>
            <a:r>
              <a:rPr lang="en-US" sz="1400" b="1" dirty="0">
                <a:latin typeface="Arial" charset="0"/>
                <a:cs typeface="Times New Roman" pitchFamily="18" charset="0"/>
              </a:rPr>
              <a:t>5.		</a:t>
            </a:r>
            <a:r>
              <a:rPr lang="en-US" sz="1400" b="1" dirty="0">
                <a:latin typeface="Arial" charset="0"/>
              </a:rPr>
              <a:t>High Transaction Rates	3</a:t>
            </a:r>
          </a:p>
          <a:p>
            <a:pPr lvl="3"/>
            <a:r>
              <a:rPr lang="en-US" sz="1400" b="1" dirty="0">
                <a:latin typeface="Arial" charset="0"/>
                <a:cs typeface="Times New Roman" pitchFamily="18" charset="0"/>
              </a:rPr>
              <a:t>6.		</a:t>
            </a:r>
            <a:r>
              <a:rPr lang="en-US" sz="1400" b="1" dirty="0">
                <a:latin typeface="Arial" charset="0"/>
              </a:rPr>
              <a:t>Online Data Entry		3</a:t>
            </a:r>
          </a:p>
          <a:p>
            <a:pPr lvl="3"/>
            <a:r>
              <a:rPr lang="en-US" sz="1400" b="1" dirty="0">
                <a:latin typeface="Arial" charset="0"/>
                <a:cs typeface="Times New Roman" pitchFamily="18" charset="0"/>
              </a:rPr>
              <a:t>7.		</a:t>
            </a:r>
            <a:r>
              <a:rPr lang="en-US" sz="1400" b="1" dirty="0">
                <a:latin typeface="Arial" charset="0"/>
              </a:rPr>
              <a:t>Online Updating		3</a:t>
            </a:r>
          </a:p>
          <a:p>
            <a:pPr lvl="3"/>
            <a:r>
              <a:rPr lang="en-US" sz="1400" b="1" dirty="0">
                <a:latin typeface="Arial" charset="0"/>
                <a:cs typeface="Times New Roman" pitchFamily="18" charset="0"/>
              </a:rPr>
              <a:t>8.		</a:t>
            </a:r>
            <a:r>
              <a:rPr lang="en-US" sz="1400" b="1" dirty="0">
                <a:latin typeface="Arial" charset="0"/>
              </a:rPr>
              <a:t>End-user Efficiency		3</a:t>
            </a:r>
          </a:p>
          <a:p>
            <a:pPr lvl="3"/>
            <a:r>
              <a:rPr lang="en-US" sz="1400" b="1" dirty="0">
                <a:latin typeface="Arial" charset="0"/>
                <a:cs typeface="Times New Roman" pitchFamily="18" charset="0"/>
              </a:rPr>
              <a:t>9.		</a:t>
            </a:r>
            <a:r>
              <a:rPr lang="en-US" sz="1400" b="1" dirty="0">
                <a:latin typeface="Arial" charset="0"/>
              </a:rPr>
              <a:t>Complex Computations	0</a:t>
            </a:r>
          </a:p>
          <a:p>
            <a:pPr lvl="3"/>
            <a:r>
              <a:rPr lang="en-US" sz="1400" b="1" dirty="0">
                <a:latin typeface="Arial" charset="0"/>
                <a:cs typeface="Times New Roman" pitchFamily="18" charset="0"/>
              </a:rPr>
              <a:t>10.	</a:t>
            </a:r>
            <a:r>
              <a:rPr lang="en-US" sz="1400" b="1" dirty="0">
                <a:latin typeface="Arial" charset="0"/>
              </a:rPr>
              <a:t>Reusability		2</a:t>
            </a:r>
          </a:p>
          <a:p>
            <a:pPr lvl="3"/>
            <a:r>
              <a:rPr lang="en-US" sz="1400" b="1" dirty="0">
                <a:latin typeface="Arial" charset="0"/>
                <a:cs typeface="Times New Roman" pitchFamily="18" charset="0"/>
              </a:rPr>
              <a:t>11.	</a:t>
            </a:r>
            <a:r>
              <a:rPr lang="en-US" sz="1400" b="1" dirty="0">
                <a:latin typeface="Arial" charset="0"/>
              </a:rPr>
              <a:t>Ease of Installation		3</a:t>
            </a:r>
          </a:p>
          <a:p>
            <a:pPr lvl="3"/>
            <a:r>
              <a:rPr lang="en-US" sz="1400" b="1" dirty="0">
                <a:latin typeface="Arial" charset="0"/>
                <a:cs typeface="Times New Roman" pitchFamily="18" charset="0"/>
              </a:rPr>
              <a:t>12.	</a:t>
            </a:r>
            <a:r>
              <a:rPr lang="en-US" sz="1400" b="1" dirty="0">
                <a:latin typeface="Arial" charset="0"/>
              </a:rPr>
              <a:t>Ease of Operation		4</a:t>
            </a:r>
          </a:p>
          <a:p>
            <a:pPr lvl="3"/>
            <a:r>
              <a:rPr lang="en-US" sz="1400" b="1" dirty="0">
                <a:latin typeface="Arial" charset="0"/>
                <a:cs typeface="Times New Roman" pitchFamily="18" charset="0"/>
              </a:rPr>
              <a:t>13.	</a:t>
            </a:r>
            <a:r>
              <a:rPr lang="en-US" sz="1400" b="1" dirty="0">
                <a:latin typeface="Arial" charset="0"/>
              </a:rPr>
              <a:t>Portability			0</a:t>
            </a:r>
          </a:p>
          <a:p>
            <a:pPr lvl="3"/>
            <a:r>
              <a:rPr lang="en-US" sz="1400" b="1" dirty="0">
                <a:latin typeface="Arial" charset="0"/>
                <a:cs typeface="Times New Roman" pitchFamily="18" charset="0"/>
              </a:rPr>
              <a:t>14.	</a:t>
            </a:r>
            <a:r>
              <a:rPr lang="en-US" sz="1400" b="1" dirty="0">
                <a:latin typeface="Arial" charset="0"/>
              </a:rPr>
              <a:t>Maintainability		3</a:t>
            </a:r>
          </a:p>
          <a:p>
            <a:pPr lvl="4"/>
            <a:r>
              <a:rPr lang="en-US" b="1" dirty="0"/>
              <a:t>DI =30	(Degree of Influence)</a:t>
            </a:r>
            <a:endParaRPr lang="en-US" dirty="0"/>
          </a:p>
        </p:txBody>
      </p:sp>
      <p:sp>
        <p:nvSpPr>
          <p:cNvPr id="6" name="Slide Number Placeholder 6"/>
          <p:cNvSpPr>
            <a:spLocks noGrp="1"/>
          </p:cNvSpPr>
          <p:nvPr>
            <p:ph type="sldNum" sz="quarter" idx="12"/>
          </p:nvPr>
        </p:nvSpPr>
        <p:spPr>
          <a:xfrm>
            <a:off x="8458200" y="6356350"/>
            <a:ext cx="2743200" cy="365125"/>
          </a:xfrm>
        </p:spPr>
        <p:txBody>
          <a:bodyPr/>
          <a:lstStyle/>
          <a:p>
            <a:fld id="{087FE4E4-8354-4EE5-8E67-A2E88B6A359D}" type="slidenum">
              <a:rPr lang="en-US"/>
              <a:pPr/>
              <a:t>33</a:t>
            </a:fld>
            <a:endParaRPr lang="en-US"/>
          </a:p>
        </p:txBody>
      </p:sp>
      <p:sp>
        <p:nvSpPr>
          <p:cNvPr id="2" name="Rectangle 1"/>
          <p:cNvSpPr/>
          <p:nvPr/>
        </p:nvSpPr>
        <p:spPr>
          <a:xfrm>
            <a:off x="838200" y="5638800"/>
            <a:ext cx="10744200" cy="646331"/>
          </a:xfrm>
          <a:prstGeom prst="rect">
            <a:avLst/>
          </a:prstGeom>
        </p:spPr>
        <p:txBody>
          <a:bodyPr wrap="square">
            <a:spAutoFit/>
          </a:bodyPr>
          <a:lstStyle/>
          <a:p>
            <a:r>
              <a:rPr lang="en-US" dirty="0"/>
              <a:t>https://www.tutorialspoint.com/software_quality_management/software_quality_management_albrechts_function_point_method.htm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Example (…)</a:t>
            </a:r>
          </a:p>
        </p:txBody>
      </p:sp>
      <p:sp>
        <p:nvSpPr>
          <p:cNvPr id="30723" name="Rectangle 3"/>
          <p:cNvSpPr>
            <a:spLocks noGrp="1" noChangeArrowheads="1"/>
          </p:cNvSpPr>
          <p:nvPr>
            <p:ph idx="1"/>
          </p:nvPr>
        </p:nvSpPr>
        <p:spPr/>
        <p:txBody>
          <a:bodyPr/>
          <a:lstStyle/>
          <a:p>
            <a:r>
              <a:rPr lang="en-US"/>
              <a:t>Function Points</a:t>
            </a:r>
          </a:p>
          <a:p>
            <a:pPr lvl="1"/>
            <a:r>
              <a:rPr lang="en-US"/>
              <a:t>FP=UFP*(0.65+0.01*DI)= 55*(0.65+0.01*30)=52.25</a:t>
            </a:r>
          </a:p>
          <a:p>
            <a:pPr lvl="1"/>
            <a:endParaRPr lang="en-US"/>
          </a:p>
          <a:p>
            <a:pPr lvl="1"/>
            <a:r>
              <a:rPr lang="en-US"/>
              <a:t>That means the is </a:t>
            </a:r>
            <a:r>
              <a:rPr lang="en-US" b="1"/>
              <a:t>FP=52.25</a:t>
            </a:r>
            <a:endParaRPr lang="en-US"/>
          </a:p>
        </p:txBody>
      </p:sp>
      <p:sp>
        <p:nvSpPr>
          <p:cNvPr id="6" name="Slide Number Placeholder 5"/>
          <p:cNvSpPr>
            <a:spLocks noGrp="1"/>
          </p:cNvSpPr>
          <p:nvPr>
            <p:ph type="sldNum" sz="quarter" idx="12"/>
          </p:nvPr>
        </p:nvSpPr>
        <p:spPr/>
        <p:txBody>
          <a:bodyPr/>
          <a:lstStyle/>
          <a:p>
            <a:fld id="{E0596799-4D17-4D68-82B9-B9E6C17FC0D1}" type="slidenum">
              <a:rPr lang="en-US"/>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Relation between LOC and FP</a:t>
            </a:r>
          </a:p>
        </p:txBody>
      </p:sp>
      <p:sp>
        <p:nvSpPr>
          <p:cNvPr id="35843" name="Rectangle 3"/>
          <p:cNvSpPr>
            <a:spLocks noGrp="1" noChangeArrowheads="1"/>
          </p:cNvSpPr>
          <p:nvPr>
            <p:ph idx="1"/>
          </p:nvPr>
        </p:nvSpPr>
        <p:spPr>
          <a:xfrm>
            <a:off x="1524000" y="1905000"/>
            <a:ext cx="4800600" cy="4114800"/>
          </a:xfrm>
        </p:spPr>
        <p:txBody>
          <a:bodyPr/>
          <a:lstStyle/>
          <a:p>
            <a:r>
              <a:rPr lang="en-US"/>
              <a:t>Relationship:</a:t>
            </a:r>
          </a:p>
          <a:p>
            <a:pPr>
              <a:buFontTx/>
              <a:buNone/>
            </a:pPr>
            <a:endParaRPr lang="en-US"/>
          </a:p>
          <a:p>
            <a:pPr lvl="1"/>
            <a:r>
              <a:rPr lang="en-CA" b="1" i="1">
                <a:solidFill>
                  <a:srgbClr val="000000"/>
                </a:solidFill>
                <a:latin typeface="Helvetica" pitchFamily="34" charset="0"/>
                <a:cs typeface="Times New Roman" pitchFamily="18" charset="0"/>
              </a:rPr>
              <a:t>LOC = Language Factor * FP </a:t>
            </a:r>
          </a:p>
          <a:p>
            <a:pPr lvl="1"/>
            <a:endParaRPr lang="en-CA">
              <a:solidFill>
                <a:srgbClr val="000000"/>
              </a:solidFill>
              <a:latin typeface="Helvetica" pitchFamily="34" charset="0"/>
              <a:cs typeface="Times New Roman" pitchFamily="18" charset="0"/>
            </a:endParaRPr>
          </a:p>
          <a:p>
            <a:pPr lvl="1"/>
            <a:r>
              <a:rPr lang="en-CA">
                <a:solidFill>
                  <a:srgbClr val="000000"/>
                </a:solidFill>
                <a:latin typeface="Helvetica" pitchFamily="34" charset="0"/>
                <a:cs typeface="Times New Roman" pitchFamily="18" charset="0"/>
              </a:rPr>
              <a:t>where</a:t>
            </a:r>
            <a:endParaRPr lang="en-US"/>
          </a:p>
          <a:p>
            <a:pPr lvl="2"/>
            <a:r>
              <a:rPr lang="en-US" b="1"/>
              <a:t>LOC</a:t>
            </a:r>
            <a:r>
              <a:rPr lang="en-US"/>
              <a:t> (Lines of Code)</a:t>
            </a:r>
          </a:p>
          <a:p>
            <a:pPr lvl="2"/>
            <a:r>
              <a:rPr lang="en-US" b="1"/>
              <a:t>FP</a:t>
            </a:r>
            <a:r>
              <a:rPr lang="en-US"/>
              <a:t> (Function Points)</a:t>
            </a:r>
          </a:p>
        </p:txBody>
      </p:sp>
      <p:sp>
        <p:nvSpPr>
          <p:cNvPr id="7" name="Slide Number Placeholder 5"/>
          <p:cNvSpPr>
            <a:spLocks noGrp="1"/>
          </p:cNvSpPr>
          <p:nvPr>
            <p:ph type="sldNum" sz="quarter" idx="12"/>
          </p:nvPr>
        </p:nvSpPr>
        <p:spPr/>
        <p:txBody>
          <a:bodyPr/>
          <a:lstStyle/>
          <a:p>
            <a:fld id="{5D4532A4-F656-47EC-BB1B-AA071DEAAE5D}" type="slidenum">
              <a:rPr lang="en-US"/>
              <a:pPr/>
              <a:t>35</a:t>
            </a:fld>
            <a:endParaRPr lang="en-US"/>
          </a:p>
        </p:txBody>
      </p:sp>
      <p:graphicFrame>
        <p:nvGraphicFramePr>
          <p:cNvPr id="35844" name="Object 4"/>
          <p:cNvGraphicFramePr>
            <a:graphicFrameLocks noChangeAspect="1"/>
          </p:cNvGraphicFramePr>
          <p:nvPr/>
        </p:nvGraphicFramePr>
        <p:xfrm>
          <a:off x="6262688" y="1981200"/>
          <a:ext cx="4405312" cy="3494088"/>
        </p:xfrm>
        <a:graphic>
          <a:graphicData uri="http://schemas.openxmlformats.org/presentationml/2006/ole">
            <mc:AlternateContent xmlns:mc="http://schemas.openxmlformats.org/markup-compatibility/2006">
              <mc:Choice xmlns:v="urn:schemas-microsoft-com:vml" Requires="v">
                <p:oleObj spid="_x0000_s6253" name="Bitmap Image" r:id="rId3" imgW="5152381" imgH="4086795" progId="PBrush">
                  <p:embed/>
                </p:oleObj>
              </mc:Choice>
              <mc:Fallback>
                <p:oleObj name="Bitmap Image" r:id="rId3" imgW="5152381" imgH="4086795"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2688" y="1981200"/>
                        <a:ext cx="4405312" cy="349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Relation between LOC and FP(.)</a:t>
            </a:r>
          </a:p>
        </p:txBody>
      </p:sp>
      <p:sp>
        <p:nvSpPr>
          <p:cNvPr id="36867" name="Rectangle 3"/>
          <p:cNvSpPr>
            <a:spLocks noGrp="1" noChangeArrowheads="1"/>
          </p:cNvSpPr>
          <p:nvPr>
            <p:ph idx="1"/>
          </p:nvPr>
        </p:nvSpPr>
        <p:spPr>
          <a:xfrm>
            <a:off x="2057400" y="1905000"/>
            <a:ext cx="7620000" cy="4114800"/>
          </a:xfrm>
        </p:spPr>
        <p:txBody>
          <a:bodyPr>
            <a:normAutofit/>
          </a:bodyPr>
          <a:lstStyle/>
          <a:p>
            <a:pPr marL="533400" indent="-533400">
              <a:buNone/>
            </a:pPr>
            <a:r>
              <a:rPr lang="en-US" sz="2400">
                <a:cs typeface="Arial" charset="0"/>
              </a:rPr>
              <a:t>Assuming LOC’s per FP for: </a:t>
            </a:r>
          </a:p>
          <a:p>
            <a:pPr marL="533400" indent="-533400">
              <a:buNone/>
            </a:pPr>
            <a:r>
              <a:rPr lang="en-US" sz="2400" b="1" i="1">
                <a:latin typeface="Arial" charset="0"/>
                <a:cs typeface="Arial" charset="0"/>
              </a:rPr>
              <a:t>	Java = 53</a:t>
            </a:r>
            <a:r>
              <a:rPr lang="en-US" sz="2400" i="1">
                <a:latin typeface="Arial" charset="0"/>
                <a:cs typeface="Arial" charset="0"/>
              </a:rPr>
              <a:t>, </a:t>
            </a:r>
          </a:p>
          <a:p>
            <a:pPr marL="533400" indent="-533400">
              <a:buNone/>
            </a:pPr>
            <a:r>
              <a:rPr lang="en-US" sz="2400" b="1" i="1">
                <a:latin typeface="Arial" charset="0"/>
                <a:cs typeface="Arial" charset="0"/>
              </a:rPr>
              <a:t>	C++ = 64</a:t>
            </a:r>
            <a:endParaRPr lang="en-US" sz="2400"/>
          </a:p>
          <a:p>
            <a:pPr marL="533400" indent="-533400">
              <a:buNone/>
            </a:pPr>
            <a:r>
              <a:rPr lang="en-CA" sz="2400" b="1">
                <a:latin typeface="Arial" charset="0"/>
                <a:cs typeface="Arial" charset="0"/>
              </a:rPr>
              <a:t> </a:t>
            </a:r>
            <a:endParaRPr lang="en-CA" sz="2400">
              <a:latin typeface="Arial Unicode MS" pitchFamily="34" charset="-128"/>
              <a:cs typeface="Times New Roman" pitchFamily="18" charset="0"/>
            </a:endParaRPr>
          </a:p>
          <a:p>
            <a:pPr marL="533400" indent="-533400">
              <a:buNone/>
            </a:pPr>
            <a:r>
              <a:rPr lang="en-CA" sz="2400" b="1" i="1">
                <a:latin typeface="Arial" charset="0"/>
                <a:cs typeface="Arial" charset="0"/>
              </a:rPr>
              <a:t>	aKLOC = FP * LOC_per_FP  / 1000</a:t>
            </a:r>
          </a:p>
          <a:p>
            <a:pPr marL="533400" indent="-533400">
              <a:buNone/>
            </a:pPr>
            <a:endParaRPr lang="en-CA" sz="2400" b="1" i="1">
              <a:latin typeface="Arial" charset="0"/>
              <a:cs typeface="Arial" charset="0"/>
            </a:endParaRPr>
          </a:p>
          <a:p>
            <a:pPr marL="533400" indent="-533400">
              <a:buNone/>
            </a:pPr>
            <a:r>
              <a:rPr lang="en-CA" sz="2400">
                <a:cs typeface="Arial" charset="0"/>
              </a:rPr>
              <a:t>It means for the SpellChekcer Example: (Java)</a:t>
            </a:r>
          </a:p>
          <a:p>
            <a:pPr marL="533400" indent="-533400">
              <a:buNone/>
            </a:pPr>
            <a:endParaRPr lang="en-CA" sz="2400">
              <a:cs typeface="Arial" charset="0"/>
            </a:endParaRPr>
          </a:p>
          <a:p>
            <a:pPr marL="533400" indent="-533400">
              <a:buNone/>
            </a:pPr>
            <a:r>
              <a:rPr lang="en-CA" sz="2400" b="1">
                <a:latin typeface="Arial" charset="0"/>
                <a:cs typeface="Arial" charset="0"/>
              </a:rPr>
              <a:t>	LOC=52.25*53=2769.25 LOC  or 2.76 KLOC</a:t>
            </a:r>
          </a:p>
        </p:txBody>
      </p:sp>
      <p:sp>
        <p:nvSpPr>
          <p:cNvPr id="6" name="Slide Number Placeholder 5"/>
          <p:cNvSpPr>
            <a:spLocks noGrp="1"/>
          </p:cNvSpPr>
          <p:nvPr>
            <p:ph type="sldNum" sz="quarter" idx="12"/>
          </p:nvPr>
        </p:nvSpPr>
        <p:spPr/>
        <p:txBody>
          <a:bodyPr/>
          <a:lstStyle/>
          <a:p>
            <a:fld id="{94C7D89D-6A43-433C-9B05-85C5542462EC}" type="slidenum">
              <a:rPr lang="en-US"/>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Effort Computation</a:t>
            </a:r>
          </a:p>
        </p:txBody>
      </p:sp>
      <p:sp>
        <p:nvSpPr>
          <p:cNvPr id="37891" name="Rectangle 3"/>
          <p:cNvSpPr>
            <a:spLocks noGrp="1" noChangeArrowheads="1"/>
          </p:cNvSpPr>
          <p:nvPr>
            <p:ph idx="1"/>
          </p:nvPr>
        </p:nvSpPr>
        <p:spPr/>
        <p:txBody>
          <a:bodyPr/>
          <a:lstStyle/>
          <a:p>
            <a:r>
              <a:rPr lang="en-US" sz="2400"/>
              <a:t>The </a:t>
            </a:r>
            <a:r>
              <a:rPr lang="en-US" sz="2400" b="1">
                <a:solidFill>
                  <a:srgbClr val="FF0000"/>
                </a:solidFill>
              </a:rPr>
              <a:t>Basic COCOMO model</a:t>
            </a:r>
            <a:r>
              <a:rPr lang="en-US" sz="2400"/>
              <a:t> computes effort as a function of program size. The Basic COCOMO equation is:</a:t>
            </a:r>
            <a:endParaRPr lang="en-US" b="1" i="1"/>
          </a:p>
          <a:p>
            <a:pPr lvl="1"/>
            <a:r>
              <a:rPr lang="en-US" b="1" i="1"/>
              <a:t>E = aKLOC^b</a:t>
            </a:r>
          </a:p>
          <a:p>
            <a:r>
              <a:rPr lang="en-US" sz="2400"/>
              <a:t>Effort for three modes of Basic COCOMO.</a:t>
            </a:r>
            <a:r>
              <a:rPr lang="en-US" sz="2400" b="1" i="1"/>
              <a:t> </a:t>
            </a:r>
          </a:p>
          <a:p>
            <a:endParaRPr lang="en-US" sz="2400" b="1"/>
          </a:p>
          <a:p>
            <a:endParaRPr lang="en-US" b="1"/>
          </a:p>
        </p:txBody>
      </p:sp>
      <p:sp>
        <p:nvSpPr>
          <p:cNvPr id="28" name="Slide Number Placeholder 5"/>
          <p:cNvSpPr>
            <a:spLocks noGrp="1"/>
          </p:cNvSpPr>
          <p:nvPr>
            <p:ph type="sldNum" sz="quarter" idx="12"/>
          </p:nvPr>
        </p:nvSpPr>
        <p:spPr/>
        <p:txBody>
          <a:bodyPr/>
          <a:lstStyle/>
          <a:p>
            <a:fld id="{C515F8B7-52F7-4144-961A-1CE4CA9F362D}" type="slidenum">
              <a:rPr lang="en-US"/>
              <a:pPr/>
              <a:t>37</a:t>
            </a:fld>
            <a:endParaRPr lang="en-US"/>
          </a:p>
        </p:txBody>
      </p:sp>
      <p:graphicFrame>
        <p:nvGraphicFramePr>
          <p:cNvPr id="37915" name="Group 27"/>
          <p:cNvGraphicFramePr>
            <a:graphicFrameLocks noGrp="1"/>
          </p:cNvGraphicFramePr>
          <p:nvPr/>
        </p:nvGraphicFramePr>
        <p:xfrm>
          <a:off x="3581400" y="4114801"/>
          <a:ext cx="4419600" cy="2133537"/>
        </p:xfrm>
        <a:graphic>
          <a:graphicData uri="http://schemas.openxmlformats.org/drawingml/2006/table">
            <a:tbl>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304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Mode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 b</a:t>
                      </a: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2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Organic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Semi-detached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Embedded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Example</a:t>
            </a:r>
          </a:p>
        </p:txBody>
      </p:sp>
      <p:sp>
        <p:nvSpPr>
          <p:cNvPr id="7" name="Slide Number Placeholder 5"/>
          <p:cNvSpPr>
            <a:spLocks noGrp="1"/>
          </p:cNvSpPr>
          <p:nvPr>
            <p:ph type="sldNum" sz="quarter" idx="12"/>
          </p:nvPr>
        </p:nvSpPr>
        <p:spPr/>
        <p:txBody>
          <a:bodyPr/>
          <a:lstStyle/>
          <a:p>
            <a:fld id="{70C6D1FF-C099-48EC-82A3-935475A03D53}" type="slidenum">
              <a:rPr lang="en-US"/>
              <a:pPr/>
              <a:t>38</a:t>
            </a:fld>
            <a:endParaRPr lang="en-US"/>
          </a:p>
        </p:txBody>
      </p:sp>
      <p:pic>
        <p:nvPicPr>
          <p:cNvPr id="45061" name="Picture 5" descr="CostEffort10"/>
          <p:cNvPicPr>
            <a:picLocks noChangeAspect="1" noChangeArrowheads="1"/>
          </p:cNvPicPr>
          <p:nvPr/>
        </p:nvPicPr>
        <p:blipFill>
          <a:blip r:embed="rId3" cstate="print"/>
          <a:srcRect/>
          <a:stretch>
            <a:fillRect/>
          </a:stretch>
        </p:blipFill>
        <p:spPr bwMode="auto">
          <a:xfrm>
            <a:off x="2590800" y="1690688"/>
            <a:ext cx="5105400" cy="1844779"/>
          </a:xfrm>
          <a:prstGeom prst="rect">
            <a:avLst/>
          </a:prstGeom>
          <a:noFill/>
        </p:spPr>
      </p:pic>
      <p:graphicFrame>
        <p:nvGraphicFramePr>
          <p:cNvPr id="45062" name="Object 6"/>
          <p:cNvGraphicFramePr>
            <a:graphicFrameLocks noChangeAspect="1"/>
          </p:cNvGraphicFramePr>
          <p:nvPr>
            <p:extLst>
              <p:ext uri="{D42A27DB-BD31-4B8C-83A1-F6EECF244321}">
                <p14:modId xmlns:p14="http://schemas.microsoft.com/office/powerpoint/2010/main" val="3365068499"/>
              </p:ext>
            </p:extLst>
          </p:nvPr>
        </p:nvGraphicFramePr>
        <p:xfrm>
          <a:off x="3048000" y="3733799"/>
          <a:ext cx="6019800" cy="2104143"/>
        </p:xfrm>
        <a:graphic>
          <a:graphicData uri="http://schemas.openxmlformats.org/presentationml/2006/ole">
            <mc:AlternateContent xmlns:mc="http://schemas.openxmlformats.org/markup-compatibility/2006">
              <mc:Choice xmlns:v="urn:schemas-microsoft-com:vml" Requires="v">
                <p:oleObj spid="_x0000_s7277" name="Bitmap Image" r:id="rId4" imgW="3161905" imgH="1104762" progId="PBrush">
                  <p:embed/>
                </p:oleObj>
              </mc:Choice>
              <mc:Fallback>
                <p:oleObj name="Bitmap Image" r:id="rId4" imgW="3161905" imgH="1104762" progId="PBrush">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3733799"/>
                        <a:ext cx="6019800" cy="2104143"/>
                      </a:xfrm>
                      <a:prstGeom prst="rect">
                        <a:avLst/>
                      </a:prstGeom>
                      <a:noFill/>
                      <a:ln>
                        <a:noFill/>
                      </a:ln>
                      <a:effectLs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Effort Computation</a:t>
            </a:r>
          </a:p>
        </p:txBody>
      </p:sp>
      <p:sp>
        <p:nvSpPr>
          <p:cNvPr id="40963" name="Rectangle 3"/>
          <p:cNvSpPr>
            <a:spLocks noGrp="1" noChangeArrowheads="1"/>
          </p:cNvSpPr>
          <p:nvPr>
            <p:ph idx="1"/>
          </p:nvPr>
        </p:nvSpPr>
        <p:spPr/>
        <p:txBody>
          <a:bodyPr/>
          <a:lstStyle/>
          <a:p>
            <a:r>
              <a:rPr lang="en-US" sz="2400"/>
              <a:t>The </a:t>
            </a:r>
            <a:r>
              <a:rPr lang="en-US" sz="2400" b="1">
                <a:solidFill>
                  <a:srgbClr val="FF0000"/>
                </a:solidFill>
              </a:rPr>
              <a:t>intermediate COCOMO model</a:t>
            </a:r>
            <a:r>
              <a:rPr lang="en-US" sz="2400"/>
              <a:t> computes effort as a function of program size and a set of cost drivers. The Intermediate COCOMO equation is:</a:t>
            </a:r>
            <a:endParaRPr lang="en-US" b="1" i="1"/>
          </a:p>
          <a:p>
            <a:pPr lvl="1"/>
            <a:r>
              <a:rPr lang="en-US" b="1" i="1"/>
              <a:t>E = aKLOC^b*EAF</a:t>
            </a:r>
          </a:p>
          <a:p>
            <a:r>
              <a:rPr lang="en-US" sz="2400"/>
              <a:t>Effort for three modes of intermediate COCOMO.</a:t>
            </a:r>
            <a:r>
              <a:rPr lang="en-US" sz="2400" b="1" i="1"/>
              <a:t> </a:t>
            </a:r>
          </a:p>
          <a:p>
            <a:endParaRPr lang="en-US" sz="2400" b="1"/>
          </a:p>
          <a:p>
            <a:endParaRPr lang="en-US" b="1"/>
          </a:p>
        </p:txBody>
      </p:sp>
      <p:sp>
        <p:nvSpPr>
          <p:cNvPr id="28" name="Slide Number Placeholder 5"/>
          <p:cNvSpPr>
            <a:spLocks noGrp="1"/>
          </p:cNvSpPr>
          <p:nvPr>
            <p:ph type="sldNum" sz="quarter" idx="12"/>
          </p:nvPr>
        </p:nvSpPr>
        <p:spPr/>
        <p:txBody>
          <a:bodyPr/>
          <a:lstStyle/>
          <a:p>
            <a:fld id="{E7516DA1-7539-4876-B2F0-A37B1A3A4752}" type="slidenum">
              <a:rPr lang="en-US"/>
              <a:pPr/>
              <a:t>39</a:t>
            </a:fld>
            <a:endParaRPr lang="en-US"/>
          </a:p>
        </p:txBody>
      </p:sp>
      <p:graphicFrame>
        <p:nvGraphicFramePr>
          <p:cNvPr id="40964" name="Group 4"/>
          <p:cNvGraphicFramePr>
            <a:graphicFrameLocks noGrp="1"/>
          </p:cNvGraphicFramePr>
          <p:nvPr/>
        </p:nvGraphicFramePr>
        <p:xfrm>
          <a:off x="4343400" y="4191001"/>
          <a:ext cx="4419600" cy="2133537"/>
        </p:xfrm>
        <a:graphic>
          <a:graphicData uri="http://schemas.openxmlformats.org/drawingml/2006/table">
            <a:tbl>
              <a:tblPr/>
              <a:tblGrid>
                <a:gridCol w="1473200">
                  <a:extLst>
                    <a:ext uri="{9D8B030D-6E8A-4147-A177-3AD203B41FA5}">
                      <a16:colId xmlns:a16="http://schemas.microsoft.com/office/drawing/2014/main" val="20000"/>
                    </a:ext>
                  </a:extLst>
                </a:gridCol>
                <a:gridCol w="1473200">
                  <a:extLst>
                    <a:ext uri="{9D8B030D-6E8A-4147-A177-3AD203B41FA5}">
                      <a16:colId xmlns:a16="http://schemas.microsoft.com/office/drawing/2014/main" val="20001"/>
                    </a:ext>
                  </a:extLst>
                </a:gridCol>
                <a:gridCol w="1473200">
                  <a:extLst>
                    <a:ext uri="{9D8B030D-6E8A-4147-A177-3AD203B41FA5}">
                      <a16:colId xmlns:a16="http://schemas.microsoft.com/office/drawing/2014/main" val="20002"/>
                    </a:ext>
                  </a:extLst>
                </a:gridCol>
              </a:tblGrid>
              <a:tr h="304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Mode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 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a:ln>
                            <a:noFill/>
                          </a:ln>
                          <a:solidFill>
                            <a:schemeClr val="tx1"/>
                          </a:solidFill>
                          <a:effectLst/>
                          <a:latin typeface="Times New Roman" pitchFamily="18" charset="0"/>
                        </a:rPr>
                        <a:t> b</a:t>
                      </a:r>
                    </a:p>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18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2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Organic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1.05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6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Semi-detached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1800" b="0" i="1" u="none" strike="noStrike" cap="none" normalizeH="0" baseline="0">
                          <a:ln>
                            <a:noFill/>
                          </a:ln>
                          <a:solidFill>
                            <a:schemeClr val="tx1"/>
                          </a:solidFill>
                          <a:effectLst/>
                          <a:latin typeface="Times New Roman" pitchFamily="18" charset="0"/>
                        </a:rPr>
                        <a:t>Embedded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2.8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0" i="0" u="none" strike="noStrike" cap="none" normalizeH="0" baseline="0">
                          <a:ln>
                            <a:noFill/>
                          </a:ln>
                          <a:solidFill>
                            <a:schemeClr val="tx1"/>
                          </a:solidFill>
                          <a:effectLst/>
                          <a:latin typeface="Times New Roman" pitchFamily="18" charset="0"/>
                        </a:rPr>
                        <a:t>1.20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US"/>
              <a:t>Effort computation(.)</a:t>
            </a:r>
          </a:p>
        </p:txBody>
      </p:sp>
      <p:sp>
        <p:nvSpPr>
          <p:cNvPr id="41987" name="Rectangle 3"/>
          <p:cNvSpPr>
            <a:spLocks noGrp="1" noChangeArrowheads="1"/>
          </p:cNvSpPr>
          <p:nvPr>
            <p:ph idx="1"/>
          </p:nvPr>
        </p:nvSpPr>
        <p:spPr>
          <a:xfrm>
            <a:off x="2286000" y="1371600"/>
            <a:ext cx="7772400" cy="457200"/>
          </a:xfrm>
        </p:spPr>
        <p:txBody>
          <a:bodyPr/>
          <a:lstStyle/>
          <a:p>
            <a:r>
              <a:rPr lang="en-US" sz="2000" b="1"/>
              <a:t>Effort Adjustment Factor </a:t>
            </a:r>
          </a:p>
        </p:txBody>
      </p:sp>
      <p:sp>
        <p:nvSpPr>
          <p:cNvPr id="345" name="Slide Number Placeholder 5"/>
          <p:cNvSpPr>
            <a:spLocks noGrp="1"/>
          </p:cNvSpPr>
          <p:nvPr>
            <p:ph type="sldNum" sz="quarter" idx="12"/>
          </p:nvPr>
        </p:nvSpPr>
        <p:spPr/>
        <p:txBody>
          <a:bodyPr/>
          <a:lstStyle/>
          <a:p>
            <a:fld id="{3B0F74A3-377C-480E-92C7-98552CC46782}" type="slidenum">
              <a:rPr lang="en-US"/>
              <a:pPr/>
              <a:t>40</a:t>
            </a:fld>
            <a:endParaRPr lang="en-US"/>
          </a:p>
        </p:txBody>
      </p:sp>
      <p:grpSp>
        <p:nvGrpSpPr>
          <p:cNvPr id="2" name="Group 342"/>
          <p:cNvGrpSpPr>
            <a:grpSpLocks/>
          </p:cNvGrpSpPr>
          <p:nvPr/>
        </p:nvGrpSpPr>
        <p:grpSpPr bwMode="auto">
          <a:xfrm>
            <a:off x="1752600" y="1676400"/>
            <a:ext cx="8763000" cy="4648200"/>
            <a:chOff x="-2" y="-2"/>
            <a:chExt cx="4117" cy="6567"/>
          </a:xfrm>
        </p:grpSpPr>
        <p:grpSp>
          <p:nvGrpSpPr>
            <p:cNvPr id="3" name="Group 340"/>
            <p:cNvGrpSpPr>
              <a:grpSpLocks/>
            </p:cNvGrpSpPr>
            <p:nvPr/>
          </p:nvGrpSpPr>
          <p:grpSpPr bwMode="auto">
            <a:xfrm>
              <a:off x="0" y="0"/>
              <a:ext cx="4113" cy="6563"/>
              <a:chOff x="0" y="0"/>
              <a:chExt cx="4113" cy="6563"/>
            </a:xfrm>
          </p:grpSpPr>
          <p:grpSp>
            <p:nvGrpSpPr>
              <p:cNvPr id="4" name="Group 117"/>
              <p:cNvGrpSpPr>
                <a:grpSpLocks/>
              </p:cNvGrpSpPr>
              <p:nvPr/>
            </p:nvGrpSpPr>
            <p:grpSpPr bwMode="auto">
              <a:xfrm>
                <a:off x="0" y="0"/>
                <a:ext cx="1455" cy="518"/>
                <a:chOff x="0" y="0"/>
                <a:chExt cx="1455" cy="518"/>
              </a:xfrm>
            </p:grpSpPr>
            <p:sp>
              <p:nvSpPr>
                <p:cNvPr id="41988" name="Rectangle 4"/>
                <p:cNvSpPr>
                  <a:spLocks noChangeArrowheads="1"/>
                </p:cNvSpPr>
                <p:nvPr/>
              </p:nvSpPr>
              <p:spPr bwMode="auto">
                <a:xfrm>
                  <a:off x="43" y="0"/>
                  <a:ext cx="1369" cy="518"/>
                </a:xfrm>
                <a:prstGeom prst="rect">
                  <a:avLst/>
                </a:prstGeom>
                <a:noFill/>
                <a:ln w="9525">
                  <a:noFill/>
                  <a:miter lim="800000"/>
                  <a:headEnd/>
                  <a:tailEnd/>
                </a:ln>
                <a:effectLst/>
              </p:spPr>
              <p:txBody>
                <a:bodyPr lIns="0" tIns="0" rIns="0" bIns="0"/>
                <a:lstStyle/>
                <a:p>
                  <a:r>
                    <a:rPr lang="en-US" sz="1200" b="1">
                      <a:latin typeface="Arial" charset="0"/>
                      <a:cs typeface="Arial" charset="0"/>
                    </a:rPr>
                    <a:t>Cost Driver</a:t>
                  </a:r>
                </a:p>
                <a:p>
                  <a:endParaRPr lang="en-US"/>
                </a:p>
              </p:txBody>
            </p:sp>
            <p:sp>
              <p:nvSpPr>
                <p:cNvPr id="42100" name="Rectangle 116"/>
                <p:cNvSpPr>
                  <a:spLocks noChangeArrowheads="1"/>
                </p:cNvSpPr>
                <p:nvPr/>
              </p:nvSpPr>
              <p:spPr bwMode="auto">
                <a:xfrm>
                  <a:off x="0" y="0"/>
                  <a:ext cx="1455" cy="518"/>
                </a:xfrm>
                <a:prstGeom prst="rect">
                  <a:avLst/>
                </a:prstGeom>
                <a:noFill/>
                <a:ln w="7">
                  <a:solidFill>
                    <a:srgbClr val="A0A0A0"/>
                  </a:solidFill>
                  <a:miter lim="800000"/>
                  <a:headEnd/>
                  <a:tailEnd/>
                </a:ln>
                <a:effectLst/>
              </p:spPr>
              <p:txBody>
                <a:bodyPr/>
                <a:lstStyle/>
                <a:p>
                  <a:endParaRPr lang="en-US"/>
                </a:p>
              </p:txBody>
            </p:sp>
          </p:grpSp>
          <p:grpSp>
            <p:nvGrpSpPr>
              <p:cNvPr id="5" name="Group 119"/>
              <p:cNvGrpSpPr>
                <a:grpSpLocks/>
              </p:cNvGrpSpPr>
              <p:nvPr/>
            </p:nvGrpSpPr>
            <p:grpSpPr bwMode="auto">
              <a:xfrm>
                <a:off x="1455" y="0"/>
                <a:ext cx="409" cy="518"/>
                <a:chOff x="1455" y="0"/>
                <a:chExt cx="409" cy="518"/>
              </a:xfrm>
            </p:grpSpPr>
            <p:sp>
              <p:nvSpPr>
                <p:cNvPr id="41989" name="Rectangle 5"/>
                <p:cNvSpPr>
                  <a:spLocks noChangeArrowheads="1"/>
                </p:cNvSpPr>
                <p:nvPr/>
              </p:nvSpPr>
              <p:spPr bwMode="auto">
                <a:xfrm>
                  <a:off x="1498" y="0"/>
                  <a:ext cx="323" cy="518"/>
                </a:xfrm>
                <a:prstGeom prst="rect">
                  <a:avLst/>
                </a:prstGeom>
                <a:noFill/>
                <a:ln w="9525">
                  <a:noFill/>
                  <a:miter lim="800000"/>
                  <a:headEnd/>
                  <a:tailEnd/>
                </a:ln>
                <a:effectLst/>
              </p:spPr>
              <p:txBody>
                <a:bodyPr/>
                <a:lstStyle/>
                <a:p>
                  <a:r>
                    <a:rPr lang="en-CA" sz="1200" b="1">
                      <a:latin typeface="Arial" charset="0"/>
                      <a:cs typeface="Arial" charset="0"/>
                    </a:rPr>
                    <a:t>Very</a:t>
                  </a:r>
                  <a:endParaRPr lang="en-CA" sz="1200">
                    <a:ea typeface="Arial Unicode MS" pitchFamily="34" charset="-128"/>
                    <a:cs typeface="Arial Unicode MS" pitchFamily="34" charset="-128"/>
                  </a:endParaRPr>
                </a:p>
                <a:p>
                  <a:r>
                    <a:rPr lang="en-CA" sz="1200" b="1">
                      <a:latin typeface="Arial" charset="0"/>
                      <a:cs typeface="Arial" charset="0"/>
                    </a:rPr>
                    <a:t>Low</a:t>
                  </a:r>
                  <a:endParaRPr lang="en-CA" sz="1200">
                    <a:ea typeface="Arial Unicode MS" pitchFamily="34" charset="-128"/>
                    <a:cs typeface="Arial Unicode MS" pitchFamily="34" charset="-128"/>
                  </a:endParaRPr>
                </a:p>
                <a:p>
                  <a:endParaRPr lang="en-CA"/>
                </a:p>
              </p:txBody>
            </p:sp>
            <p:sp>
              <p:nvSpPr>
                <p:cNvPr id="42102" name="Rectangle 118"/>
                <p:cNvSpPr>
                  <a:spLocks noChangeArrowheads="1"/>
                </p:cNvSpPr>
                <p:nvPr/>
              </p:nvSpPr>
              <p:spPr bwMode="auto">
                <a:xfrm>
                  <a:off x="1455" y="0"/>
                  <a:ext cx="409" cy="518"/>
                </a:xfrm>
                <a:prstGeom prst="rect">
                  <a:avLst/>
                </a:prstGeom>
                <a:noFill/>
                <a:ln w="7">
                  <a:solidFill>
                    <a:srgbClr val="A0A0A0"/>
                  </a:solidFill>
                  <a:miter lim="800000"/>
                  <a:headEnd/>
                  <a:tailEnd/>
                </a:ln>
                <a:effectLst/>
              </p:spPr>
              <p:txBody>
                <a:bodyPr/>
                <a:lstStyle/>
                <a:p>
                  <a:endParaRPr lang="en-US"/>
                </a:p>
              </p:txBody>
            </p:sp>
          </p:grpSp>
          <p:grpSp>
            <p:nvGrpSpPr>
              <p:cNvPr id="6" name="Group 121"/>
              <p:cNvGrpSpPr>
                <a:grpSpLocks/>
              </p:cNvGrpSpPr>
              <p:nvPr/>
            </p:nvGrpSpPr>
            <p:grpSpPr bwMode="auto">
              <a:xfrm>
                <a:off x="1864" y="0"/>
                <a:ext cx="395" cy="518"/>
                <a:chOff x="1864" y="0"/>
                <a:chExt cx="395" cy="518"/>
              </a:xfrm>
            </p:grpSpPr>
            <p:sp>
              <p:nvSpPr>
                <p:cNvPr id="41990" name="Rectangle 6"/>
                <p:cNvSpPr>
                  <a:spLocks noChangeArrowheads="1"/>
                </p:cNvSpPr>
                <p:nvPr/>
              </p:nvSpPr>
              <p:spPr bwMode="auto">
                <a:xfrm>
                  <a:off x="1907" y="0"/>
                  <a:ext cx="309" cy="518"/>
                </a:xfrm>
                <a:prstGeom prst="rect">
                  <a:avLst/>
                </a:prstGeom>
                <a:noFill/>
                <a:ln w="9525">
                  <a:noFill/>
                  <a:miter lim="800000"/>
                  <a:headEnd/>
                  <a:tailEnd/>
                </a:ln>
                <a:effectLst/>
              </p:spPr>
              <p:txBody>
                <a:bodyPr/>
                <a:lstStyle/>
                <a:p>
                  <a:r>
                    <a:rPr lang="en-CA" sz="1200" b="1">
                      <a:latin typeface="Arial" charset="0"/>
                      <a:cs typeface="Arial" charset="0"/>
                    </a:rPr>
                    <a:t>Low</a:t>
                  </a:r>
                  <a:endParaRPr lang="en-CA" sz="1200">
                    <a:ea typeface="Arial Unicode MS" pitchFamily="34" charset="-128"/>
                    <a:cs typeface="Arial Unicode MS" pitchFamily="34" charset="-128"/>
                  </a:endParaRPr>
                </a:p>
                <a:p>
                  <a:endParaRPr lang="en-CA"/>
                </a:p>
              </p:txBody>
            </p:sp>
            <p:sp>
              <p:nvSpPr>
                <p:cNvPr id="42104" name="Rectangle 120"/>
                <p:cNvSpPr>
                  <a:spLocks noChangeArrowheads="1"/>
                </p:cNvSpPr>
                <p:nvPr/>
              </p:nvSpPr>
              <p:spPr bwMode="auto">
                <a:xfrm>
                  <a:off x="1864" y="0"/>
                  <a:ext cx="395" cy="518"/>
                </a:xfrm>
                <a:prstGeom prst="rect">
                  <a:avLst/>
                </a:prstGeom>
                <a:noFill/>
                <a:ln w="7">
                  <a:solidFill>
                    <a:srgbClr val="A0A0A0"/>
                  </a:solidFill>
                  <a:miter lim="800000"/>
                  <a:headEnd/>
                  <a:tailEnd/>
                </a:ln>
                <a:effectLst/>
              </p:spPr>
              <p:txBody>
                <a:bodyPr/>
                <a:lstStyle/>
                <a:p>
                  <a:endParaRPr lang="en-US"/>
                </a:p>
              </p:txBody>
            </p:sp>
          </p:grpSp>
          <p:grpSp>
            <p:nvGrpSpPr>
              <p:cNvPr id="7" name="Group 123"/>
              <p:cNvGrpSpPr>
                <a:grpSpLocks/>
              </p:cNvGrpSpPr>
              <p:nvPr/>
            </p:nvGrpSpPr>
            <p:grpSpPr bwMode="auto">
              <a:xfrm>
                <a:off x="2259" y="0"/>
                <a:ext cx="581" cy="518"/>
                <a:chOff x="2259" y="0"/>
                <a:chExt cx="581" cy="518"/>
              </a:xfrm>
            </p:grpSpPr>
            <p:sp>
              <p:nvSpPr>
                <p:cNvPr id="41991" name="Rectangle 7"/>
                <p:cNvSpPr>
                  <a:spLocks noChangeArrowheads="1"/>
                </p:cNvSpPr>
                <p:nvPr/>
              </p:nvSpPr>
              <p:spPr bwMode="auto">
                <a:xfrm>
                  <a:off x="2302" y="0"/>
                  <a:ext cx="495" cy="518"/>
                </a:xfrm>
                <a:prstGeom prst="rect">
                  <a:avLst/>
                </a:prstGeom>
                <a:noFill/>
                <a:ln w="9525">
                  <a:noFill/>
                  <a:miter lim="800000"/>
                  <a:headEnd/>
                  <a:tailEnd/>
                </a:ln>
                <a:effectLst/>
              </p:spPr>
              <p:txBody>
                <a:bodyPr/>
                <a:lstStyle/>
                <a:p>
                  <a:r>
                    <a:rPr lang="en-CA" sz="1200" b="1">
                      <a:latin typeface="Arial" charset="0"/>
                      <a:cs typeface="Arial" charset="0"/>
                    </a:rPr>
                    <a:t>Nominal</a:t>
                  </a:r>
                  <a:endParaRPr lang="en-CA" sz="1200">
                    <a:ea typeface="Arial Unicode MS" pitchFamily="34" charset="-128"/>
                    <a:cs typeface="Arial Unicode MS" pitchFamily="34" charset="-128"/>
                  </a:endParaRPr>
                </a:p>
                <a:p>
                  <a:endParaRPr lang="en-CA"/>
                </a:p>
              </p:txBody>
            </p:sp>
            <p:sp>
              <p:nvSpPr>
                <p:cNvPr id="42106" name="Rectangle 122"/>
                <p:cNvSpPr>
                  <a:spLocks noChangeArrowheads="1"/>
                </p:cNvSpPr>
                <p:nvPr/>
              </p:nvSpPr>
              <p:spPr bwMode="auto">
                <a:xfrm>
                  <a:off x="2259" y="0"/>
                  <a:ext cx="581" cy="518"/>
                </a:xfrm>
                <a:prstGeom prst="rect">
                  <a:avLst/>
                </a:prstGeom>
                <a:noFill/>
                <a:ln w="7">
                  <a:solidFill>
                    <a:srgbClr val="A0A0A0"/>
                  </a:solidFill>
                  <a:miter lim="800000"/>
                  <a:headEnd/>
                  <a:tailEnd/>
                </a:ln>
                <a:effectLst/>
              </p:spPr>
              <p:txBody>
                <a:bodyPr/>
                <a:lstStyle/>
                <a:p>
                  <a:endParaRPr lang="en-US"/>
                </a:p>
              </p:txBody>
            </p:sp>
          </p:grpSp>
          <p:grpSp>
            <p:nvGrpSpPr>
              <p:cNvPr id="8" name="Group 125"/>
              <p:cNvGrpSpPr>
                <a:grpSpLocks/>
              </p:cNvGrpSpPr>
              <p:nvPr/>
            </p:nvGrpSpPr>
            <p:grpSpPr bwMode="auto">
              <a:xfrm>
                <a:off x="2840" y="0"/>
                <a:ext cx="416" cy="518"/>
                <a:chOff x="2840" y="0"/>
                <a:chExt cx="416" cy="518"/>
              </a:xfrm>
            </p:grpSpPr>
            <p:sp>
              <p:nvSpPr>
                <p:cNvPr id="41992" name="Rectangle 8"/>
                <p:cNvSpPr>
                  <a:spLocks noChangeArrowheads="1"/>
                </p:cNvSpPr>
                <p:nvPr/>
              </p:nvSpPr>
              <p:spPr bwMode="auto">
                <a:xfrm>
                  <a:off x="2883" y="0"/>
                  <a:ext cx="330" cy="518"/>
                </a:xfrm>
                <a:prstGeom prst="rect">
                  <a:avLst/>
                </a:prstGeom>
                <a:noFill/>
                <a:ln w="9525">
                  <a:noFill/>
                  <a:miter lim="800000"/>
                  <a:headEnd/>
                  <a:tailEnd/>
                </a:ln>
                <a:effectLst/>
              </p:spPr>
              <p:txBody>
                <a:bodyPr/>
                <a:lstStyle/>
                <a:p>
                  <a:r>
                    <a:rPr lang="en-CA" sz="1200" b="1">
                      <a:latin typeface="Arial" charset="0"/>
                      <a:cs typeface="Arial" charset="0"/>
                    </a:rPr>
                    <a:t>High</a:t>
                  </a:r>
                  <a:endParaRPr lang="en-CA" sz="1200">
                    <a:ea typeface="Arial Unicode MS" pitchFamily="34" charset="-128"/>
                    <a:cs typeface="Arial Unicode MS" pitchFamily="34" charset="-128"/>
                  </a:endParaRPr>
                </a:p>
                <a:p>
                  <a:endParaRPr lang="en-CA"/>
                </a:p>
              </p:txBody>
            </p:sp>
            <p:sp>
              <p:nvSpPr>
                <p:cNvPr id="42108" name="Rectangle 124"/>
                <p:cNvSpPr>
                  <a:spLocks noChangeArrowheads="1"/>
                </p:cNvSpPr>
                <p:nvPr/>
              </p:nvSpPr>
              <p:spPr bwMode="auto">
                <a:xfrm>
                  <a:off x="2840" y="0"/>
                  <a:ext cx="416" cy="518"/>
                </a:xfrm>
                <a:prstGeom prst="rect">
                  <a:avLst/>
                </a:prstGeom>
                <a:noFill/>
                <a:ln w="7">
                  <a:solidFill>
                    <a:srgbClr val="A0A0A0"/>
                  </a:solidFill>
                  <a:miter lim="800000"/>
                  <a:headEnd/>
                  <a:tailEnd/>
                </a:ln>
                <a:effectLst/>
              </p:spPr>
              <p:txBody>
                <a:bodyPr/>
                <a:lstStyle/>
                <a:p>
                  <a:endParaRPr lang="en-US"/>
                </a:p>
              </p:txBody>
            </p:sp>
          </p:grpSp>
          <p:grpSp>
            <p:nvGrpSpPr>
              <p:cNvPr id="9" name="Group 127"/>
              <p:cNvGrpSpPr>
                <a:grpSpLocks/>
              </p:cNvGrpSpPr>
              <p:nvPr/>
            </p:nvGrpSpPr>
            <p:grpSpPr bwMode="auto">
              <a:xfrm>
                <a:off x="3256" y="0"/>
                <a:ext cx="416" cy="518"/>
                <a:chOff x="3256" y="0"/>
                <a:chExt cx="416" cy="518"/>
              </a:xfrm>
            </p:grpSpPr>
            <p:sp>
              <p:nvSpPr>
                <p:cNvPr id="41993" name="Rectangle 9"/>
                <p:cNvSpPr>
                  <a:spLocks noChangeArrowheads="1"/>
                </p:cNvSpPr>
                <p:nvPr/>
              </p:nvSpPr>
              <p:spPr bwMode="auto">
                <a:xfrm>
                  <a:off x="3299" y="0"/>
                  <a:ext cx="330" cy="518"/>
                </a:xfrm>
                <a:prstGeom prst="rect">
                  <a:avLst/>
                </a:prstGeom>
                <a:noFill/>
                <a:ln w="9525">
                  <a:noFill/>
                  <a:miter lim="800000"/>
                  <a:headEnd/>
                  <a:tailEnd/>
                </a:ln>
                <a:effectLst/>
              </p:spPr>
              <p:txBody>
                <a:bodyPr/>
                <a:lstStyle/>
                <a:p>
                  <a:r>
                    <a:rPr lang="en-CA" sz="1200" b="1">
                      <a:latin typeface="Arial" charset="0"/>
                      <a:cs typeface="Arial" charset="0"/>
                    </a:rPr>
                    <a:t>Very</a:t>
                  </a:r>
                  <a:endParaRPr lang="en-CA" sz="1200">
                    <a:ea typeface="Arial Unicode MS" pitchFamily="34" charset="-128"/>
                    <a:cs typeface="Arial Unicode MS" pitchFamily="34" charset="-128"/>
                  </a:endParaRPr>
                </a:p>
                <a:p>
                  <a:r>
                    <a:rPr lang="en-CA" sz="1200" b="1">
                      <a:latin typeface="Arial" charset="0"/>
                      <a:cs typeface="Arial" charset="0"/>
                    </a:rPr>
                    <a:t>High</a:t>
                  </a:r>
                  <a:endParaRPr lang="en-CA" sz="1200">
                    <a:ea typeface="Arial Unicode MS" pitchFamily="34" charset="-128"/>
                    <a:cs typeface="Arial Unicode MS" pitchFamily="34" charset="-128"/>
                  </a:endParaRPr>
                </a:p>
                <a:p>
                  <a:endParaRPr lang="en-CA"/>
                </a:p>
              </p:txBody>
            </p:sp>
            <p:sp>
              <p:nvSpPr>
                <p:cNvPr id="42110" name="Rectangle 126"/>
                <p:cNvSpPr>
                  <a:spLocks noChangeArrowheads="1"/>
                </p:cNvSpPr>
                <p:nvPr/>
              </p:nvSpPr>
              <p:spPr bwMode="auto">
                <a:xfrm>
                  <a:off x="3256" y="0"/>
                  <a:ext cx="416" cy="518"/>
                </a:xfrm>
                <a:prstGeom prst="rect">
                  <a:avLst/>
                </a:prstGeom>
                <a:noFill/>
                <a:ln w="7">
                  <a:solidFill>
                    <a:srgbClr val="A0A0A0"/>
                  </a:solidFill>
                  <a:miter lim="800000"/>
                  <a:headEnd/>
                  <a:tailEnd/>
                </a:ln>
                <a:effectLst/>
              </p:spPr>
              <p:txBody>
                <a:bodyPr/>
                <a:lstStyle/>
                <a:p>
                  <a:endParaRPr lang="en-US"/>
                </a:p>
              </p:txBody>
            </p:sp>
          </p:grpSp>
          <p:grpSp>
            <p:nvGrpSpPr>
              <p:cNvPr id="10" name="Group 129"/>
              <p:cNvGrpSpPr>
                <a:grpSpLocks/>
              </p:cNvGrpSpPr>
              <p:nvPr/>
            </p:nvGrpSpPr>
            <p:grpSpPr bwMode="auto">
              <a:xfrm>
                <a:off x="3672" y="0"/>
                <a:ext cx="441" cy="518"/>
                <a:chOff x="3672" y="0"/>
                <a:chExt cx="441" cy="518"/>
              </a:xfrm>
            </p:grpSpPr>
            <p:sp>
              <p:nvSpPr>
                <p:cNvPr id="41994" name="Rectangle 10"/>
                <p:cNvSpPr>
                  <a:spLocks noChangeArrowheads="1"/>
                </p:cNvSpPr>
                <p:nvPr/>
              </p:nvSpPr>
              <p:spPr bwMode="auto">
                <a:xfrm>
                  <a:off x="3715" y="0"/>
                  <a:ext cx="355" cy="518"/>
                </a:xfrm>
                <a:prstGeom prst="rect">
                  <a:avLst/>
                </a:prstGeom>
                <a:noFill/>
                <a:ln w="9525">
                  <a:noFill/>
                  <a:miter lim="800000"/>
                  <a:headEnd/>
                  <a:tailEnd/>
                </a:ln>
                <a:effectLst/>
              </p:spPr>
              <p:txBody>
                <a:bodyPr/>
                <a:lstStyle/>
                <a:p>
                  <a:r>
                    <a:rPr lang="en-CA" sz="1200" b="1">
                      <a:latin typeface="Arial" charset="0"/>
                      <a:cs typeface="Arial" charset="0"/>
                    </a:rPr>
                    <a:t>Extra</a:t>
                  </a:r>
                  <a:endParaRPr lang="en-CA" sz="1200">
                    <a:ea typeface="Arial Unicode MS" pitchFamily="34" charset="-128"/>
                    <a:cs typeface="Arial Unicode MS" pitchFamily="34" charset="-128"/>
                  </a:endParaRPr>
                </a:p>
                <a:p>
                  <a:r>
                    <a:rPr lang="en-CA" sz="1200" b="1">
                      <a:latin typeface="Arial" charset="0"/>
                      <a:cs typeface="Arial" charset="0"/>
                    </a:rPr>
                    <a:t>High</a:t>
                  </a:r>
                  <a:endParaRPr lang="en-CA" sz="1200">
                    <a:ea typeface="Arial Unicode MS" pitchFamily="34" charset="-128"/>
                    <a:cs typeface="Arial Unicode MS" pitchFamily="34" charset="-128"/>
                  </a:endParaRPr>
                </a:p>
                <a:p>
                  <a:endParaRPr lang="en-CA"/>
                </a:p>
              </p:txBody>
            </p:sp>
            <p:sp>
              <p:nvSpPr>
                <p:cNvPr id="42112" name="Rectangle 128"/>
                <p:cNvSpPr>
                  <a:spLocks noChangeArrowheads="1"/>
                </p:cNvSpPr>
                <p:nvPr/>
              </p:nvSpPr>
              <p:spPr bwMode="auto">
                <a:xfrm>
                  <a:off x="3672" y="0"/>
                  <a:ext cx="441" cy="518"/>
                </a:xfrm>
                <a:prstGeom prst="rect">
                  <a:avLst/>
                </a:prstGeom>
                <a:noFill/>
                <a:ln w="7">
                  <a:solidFill>
                    <a:srgbClr val="A0A0A0"/>
                  </a:solidFill>
                  <a:miter lim="800000"/>
                  <a:headEnd/>
                  <a:tailEnd/>
                </a:ln>
                <a:effectLst/>
              </p:spPr>
              <p:txBody>
                <a:bodyPr/>
                <a:lstStyle/>
                <a:p>
                  <a:endParaRPr lang="en-US"/>
                </a:p>
              </p:txBody>
            </p:sp>
          </p:grpSp>
          <p:grpSp>
            <p:nvGrpSpPr>
              <p:cNvPr id="11" name="Group 131"/>
              <p:cNvGrpSpPr>
                <a:grpSpLocks/>
              </p:cNvGrpSpPr>
              <p:nvPr/>
            </p:nvGrpSpPr>
            <p:grpSpPr bwMode="auto">
              <a:xfrm>
                <a:off x="0" y="518"/>
                <a:ext cx="1455" cy="403"/>
                <a:chOff x="0" y="518"/>
                <a:chExt cx="1455" cy="403"/>
              </a:xfrm>
            </p:grpSpPr>
            <p:sp>
              <p:nvSpPr>
                <p:cNvPr id="41995" name="Rectangle 11"/>
                <p:cNvSpPr>
                  <a:spLocks noChangeArrowheads="1"/>
                </p:cNvSpPr>
                <p:nvPr/>
              </p:nvSpPr>
              <p:spPr bwMode="auto">
                <a:xfrm>
                  <a:off x="43" y="518"/>
                  <a:ext cx="1369" cy="403"/>
                </a:xfrm>
                <a:prstGeom prst="rect">
                  <a:avLst/>
                </a:prstGeom>
                <a:noFill/>
                <a:ln w="9525">
                  <a:noFill/>
                  <a:miter lim="800000"/>
                  <a:headEnd/>
                  <a:tailEnd/>
                </a:ln>
                <a:effectLst/>
              </p:spPr>
              <p:txBody>
                <a:bodyPr/>
                <a:lstStyle/>
                <a:p>
                  <a:r>
                    <a:rPr lang="en-CA" sz="1200" b="1">
                      <a:latin typeface="Arial" charset="0"/>
                      <a:cs typeface="Arial" charset="0"/>
                    </a:rPr>
                    <a:t>Required Reliability</a:t>
                  </a:r>
                  <a:endParaRPr lang="en-CA" sz="1200">
                    <a:ea typeface="Arial Unicode MS" pitchFamily="34" charset="-128"/>
                    <a:cs typeface="Arial Unicode MS" pitchFamily="34" charset="-128"/>
                  </a:endParaRPr>
                </a:p>
                <a:p>
                  <a:endParaRPr lang="en-CA"/>
                </a:p>
              </p:txBody>
            </p:sp>
            <p:sp>
              <p:nvSpPr>
                <p:cNvPr id="42114" name="Rectangle 130"/>
                <p:cNvSpPr>
                  <a:spLocks noChangeArrowheads="1"/>
                </p:cNvSpPr>
                <p:nvPr/>
              </p:nvSpPr>
              <p:spPr bwMode="auto">
                <a:xfrm>
                  <a:off x="0" y="518"/>
                  <a:ext cx="1455" cy="403"/>
                </a:xfrm>
                <a:prstGeom prst="rect">
                  <a:avLst/>
                </a:prstGeom>
                <a:noFill/>
                <a:ln w="7">
                  <a:solidFill>
                    <a:srgbClr val="A0A0A0"/>
                  </a:solidFill>
                  <a:miter lim="800000"/>
                  <a:headEnd/>
                  <a:tailEnd/>
                </a:ln>
                <a:effectLst/>
              </p:spPr>
              <p:txBody>
                <a:bodyPr/>
                <a:lstStyle/>
                <a:p>
                  <a:endParaRPr lang="en-US"/>
                </a:p>
              </p:txBody>
            </p:sp>
          </p:grpSp>
          <p:grpSp>
            <p:nvGrpSpPr>
              <p:cNvPr id="12" name="Group 133"/>
              <p:cNvGrpSpPr>
                <a:grpSpLocks/>
              </p:cNvGrpSpPr>
              <p:nvPr/>
            </p:nvGrpSpPr>
            <p:grpSpPr bwMode="auto">
              <a:xfrm>
                <a:off x="1455" y="518"/>
                <a:ext cx="409" cy="403"/>
                <a:chOff x="1455" y="518"/>
                <a:chExt cx="409" cy="403"/>
              </a:xfrm>
            </p:grpSpPr>
            <p:sp>
              <p:nvSpPr>
                <p:cNvPr id="41996" name="Rectangle 12"/>
                <p:cNvSpPr>
                  <a:spLocks noChangeArrowheads="1"/>
                </p:cNvSpPr>
                <p:nvPr/>
              </p:nvSpPr>
              <p:spPr bwMode="auto">
                <a:xfrm>
                  <a:off x="1498" y="518"/>
                  <a:ext cx="323" cy="403"/>
                </a:xfrm>
                <a:prstGeom prst="rect">
                  <a:avLst/>
                </a:prstGeom>
                <a:noFill/>
                <a:ln w="9525">
                  <a:noFill/>
                  <a:miter lim="800000"/>
                  <a:headEnd/>
                  <a:tailEnd/>
                </a:ln>
                <a:effectLst/>
              </p:spPr>
              <p:txBody>
                <a:bodyPr/>
                <a:lstStyle/>
                <a:p>
                  <a:r>
                    <a:rPr lang="en-CA" sz="1200">
                      <a:latin typeface="Arial" charset="0"/>
                      <a:cs typeface="Arial" charset="0"/>
                    </a:rPr>
                    <a:t>.75</a:t>
                  </a:r>
                  <a:endParaRPr lang="en-CA" sz="1200">
                    <a:ea typeface="Arial Unicode MS" pitchFamily="34" charset="-128"/>
                    <a:cs typeface="Arial Unicode MS" pitchFamily="34" charset="-128"/>
                  </a:endParaRPr>
                </a:p>
                <a:p>
                  <a:endParaRPr lang="en-CA"/>
                </a:p>
              </p:txBody>
            </p:sp>
            <p:sp>
              <p:nvSpPr>
                <p:cNvPr id="42116" name="Rectangle 132"/>
                <p:cNvSpPr>
                  <a:spLocks noChangeArrowheads="1"/>
                </p:cNvSpPr>
                <p:nvPr/>
              </p:nvSpPr>
              <p:spPr bwMode="auto">
                <a:xfrm>
                  <a:off x="1455" y="518"/>
                  <a:ext cx="409" cy="403"/>
                </a:xfrm>
                <a:prstGeom prst="rect">
                  <a:avLst/>
                </a:prstGeom>
                <a:noFill/>
                <a:ln w="7">
                  <a:solidFill>
                    <a:srgbClr val="A0A0A0"/>
                  </a:solidFill>
                  <a:miter lim="800000"/>
                  <a:headEnd/>
                  <a:tailEnd/>
                </a:ln>
                <a:effectLst/>
              </p:spPr>
              <p:txBody>
                <a:bodyPr/>
                <a:lstStyle/>
                <a:p>
                  <a:endParaRPr lang="en-US"/>
                </a:p>
              </p:txBody>
            </p:sp>
          </p:grpSp>
          <p:grpSp>
            <p:nvGrpSpPr>
              <p:cNvPr id="13" name="Group 135"/>
              <p:cNvGrpSpPr>
                <a:grpSpLocks/>
              </p:cNvGrpSpPr>
              <p:nvPr/>
            </p:nvGrpSpPr>
            <p:grpSpPr bwMode="auto">
              <a:xfrm>
                <a:off x="1864" y="518"/>
                <a:ext cx="395" cy="403"/>
                <a:chOff x="1864" y="518"/>
                <a:chExt cx="395" cy="403"/>
              </a:xfrm>
            </p:grpSpPr>
            <p:sp>
              <p:nvSpPr>
                <p:cNvPr id="41997" name="Rectangle 13"/>
                <p:cNvSpPr>
                  <a:spLocks noChangeArrowheads="1"/>
                </p:cNvSpPr>
                <p:nvPr/>
              </p:nvSpPr>
              <p:spPr bwMode="auto">
                <a:xfrm>
                  <a:off x="1907" y="518"/>
                  <a:ext cx="309" cy="403"/>
                </a:xfrm>
                <a:prstGeom prst="rect">
                  <a:avLst/>
                </a:prstGeom>
                <a:noFill/>
                <a:ln w="9525">
                  <a:noFill/>
                  <a:miter lim="800000"/>
                  <a:headEnd/>
                  <a:tailEnd/>
                </a:ln>
                <a:effectLst/>
              </p:spPr>
              <p:txBody>
                <a:bodyPr/>
                <a:lstStyle/>
                <a:p>
                  <a:r>
                    <a:rPr lang="en-CA" sz="1200">
                      <a:latin typeface="Arial" charset="0"/>
                      <a:cs typeface="Arial" charset="0"/>
                    </a:rPr>
                    <a:t>.88</a:t>
                  </a:r>
                  <a:endParaRPr lang="en-CA" sz="1200">
                    <a:ea typeface="Arial Unicode MS" pitchFamily="34" charset="-128"/>
                    <a:cs typeface="Arial Unicode MS" pitchFamily="34" charset="-128"/>
                  </a:endParaRPr>
                </a:p>
                <a:p>
                  <a:endParaRPr lang="en-CA"/>
                </a:p>
              </p:txBody>
            </p:sp>
            <p:sp>
              <p:nvSpPr>
                <p:cNvPr id="42118" name="Rectangle 134"/>
                <p:cNvSpPr>
                  <a:spLocks noChangeArrowheads="1"/>
                </p:cNvSpPr>
                <p:nvPr/>
              </p:nvSpPr>
              <p:spPr bwMode="auto">
                <a:xfrm>
                  <a:off x="1864" y="518"/>
                  <a:ext cx="395" cy="403"/>
                </a:xfrm>
                <a:prstGeom prst="rect">
                  <a:avLst/>
                </a:prstGeom>
                <a:noFill/>
                <a:ln w="7">
                  <a:solidFill>
                    <a:srgbClr val="A0A0A0"/>
                  </a:solidFill>
                  <a:miter lim="800000"/>
                  <a:headEnd/>
                  <a:tailEnd/>
                </a:ln>
                <a:effectLst/>
              </p:spPr>
              <p:txBody>
                <a:bodyPr/>
                <a:lstStyle/>
                <a:p>
                  <a:endParaRPr lang="en-US"/>
                </a:p>
              </p:txBody>
            </p:sp>
          </p:grpSp>
          <p:grpSp>
            <p:nvGrpSpPr>
              <p:cNvPr id="14" name="Group 137"/>
              <p:cNvGrpSpPr>
                <a:grpSpLocks/>
              </p:cNvGrpSpPr>
              <p:nvPr/>
            </p:nvGrpSpPr>
            <p:grpSpPr bwMode="auto">
              <a:xfrm>
                <a:off x="2259" y="518"/>
                <a:ext cx="581" cy="403"/>
                <a:chOff x="2259" y="518"/>
                <a:chExt cx="581" cy="403"/>
              </a:xfrm>
            </p:grpSpPr>
            <p:sp>
              <p:nvSpPr>
                <p:cNvPr id="41998" name="Rectangle 14"/>
                <p:cNvSpPr>
                  <a:spLocks noChangeArrowheads="1"/>
                </p:cNvSpPr>
                <p:nvPr/>
              </p:nvSpPr>
              <p:spPr bwMode="auto">
                <a:xfrm>
                  <a:off x="2302" y="518"/>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20" name="Rectangle 136"/>
                <p:cNvSpPr>
                  <a:spLocks noChangeArrowheads="1"/>
                </p:cNvSpPr>
                <p:nvPr/>
              </p:nvSpPr>
              <p:spPr bwMode="auto">
                <a:xfrm>
                  <a:off x="2259" y="518"/>
                  <a:ext cx="581" cy="403"/>
                </a:xfrm>
                <a:prstGeom prst="rect">
                  <a:avLst/>
                </a:prstGeom>
                <a:noFill/>
                <a:ln w="7">
                  <a:solidFill>
                    <a:srgbClr val="A0A0A0"/>
                  </a:solidFill>
                  <a:miter lim="800000"/>
                  <a:headEnd/>
                  <a:tailEnd/>
                </a:ln>
                <a:effectLst/>
              </p:spPr>
              <p:txBody>
                <a:bodyPr/>
                <a:lstStyle/>
                <a:p>
                  <a:endParaRPr lang="en-US"/>
                </a:p>
              </p:txBody>
            </p:sp>
          </p:grpSp>
          <p:grpSp>
            <p:nvGrpSpPr>
              <p:cNvPr id="15" name="Group 139"/>
              <p:cNvGrpSpPr>
                <a:grpSpLocks/>
              </p:cNvGrpSpPr>
              <p:nvPr/>
            </p:nvGrpSpPr>
            <p:grpSpPr bwMode="auto">
              <a:xfrm>
                <a:off x="2840" y="518"/>
                <a:ext cx="416" cy="403"/>
                <a:chOff x="2840" y="518"/>
                <a:chExt cx="416" cy="403"/>
              </a:xfrm>
            </p:grpSpPr>
            <p:sp>
              <p:nvSpPr>
                <p:cNvPr id="41999" name="Rectangle 15"/>
                <p:cNvSpPr>
                  <a:spLocks noChangeArrowheads="1"/>
                </p:cNvSpPr>
                <p:nvPr/>
              </p:nvSpPr>
              <p:spPr bwMode="auto">
                <a:xfrm>
                  <a:off x="2883" y="518"/>
                  <a:ext cx="330" cy="403"/>
                </a:xfrm>
                <a:prstGeom prst="rect">
                  <a:avLst/>
                </a:prstGeom>
                <a:noFill/>
                <a:ln w="9525">
                  <a:noFill/>
                  <a:miter lim="800000"/>
                  <a:headEnd/>
                  <a:tailEnd/>
                </a:ln>
                <a:effectLst/>
              </p:spPr>
              <p:txBody>
                <a:bodyPr/>
                <a:lstStyle/>
                <a:p>
                  <a:r>
                    <a:rPr lang="en-CA" sz="1200">
                      <a:latin typeface="Arial" charset="0"/>
                      <a:cs typeface="Arial" charset="0"/>
                    </a:rPr>
                    <a:t>1.15</a:t>
                  </a:r>
                  <a:endParaRPr lang="en-CA" sz="1200">
                    <a:ea typeface="Arial Unicode MS" pitchFamily="34" charset="-128"/>
                    <a:cs typeface="Arial Unicode MS" pitchFamily="34" charset="-128"/>
                  </a:endParaRPr>
                </a:p>
                <a:p>
                  <a:endParaRPr lang="en-CA"/>
                </a:p>
              </p:txBody>
            </p:sp>
            <p:sp>
              <p:nvSpPr>
                <p:cNvPr id="42122" name="Rectangle 138"/>
                <p:cNvSpPr>
                  <a:spLocks noChangeArrowheads="1"/>
                </p:cNvSpPr>
                <p:nvPr/>
              </p:nvSpPr>
              <p:spPr bwMode="auto">
                <a:xfrm>
                  <a:off x="2840" y="518"/>
                  <a:ext cx="416" cy="403"/>
                </a:xfrm>
                <a:prstGeom prst="rect">
                  <a:avLst/>
                </a:prstGeom>
                <a:noFill/>
                <a:ln w="7">
                  <a:solidFill>
                    <a:srgbClr val="A0A0A0"/>
                  </a:solidFill>
                  <a:miter lim="800000"/>
                  <a:headEnd/>
                  <a:tailEnd/>
                </a:ln>
                <a:effectLst/>
              </p:spPr>
              <p:txBody>
                <a:bodyPr/>
                <a:lstStyle/>
                <a:p>
                  <a:endParaRPr lang="en-US"/>
                </a:p>
              </p:txBody>
            </p:sp>
          </p:grpSp>
          <p:grpSp>
            <p:nvGrpSpPr>
              <p:cNvPr id="16" name="Group 141"/>
              <p:cNvGrpSpPr>
                <a:grpSpLocks/>
              </p:cNvGrpSpPr>
              <p:nvPr/>
            </p:nvGrpSpPr>
            <p:grpSpPr bwMode="auto">
              <a:xfrm>
                <a:off x="3256" y="518"/>
                <a:ext cx="416" cy="403"/>
                <a:chOff x="3256" y="518"/>
                <a:chExt cx="416" cy="403"/>
              </a:xfrm>
            </p:grpSpPr>
            <p:sp>
              <p:nvSpPr>
                <p:cNvPr id="42000" name="Rectangle 16"/>
                <p:cNvSpPr>
                  <a:spLocks noChangeArrowheads="1"/>
                </p:cNvSpPr>
                <p:nvPr/>
              </p:nvSpPr>
              <p:spPr bwMode="auto">
                <a:xfrm>
                  <a:off x="3299" y="518"/>
                  <a:ext cx="330" cy="403"/>
                </a:xfrm>
                <a:prstGeom prst="rect">
                  <a:avLst/>
                </a:prstGeom>
                <a:noFill/>
                <a:ln w="9525">
                  <a:noFill/>
                  <a:miter lim="800000"/>
                  <a:headEnd/>
                  <a:tailEnd/>
                </a:ln>
                <a:effectLst/>
              </p:spPr>
              <p:txBody>
                <a:bodyPr/>
                <a:lstStyle/>
                <a:p>
                  <a:r>
                    <a:rPr lang="en-CA" sz="1200">
                      <a:latin typeface="Arial" charset="0"/>
                      <a:cs typeface="Arial" charset="0"/>
                    </a:rPr>
                    <a:t>1.40</a:t>
                  </a:r>
                  <a:endParaRPr lang="en-CA" sz="1200">
                    <a:ea typeface="Arial Unicode MS" pitchFamily="34" charset="-128"/>
                    <a:cs typeface="Arial Unicode MS" pitchFamily="34" charset="-128"/>
                  </a:endParaRPr>
                </a:p>
                <a:p>
                  <a:endParaRPr lang="en-CA"/>
                </a:p>
              </p:txBody>
            </p:sp>
            <p:sp>
              <p:nvSpPr>
                <p:cNvPr id="42124" name="Rectangle 140"/>
                <p:cNvSpPr>
                  <a:spLocks noChangeArrowheads="1"/>
                </p:cNvSpPr>
                <p:nvPr/>
              </p:nvSpPr>
              <p:spPr bwMode="auto">
                <a:xfrm>
                  <a:off x="3256" y="518"/>
                  <a:ext cx="416" cy="403"/>
                </a:xfrm>
                <a:prstGeom prst="rect">
                  <a:avLst/>
                </a:prstGeom>
                <a:noFill/>
                <a:ln w="7">
                  <a:solidFill>
                    <a:srgbClr val="A0A0A0"/>
                  </a:solidFill>
                  <a:miter lim="800000"/>
                  <a:headEnd/>
                  <a:tailEnd/>
                </a:ln>
                <a:effectLst/>
              </p:spPr>
              <p:txBody>
                <a:bodyPr/>
                <a:lstStyle/>
                <a:p>
                  <a:endParaRPr lang="en-US"/>
                </a:p>
              </p:txBody>
            </p:sp>
          </p:grpSp>
          <p:grpSp>
            <p:nvGrpSpPr>
              <p:cNvPr id="17" name="Group 143"/>
              <p:cNvGrpSpPr>
                <a:grpSpLocks/>
              </p:cNvGrpSpPr>
              <p:nvPr/>
            </p:nvGrpSpPr>
            <p:grpSpPr bwMode="auto">
              <a:xfrm>
                <a:off x="3672" y="518"/>
                <a:ext cx="441" cy="403"/>
                <a:chOff x="3672" y="518"/>
                <a:chExt cx="441" cy="403"/>
              </a:xfrm>
            </p:grpSpPr>
            <p:sp>
              <p:nvSpPr>
                <p:cNvPr id="42001" name="Rectangle 17"/>
                <p:cNvSpPr>
                  <a:spLocks noChangeArrowheads="1"/>
                </p:cNvSpPr>
                <p:nvPr/>
              </p:nvSpPr>
              <p:spPr bwMode="auto">
                <a:xfrm>
                  <a:off x="3715" y="518"/>
                  <a:ext cx="355" cy="403"/>
                </a:xfrm>
                <a:prstGeom prst="rect">
                  <a:avLst/>
                </a:prstGeom>
                <a:noFill/>
                <a:ln w="9525">
                  <a:noFill/>
                  <a:miter lim="800000"/>
                  <a:headEnd/>
                  <a:tailEnd/>
                </a:ln>
                <a:effectLst/>
              </p:spPr>
              <p:txBody>
                <a:bodyPr/>
                <a:lstStyle/>
                <a:p>
                  <a:r>
                    <a:rPr lang="en-CA" sz="1200">
                      <a:latin typeface="Arial" charset="0"/>
                      <a:cs typeface="Arial" charset="0"/>
                    </a:rPr>
                    <a:t>1.40</a:t>
                  </a:r>
                  <a:endParaRPr lang="en-CA" sz="1200">
                    <a:ea typeface="Arial Unicode MS" pitchFamily="34" charset="-128"/>
                    <a:cs typeface="Arial Unicode MS" pitchFamily="34" charset="-128"/>
                  </a:endParaRPr>
                </a:p>
                <a:p>
                  <a:endParaRPr lang="en-CA"/>
                </a:p>
              </p:txBody>
            </p:sp>
            <p:sp>
              <p:nvSpPr>
                <p:cNvPr id="42126" name="Rectangle 142"/>
                <p:cNvSpPr>
                  <a:spLocks noChangeArrowheads="1"/>
                </p:cNvSpPr>
                <p:nvPr/>
              </p:nvSpPr>
              <p:spPr bwMode="auto">
                <a:xfrm>
                  <a:off x="3672" y="518"/>
                  <a:ext cx="441" cy="403"/>
                </a:xfrm>
                <a:prstGeom prst="rect">
                  <a:avLst/>
                </a:prstGeom>
                <a:noFill/>
                <a:ln w="7">
                  <a:solidFill>
                    <a:srgbClr val="A0A0A0"/>
                  </a:solidFill>
                  <a:miter lim="800000"/>
                  <a:headEnd/>
                  <a:tailEnd/>
                </a:ln>
                <a:effectLst/>
              </p:spPr>
              <p:txBody>
                <a:bodyPr/>
                <a:lstStyle/>
                <a:p>
                  <a:endParaRPr lang="en-US"/>
                </a:p>
              </p:txBody>
            </p:sp>
          </p:grpSp>
          <p:grpSp>
            <p:nvGrpSpPr>
              <p:cNvPr id="18" name="Group 145"/>
              <p:cNvGrpSpPr>
                <a:grpSpLocks/>
              </p:cNvGrpSpPr>
              <p:nvPr/>
            </p:nvGrpSpPr>
            <p:grpSpPr bwMode="auto">
              <a:xfrm>
                <a:off x="0" y="921"/>
                <a:ext cx="1455" cy="403"/>
                <a:chOff x="0" y="921"/>
                <a:chExt cx="1455" cy="403"/>
              </a:xfrm>
            </p:grpSpPr>
            <p:sp>
              <p:nvSpPr>
                <p:cNvPr id="42002" name="Rectangle 18"/>
                <p:cNvSpPr>
                  <a:spLocks noChangeArrowheads="1"/>
                </p:cNvSpPr>
                <p:nvPr/>
              </p:nvSpPr>
              <p:spPr bwMode="auto">
                <a:xfrm>
                  <a:off x="43" y="921"/>
                  <a:ext cx="1369" cy="403"/>
                </a:xfrm>
                <a:prstGeom prst="rect">
                  <a:avLst/>
                </a:prstGeom>
                <a:noFill/>
                <a:ln w="9525">
                  <a:noFill/>
                  <a:miter lim="800000"/>
                  <a:headEnd/>
                  <a:tailEnd/>
                </a:ln>
                <a:effectLst/>
              </p:spPr>
              <p:txBody>
                <a:bodyPr/>
                <a:lstStyle/>
                <a:p>
                  <a:r>
                    <a:rPr lang="en-CA" sz="1200" b="1">
                      <a:latin typeface="Arial" charset="0"/>
                      <a:cs typeface="Arial" charset="0"/>
                    </a:rPr>
                    <a:t>Database Size</a:t>
                  </a:r>
                  <a:endParaRPr lang="en-CA" sz="1200">
                    <a:ea typeface="Arial Unicode MS" pitchFamily="34" charset="-128"/>
                    <a:cs typeface="Arial Unicode MS" pitchFamily="34" charset="-128"/>
                  </a:endParaRPr>
                </a:p>
                <a:p>
                  <a:endParaRPr lang="en-CA"/>
                </a:p>
              </p:txBody>
            </p:sp>
            <p:sp>
              <p:nvSpPr>
                <p:cNvPr id="42128" name="Rectangle 144"/>
                <p:cNvSpPr>
                  <a:spLocks noChangeArrowheads="1"/>
                </p:cNvSpPr>
                <p:nvPr/>
              </p:nvSpPr>
              <p:spPr bwMode="auto">
                <a:xfrm>
                  <a:off x="0" y="921"/>
                  <a:ext cx="1455" cy="403"/>
                </a:xfrm>
                <a:prstGeom prst="rect">
                  <a:avLst/>
                </a:prstGeom>
                <a:noFill/>
                <a:ln w="7">
                  <a:solidFill>
                    <a:srgbClr val="A0A0A0"/>
                  </a:solidFill>
                  <a:miter lim="800000"/>
                  <a:headEnd/>
                  <a:tailEnd/>
                </a:ln>
                <a:effectLst/>
              </p:spPr>
              <p:txBody>
                <a:bodyPr/>
                <a:lstStyle/>
                <a:p>
                  <a:endParaRPr lang="en-US"/>
                </a:p>
              </p:txBody>
            </p:sp>
          </p:grpSp>
          <p:grpSp>
            <p:nvGrpSpPr>
              <p:cNvPr id="19" name="Group 147"/>
              <p:cNvGrpSpPr>
                <a:grpSpLocks/>
              </p:cNvGrpSpPr>
              <p:nvPr/>
            </p:nvGrpSpPr>
            <p:grpSpPr bwMode="auto">
              <a:xfrm>
                <a:off x="1455" y="921"/>
                <a:ext cx="409" cy="403"/>
                <a:chOff x="1455" y="921"/>
                <a:chExt cx="409" cy="403"/>
              </a:xfrm>
            </p:grpSpPr>
            <p:sp>
              <p:nvSpPr>
                <p:cNvPr id="42003" name="Rectangle 19"/>
                <p:cNvSpPr>
                  <a:spLocks noChangeArrowheads="1"/>
                </p:cNvSpPr>
                <p:nvPr/>
              </p:nvSpPr>
              <p:spPr bwMode="auto">
                <a:xfrm>
                  <a:off x="1498" y="921"/>
                  <a:ext cx="323" cy="403"/>
                </a:xfrm>
                <a:prstGeom prst="rect">
                  <a:avLst/>
                </a:prstGeom>
                <a:noFill/>
                <a:ln w="9525">
                  <a:noFill/>
                  <a:miter lim="800000"/>
                  <a:headEnd/>
                  <a:tailEnd/>
                </a:ln>
                <a:effectLst/>
              </p:spPr>
              <p:txBody>
                <a:bodyPr/>
                <a:lstStyle/>
                <a:p>
                  <a:r>
                    <a:rPr lang="en-CA" sz="1200">
                      <a:latin typeface="Arial" charset="0"/>
                      <a:cs typeface="Arial" charset="0"/>
                    </a:rPr>
                    <a:t>.94</a:t>
                  </a:r>
                  <a:endParaRPr lang="en-CA" sz="1200">
                    <a:ea typeface="Arial Unicode MS" pitchFamily="34" charset="-128"/>
                    <a:cs typeface="Arial Unicode MS" pitchFamily="34" charset="-128"/>
                  </a:endParaRPr>
                </a:p>
                <a:p>
                  <a:endParaRPr lang="en-CA"/>
                </a:p>
              </p:txBody>
            </p:sp>
            <p:sp>
              <p:nvSpPr>
                <p:cNvPr id="42130" name="Rectangle 146"/>
                <p:cNvSpPr>
                  <a:spLocks noChangeArrowheads="1"/>
                </p:cNvSpPr>
                <p:nvPr/>
              </p:nvSpPr>
              <p:spPr bwMode="auto">
                <a:xfrm>
                  <a:off x="1455" y="921"/>
                  <a:ext cx="409" cy="403"/>
                </a:xfrm>
                <a:prstGeom prst="rect">
                  <a:avLst/>
                </a:prstGeom>
                <a:noFill/>
                <a:ln w="7">
                  <a:solidFill>
                    <a:srgbClr val="A0A0A0"/>
                  </a:solidFill>
                  <a:miter lim="800000"/>
                  <a:headEnd/>
                  <a:tailEnd/>
                </a:ln>
                <a:effectLst/>
              </p:spPr>
              <p:txBody>
                <a:bodyPr/>
                <a:lstStyle/>
                <a:p>
                  <a:endParaRPr lang="en-US"/>
                </a:p>
              </p:txBody>
            </p:sp>
          </p:grpSp>
          <p:grpSp>
            <p:nvGrpSpPr>
              <p:cNvPr id="20" name="Group 149"/>
              <p:cNvGrpSpPr>
                <a:grpSpLocks/>
              </p:cNvGrpSpPr>
              <p:nvPr/>
            </p:nvGrpSpPr>
            <p:grpSpPr bwMode="auto">
              <a:xfrm>
                <a:off x="1864" y="921"/>
                <a:ext cx="395" cy="403"/>
                <a:chOff x="1864" y="921"/>
                <a:chExt cx="395" cy="403"/>
              </a:xfrm>
            </p:grpSpPr>
            <p:sp>
              <p:nvSpPr>
                <p:cNvPr id="42004" name="Rectangle 20"/>
                <p:cNvSpPr>
                  <a:spLocks noChangeArrowheads="1"/>
                </p:cNvSpPr>
                <p:nvPr/>
              </p:nvSpPr>
              <p:spPr bwMode="auto">
                <a:xfrm>
                  <a:off x="1907" y="921"/>
                  <a:ext cx="309" cy="403"/>
                </a:xfrm>
                <a:prstGeom prst="rect">
                  <a:avLst/>
                </a:prstGeom>
                <a:noFill/>
                <a:ln w="9525">
                  <a:noFill/>
                  <a:miter lim="800000"/>
                  <a:headEnd/>
                  <a:tailEnd/>
                </a:ln>
                <a:effectLst/>
              </p:spPr>
              <p:txBody>
                <a:bodyPr/>
                <a:lstStyle/>
                <a:p>
                  <a:r>
                    <a:rPr lang="en-CA" sz="1200">
                      <a:latin typeface="Arial" charset="0"/>
                      <a:cs typeface="Arial" charset="0"/>
                    </a:rPr>
                    <a:t>.94</a:t>
                  </a:r>
                  <a:endParaRPr lang="en-CA" sz="1200">
                    <a:ea typeface="Arial Unicode MS" pitchFamily="34" charset="-128"/>
                    <a:cs typeface="Arial Unicode MS" pitchFamily="34" charset="-128"/>
                  </a:endParaRPr>
                </a:p>
                <a:p>
                  <a:endParaRPr lang="en-CA"/>
                </a:p>
              </p:txBody>
            </p:sp>
            <p:sp>
              <p:nvSpPr>
                <p:cNvPr id="42132" name="Rectangle 148"/>
                <p:cNvSpPr>
                  <a:spLocks noChangeArrowheads="1"/>
                </p:cNvSpPr>
                <p:nvPr/>
              </p:nvSpPr>
              <p:spPr bwMode="auto">
                <a:xfrm>
                  <a:off x="1864" y="921"/>
                  <a:ext cx="395" cy="403"/>
                </a:xfrm>
                <a:prstGeom prst="rect">
                  <a:avLst/>
                </a:prstGeom>
                <a:noFill/>
                <a:ln w="7">
                  <a:solidFill>
                    <a:srgbClr val="A0A0A0"/>
                  </a:solidFill>
                  <a:miter lim="800000"/>
                  <a:headEnd/>
                  <a:tailEnd/>
                </a:ln>
                <a:effectLst/>
              </p:spPr>
              <p:txBody>
                <a:bodyPr/>
                <a:lstStyle/>
                <a:p>
                  <a:endParaRPr lang="en-US"/>
                </a:p>
              </p:txBody>
            </p:sp>
          </p:grpSp>
          <p:grpSp>
            <p:nvGrpSpPr>
              <p:cNvPr id="21" name="Group 151"/>
              <p:cNvGrpSpPr>
                <a:grpSpLocks/>
              </p:cNvGrpSpPr>
              <p:nvPr/>
            </p:nvGrpSpPr>
            <p:grpSpPr bwMode="auto">
              <a:xfrm>
                <a:off x="2259" y="921"/>
                <a:ext cx="581" cy="403"/>
                <a:chOff x="2259" y="921"/>
                <a:chExt cx="581" cy="403"/>
              </a:xfrm>
            </p:grpSpPr>
            <p:sp>
              <p:nvSpPr>
                <p:cNvPr id="42005" name="Rectangle 21"/>
                <p:cNvSpPr>
                  <a:spLocks noChangeArrowheads="1"/>
                </p:cNvSpPr>
                <p:nvPr/>
              </p:nvSpPr>
              <p:spPr bwMode="auto">
                <a:xfrm>
                  <a:off x="2302" y="921"/>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34" name="Rectangle 150"/>
                <p:cNvSpPr>
                  <a:spLocks noChangeArrowheads="1"/>
                </p:cNvSpPr>
                <p:nvPr/>
              </p:nvSpPr>
              <p:spPr bwMode="auto">
                <a:xfrm>
                  <a:off x="2259" y="921"/>
                  <a:ext cx="581" cy="403"/>
                </a:xfrm>
                <a:prstGeom prst="rect">
                  <a:avLst/>
                </a:prstGeom>
                <a:noFill/>
                <a:ln w="7">
                  <a:solidFill>
                    <a:srgbClr val="A0A0A0"/>
                  </a:solidFill>
                  <a:miter lim="800000"/>
                  <a:headEnd/>
                  <a:tailEnd/>
                </a:ln>
                <a:effectLst/>
              </p:spPr>
              <p:txBody>
                <a:bodyPr/>
                <a:lstStyle/>
                <a:p>
                  <a:endParaRPr lang="en-US"/>
                </a:p>
              </p:txBody>
            </p:sp>
          </p:grpSp>
          <p:grpSp>
            <p:nvGrpSpPr>
              <p:cNvPr id="22" name="Group 153"/>
              <p:cNvGrpSpPr>
                <a:grpSpLocks/>
              </p:cNvGrpSpPr>
              <p:nvPr/>
            </p:nvGrpSpPr>
            <p:grpSpPr bwMode="auto">
              <a:xfrm>
                <a:off x="2840" y="921"/>
                <a:ext cx="416" cy="403"/>
                <a:chOff x="2840" y="921"/>
                <a:chExt cx="416" cy="403"/>
              </a:xfrm>
            </p:grpSpPr>
            <p:sp>
              <p:nvSpPr>
                <p:cNvPr id="42006" name="Rectangle 22"/>
                <p:cNvSpPr>
                  <a:spLocks noChangeArrowheads="1"/>
                </p:cNvSpPr>
                <p:nvPr/>
              </p:nvSpPr>
              <p:spPr bwMode="auto">
                <a:xfrm>
                  <a:off x="2883" y="921"/>
                  <a:ext cx="330" cy="403"/>
                </a:xfrm>
                <a:prstGeom prst="rect">
                  <a:avLst/>
                </a:prstGeom>
                <a:noFill/>
                <a:ln w="9525">
                  <a:noFill/>
                  <a:miter lim="800000"/>
                  <a:headEnd/>
                  <a:tailEnd/>
                </a:ln>
                <a:effectLst/>
              </p:spPr>
              <p:txBody>
                <a:bodyPr/>
                <a:lstStyle/>
                <a:p>
                  <a:r>
                    <a:rPr lang="en-CA" sz="1200">
                      <a:latin typeface="Arial" charset="0"/>
                      <a:cs typeface="Arial" charset="0"/>
                    </a:rPr>
                    <a:t>1.08</a:t>
                  </a:r>
                  <a:endParaRPr lang="en-CA" sz="1200">
                    <a:ea typeface="Arial Unicode MS" pitchFamily="34" charset="-128"/>
                    <a:cs typeface="Arial Unicode MS" pitchFamily="34" charset="-128"/>
                  </a:endParaRPr>
                </a:p>
                <a:p>
                  <a:endParaRPr lang="en-CA"/>
                </a:p>
              </p:txBody>
            </p:sp>
            <p:sp>
              <p:nvSpPr>
                <p:cNvPr id="42136" name="Rectangle 152"/>
                <p:cNvSpPr>
                  <a:spLocks noChangeArrowheads="1"/>
                </p:cNvSpPr>
                <p:nvPr/>
              </p:nvSpPr>
              <p:spPr bwMode="auto">
                <a:xfrm>
                  <a:off x="2840" y="921"/>
                  <a:ext cx="416" cy="403"/>
                </a:xfrm>
                <a:prstGeom prst="rect">
                  <a:avLst/>
                </a:prstGeom>
                <a:noFill/>
                <a:ln w="7">
                  <a:solidFill>
                    <a:srgbClr val="A0A0A0"/>
                  </a:solidFill>
                  <a:miter lim="800000"/>
                  <a:headEnd/>
                  <a:tailEnd/>
                </a:ln>
                <a:effectLst/>
              </p:spPr>
              <p:txBody>
                <a:bodyPr/>
                <a:lstStyle/>
                <a:p>
                  <a:endParaRPr lang="en-US"/>
                </a:p>
              </p:txBody>
            </p:sp>
          </p:grpSp>
          <p:grpSp>
            <p:nvGrpSpPr>
              <p:cNvPr id="23" name="Group 155"/>
              <p:cNvGrpSpPr>
                <a:grpSpLocks/>
              </p:cNvGrpSpPr>
              <p:nvPr/>
            </p:nvGrpSpPr>
            <p:grpSpPr bwMode="auto">
              <a:xfrm>
                <a:off x="3256" y="921"/>
                <a:ext cx="416" cy="403"/>
                <a:chOff x="3256" y="921"/>
                <a:chExt cx="416" cy="403"/>
              </a:xfrm>
            </p:grpSpPr>
            <p:sp>
              <p:nvSpPr>
                <p:cNvPr id="42007" name="Rectangle 23"/>
                <p:cNvSpPr>
                  <a:spLocks noChangeArrowheads="1"/>
                </p:cNvSpPr>
                <p:nvPr/>
              </p:nvSpPr>
              <p:spPr bwMode="auto">
                <a:xfrm>
                  <a:off x="3299" y="921"/>
                  <a:ext cx="330" cy="403"/>
                </a:xfrm>
                <a:prstGeom prst="rect">
                  <a:avLst/>
                </a:prstGeom>
                <a:noFill/>
                <a:ln w="9525">
                  <a:noFill/>
                  <a:miter lim="800000"/>
                  <a:headEnd/>
                  <a:tailEnd/>
                </a:ln>
                <a:effectLst/>
              </p:spPr>
              <p:txBody>
                <a:bodyPr/>
                <a:lstStyle/>
                <a:p>
                  <a:r>
                    <a:rPr lang="en-CA" sz="1200">
                      <a:latin typeface="Arial" charset="0"/>
                      <a:cs typeface="Arial" charset="0"/>
                    </a:rPr>
                    <a:t>1.16</a:t>
                  </a:r>
                  <a:endParaRPr lang="en-CA" sz="1200">
                    <a:ea typeface="Arial Unicode MS" pitchFamily="34" charset="-128"/>
                    <a:cs typeface="Arial Unicode MS" pitchFamily="34" charset="-128"/>
                  </a:endParaRPr>
                </a:p>
                <a:p>
                  <a:endParaRPr lang="en-CA"/>
                </a:p>
              </p:txBody>
            </p:sp>
            <p:sp>
              <p:nvSpPr>
                <p:cNvPr id="42138" name="Rectangle 154"/>
                <p:cNvSpPr>
                  <a:spLocks noChangeArrowheads="1"/>
                </p:cNvSpPr>
                <p:nvPr/>
              </p:nvSpPr>
              <p:spPr bwMode="auto">
                <a:xfrm>
                  <a:off x="3256" y="921"/>
                  <a:ext cx="416" cy="403"/>
                </a:xfrm>
                <a:prstGeom prst="rect">
                  <a:avLst/>
                </a:prstGeom>
                <a:noFill/>
                <a:ln w="7">
                  <a:solidFill>
                    <a:srgbClr val="A0A0A0"/>
                  </a:solidFill>
                  <a:miter lim="800000"/>
                  <a:headEnd/>
                  <a:tailEnd/>
                </a:ln>
                <a:effectLst/>
              </p:spPr>
              <p:txBody>
                <a:bodyPr/>
                <a:lstStyle/>
                <a:p>
                  <a:endParaRPr lang="en-US"/>
                </a:p>
              </p:txBody>
            </p:sp>
          </p:grpSp>
          <p:grpSp>
            <p:nvGrpSpPr>
              <p:cNvPr id="24" name="Group 157"/>
              <p:cNvGrpSpPr>
                <a:grpSpLocks/>
              </p:cNvGrpSpPr>
              <p:nvPr/>
            </p:nvGrpSpPr>
            <p:grpSpPr bwMode="auto">
              <a:xfrm>
                <a:off x="3672" y="921"/>
                <a:ext cx="441" cy="403"/>
                <a:chOff x="3672" y="921"/>
                <a:chExt cx="441" cy="403"/>
              </a:xfrm>
            </p:grpSpPr>
            <p:sp>
              <p:nvSpPr>
                <p:cNvPr id="42008" name="Rectangle 24"/>
                <p:cNvSpPr>
                  <a:spLocks noChangeArrowheads="1"/>
                </p:cNvSpPr>
                <p:nvPr/>
              </p:nvSpPr>
              <p:spPr bwMode="auto">
                <a:xfrm>
                  <a:off x="3715" y="921"/>
                  <a:ext cx="355" cy="403"/>
                </a:xfrm>
                <a:prstGeom prst="rect">
                  <a:avLst/>
                </a:prstGeom>
                <a:noFill/>
                <a:ln w="9525">
                  <a:noFill/>
                  <a:miter lim="800000"/>
                  <a:headEnd/>
                  <a:tailEnd/>
                </a:ln>
                <a:effectLst/>
              </p:spPr>
              <p:txBody>
                <a:bodyPr/>
                <a:lstStyle/>
                <a:p>
                  <a:r>
                    <a:rPr lang="en-CA" sz="1200">
                      <a:latin typeface="Arial" charset="0"/>
                      <a:cs typeface="Arial" charset="0"/>
                    </a:rPr>
                    <a:t>1.16</a:t>
                  </a:r>
                  <a:endParaRPr lang="en-CA" sz="1200">
                    <a:ea typeface="Arial Unicode MS" pitchFamily="34" charset="-128"/>
                    <a:cs typeface="Arial Unicode MS" pitchFamily="34" charset="-128"/>
                  </a:endParaRPr>
                </a:p>
                <a:p>
                  <a:endParaRPr lang="en-CA"/>
                </a:p>
              </p:txBody>
            </p:sp>
            <p:sp>
              <p:nvSpPr>
                <p:cNvPr id="42140" name="Rectangle 156"/>
                <p:cNvSpPr>
                  <a:spLocks noChangeArrowheads="1"/>
                </p:cNvSpPr>
                <p:nvPr/>
              </p:nvSpPr>
              <p:spPr bwMode="auto">
                <a:xfrm>
                  <a:off x="3672" y="921"/>
                  <a:ext cx="441" cy="403"/>
                </a:xfrm>
                <a:prstGeom prst="rect">
                  <a:avLst/>
                </a:prstGeom>
                <a:noFill/>
                <a:ln w="7">
                  <a:solidFill>
                    <a:srgbClr val="A0A0A0"/>
                  </a:solidFill>
                  <a:miter lim="800000"/>
                  <a:headEnd/>
                  <a:tailEnd/>
                </a:ln>
                <a:effectLst/>
              </p:spPr>
              <p:txBody>
                <a:bodyPr/>
                <a:lstStyle/>
                <a:p>
                  <a:endParaRPr lang="en-US"/>
                </a:p>
              </p:txBody>
            </p:sp>
          </p:grpSp>
          <p:grpSp>
            <p:nvGrpSpPr>
              <p:cNvPr id="25" name="Group 159"/>
              <p:cNvGrpSpPr>
                <a:grpSpLocks/>
              </p:cNvGrpSpPr>
              <p:nvPr/>
            </p:nvGrpSpPr>
            <p:grpSpPr bwMode="auto">
              <a:xfrm>
                <a:off x="0" y="1324"/>
                <a:ext cx="1455" cy="403"/>
                <a:chOff x="0" y="1324"/>
                <a:chExt cx="1455" cy="403"/>
              </a:xfrm>
            </p:grpSpPr>
            <p:sp>
              <p:nvSpPr>
                <p:cNvPr id="42009" name="Rectangle 25"/>
                <p:cNvSpPr>
                  <a:spLocks noChangeArrowheads="1"/>
                </p:cNvSpPr>
                <p:nvPr/>
              </p:nvSpPr>
              <p:spPr bwMode="auto">
                <a:xfrm>
                  <a:off x="43" y="1324"/>
                  <a:ext cx="1369" cy="403"/>
                </a:xfrm>
                <a:prstGeom prst="rect">
                  <a:avLst/>
                </a:prstGeom>
                <a:noFill/>
                <a:ln w="9525">
                  <a:noFill/>
                  <a:miter lim="800000"/>
                  <a:headEnd/>
                  <a:tailEnd/>
                </a:ln>
                <a:effectLst/>
              </p:spPr>
              <p:txBody>
                <a:bodyPr/>
                <a:lstStyle/>
                <a:p>
                  <a:r>
                    <a:rPr lang="en-CA" sz="1200" b="1">
                      <a:latin typeface="Arial" charset="0"/>
                      <a:cs typeface="Arial" charset="0"/>
                    </a:rPr>
                    <a:t>Product Complexity</a:t>
                  </a:r>
                  <a:endParaRPr lang="en-CA" sz="1200">
                    <a:ea typeface="Arial Unicode MS" pitchFamily="34" charset="-128"/>
                    <a:cs typeface="Arial Unicode MS" pitchFamily="34" charset="-128"/>
                  </a:endParaRPr>
                </a:p>
                <a:p>
                  <a:endParaRPr lang="en-CA"/>
                </a:p>
              </p:txBody>
            </p:sp>
            <p:sp>
              <p:nvSpPr>
                <p:cNvPr id="42142" name="Rectangle 158"/>
                <p:cNvSpPr>
                  <a:spLocks noChangeArrowheads="1"/>
                </p:cNvSpPr>
                <p:nvPr/>
              </p:nvSpPr>
              <p:spPr bwMode="auto">
                <a:xfrm>
                  <a:off x="0" y="1324"/>
                  <a:ext cx="1455" cy="403"/>
                </a:xfrm>
                <a:prstGeom prst="rect">
                  <a:avLst/>
                </a:prstGeom>
                <a:noFill/>
                <a:ln w="7">
                  <a:solidFill>
                    <a:srgbClr val="A0A0A0"/>
                  </a:solidFill>
                  <a:miter lim="800000"/>
                  <a:headEnd/>
                  <a:tailEnd/>
                </a:ln>
                <a:effectLst/>
              </p:spPr>
              <p:txBody>
                <a:bodyPr/>
                <a:lstStyle/>
                <a:p>
                  <a:endParaRPr lang="en-US"/>
                </a:p>
              </p:txBody>
            </p:sp>
          </p:grpSp>
          <p:grpSp>
            <p:nvGrpSpPr>
              <p:cNvPr id="26" name="Group 161"/>
              <p:cNvGrpSpPr>
                <a:grpSpLocks/>
              </p:cNvGrpSpPr>
              <p:nvPr/>
            </p:nvGrpSpPr>
            <p:grpSpPr bwMode="auto">
              <a:xfrm>
                <a:off x="1455" y="1324"/>
                <a:ext cx="409" cy="403"/>
                <a:chOff x="1455" y="1324"/>
                <a:chExt cx="409" cy="403"/>
              </a:xfrm>
            </p:grpSpPr>
            <p:sp>
              <p:nvSpPr>
                <p:cNvPr id="42010" name="Rectangle 26"/>
                <p:cNvSpPr>
                  <a:spLocks noChangeArrowheads="1"/>
                </p:cNvSpPr>
                <p:nvPr/>
              </p:nvSpPr>
              <p:spPr bwMode="auto">
                <a:xfrm>
                  <a:off x="1498" y="1324"/>
                  <a:ext cx="323" cy="403"/>
                </a:xfrm>
                <a:prstGeom prst="rect">
                  <a:avLst/>
                </a:prstGeom>
                <a:noFill/>
                <a:ln w="9525">
                  <a:noFill/>
                  <a:miter lim="800000"/>
                  <a:headEnd/>
                  <a:tailEnd/>
                </a:ln>
                <a:effectLst/>
              </p:spPr>
              <p:txBody>
                <a:bodyPr/>
                <a:lstStyle/>
                <a:p>
                  <a:r>
                    <a:rPr lang="en-CA" sz="1200">
                      <a:latin typeface="Arial" charset="0"/>
                      <a:cs typeface="Arial" charset="0"/>
                    </a:rPr>
                    <a:t>.70</a:t>
                  </a:r>
                  <a:endParaRPr lang="en-CA" sz="1200">
                    <a:ea typeface="Arial Unicode MS" pitchFamily="34" charset="-128"/>
                    <a:cs typeface="Arial Unicode MS" pitchFamily="34" charset="-128"/>
                  </a:endParaRPr>
                </a:p>
                <a:p>
                  <a:endParaRPr lang="en-CA"/>
                </a:p>
              </p:txBody>
            </p:sp>
            <p:sp>
              <p:nvSpPr>
                <p:cNvPr id="42144" name="Rectangle 160"/>
                <p:cNvSpPr>
                  <a:spLocks noChangeArrowheads="1"/>
                </p:cNvSpPr>
                <p:nvPr/>
              </p:nvSpPr>
              <p:spPr bwMode="auto">
                <a:xfrm>
                  <a:off x="1455" y="1324"/>
                  <a:ext cx="409" cy="403"/>
                </a:xfrm>
                <a:prstGeom prst="rect">
                  <a:avLst/>
                </a:prstGeom>
                <a:noFill/>
                <a:ln w="7">
                  <a:solidFill>
                    <a:srgbClr val="A0A0A0"/>
                  </a:solidFill>
                  <a:miter lim="800000"/>
                  <a:headEnd/>
                  <a:tailEnd/>
                </a:ln>
                <a:effectLst/>
              </p:spPr>
              <p:txBody>
                <a:bodyPr/>
                <a:lstStyle/>
                <a:p>
                  <a:endParaRPr lang="en-US"/>
                </a:p>
              </p:txBody>
            </p:sp>
          </p:grpSp>
          <p:grpSp>
            <p:nvGrpSpPr>
              <p:cNvPr id="27" name="Group 163"/>
              <p:cNvGrpSpPr>
                <a:grpSpLocks/>
              </p:cNvGrpSpPr>
              <p:nvPr/>
            </p:nvGrpSpPr>
            <p:grpSpPr bwMode="auto">
              <a:xfrm>
                <a:off x="1864" y="1324"/>
                <a:ext cx="395" cy="403"/>
                <a:chOff x="1864" y="1324"/>
                <a:chExt cx="395" cy="403"/>
              </a:xfrm>
            </p:grpSpPr>
            <p:sp>
              <p:nvSpPr>
                <p:cNvPr id="42011" name="Rectangle 27"/>
                <p:cNvSpPr>
                  <a:spLocks noChangeArrowheads="1"/>
                </p:cNvSpPr>
                <p:nvPr/>
              </p:nvSpPr>
              <p:spPr bwMode="auto">
                <a:xfrm>
                  <a:off x="1907" y="1324"/>
                  <a:ext cx="309" cy="403"/>
                </a:xfrm>
                <a:prstGeom prst="rect">
                  <a:avLst/>
                </a:prstGeom>
                <a:noFill/>
                <a:ln w="9525">
                  <a:noFill/>
                  <a:miter lim="800000"/>
                  <a:headEnd/>
                  <a:tailEnd/>
                </a:ln>
                <a:effectLst/>
              </p:spPr>
              <p:txBody>
                <a:bodyPr/>
                <a:lstStyle/>
                <a:p>
                  <a:r>
                    <a:rPr lang="en-CA" sz="1200">
                      <a:latin typeface="Arial" charset="0"/>
                      <a:cs typeface="Arial" charset="0"/>
                    </a:rPr>
                    <a:t>.85</a:t>
                  </a:r>
                  <a:endParaRPr lang="en-CA" sz="1200">
                    <a:ea typeface="Arial Unicode MS" pitchFamily="34" charset="-128"/>
                    <a:cs typeface="Arial Unicode MS" pitchFamily="34" charset="-128"/>
                  </a:endParaRPr>
                </a:p>
                <a:p>
                  <a:endParaRPr lang="en-CA"/>
                </a:p>
              </p:txBody>
            </p:sp>
            <p:sp>
              <p:nvSpPr>
                <p:cNvPr id="42146" name="Rectangle 162"/>
                <p:cNvSpPr>
                  <a:spLocks noChangeArrowheads="1"/>
                </p:cNvSpPr>
                <p:nvPr/>
              </p:nvSpPr>
              <p:spPr bwMode="auto">
                <a:xfrm>
                  <a:off x="1864" y="1324"/>
                  <a:ext cx="395" cy="403"/>
                </a:xfrm>
                <a:prstGeom prst="rect">
                  <a:avLst/>
                </a:prstGeom>
                <a:noFill/>
                <a:ln w="7">
                  <a:solidFill>
                    <a:srgbClr val="A0A0A0"/>
                  </a:solidFill>
                  <a:miter lim="800000"/>
                  <a:headEnd/>
                  <a:tailEnd/>
                </a:ln>
                <a:effectLst/>
              </p:spPr>
              <p:txBody>
                <a:bodyPr/>
                <a:lstStyle/>
                <a:p>
                  <a:endParaRPr lang="en-US"/>
                </a:p>
              </p:txBody>
            </p:sp>
          </p:grpSp>
          <p:grpSp>
            <p:nvGrpSpPr>
              <p:cNvPr id="28" name="Group 165"/>
              <p:cNvGrpSpPr>
                <a:grpSpLocks/>
              </p:cNvGrpSpPr>
              <p:nvPr/>
            </p:nvGrpSpPr>
            <p:grpSpPr bwMode="auto">
              <a:xfrm>
                <a:off x="2259" y="1324"/>
                <a:ext cx="581" cy="403"/>
                <a:chOff x="2259" y="1324"/>
                <a:chExt cx="581" cy="403"/>
              </a:xfrm>
            </p:grpSpPr>
            <p:sp>
              <p:nvSpPr>
                <p:cNvPr id="42012" name="Rectangle 28"/>
                <p:cNvSpPr>
                  <a:spLocks noChangeArrowheads="1"/>
                </p:cNvSpPr>
                <p:nvPr/>
              </p:nvSpPr>
              <p:spPr bwMode="auto">
                <a:xfrm>
                  <a:off x="2302" y="1324"/>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48" name="Rectangle 164"/>
                <p:cNvSpPr>
                  <a:spLocks noChangeArrowheads="1"/>
                </p:cNvSpPr>
                <p:nvPr/>
              </p:nvSpPr>
              <p:spPr bwMode="auto">
                <a:xfrm>
                  <a:off x="2259" y="1324"/>
                  <a:ext cx="581" cy="403"/>
                </a:xfrm>
                <a:prstGeom prst="rect">
                  <a:avLst/>
                </a:prstGeom>
                <a:noFill/>
                <a:ln w="7">
                  <a:solidFill>
                    <a:srgbClr val="A0A0A0"/>
                  </a:solidFill>
                  <a:miter lim="800000"/>
                  <a:headEnd/>
                  <a:tailEnd/>
                </a:ln>
                <a:effectLst/>
              </p:spPr>
              <p:txBody>
                <a:bodyPr/>
                <a:lstStyle/>
                <a:p>
                  <a:endParaRPr lang="en-US"/>
                </a:p>
              </p:txBody>
            </p:sp>
          </p:grpSp>
          <p:grpSp>
            <p:nvGrpSpPr>
              <p:cNvPr id="29" name="Group 167"/>
              <p:cNvGrpSpPr>
                <a:grpSpLocks/>
              </p:cNvGrpSpPr>
              <p:nvPr/>
            </p:nvGrpSpPr>
            <p:grpSpPr bwMode="auto">
              <a:xfrm>
                <a:off x="2840" y="1324"/>
                <a:ext cx="416" cy="403"/>
                <a:chOff x="2840" y="1324"/>
                <a:chExt cx="416" cy="403"/>
              </a:xfrm>
            </p:grpSpPr>
            <p:sp>
              <p:nvSpPr>
                <p:cNvPr id="42013" name="Rectangle 29"/>
                <p:cNvSpPr>
                  <a:spLocks noChangeArrowheads="1"/>
                </p:cNvSpPr>
                <p:nvPr/>
              </p:nvSpPr>
              <p:spPr bwMode="auto">
                <a:xfrm>
                  <a:off x="2883" y="1324"/>
                  <a:ext cx="330" cy="403"/>
                </a:xfrm>
                <a:prstGeom prst="rect">
                  <a:avLst/>
                </a:prstGeom>
                <a:noFill/>
                <a:ln w="9525">
                  <a:noFill/>
                  <a:miter lim="800000"/>
                  <a:headEnd/>
                  <a:tailEnd/>
                </a:ln>
                <a:effectLst/>
              </p:spPr>
              <p:txBody>
                <a:bodyPr/>
                <a:lstStyle/>
                <a:p>
                  <a:r>
                    <a:rPr lang="en-CA" sz="1200">
                      <a:latin typeface="Arial" charset="0"/>
                      <a:cs typeface="Arial" charset="0"/>
                    </a:rPr>
                    <a:t>1.15</a:t>
                  </a:r>
                  <a:endParaRPr lang="en-CA" sz="1200">
                    <a:ea typeface="Arial Unicode MS" pitchFamily="34" charset="-128"/>
                    <a:cs typeface="Arial Unicode MS" pitchFamily="34" charset="-128"/>
                  </a:endParaRPr>
                </a:p>
                <a:p>
                  <a:endParaRPr lang="en-CA"/>
                </a:p>
              </p:txBody>
            </p:sp>
            <p:sp>
              <p:nvSpPr>
                <p:cNvPr id="42150" name="Rectangle 166"/>
                <p:cNvSpPr>
                  <a:spLocks noChangeArrowheads="1"/>
                </p:cNvSpPr>
                <p:nvPr/>
              </p:nvSpPr>
              <p:spPr bwMode="auto">
                <a:xfrm>
                  <a:off x="2840" y="1324"/>
                  <a:ext cx="416" cy="403"/>
                </a:xfrm>
                <a:prstGeom prst="rect">
                  <a:avLst/>
                </a:prstGeom>
                <a:noFill/>
                <a:ln w="7">
                  <a:solidFill>
                    <a:srgbClr val="A0A0A0"/>
                  </a:solidFill>
                  <a:miter lim="800000"/>
                  <a:headEnd/>
                  <a:tailEnd/>
                </a:ln>
                <a:effectLst/>
              </p:spPr>
              <p:txBody>
                <a:bodyPr/>
                <a:lstStyle/>
                <a:p>
                  <a:endParaRPr lang="en-US"/>
                </a:p>
              </p:txBody>
            </p:sp>
          </p:grpSp>
          <p:grpSp>
            <p:nvGrpSpPr>
              <p:cNvPr id="30" name="Group 169"/>
              <p:cNvGrpSpPr>
                <a:grpSpLocks/>
              </p:cNvGrpSpPr>
              <p:nvPr/>
            </p:nvGrpSpPr>
            <p:grpSpPr bwMode="auto">
              <a:xfrm>
                <a:off x="3256" y="1324"/>
                <a:ext cx="416" cy="403"/>
                <a:chOff x="3256" y="1324"/>
                <a:chExt cx="416" cy="403"/>
              </a:xfrm>
            </p:grpSpPr>
            <p:sp>
              <p:nvSpPr>
                <p:cNvPr id="42014" name="Rectangle 30"/>
                <p:cNvSpPr>
                  <a:spLocks noChangeArrowheads="1"/>
                </p:cNvSpPr>
                <p:nvPr/>
              </p:nvSpPr>
              <p:spPr bwMode="auto">
                <a:xfrm>
                  <a:off x="3299" y="1324"/>
                  <a:ext cx="330" cy="403"/>
                </a:xfrm>
                <a:prstGeom prst="rect">
                  <a:avLst/>
                </a:prstGeom>
                <a:noFill/>
                <a:ln w="9525">
                  <a:noFill/>
                  <a:miter lim="800000"/>
                  <a:headEnd/>
                  <a:tailEnd/>
                </a:ln>
                <a:effectLst/>
              </p:spPr>
              <p:txBody>
                <a:bodyPr/>
                <a:lstStyle/>
                <a:p>
                  <a:r>
                    <a:rPr lang="en-CA" sz="1200">
                      <a:latin typeface="Arial" charset="0"/>
                      <a:cs typeface="Arial" charset="0"/>
                    </a:rPr>
                    <a:t>1.30</a:t>
                  </a:r>
                  <a:endParaRPr lang="en-CA" sz="1200">
                    <a:ea typeface="Arial Unicode MS" pitchFamily="34" charset="-128"/>
                    <a:cs typeface="Arial Unicode MS" pitchFamily="34" charset="-128"/>
                  </a:endParaRPr>
                </a:p>
                <a:p>
                  <a:endParaRPr lang="en-CA"/>
                </a:p>
              </p:txBody>
            </p:sp>
            <p:sp>
              <p:nvSpPr>
                <p:cNvPr id="42152" name="Rectangle 168"/>
                <p:cNvSpPr>
                  <a:spLocks noChangeArrowheads="1"/>
                </p:cNvSpPr>
                <p:nvPr/>
              </p:nvSpPr>
              <p:spPr bwMode="auto">
                <a:xfrm>
                  <a:off x="3256" y="1324"/>
                  <a:ext cx="416" cy="403"/>
                </a:xfrm>
                <a:prstGeom prst="rect">
                  <a:avLst/>
                </a:prstGeom>
                <a:noFill/>
                <a:ln w="7">
                  <a:solidFill>
                    <a:srgbClr val="A0A0A0"/>
                  </a:solidFill>
                  <a:miter lim="800000"/>
                  <a:headEnd/>
                  <a:tailEnd/>
                </a:ln>
                <a:effectLst/>
              </p:spPr>
              <p:txBody>
                <a:bodyPr/>
                <a:lstStyle/>
                <a:p>
                  <a:endParaRPr lang="en-US"/>
                </a:p>
              </p:txBody>
            </p:sp>
          </p:grpSp>
          <p:grpSp>
            <p:nvGrpSpPr>
              <p:cNvPr id="31" name="Group 171"/>
              <p:cNvGrpSpPr>
                <a:grpSpLocks/>
              </p:cNvGrpSpPr>
              <p:nvPr/>
            </p:nvGrpSpPr>
            <p:grpSpPr bwMode="auto">
              <a:xfrm>
                <a:off x="3672" y="1324"/>
                <a:ext cx="441" cy="403"/>
                <a:chOff x="3672" y="1324"/>
                <a:chExt cx="441" cy="403"/>
              </a:xfrm>
            </p:grpSpPr>
            <p:sp>
              <p:nvSpPr>
                <p:cNvPr id="42015" name="Rectangle 31"/>
                <p:cNvSpPr>
                  <a:spLocks noChangeArrowheads="1"/>
                </p:cNvSpPr>
                <p:nvPr/>
              </p:nvSpPr>
              <p:spPr bwMode="auto">
                <a:xfrm>
                  <a:off x="3715" y="1324"/>
                  <a:ext cx="355" cy="403"/>
                </a:xfrm>
                <a:prstGeom prst="rect">
                  <a:avLst/>
                </a:prstGeom>
                <a:noFill/>
                <a:ln w="9525">
                  <a:noFill/>
                  <a:miter lim="800000"/>
                  <a:headEnd/>
                  <a:tailEnd/>
                </a:ln>
                <a:effectLst/>
              </p:spPr>
              <p:txBody>
                <a:bodyPr/>
                <a:lstStyle/>
                <a:p>
                  <a:r>
                    <a:rPr lang="en-CA" sz="1200">
                      <a:latin typeface="Arial" charset="0"/>
                      <a:cs typeface="Arial" charset="0"/>
                    </a:rPr>
                    <a:t>1.65</a:t>
                  </a:r>
                  <a:endParaRPr lang="en-CA" sz="1200">
                    <a:ea typeface="Arial Unicode MS" pitchFamily="34" charset="-128"/>
                    <a:cs typeface="Arial Unicode MS" pitchFamily="34" charset="-128"/>
                  </a:endParaRPr>
                </a:p>
                <a:p>
                  <a:endParaRPr lang="en-CA"/>
                </a:p>
              </p:txBody>
            </p:sp>
            <p:sp>
              <p:nvSpPr>
                <p:cNvPr id="42154" name="Rectangle 170"/>
                <p:cNvSpPr>
                  <a:spLocks noChangeArrowheads="1"/>
                </p:cNvSpPr>
                <p:nvPr/>
              </p:nvSpPr>
              <p:spPr bwMode="auto">
                <a:xfrm>
                  <a:off x="3672" y="1324"/>
                  <a:ext cx="441" cy="403"/>
                </a:xfrm>
                <a:prstGeom prst="rect">
                  <a:avLst/>
                </a:prstGeom>
                <a:noFill/>
                <a:ln w="7">
                  <a:solidFill>
                    <a:srgbClr val="A0A0A0"/>
                  </a:solidFill>
                  <a:miter lim="800000"/>
                  <a:headEnd/>
                  <a:tailEnd/>
                </a:ln>
                <a:effectLst/>
              </p:spPr>
              <p:txBody>
                <a:bodyPr/>
                <a:lstStyle/>
                <a:p>
                  <a:endParaRPr lang="en-US"/>
                </a:p>
              </p:txBody>
            </p:sp>
          </p:grpSp>
          <p:grpSp>
            <p:nvGrpSpPr>
              <p:cNvPr id="41984" name="Group 173"/>
              <p:cNvGrpSpPr>
                <a:grpSpLocks/>
              </p:cNvGrpSpPr>
              <p:nvPr/>
            </p:nvGrpSpPr>
            <p:grpSpPr bwMode="auto">
              <a:xfrm>
                <a:off x="0" y="1727"/>
                <a:ext cx="1455" cy="403"/>
                <a:chOff x="0" y="1727"/>
                <a:chExt cx="1455" cy="403"/>
              </a:xfrm>
            </p:grpSpPr>
            <p:sp>
              <p:nvSpPr>
                <p:cNvPr id="42016" name="Rectangle 32"/>
                <p:cNvSpPr>
                  <a:spLocks noChangeArrowheads="1"/>
                </p:cNvSpPr>
                <p:nvPr/>
              </p:nvSpPr>
              <p:spPr bwMode="auto">
                <a:xfrm>
                  <a:off x="43" y="1727"/>
                  <a:ext cx="1369" cy="403"/>
                </a:xfrm>
                <a:prstGeom prst="rect">
                  <a:avLst/>
                </a:prstGeom>
                <a:noFill/>
                <a:ln w="9525">
                  <a:noFill/>
                  <a:miter lim="800000"/>
                  <a:headEnd/>
                  <a:tailEnd/>
                </a:ln>
                <a:effectLst/>
              </p:spPr>
              <p:txBody>
                <a:bodyPr/>
                <a:lstStyle/>
                <a:p>
                  <a:r>
                    <a:rPr lang="en-CA" sz="1200" b="1">
                      <a:latin typeface="Arial" charset="0"/>
                      <a:cs typeface="Arial" charset="0"/>
                    </a:rPr>
                    <a:t>Execution Time Constraint</a:t>
                  </a:r>
                  <a:endParaRPr lang="en-CA" sz="1200">
                    <a:ea typeface="Arial Unicode MS" pitchFamily="34" charset="-128"/>
                    <a:cs typeface="Arial Unicode MS" pitchFamily="34" charset="-128"/>
                  </a:endParaRPr>
                </a:p>
                <a:p>
                  <a:endParaRPr lang="en-CA"/>
                </a:p>
              </p:txBody>
            </p:sp>
            <p:sp>
              <p:nvSpPr>
                <p:cNvPr id="42156" name="Rectangle 172"/>
                <p:cNvSpPr>
                  <a:spLocks noChangeArrowheads="1"/>
                </p:cNvSpPr>
                <p:nvPr/>
              </p:nvSpPr>
              <p:spPr bwMode="auto">
                <a:xfrm>
                  <a:off x="0" y="1727"/>
                  <a:ext cx="1455" cy="403"/>
                </a:xfrm>
                <a:prstGeom prst="rect">
                  <a:avLst/>
                </a:prstGeom>
                <a:noFill/>
                <a:ln w="7">
                  <a:solidFill>
                    <a:srgbClr val="A0A0A0"/>
                  </a:solidFill>
                  <a:miter lim="800000"/>
                  <a:headEnd/>
                  <a:tailEnd/>
                </a:ln>
                <a:effectLst/>
              </p:spPr>
              <p:txBody>
                <a:bodyPr/>
                <a:lstStyle/>
                <a:p>
                  <a:endParaRPr lang="en-US"/>
                </a:p>
              </p:txBody>
            </p:sp>
          </p:grpSp>
          <p:grpSp>
            <p:nvGrpSpPr>
              <p:cNvPr id="41985" name="Group 175"/>
              <p:cNvGrpSpPr>
                <a:grpSpLocks/>
              </p:cNvGrpSpPr>
              <p:nvPr/>
            </p:nvGrpSpPr>
            <p:grpSpPr bwMode="auto">
              <a:xfrm>
                <a:off x="1455" y="1727"/>
                <a:ext cx="409" cy="403"/>
                <a:chOff x="1455" y="1727"/>
                <a:chExt cx="409" cy="403"/>
              </a:xfrm>
            </p:grpSpPr>
            <p:sp>
              <p:nvSpPr>
                <p:cNvPr id="42017" name="Rectangle 33"/>
                <p:cNvSpPr>
                  <a:spLocks noChangeArrowheads="1"/>
                </p:cNvSpPr>
                <p:nvPr/>
              </p:nvSpPr>
              <p:spPr bwMode="auto">
                <a:xfrm>
                  <a:off x="1498" y="1727"/>
                  <a:ext cx="323"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58" name="Rectangle 174"/>
                <p:cNvSpPr>
                  <a:spLocks noChangeArrowheads="1"/>
                </p:cNvSpPr>
                <p:nvPr/>
              </p:nvSpPr>
              <p:spPr bwMode="auto">
                <a:xfrm>
                  <a:off x="1455" y="1727"/>
                  <a:ext cx="409" cy="403"/>
                </a:xfrm>
                <a:prstGeom prst="rect">
                  <a:avLst/>
                </a:prstGeom>
                <a:noFill/>
                <a:ln w="7">
                  <a:solidFill>
                    <a:srgbClr val="A0A0A0"/>
                  </a:solidFill>
                  <a:miter lim="800000"/>
                  <a:headEnd/>
                  <a:tailEnd/>
                </a:ln>
                <a:effectLst/>
              </p:spPr>
              <p:txBody>
                <a:bodyPr/>
                <a:lstStyle/>
                <a:p>
                  <a:endParaRPr lang="en-US"/>
                </a:p>
              </p:txBody>
            </p:sp>
          </p:grpSp>
          <p:grpSp>
            <p:nvGrpSpPr>
              <p:cNvPr id="42101" name="Group 177"/>
              <p:cNvGrpSpPr>
                <a:grpSpLocks/>
              </p:cNvGrpSpPr>
              <p:nvPr/>
            </p:nvGrpSpPr>
            <p:grpSpPr bwMode="auto">
              <a:xfrm>
                <a:off x="1864" y="1727"/>
                <a:ext cx="395" cy="403"/>
                <a:chOff x="1864" y="1727"/>
                <a:chExt cx="395" cy="403"/>
              </a:xfrm>
            </p:grpSpPr>
            <p:sp>
              <p:nvSpPr>
                <p:cNvPr id="42018" name="Rectangle 34"/>
                <p:cNvSpPr>
                  <a:spLocks noChangeArrowheads="1"/>
                </p:cNvSpPr>
                <p:nvPr/>
              </p:nvSpPr>
              <p:spPr bwMode="auto">
                <a:xfrm>
                  <a:off x="1907" y="1727"/>
                  <a:ext cx="309"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60" name="Rectangle 176"/>
                <p:cNvSpPr>
                  <a:spLocks noChangeArrowheads="1"/>
                </p:cNvSpPr>
                <p:nvPr/>
              </p:nvSpPr>
              <p:spPr bwMode="auto">
                <a:xfrm>
                  <a:off x="1864" y="1727"/>
                  <a:ext cx="395" cy="403"/>
                </a:xfrm>
                <a:prstGeom prst="rect">
                  <a:avLst/>
                </a:prstGeom>
                <a:noFill/>
                <a:ln w="7">
                  <a:solidFill>
                    <a:srgbClr val="A0A0A0"/>
                  </a:solidFill>
                  <a:miter lim="800000"/>
                  <a:headEnd/>
                  <a:tailEnd/>
                </a:ln>
                <a:effectLst/>
              </p:spPr>
              <p:txBody>
                <a:bodyPr/>
                <a:lstStyle/>
                <a:p>
                  <a:endParaRPr lang="en-US"/>
                </a:p>
              </p:txBody>
            </p:sp>
          </p:grpSp>
          <p:grpSp>
            <p:nvGrpSpPr>
              <p:cNvPr id="42103" name="Group 179"/>
              <p:cNvGrpSpPr>
                <a:grpSpLocks/>
              </p:cNvGrpSpPr>
              <p:nvPr/>
            </p:nvGrpSpPr>
            <p:grpSpPr bwMode="auto">
              <a:xfrm>
                <a:off x="2259" y="1727"/>
                <a:ext cx="581" cy="403"/>
                <a:chOff x="2259" y="1727"/>
                <a:chExt cx="581" cy="403"/>
              </a:xfrm>
            </p:grpSpPr>
            <p:sp>
              <p:nvSpPr>
                <p:cNvPr id="42019" name="Rectangle 35"/>
                <p:cNvSpPr>
                  <a:spLocks noChangeArrowheads="1"/>
                </p:cNvSpPr>
                <p:nvPr/>
              </p:nvSpPr>
              <p:spPr bwMode="auto">
                <a:xfrm>
                  <a:off x="2302" y="1727"/>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62" name="Rectangle 178"/>
                <p:cNvSpPr>
                  <a:spLocks noChangeArrowheads="1"/>
                </p:cNvSpPr>
                <p:nvPr/>
              </p:nvSpPr>
              <p:spPr bwMode="auto">
                <a:xfrm>
                  <a:off x="2259" y="1727"/>
                  <a:ext cx="581" cy="403"/>
                </a:xfrm>
                <a:prstGeom prst="rect">
                  <a:avLst/>
                </a:prstGeom>
                <a:noFill/>
                <a:ln w="7">
                  <a:solidFill>
                    <a:srgbClr val="A0A0A0"/>
                  </a:solidFill>
                  <a:miter lim="800000"/>
                  <a:headEnd/>
                  <a:tailEnd/>
                </a:ln>
                <a:effectLst/>
              </p:spPr>
              <p:txBody>
                <a:bodyPr/>
                <a:lstStyle/>
                <a:p>
                  <a:endParaRPr lang="en-US"/>
                </a:p>
              </p:txBody>
            </p:sp>
          </p:grpSp>
          <p:grpSp>
            <p:nvGrpSpPr>
              <p:cNvPr id="42105" name="Group 181"/>
              <p:cNvGrpSpPr>
                <a:grpSpLocks/>
              </p:cNvGrpSpPr>
              <p:nvPr/>
            </p:nvGrpSpPr>
            <p:grpSpPr bwMode="auto">
              <a:xfrm>
                <a:off x="2840" y="1727"/>
                <a:ext cx="416" cy="403"/>
                <a:chOff x="2840" y="1727"/>
                <a:chExt cx="416" cy="403"/>
              </a:xfrm>
            </p:grpSpPr>
            <p:sp>
              <p:nvSpPr>
                <p:cNvPr id="42020" name="Rectangle 36"/>
                <p:cNvSpPr>
                  <a:spLocks noChangeArrowheads="1"/>
                </p:cNvSpPr>
                <p:nvPr/>
              </p:nvSpPr>
              <p:spPr bwMode="auto">
                <a:xfrm>
                  <a:off x="2883" y="1727"/>
                  <a:ext cx="330" cy="403"/>
                </a:xfrm>
                <a:prstGeom prst="rect">
                  <a:avLst/>
                </a:prstGeom>
                <a:noFill/>
                <a:ln w="9525">
                  <a:noFill/>
                  <a:miter lim="800000"/>
                  <a:headEnd/>
                  <a:tailEnd/>
                </a:ln>
                <a:effectLst/>
              </p:spPr>
              <p:txBody>
                <a:bodyPr/>
                <a:lstStyle/>
                <a:p>
                  <a:r>
                    <a:rPr lang="en-CA" sz="1200">
                      <a:latin typeface="Arial" charset="0"/>
                      <a:cs typeface="Arial" charset="0"/>
                    </a:rPr>
                    <a:t>1.11</a:t>
                  </a:r>
                  <a:endParaRPr lang="en-CA" sz="1200">
                    <a:ea typeface="Arial Unicode MS" pitchFamily="34" charset="-128"/>
                    <a:cs typeface="Arial Unicode MS" pitchFamily="34" charset="-128"/>
                  </a:endParaRPr>
                </a:p>
                <a:p>
                  <a:endParaRPr lang="en-CA"/>
                </a:p>
              </p:txBody>
            </p:sp>
            <p:sp>
              <p:nvSpPr>
                <p:cNvPr id="42164" name="Rectangle 180"/>
                <p:cNvSpPr>
                  <a:spLocks noChangeArrowheads="1"/>
                </p:cNvSpPr>
                <p:nvPr/>
              </p:nvSpPr>
              <p:spPr bwMode="auto">
                <a:xfrm>
                  <a:off x="2840" y="1727"/>
                  <a:ext cx="416" cy="403"/>
                </a:xfrm>
                <a:prstGeom prst="rect">
                  <a:avLst/>
                </a:prstGeom>
                <a:noFill/>
                <a:ln w="7">
                  <a:solidFill>
                    <a:srgbClr val="A0A0A0"/>
                  </a:solidFill>
                  <a:miter lim="800000"/>
                  <a:headEnd/>
                  <a:tailEnd/>
                </a:ln>
                <a:effectLst/>
              </p:spPr>
              <p:txBody>
                <a:bodyPr/>
                <a:lstStyle/>
                <a:p>
                  <a:endParaRPr lang="en-US"/>
                </a:p>
              </p:txBody>
            </p:sp>
          </p:grpSp>
          <p:grpSp>
            <p:nvGrpSpPr>
              <p:cNvPr id="42107" name="Group 183"/>
              <p:cNvGrpSpPr>
                <a:grpSpLocks/>
              </p:cNvGrpSpPr>
              <p:nvPr/>
            </p:nvGrpSpPr>
            <p:grpSpPr bwMode="auto">
              <a:xfrm>
                <a:off x="3256" y="1727"/>
                <a:ext cx="416" cy="403"/>
                <a:chOff x="3256" y="1727"/>
                <a:chExt cx="416" cy="403"/>
              </a:xfrm>
            </p:grpSpPr>
            <p:sp>
              <p:nvSpPr>
                <p:cNvPr id="42021" name="Rectangle 37"/>
                <p:cNvSpPr>
                  <a:spLocks noChangeArrowheads="1"/>
                </p:cNvSpPr>
                <p:nvPr/>
              </p:nvSpPr>
              <p:spPr bwMode="auto">
                <a:xfrm>
                  <a:off x="3299" y="1727"/>
                  <a:ext cx="330" cy="403"/>
                </a:xfrm>
                <a:prstGeom prst="rect">
                  <a:avLst/>
                </a:prstGeom>
                <a:noFill/>
                <a:ln w="9525">
                  <a:noFill/>
                  <a:miter lim="800000"/>
                  <a:headEnd/>
                  <a:tailEnd/>
                </a:ln>
                <a:effectLst/>
              </p:spPr>
              <p:txBody>
                <a:bodyPr/>
                <a:lstStyle/>
                <a:p>
                  <a:r>
                    <a:rPr lang="en-CA" sz="1200">
                      <a:latin typeface="Arial" charset="0"/>
                      <a:cs typeface="Arial" charset="0"/>
                    </a:rPr>
                    <a:t>1.30</a:t>
                  </a:r>
                  <a:endParaRPr lang="en-CA" sz="1200">
                    <a:ea typeface="Arial Unicode MS" pitchFamily="34" charset="-128"/>
                    <a:cs typeface="Arial Unicode MS" pitchFamily="34" charset="-128"/>
                  </a:endParaRPr>
                </a:p>
                <a:p>
                  <a:endParaRPr lang="en-CA"/>
                </a:p>
              </p:txBody>
            </p:sp>
            <p:sp>
              <p:nvSpPr>
                <p:cNvPr id="42166" name="Rectangle 182"/>
                <p:cNvSpPr>
                  <a:spLocks noChangeArrowheads="1"/>
                </p:cNvSpPr>
                <p:nvPr/>
              </p:nvSpPr>
              <p:spPr bwMode="auto">
                <a:xfrm>
                  <a:off x="3256" y="1727"/>
                  <a:ext cx="416" cy="403"/>
                </a:xfrm>
                <a:prstGeom prst="rect">
                  <a:avLst/>
                </a:prstGeom>
                <a:noFill/>
                <a:ln w="7">
                  <a:solidFill>
                    <a:srgbClr val="A0A0A0"/>
                  </a:solidFill>
                  <a:miter lim="800000"/>
                  <a:headEnd/>
                  <a:tailEnd/>
                </a:ln>
                <a:effectLst/>
              </p:spPr>
              <p:txBody>
                <a:bodyPr/>
                <a:lstStyle/>
                <a:p>
                  <a:endParaRPr lang="en-US"/>
                </a:p>
              </p:txBody>
            </p:sp>
          </p:grpSp>
          <p:grpSp>
            <p:nvGrpSpPr>
              <p:cNvPr id="42109" name="Group 185"/>
              <p:cNvGrpSpPr>
                <a:grpSpLocks/>
              </p:cNvGrpSpPr>
              <p:nvPr/>
            </p:nvGrpSpPr>
            <p:grpSpPr bwMode="auto">
              <a:xfrm>
                <a:off x="3672" y="1727"/>
                <a:ext cx="441" cy="403"/>
                <a:chOff x="3672" y="1727"/>
                <a:chExt cx="441" cy="403"/>
              </a:xfrm>
            </p:grpSpPr>
            <p:sp>
              <p:nvSpPr>
                <p:cNvPr id="42022" name="Rectangle 38"/>
                <p:cNvSpPr>
                  <a:spLocks noChangeArrowheads="1"/>
                </p:cNvSpPr>
                <p:nvPr/>
              </p:nvSpPr>
              <p:spPr bwMode="auto">
                <a:xfrm>
                  <a:off x="3715" y="1727"/>
                  <a:ext cx="355" cy="403"/>
                </a:xfrm>
                <a:prstGeom prst="rect">
                  <a:avLst/>
                </a:prstGeom>
                <a:noFill/>
                <a:ln w="9525">
                  <a:noFill/>
                  <a:miter lim="800000"/>
                  <a:headEnd/>
                  <a:tailEnd/>
                </a:ln>
                <a:effectLst/>
              </p:spPr>
              <p:txBody>
                <a:bodyPr/>
                <a:lstStyle/>
                <a:p>
                  <a:r>
                    <a:rPr lang="en-CA" sz="1200">
                      <a:latin typeface="Arial" charset="0"/>
                      <a:cs typeface="Arial" charset="0"/>
                    </a:rPr>
                    <a:t>1.66</a:t>
                  </a:r>
                  <a:endParaRPr lang="en-CA" sz="1200">
                    <a:ea typeface="Arial Unicode MS" pitchFamily="34" charset="-128"/>
                    <a:cs typeface="Arial Unicode MS" pitchFamily="34" charset="-128"/>
                  </a:endParaRPr>
                </a:p>
                <a:p>
                  <a:endParaRPr lang="en-CA"/>
                </a:p>
              </p:txBody>
            </p:sp>
            <p:sp>
              <p:nvSpPr>
                <p:cNvPr id="42168" name="Rectangle 184"/>
                <p:cNvSpPr>
                  <a:spLocks noChangeArrowheads="1"/>
                </p:cNvSpPr>
                <p:nvPr/>
              </p:nvSpPr>
              <p:spPr bwMode="auto">
                <a:xfrm>
                  <a:off x="3672" y="1727"/>
                  <a:ext cx="441" cy="403"/>
                </a:xfrm>
                <a:prstGeom prst="rect">
                  <a:avLst/>
                </a:prstGeom>
                <a:noFill/>
                <a:ln w="7">
                  <a:solidFill>
                    <a:srgbClr val="A0A0A0"/>
                  </a:solidFill>
                  <a:miter lim="800000"/>
                  <a:headEnd/>
                  <a:tailEnd/>
                </a:ln>
                <a:effectLst/>
              </p:spPr>
              <p:txBody>
                <a:bodyPr/>
                <a:lstStyle/>
                <a:p>
                  <a:endParaRPr lang="en-US"/>
                </a:p>
              </p:txBody>
            </p:sp>
          </p:grpSp>
          <p:grpSp>
            <p:nvGrpSpPr>
              <p:cNvPr id="42111" name="Group 187"/>
              <p:cNvGrpSpPr>
                <a:grpSpLocks/>
              </p:cNvGrpSpPr>
              <p:nvPr/>
            </p:nvGrpSpPr>
            <p:grpSpPr bwMode="auto">
              <a:xfrm>
                <a:off x="0" y="2130"/>
                <a:ext cx="1455" cy="403"/>
                <a:chOff x="0" y="2130"/>
                <a:chExt cx="1455" cy="403"/>
              </a:xfrm>
            </p:grpSpPr>
            <p:sp>
              <p:nvSpPr>
                <p:cNvPr id="42023" name="Rectangle 39"/>
                <p:cNvSpPr>
                  <a:spLocks noChangeArrowheads="1"/>
                </p:cNvSpPr>
                <p:nvPr/>
              </p:nvSpPr>
              <p:spPr bwMode="auto">
                <a:xfrm>
                  <a:off x="43" y="2130"/>
                  <a:ext cx="1369" cy="403"/>
                </a:xfrm>
                <a:prstGeom prst="rect">
                  <a:avLst/>
                </a:prstGeom>
                <a:noFill/>
                <a:ln w="9525">
                  <a:noFill/>
                  <a:miter lim="800000"/>
                  <a:headEnd/>
                  <a:tailEnd/>
                </a:ln>
                <a:effectLst/>
              </p:spPr>
              <p:txBody>
                <a:bodyPr/>
                <a:lstStyle/>
                <a:p>
                  <a:r>
                    <a:rPr lang="en-CA" sz="1200" b="1">
                      <a:latin typeface="Arial" charset="0"/>
                      <a:cs typeface="Arial" charset="0"/>
                    </a:rPr>
                    <a:t>Main Storage Constraint</a:t>
                  </a:r>
                  <a:endParaRPr lang="en-CA" sz="1200">
                    <a:ea typeface="Arial Unicode MS" pitchFamily="34" charset="-128"/>
                    <a:cs typeface="Arial Unicode MS" pitchFamily="34" charset="-128"/>
                  </a:endParaRPr>
                </a:p>
                <a:p>
                  <a:endParaRPr lang="en-CA"/>
                </a:p>
              </p:txBody>
            </p:sp>
            <p:sp>
              <p:nvSpPr>
                <p:cNvPr id="42170" name="Rectangle 186"/>
                <p:cNvSpPr>
                  <a:spLocks noChangeArrowheads="1"/>
                </p:cNvSpPr>
                <p:nvPr/>
              </p:nvSpPr>
              <p:spPr bwMode="auto">
                <a:xfrm>
                  <a:off x="0" y="2130"/>
                  <a:ext cx="1455" cy="403"/>
                </a:xfrm>
                <a:prstGeom prst="rect">
                  <a:avLst/>
                </a:prstGeom>
                <a:noFill/>
                <a:ln w="7">
                  <a:solidFill>
                    <a:srgbClr val="A0A0A0"/>
                  </a:solidFill>
                  <a:miter lim="800000"/>
                  <a:headEnd/>
                  <a:tailEnd/>
                </a:ln>
                <a:effectLst/>
              </p:spPr>
              <p:txBody>
                <a:bodyPr/>
                <a:lstStyle/>
                <a:p>
                  <a:endParaRPr lang="en-US"/>
                </a:p>
              </p:txBody>
            </p:sp>
          </p:grpSp>
          <p:grpSp>
            <p:nvGrpSpPr>
              <p:cNvPr id="42113" name="Group 189"/>
              <p:cNvGrpSpPr>
                <a:grpSpLocks/>
              </p:cNvGrpSpPr>
              <p:nvPr/>
            </p:nvGrpSpPr>
            <p:grpSpPr bwMode="auto">
              <a:xfrm>
                <a:off x="1455" y="2130"/>
                <a:ext cx="409" cy="403"/>
                <a:chOff x="1455" y="2130"/>
                <a:chExt cx="409" cy="403"/>
              </a:xfrm>
            </p:grpSpPr>
            <p:sp>
              <p:nvSpPr>
                <p:cNvPr id="42024" name="Rectangle 40"/>
                <p:cNvSpPr>
                  <a:spLocks noChangeArrowheads="1"/>
                </p:cNvSpPr>
                <p:nvPr/>
              </p:nvSpPr>
              <p:spPr bwMode="auto">
                <a:xfrm>
                  <a:off x="1498" y="2130"/>
                  <a:ext cx="323"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72" name="Rectangle 188"/>
                <p:cNvSpPr>
                  <a:spLocks noChangeArrowheads="1"/>
                </p:cNvSpPr>
                <p:nvPr/>
              </p:nvSpPr>
              <p:spPr bwMode="auto">
                <a:xfrm>
                  <a:off x="1455" y="2130"/>
                  <a:ext cx="409" cy="403"/>
                </a:xfrm>
                <a:prstGeom prst="rect">
                  <a:avLst/>
                </a:prstGeom>
                <a:noFill/>
                <a:ln w="7">
                  <a:solidFill>
                    <a:srgbClr val="A0A0A0"/>
                  </a:solidFill>
                  <a:miter lim="800000"/>
                  <a:headEnd/>
                  <a:tailEnd/>
                </a:ln>
                <a:effectLst/>
              </p:spPr>
              <p:txBody>
                <a:bodyPr/>
                <a:lstStyle/>
                <a:p>
                  <a:endParaRPr lang="en-US"/>
                </a:p>
              </p:txBody>
            </p:sp>
          </p:grpSp>
          <p:grpSp>
            <p:nvGrpSpPr>
              <p:cNvPr id="42115" name="Group 191"/>
              <p:cNvGrpSpPr>
                <a:grpSpLocks/>
              </p:cNvGrpSpPr>
              <p:nvPr/>
            </p:nvGrpSpPr>
            <p:grpSpPr bwMode="auto">
              <a:xfrm>
                <a:off x="1864" y="2130"/>
                <a:ext cx="395" cy="403"/>
                <a:chOff x="1864" y="2130"/>
                <a:chExt cx="395" cy="403"/>
              </a:xfrm>
            </p:grpSpPr>
            <p:sp>
              <p:nvSpPr>
                <p:cNvPr id="42025" name="Rectangle 41"/>
                <p:cNvSpPr>
                  <a:spLocks noChangeArrowheads="1"/>
                </p:cNvSpPr>
                <p:nvPr/>
              </p:nvSpPr>
              <p:spPr bwMode="auto">
                <a:xfrm>
                  <a:off x="1907" y="2130"/>
                  <a:ext cx="309"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74" name="Rectangle 190"/>
                <p:cNvSpPr>
                  <a:spLocks noChangeArrowheads="1"/>
                </p:cNvSpPr>
                <p:nvPr/>
              </p:nvSpPr>
              <p:spPr bwMode="auto">
                <a:xfrm>
                  <a:off x="1864" y="2130"/>
                  <a:ext cx="395" cy="403"/>
                </a:xfrm>
                <a:prstGeom prst="rect">
                  <a:avLst/>
                </a:prstGeom>
                <a:noFill/>
                <a:ln w="7">
                  <a:solidFill>
                    <a:srgbClr val="A0A0A0"/>
                  </a:solidFill>
                  <a:miter lim="800000"/>
                  <a:headEnd/>
                  <a:tailEnd/>
                </a:ln>
                <a:effectLst/>
              </p:spPr>
              <p:txBody>
                <a:bodyPr/>
                <a:lstStyle/>
                <a:p>
                  <a:endParaRPr lang="en-US"/>
                </a:p>
              </p:txBody>
            </p:sp>
          </p:grpSp>
          <p:grpSp>
            <p:nvGrpSpPr>
              <p:cNvPr id="42117" name="Group 193"/>
              <p:cNvGrpSpPr>
                <a:grpSpLocks/>
              </p:cNvGrpSpPr>
              <p:nvPr/>
            </p:nvGrpSpPr>
            <p:grpSpPr bwMode="auto">
              <a:xfrm>
                <a:off x="2259" y="2130"/>
                <a:ext cx="581" cy="403"/>
                <a:chOff x="2259" y="2130"/>
                <a:chExt cx="581" cy="403"/>
              </a:xfrm>
            </p:grpSpPr>
            <p:sp>
              <p:nvSpPr>
                <p:cNvPr id="42026" name="Rectangle 42"/>
                <p:cNvSpPr>
                  <a:spLocks noChangeArrowheads="1"/>
                </p:cNvSpPr>
                <p:nvPr/>
              </p:nvSpPr>
              <p:spPr bwMode="auto">
                <a:xfrm>
                  <a:off x="2302" y="2130"/>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76" name="Rectangle 192"/>
                <p:cNvSpPr>
                  <a:spLocks noChangeArrowheads="1"/>
                </p:cNvSpPr>
                <p:nvPr/>
              </p:nvSpPr>
              <p:spPr bwMode="auto">
                <a:xfrm>
                  <a:off x="2259" y="2130"/>
                  <a:ext cx="581" cy="403"/>
                </a:xfrm>
                <a:prstGeom prst="rect">
                  <a:avLst/>
                </a:prstGeom>
                <a:noFill/>
                <a:ln w="7">
                  <a:solidFill>
                    <a:srgbClr val="A0A0A0"/>
                  </a:solidFill>
                  <a:miter lim="800000"/>
                  <a:headEnd/>
                  <a:tailEnd/>
                </a:ln>
                <a:effectLst/>
              </p:spPr>
              <p:txBody>
                <a:bodyPr/>
                <a:lstStyle/>
                <a:p>
                  <a:endParaRPr lang="en-US"/>
                </a:p>
              </p:txBody>
            </p:sp>
          </p:grpSp>
          <p:grpSp>
            <p:nvGrpSpPr>
              <p:cNvPr id="42119" name="Group 195"/>
              <p:cNvGrpSpPr>
                <a:grpSpLocks/>
              </p:cNvGrpSpPr>
              <p:nvPr/>
            </p:nvGrpSpPr>
            <p:grpSpPr bwMode="auto">
              <a:xfrm>
                <a:off x="2840" y="2130"/>
                <a:ext cx="416" cy="403"/>
                <a:chOff x="2840" y="2130"/>
                <a:chExt cx="416" cy="403"/>
              </a:xfrm>
            </p:grpSpPr>
            <p:sp>
              <p:nvSpPr>
                <p:cNvPr id="42027" name="Rectangle 43"/>
                <p:cNvSpPr>
                  <a:spLocks noChangeArrowheads="1"/>
                </p:cNvSpPr>
                <p:nvPr/>
              </p:nvSpPr>
              <p:spPr bwMode="auto">
                <a:xfrm>
                  <a:off x="2883" y="2130"/>
                  <a:ext cx="330" cy="403"/>
                </a:xfrm>
                <a:prstGeom prst="rect">
                  <a:avLst/>
                </a:prstGeom>
                <a:noFill/>
                <a:ln w="9525">
                  <a:noFill/>
                  <a:miter lim="800000"/>
                  <a:headEnd/>
                  <a:tailEnd/>
                </a:ln>
                <a:effectLst/>
              </p:spPr>
              <p:txBody>
                <a:bodyPr/>
                <a:lstStyle/>
                <a:p>
                  <a:r>
                    <a:rPr lang="en-CA" sz="1200">
                      <a:latin typeface="Arial" charset="0"/>
                      <a:cs typeface="Arial" charset="0"/>
                    </a:rPr>
                    <a:t>1.06</a:t>
                  </a:r>
                  <a:endParaRPr lang="en-CA" sz="1200">
                    <a:ea typeface="Arial Unicode MS" pitchFamily="34" charset="-128"/>
                    <a:cs typeface="Arial Unicode MS" pitchFamily="34" charset="-128"/>
                  </a:endParaRPr>
                </a:p>
                <a:p>
                  <a:endParaRPr lang="en-CA"/>
                </a:p>
              </p:txBody>
            </p:sp>
            <p:sp>
              <p:nvSpPr>
                <p:cNvPr id="42178" name="Rectangle 194"/>
                <p:cNvSpPr>
                  <a:spLocks noChangeArrowheads="1"/>
                </p:cNvSpPr>
                <p:nvPr/>
              </p:nvSpPr>
              <p:spPr bwMode="auto">
                <a:xfrm>
                  <a:off x="2840" y="2130"/>
                  <a:ext cx="416" cy="403"/>
                </a:xfrm>
                <a:prstGeom prst="rect">
                  <a:avLst/>
                </a:prstGeom>
                <a:noFill/>
                <a:ln w="7">
                  <a:solidFill>
                    <a:srgbClr val="A0A0A0"/>
                  </a:solidFill>
                  <a:miter lim="800000"/>
                  <a:headEnd/>
                  <a:tailEnd/>
                </a:ln>
                <a:effectLst/>
              </p:spPr>
              <p:txBody>
                <a:bodyPr/>
                <a:lstStyle/>
                <a:p>
                  <a:endParaRPr lang="en-US"/>
                </a:p>
              </p:txBody>
            </p:sp>
          </p:grpSp>
          <p:grpSp>
            <p:nvGrpSpPr>
              <p:cNvPr id="42121" name="Group 197"/>
              <p:cNvGrpSpPr>
                <a:grpSpLocks/>
              </p:cNvGrpSpPr>
              <p:nvPr/>
            </p:nvGrpSpPr>
            <p:grpSpPr bwMode="auto">
              <a:xfrm>
                <a:off x="3256" y="2130"/>
                <a:ext cx="416" cy="403"/>
                <a:chOff x="3256" y="2130"/>
                <a:chExt cx="416" cy="403"/>
              </a:xfrm>
            </p:grpSpPr>
            <p:sp>
              <p:nvSpPr>
                <p:cNvPr id="42028" name="Rectangle 44"/>
                <p:cNvSpPr>
                  <a:spLocks noChangeArrowheads="1"/>
                </p:cNvSpPr>
                <p:nvPr/>
              </p:nvSpPr>
              <p:spPr bwMode="auto">
                <a:xfrm>
                  <a:off x="3299" y="2130"/>
                  <a:ext cx="330" cy="403"/>
                </a:xfrm>
                <a:prstGeom prst="rect">
                  <a:avLst/>
                </a:prstGeom>
                <a:noFill/>
                <a:ln w="9525">
                  <a:noFill/>
                  <a:miter lim="800000"/>
                  <a:headEnd/>
                  <a:tailEnd/>
                </a:ln>
                <a:effectLst/>
              </p:spPr>
              <p:txBody>
                <a:bodyPr/>
                <a:lstStyle/>
                <a:p>
                  <a:r>
                    <a:rPr lang="en-CA" sz="1200">
                      <a:latin typeface="Arial" charset="0"/>
                      <a:cs typeface="Arial" charset="0"/>
                    </a:rPr>
                    <a:t>1.21</a:t>
                  </a:r>
                  <a:endParaRPr lang="en-CA" sz="1200">
                    <a:ea typeface="Arial Unicode MS" pitchFamily="34" charset="-128"/>
                    <a:cs typeface="Arial Unicode MS" pitchFamily="34" charset="-128"/>
                  </a:endParaRPr>
                </a:p>
                <a:p>
                  <a:endParaRPr lang="en-CA"/>
                </a:p>
              </p:txBody>
            </p:sp>
            <p:sp>
              <p:nvSpPr>
                <p:cNvPr id="42180" name="Rectangle 196"/>
                <p:cNvSpPr>
                  <a:spLocks noChangeArrowheads="1"/>
                </p:cNvSpPr>
                <p:nvPr/>
              </p:nvSpPr>
              <p:spPr bwMode="auto">
                <a:xfrm>
                  <a:off x="3256" y="2130"/>
                  <a:ext cx="416" cy="403"/>
                </a:xfrm>
                <a:prstGeom prst="rect">
                  <a:avLst/>
                </a:prstGeom>
                <a:noFill/>
                <a:ln w="7">
                  <a:solidFill>
                    <a:srgbClr val="A0A0A0"/>
                  </a:solidFill>
                  <a:miter lim="800000"/>
                  <a:headEnd/>
                  <a:tailEnd/>
                </a:ln>
                <a:effectLst/>
              </p:spPr>
              <p:txBody>
                <a:bodyPr/>
                <a:lstStyle/>
                <a:p>
                  <a:endParaRPr lang="en-US"/>
                </a:p>
              </p:txBody>
            </p:sp>
          </p:grpSp>
          <p:grpSp>
            <p:nvGrpSpPr>
              <p:cNvPr id="42123" name="Group 199"/>
              <p:cNvGrpSpPr>
                <a:grpSpLocks/>
              </p:cNvGrpSpPr>
              <p:nvPr/>
            </p:nvGrpSpPr>
            <p:grpSpPr bwMode="auto">
              <a:xfrm>
                <a:off x="3672" y="2130"/>
                <a:ext cx="441" cy="403"/>
                <a:chOff x="3672" y="2130"/>
                <a:chExt cx="441" cy="403"/>
              </a:xfrm>
            </p:grpSpPr>
            <p:sp>
              <p:nvSpPr>
                <p:cNvPr id="42029" name="Rectangle 45"/>
                <p:cNvSpPr>
                  <a:spLocks noChangeArrowheads="1"/>
                </p:cNvSpPr>
                <p:nvPr/>
              </p:nvSpPr>
              <p:spPr bwMode="auto">
                <a:xfrm>
                  <a:off x="3715" y="2130"/>
                  <a:ext cx="355" cy="403"/>
                </a:xfrm>
                <a:prstGeom prst="rect">
                  <a:avLst/>
                </a:prstGeom>
                <a:noFill/>
                <a:ln w="9525">
                  <a:noFill/>
                  <a:miter lim="800000"/>
                  <a:headEnd/>
                  <a:tailEnd/>
                </a:ln>
                <a:effectLst/>
              </p:spPr>
              <p:txBody>
                <a:bodyPr/>
                <a:lstStyle/>
                <a:p>
                  <a:r>
                    <a:rPr lang="en-CA" sz="1200">
                      <a:latin typeface="Arial" charset="0"/>
                      <a:cs typeface="Arial" charset="0"/>
                    </a:rPr>
                    <a:t>1.56</a:t>
                  </a:r>
                  <a:endParaRPr lang="en-CA" sz="1200">
                    <a:ea typeface="Arial Unicode MS" pitchFamily="34" charset="-128"/>
                    <a:cs typeface="Arial Unicode MS" pitchFamily="34" charset="-128"/>
                  </a:endParaRPr>
                </a:p>
                <a:p>
                  <a:endParaRPr lang="en-CA"/>
                </a:p>
              </p:txBody>
            </p:sp>
            <p:sp>
              <p:nvSpPr>
                <p:cNvPr id="42182" name="Rectangle 198"/>
                <p:cNvSpPr>
                  <a:spLocks noChangeArrowheads="1"/>
                </p:cNvSpPr>
                <p:nvPr/>
              </p:nvSpPr>
              <p:spPr bwMode="auto">
                <a:xfrm>
                  <a:off x="3672" y="2130"/>
                  <a:ext cx="441" cy="403"/>
                </a:xfrm>
                <a:prstGeom prst="rect">
                  <a:avLst/>
                </a:prstGeom>
                <a:noFill/>
                <a:ln w="7">
                  <a:solidFill>
                    <a:srgbClr val="A0A0A0"/>
                  </a:solidFill>
                  <a:miter lim="800000"/>
                  <a:headEnd/>
                  <a:tailEnd/>
                </a:ln>
                <a:effectLst/>
              </p:spPr>
              <p:txBody>
                <a:bodyPr/>
                <a:lstStyle/>
                <a:p>
                  <a:endParaRPr lang="en-US"/>
                </a:p>
              </p:txBody>
            </p:sp>
          </p:grpSp>
          <p:grpSp>
            <p:nvGrpSpPr>
              <p:cNvPr id="42125" name="Group 201"/>
              <p:cNvGrpSpPr>
                <a:grpSpLocks/>
              </p:cNvGrpSpPr>
              <p:nvPr/>
            </p:nvGrpSpPr>
            <p:grpSpPr bwMode="auto">
              <a:xfrm>
                <a:off x="0" y="2533"/>
                <a:ext cx="1455" cy="403"/>
                <a:chOff x="0" y="2533"/>
                <a:chExt cx="1455" cy="403"/>
              </a:xfrm>
            </p:grpSpPr>
            <p:sp>
              <p:nvSpPr>
                <p:cNvPr id="42030" name="Rectangle 46"/>
                <p:cNvSpPr>
                  <a:spLocks noChangeArrowheads="1"/>
                </p:cNvSpPr>
                <p:nvPr/>
              </p:nvSpPr>
              <p:spPr bwMode="auto">
                <a:xfrm>
                  <a:off x="43" y="2533"/>
                  <a:ext cx="1369" cy="403"/>
                </a:xfrm>
                <a:prstGeom prst="rect">
                  <a:avLst/>
                </a:prstGeom>
                <a:noFill/>
                <a:ln w="9525">
                  <a:noFill/>
                  <a:miter lim="800000"/>
                  <a:headEnd/>
                  <a:tailEnd/>
                </a:ln>
                <a:effectLst/>
              </p:spPr>
              <p:txBody>
                <a:bodyPr/>
                <a:lstStyle/>
                <a:p>
                  <a:r>
                    <a:rPr lang="en-CA" sz="1200" b="1">
                      <a:latin typeface="Arial" charset="0"/>
                      <a:cs typeface="Arial" charset="0"/>
                    </a:rPr>
                    <a:t>Virtual Machine Volatility</a:t>
                  </a:r>
                  <a:endParaRPr lang="en-CA" sz="1200">
                    <a:ea typeface="Arial Unicode MS" pitchFamily="34" charset="-128"/>
                    <a:cs typeface="Arial Unicode MS" pitchFamily="34" charset="-128"/>
                  </a:endParaRPr>
                </a:p>
                <a:p>
                  <a:endParaRPr lang="en-CA"/>
                </a:p>
              </p:txBody>
            </p:sp>
            <p:sp>
              <p:nvSpPr>
                <p:cNvPr id="42184" name="Rectangle 200"/>
                <p:cNvSpPr>
                  <a:spLocks noChangeArrowheads="1"/>
                </p:cNvSpPr>
                <p:nvPr/>
              </p:nvSpPr>
              <p:spPr bwMode="auto">
                <a:xfrm>
                  <a:off x="0" y="2533"/>
                  <a:ext cx="1455" cy="403"/>
                </a:xfrm>
                <a:prstGeom prst="rect">
                  <a:avLst/>
                </a:prstGeom>
                <a:noFill/>
                <a:ln w="7">
                  <a:solidFill>
                    <a:srgbClr val="A0A0A0"/>
                  </a:solidFill>
                  <a:miter lim="800000"/>
                  <a:headEnd/>
                  <a:tailEnd/>
                </a:ln>
                <a:effectLst/>
              </p:spPr>
              <p:txBody>
                <a:bodyPr/>
                <a:lstStyle/>
                <a:p>
                  <a:endParaRPr lang="en-US"/>
                </a:p>
              </p:txBody>
            </p:sp>
          </p:grpSp>
          <p:grpSp>
            <p:nvGrpSpPr>
              <p:cNvPr id="42127" name="Group 203"/>
              <p:cNvGrpSpPr>
                <a:grpSpLocks/>
              </p:cNvGrpSpPr>
              <p:nvPr/>
            </p:nvGrpSpPr>
            <p:grpSpPr bwMode="auto">
              <a:xfrm>
                <a:off x="1455" y="2533"/>
                <a:ext cx="409" cy="403"/>
                <a:chOff x="1455" y="2533"/>
                <a:chExt cx="409" cy="403"/>
              </a:xfrm>
            </p:grpSpPr>
            <p:sp>
              <p:nvSpPr>
                <p:cNvPr id="42031" name="Rectangle 47"/>
                <p:cNvSpPr>
                  <a:spLocks noChangeArrowheads="1"/>
                </p:cNvSpPr>
                <p:nvPr/>
              </p:nvSpPr>
              <p:spPr bwMode="auto">
                <a:xfrm>
                  <a:off x="1498" y="2533"/>
                  <a:ext cx="323" cy="403"/>
                </a:xfrm>
                <a:prstGeom prst="rect">
                  <a:avLst/>
                </a:prstGeom>
                <a:noFill/>
                <a:ln w="9525">
                  <a:noFill/>
                  <a:miter lim="800000"/>
                  <a:headEnd/>
                  <a:tailEnd/>
                </a:ln>
                <a:effectLst/>
              </p:spPr>
              <p:txBody>
                <a:bodyPr/>
                <a:lstStyle/>
                <a:p>
                  <a:r>
                    <a:rPr lang="en-CA" sz="1200">
                      <a:latin typeface="Arial" charset="0"/>
                      <a:cs typeface="Arial" charset="0"/>
                    </a:rPr>
                    <a:t>.87</a:t>
                  </a:r>
                  <a:endParaRPr lang="en-CA" sz="1200">
                    <a:ea typeface="Arial Unicode MS" pitchFamily="34" charset="-128"/>
                    <a:cs typeface="Arial Unicode MS" pitchFamily="34" charset="-128"/>
                  </a:endParaRPr>
                </a:p>
                <a:p>
                  <a:endParaRPr lang="en-CA"/>
                </a:p>
              </p:txBody>
            </p:sp>
            <p:sp>
              <p:nvSpPr>
                <p:cNvPr id="42186" name="Rectangle 202"/>
                <p:cNvSpPr>
                  <a:spLocks noChangeArrowheads="1"/>
                </p:cNvSpPr>
                <p:nvPr/>
              </p:nvSpPr>
              <p:spPr bwMode="auto">
                <a:xfrm>
                  <a:off x="1455" y="2533"/>
                  <a:ext cx="409" cy="403"/>
                </a:xfrm>
                <a:prstGeom prst="rect">
                  <a:avLst/>
                </a:prstGeom>
                <a:noFill/>
                <a:ln w="7">
                  <a:solidFill>
                    <a:srgbClr val="A0A0A0"/>
                  </a:solidFill>
                  <a:miter lim="800000"/>
                  <a:headEnd/>
                  <a:tailEnd/>
                </a:ln>
                <a:effectLst/>
              </p:spPr>
              <p:txBody>
                <a:bodyPr/>
                <a:lstStyle/>
                <a:p>
                  <a:endParaRPr lang="en-US"/>
                </a:p>
              </p:txBody>
            </p:sp>
          </p:grpSp>
          <p:grpSp>
            <p:nvGrpSpPr>
              <p:cNvPr id="42129" name="Group 205"/>
              <p:cNvGrpSpPr>
                <a:grpSpLocks/>
              </p:cNvGrpSpPr>
              <p:nvPr/>
            </p:nvGrpSpPr>
            <p:grpSpPr bwMode="auto">
              <a:xfrm>
                <a:off x="1864" y="2533"/>
                <a:ext cx="395" cy="403"/>
                <a:chOff x="1864" y="2533"/>
                <a:chExt cx="395" cy="403"/>
              </a:xfrm>
            </p:grpSpPr>
            <p:sp>
              <p:nvSpPr>
                <p:cNvPr id="42032" name="Rectangle 48"/>
                <p:cNvSpPr>
                  <a:spLocks noChangeArrowheads="1"/>
                </p:cNvSpPr>
                <p:nvPr/>
              </p:nvSpPr>
              <p:spPr bwMode="auto">
                <a:xfrm>
                  <a:off x="1907" y="2533"/>
                  <a:ext cx="309" cy="403"/>
                </a:xfrm>
                <a:prstGeom prst="rect">
                  <a:avLst/>
                </a:prstGeom>
                <a:noFill/>
                <a:ln w="9525">
                  <a:noFill/>
                  <a:miter lim="800000"/>
                  <a:headEnd/>
                  <a:tailEnd/>
                </a:ln>
                <a:effectLst/>
              </p:spPr>
              <p:txBody>
                <a:bodyPr/>
                <a:lstStyle/>
                <a:p>
                  <a:r>
                    <a:rPr lang="en-CA" sz="1200">
                      <a:latin typeface="Arial" charset="0"/>
                      <a:cs typeface="Arial" charset="0"/>
                    </a:rPr>
                    <a:t>.87</a:t>
                  </a:r>
                  <a:endParaRPr lang="en-CA" sz="1200">
                    <a:ea typeface="Arial Unicode MS" pitchFamily="34" charset="-128"/>
                    <a:cs typeface="Arial Unicode MS" pitchFamily="34" charset="-128"/>
                  </a:endParaRPr>
                </a:p>
                <a:p>
                  <a:endParaRPr lang="en-CA"/>
                </a:p>
              </p:txBody>
            </p:sp>
            <p:sp>
              <p:nvSpPr>
                <p:cNvPr id="42188" name="Rectangle 204"/>
                <p:cNvSpPr>
                  <a:spLocks noChangeArrowheads="1"/>
                </p:cNvSpPr>
                <p:nvPr/>
              </p:nvSpPr>
              <p:spPr bwMode="auto">
                <a:xfrm>
                  <a:off x="1864" y="2533"/>
                  <a:ext cx="395" cy="403"/>
                </a:xfrm>
                <a:prstGeom prst="rect">
                  <a:avLst/>
                </a:prstGeom>
                <a:noFill/>
                <a:ln w="7">
                  <a:solidFill>
                    <a:srgbClr val="A0A0A0"/>
                  </a:solidFill>
                  <a:miter lim="800000"/>
                  <a:headEnd/>
                  <a:tailEnd/>
                </a:ln>
                <a:effectLst/>
              </p:spPr>
              <p:txBody>
                <a:bodyPr/>
                <a:lstStyle/>
                <a:p>
                  <a:endParaRPr lang="en-US"/>
                </a:p>
              </p:txBody>
            </p:sp>
          </p:grpSp>
          <p:grpSp>
            <p:nvGrpSpPr>
              <p:cNvPr id="42131" name="Group 207"/>
              <p:cNvGrpSpPr>
                <a:grpSpLocks/>
              </p:cNvGrpSpPr>
              <p:nvPr/>
            </p:nvGrpSpPr>
            <p:grpSpPr bwMode="auto">
              <a:xfrm>
                <a:off x="2259" y="2533"/>
                <a:ext cx="581" cy="403"/>
                <a:chOff x="2259" y="2533"/>
                <a:chExt cx="581" cy="403"/>
              </a:xfrm>
            </p:grpSpPr>
            <p:sp>
              <p:nvSpPr>
                <p:cNvPr id="42033" name="Rectangle 49"/>
                <p:cNvSpPr>
                  <a:spLocks noChangeArrowheads="1"/>
                </p:cNvSpPr>
                <p:nvPr/>
              </p:nvSpPr>
              <p:spPr bwMode="auto">
                <a:xfrm>
                  <a:off x="2302" y="2533"/>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190" name="Rectangle 206"/>
                <p:cNvSpPr>
                  <a:spLocks noChangeArrowheads="1"/>
                </p:cNvSpPr>
                <p:nvPr/>
              </p:nvSpPr>
              <p:spPr bwMode="auto">
                <a:xfrm>
                  <a:off x="2259" y="2533"/>
                  <a:ext cx="581" cy="403"/>
                </a:xfrm>
                <a:prstGeom prst="rect">
                  <a:avLst/>
                </a:prstGeom>
                <a:noFill/>
                <a:ln w="7">
                  <a:solidFill>
                    <a:srgbClr val="A0A0A0"/>
                  </a:solidFill>
                  <a:miter lim="800000"/>
                  <a:headEnd/>
                  <a:tailEnd/>
                </a:ln>
                <a:effectLst/>
              </p:spPr>
              <p:txBody>
                <a:bodyPr/>
                <a:lstStyle/>
                <a:p>
                  <a:endParaRPr lang="en-US"/>
                </a:p>
              </p:txBody>
            </p:sp>
          </p:grpSp>
          <p:grpSp>
            <p:nvGrpSpPr>
              <p:cNvPr id="42133" name="Group 209"/>
              <p:cNvGrpSpPr>
                <a:grpSpLocks/>
              </p:cNvGrpSpPr>
              <p:nvPr/>
            </p:nvGrpSpPr>
            <p:grpSpPr bwMode="auto">
              <a:xfrm>
                <a:off x="2840" y="2533"/>
                <a:ext cx="416" cy="403"/>
                <a:chOff x="2840" y="2533"/>
                <a:chExt cx="416" cy="403"/>
              </a:xfrm>
            </p:grpSpPr>
            <p:sp>
              <p:nvSpPr>
                <p:cNvPr id="42034" name="Rectangle 50"/>
                <p:cNvSpPr>
                  <a:spLocks noChangeArrowheads="1"/>
                </p:cNvSpPr>
                <p:nvPr/>
              </p:nvSpPr>
              <p:spPr bwMode="auto">
                <a:xfrm>
                  <a:off x="2883" y="2533"/>
                  <a:ext cx="330" cy="403"/>
                </a:xfrm>
                <a:prstGeom prst="rect">
                  <a:avLst/>
                </a:prstGeom>
                <a:noFill/>
                <a:ln w="9525">
                  <a:noFill/>
                  <a:miter lim="800000"/>
                  <a:headEnd/>
                  <a:tailEnd/>
                </a:ln>
                <a:effectLst/>
              </p:spPr>
              <p:txBody>
                <a:bodyPr/>
                <a:lstStyle/>
                <a:p>
                  <a:r>
                    <a:rPr lang="en-CA" sz="1200">
                      <a:latin typeface="Arial" charset="0"/>
                      <a:cs typeface="Arial" charset="0"/>
                    </a:rPr>
                    <a:t>1.15</a:t>
                  </a:r>
                  <a:endParaRPr lang="en-CA" sz="1200">
                    <a:ea typeface="Arial Unicode MS" pitchFamily="34" charset="-128"/>
                    <a:cs typeface="Arial Unicode MS" pitchFamily="34" charset="-128"/>
                  </a:endParaRPr>
                </a:p>
                <a:p>
                  <a:endParaRPr lang="en-CA"/>
                </a:p>
              </p:txBody>
            </p:sp>
            <p:sp>
              <p:nvSpPr>
                <p:cNvPr id="42192" name="Rectangle 208"/>
                <p:cNvSpPr>
                  <a:spLocks noChangeArrowheads="1"/>
                </p:cNvSpPr>
                <p:nvPr/>
              </p:nvSpPr>
              <p:spPr bwMode="auto">
                <a:xfrm>
                  <a:off x="2840" y="2533"/>
                  <a:ext cx="416" cy="403"/>
                </a:xfrm>
                <a:prstGeom prst="rect">
                  <a:avLst/>
                </a:prstGeom>
                <a:noFill/>
                <a:ln w="7">
                  <a:solidFill>
                    <a:srgbClr val="A0A0A0"/>
                  </a:solidFill>
                  <a:miter lim="800000"/>
                  <a:headEnd/>
                  <a:tailEnd/>
                </a:ln>
                <a:effectLst/>
              </p:spPr>
              <p:txBody>
                <a:bodyPr/>
                <a:lstStyle/>
                <a:p>
                  <a:endParaRPr lang="en-US"/>
                </a:p>
              </p:txBody>
            </p:sp>
          </p:grpSp>
          <p:grpSp>
            <p:nvGrpSpPr>
              <p:cNvPr id="42135" name="Group 211"/>
              <p:cNvGrpSpPr>
                <a:grpSpLocks/>
              </p:cNvGrpSpPr>
              <p:nvPr/>
            </p:nvGrpSpPr>
            <p:grpSpPr bwMode="auto">
              <a:xfrm>
                <a:off x="3256" y="2533"/>
                <a:ext cx="416" cy="403"/>
                <a:chOff x="3256" y="2533"/>
                <a:chExt cx="416" cy="403"/>
              </a:xfrm>
            </p:grpSpPr>
            <p:sp>
              <p:nvSpPr>
                <p:cNvPr id="42035" name="Rectangle 51"/>
                <p:cNvSpPr>
                  <a:spLocks noChangeArrowheads="1"/>
                </p:cNvSpPr>
                <p:nvPr/>
              </p:nvSpPr>
              <p:spPr bwMode="auto">
                <a:xfrm>
                  <a:off x="3299" y="2533"/>
                  <a:ext cx="330" cy="403"/>
                </a:xfrm>
                <a:prstGeom prst="rect">
                  <a:avLst/>
                </a:prstGeom>
                <a:noFill/>
                <a:ln w="9525">
                  <a:noFill/>
                  <a:miter lim="800000"/>
                  <a:headEnd/>
                  <a:tailEnd/>
                </a:ln>
                <a:effectLst/>
              </p:spPr>
              <p:txBody>
                <a:bodyPr/>
                <a:lstStyle/>
                <a:p>
                  <a:r>
                    <a:rPr lang="en-CA" sz="1200">
                      <a:latin typeface="Arial" charset="0"/>
                      <a:cs typeface="Arial" charset="0"/>
                    </a:rPr>
                    <a:t>1.30</a:t>
                  </a:r>
                  <a:endParaRPr lang="en-CA" sz="1200">
                    <a:ea typeface="Arial Unicode MS" pitchFamily="34" charset="-128"/>
                    <a:cs typeface="Arial Unicode MS" pitchFamily="34" charset="-128"/>
                  </a:endParaRPr>
                </a:p>
                <a:p>
                  <a:endParaRPr lang="en-CA"/>
                </a:p>
              </p:txBody>
            </p:sp>
            <p:sp>
              <p:nvSpPr>
                <p:cNvPr id="42194" name="Rectangle 210"/>
                <p:cNvSpPr>
                  <a:spLocks noChangeArrowheads="1"/>
                </p:cNvSpPr>
                <p:nvPr/>
              </p:nvSpPr>
              <p:spPr bwMode="auto">
                <a:xfrm>
                  <a:off x="3256" y="2533"/>
                  <a:ext cx="416" cy="403"/>
                </a:xfrm>
                <a:prstGeom prst="rect">
                  <a:avLst/>
                </a:prstGeom>
                <a:noFill/>
                <a:ln w="7">
                  <a:solidFill>
                    <a:srgbClr val="A0A0A0"/>
                  </a:solidFill>
                  <a:miter lim="800000"/>
                  <a:headEnd/>
                  <a:tailEnd/>
                </a:ln>
                <a:effectLst/>
              </p:spPr>
              <p:txBody>
                <a:bodyPr/>
                <a:lstStyle/>
                <a:p>
                  <a:endParaRPr lang="en-US"/>
                </a:p>
              </p:txBody>
            </p:sp>
          </p:grpSp>
          <p:grpSp>
            <p:nvGrpSpPr>
              <p:cNvPr id="42137" name="Group 213"/>
              <p:cNvGrpSpPr>
                <a:grpSpLocks/>
              </p:cNvGrpSpPr>
              <p:nvPr/>
            </p:nvGrpSpPr>
            <p:grpSpPr bwMode="auto">
              <a:xfrm>
                <a:off x="3672" y="2533"/>
                <a:ext cx="441" cy="403"/>
                <a:chOff x="3672" y="2533"/>
                <a:chExt cx="441" cy="403"/>
              </a:xfrm>
            </p:grpSpPr>
            <p:sp>
              <p:nvSpPr>
                <p:cNvPr id="42036" name="Rectangle 52"/>
                <p:cNvSpPr>
                  <a:spLocks noChangeArrowheads="1"/>
                </p:cNvSpPr>
                <p:nvPr/>
              </p:nvSpPr>
              <p:spPr bwMode="auto">
                <a:xfrm>
                  <a:off x="3715" y="2533"/>
                  <a:ext cx="355" cy="403"/>
                </a:xfrm>
                <a:prstGeom prst="rect">
                  <a:avLst/>
                </a:prstGeom>
                <a:noFill/>
                <a:ln w="9525">
                  <a:noFill/>
                  <a:miter lim="800000"/>
                  <a:headEnd/>
                  <a:tailEnd/>
                </a:ln>
                <a:effectLst/>
              </p:spPr>
              <p:txBody>
                <a:bodyPr/>
                <a:lstStyle/>
                <a:p>
                  <a:r>
                    <a:rPr lang="en-CA" sz="1200">
                      <a:latin typeface="Arial" charset="0"/>
                      <a:cs typeface="Arial" charset="0"/>
                    </a:rPr>
                    <a:t>1.30</a:t>
                  </a:r>
                  <a:endParaRPr lang="en-CA" sz="1200">
                    <a:ea typeface="Arial Unicode MS" pitchFamily="34" charset="-128"/>
                    <a:cs typeface="Arial Unicode MS" pitchFamily="34" charset="-128"/>
                  </a:endParaRPr>
                </a:p>
                <a:p>
                  <a:endParaRPr lang="en-CA"/>
                </a:p>
              </p:txBody>
            </p:sp>
            <p:sp>
              <p:nvSpPr>
                <p:cNvPr id="42196" name="Rectangle 212"/>
                <p:cNvSpPr>
                  <a:spLocks noChangeArrowheads="1"/>
                </p:cNvSpPr>
                <p:nvPr/>
              </p:nvSpPr>
              <p:spPr bwMode="auto">
                <a:xfrm>
                  <a:off x="3672" y="2533"/>
                  <a:ext cx="441" cy="403"/>
                </a:xfrm>
                <a:prstGeom prst="rect">
                  <a:avLst/>
                </a:prstGeom>
                <a:noFill/>
                <a:ln w="7">
                  <a:solidFill>
                    <a:srgbClr val="A0A0A0"/>
                  </a:solidFill>
                  <a:miter lim="800000"/>
                  <a:headEnd/>
                  <a:tailEnd/>
                </a:ln>
                <a:effectLst/>
              </p:spPr>
              <p:txBody>
                <a:bodyPr/>
                <a:lstStyle/>
                <a:p>
                  <a:endParaRPr lang="en-US"/>
                </a:p>
              </p:txBody>
            </p:sp>
          </p:grpSp>
          <p:grpSp>
            <p:nvGrpSpPr>
              <p:cNvPr id="42139" name="Group 215"/>
              <p:cNvGrpSpPr>
                <a:grpSpLocks/>
              </p:cNvGrpSpPr>
              <p:nvPr/>
            </p:nvGrpSpPr>
            <p:grpSpPr bwMode="auto">
              <a:xfrm>
                <a:off x="0" y="2936"/>
                <a:ext cx="1455" cy="403"/>
                <a:chOff x="0" y="2936"/>
                <a:chExt cx="1455" cy="403"/>
              </a:xfrm>
            </p:grpSpPr>
            <p:sp>
              <p:nvSpPr>
                <p:cNvPr id="42037" name="Rectangle 53"/>
                <p:cNvSpPr>
                  <a:spLocks noChangeArrowheads="1"/>
                </p:cNvSpPr>
                <p:nvPr/>
              </p:nvSpPr>
              <p:spPr bwMode="auto">
                <a:xfrm>
                  <a:off x="43" y="2936"/>
                  <a:ext cx="1369" cy="403"/>
                </a:xfrm>
                <a:prstGeom prst="rect">
                  <a:avLst/>
                </a:prstGeom>
                <a:noFill/>
                <a:ln w="9525">
                  <a:noFill/>
                  <a:miter lim="800000"/>
                  <a:headEnd/>
                  <a:tailEnd/>
                </a:ln>
                <a:effectLst/>
              </p:spPr>
              <p:txBody>
                <a:bodyPr/>
                <a:lstStyle/>
                <a:p>
                  <a:r>
                    <a:rPr lang="en-CA" sz="1200" b="1">
                      <a:latin typeface="Arial" charset="0"/>
                      <a:cs typeface="Arial" charset="0"/>
                    </a:rPr>
                    <a:t>Comp Turn Around Time</a:t>
                  </a:r>
                  <a:endParaRPr lang="en-CA" sz="1200">
                    <a:ea typeface="Arial Unicode MS" pitchFamily="34" charset="-128"/>
                    <a:cs typeface="Arial Unicode MS" pitchFamily="34" charset="-128"/>
                  </a:endParaRPr>
                </a:p>
                <a:p>
                  <a:endParaRPr lang="en-CA"/>
                </a:p>
              </p:txBody>
            </p:sp>
            <p:sp>
              <p:nvSpPr>
                <p:cNvPr id="42198" name="Rectangle 214"/>
                <p:cNvSpPr>
                  <a:spLocks noChangeArrowheads="1"/>
                </p:cNvSpPr>
                <p:nvPr/>
              </p:nvSpPr>
              <p:spPr bwMode="auto">
                <a:xfrm>
                  <a:off x="0" y="2936"/>
                  <a:ext cx="1455" cy="403"/>
                </a:xfrm>
                <a:prstGeom prst="rect">
                  <a:avLst/>
                </a:prstGeom>
                <a:noFill/>
                <a:ln w="7">
                  <a:solidFill>
                    <a:srgbClr val="A0A0A0"/>
                  </a:solidFill>
                  <a:miter lim="800000"/>
                  <a:headEnd/>
                  <a:tailEnd/>
                </a:ln>
                <a:effectLst/>
              </p:spPr>
              <p:txBody>
                <a:bodyPr/>
                <a:lstStyle/>
                <a:p>
                  <a:endParaRPr lang="en-US"/>
                </a:p>
              </p:txBody>
            </p:sp>
          </p:grpSp>
          <p:grpSp>
            <p:nvGrpSpPr>
              <p:cNvPr id="42141" name="Group 217"/>
              <p:cNvGrpSpPr>
                <a:grpSpLocks/>
              </p:cNvGrpSpPr>
              <p:nvPr/>
            </p:nvGrpSpPr>
            <p:grpSpPr bwMode="auto">
              <a:xfrm>
                <a:off x="1455" y="2936"/>
                <a:ext cx="409" cy="403"/>
                <a:chOff x="1455" y="2936"/>
                <a:chExt cx="409" cy="403"/>
              </a:xfrm>
            </p:grpSpPr>
            <p:sp>
              <p:nvSpPr>
                <p:cNvPr id="42038" name="Rectangle 54"/>
                <p:cNvSpPr>
                  <a:spLocks noChangeArrowheads="1"/>
                </p:cNvSpPr>
                <p:nvPr/>
              </p:nvSpPr>
              <p:spPr bwMode="auto">
                <a:xfrm>
                  <a:off x="1498" y="2936"/>
                  <a:ext cx="323" cy="403"/>
                </a:xfrm>
                <a:prstGeom prst="rect">
                  <a:avLst/>
                </a:prstGeom>
                <a:noFill/>
                <a:ln w="9525">
                  <a:noFill/>
                  <a:miter lim="800000"/>
                  <a:headEnd/>
                  <a:tailEnd/>
                </a:ln>
                <a:effectLst/>
              </p:spPr>
              <p:txBody>
                <a:bodyPr/>
                <a:lstStyle/>
                <a:p>
                  <a:r>
                    <a:rPr lang="en-CA" sz="1200">
                      <a:latin typeface="Arial" charset="0"/>
                      <a:cs typeface="Arial" charset="0"/>
                    </a:rPr>
                    <a:t>.87</a:t>
                  </a:r>
                  <a:endParaRPr lang="en-CA" sz="1200">
                    <a:ea typeface="Arial Unicode MS" pitchFamily="34" charset="-128"/>
                    <a:cs typeface="Arial Unicode MS" pitchFamily="34" charset="-128"/>
                  </a:endParaRPr>
                </a:p>
                <a:p>
                  <a:endParaRPr lang="en-CA"/>
                </a:p>
              </p:txBody>
            </p:sp>
            <p:sp>
              <p:nvSpPr>
                <p:cNvPr id="42200" name="Rectangle 216"/>
                <p:cNvSpPr>
                  <a:spLocks noChangeArrowheads="1"/>
                </p:cNvSpPr>
                <p:nvPr/>
              </p:nvSpPr>
              <p:spPr bwMode="auto">
                <a:xfrm>
                  <a:off x="1455" y="2936"/>
                  <a:ext cx="409" cy="403"/>
                </a:xfrm>
                <a:prstGeom prst="rect">
                  <a:avLst/>
                </a:prstGeom>
                <a:noFill/>
                <a:ln w="7">
                  <a:solidFill>
                    <a:srgbClr val="A0A0A0"/>
                  </a:solidFill>
                  <a:miter lim="800000"/>
                  <a:headEnd/>
                  <a:tailEnd/>
                </a:ln>
                <a:effectLst/>
              </p:spPr>
              <p:txBody>
                <a:bodyPr/>
                <a:lstStyle/>
                <a:p>
                  <a:endParaRPr lang="en-US"/>
                </a:p>
              </p:txBody>
            </p:sp>
          </p:grpSp>
          <p:grpSp>
            <p:nvGrpSpPr>
              <p:cNvPr id="42143" name="Group 219"/>
              <p:cNvGrpSpPr>
                <a:grpSpLocks/>
              </p:cNvGrpSpPr>
              <p:nvPr/>
            </p:nvGrpSpPr>
            <p:grpSpPr bwMode="auto">
              <a:xfrm>
                <a:off x="1864" y="2936"/>
                <a:ext cx="395" cy="403"/>
                <a:chOff x="1864" y="2936"/>
                <a:chExt cx="395" cy="403"/>
              </a:xfrm>
            </p:grpSpPr>
            <p:sp>
              <p:nvSpPr>
                <p:cNvPr id="42039" name="Rectangle 55"/>
                <p:cNvSpPr>
                  <a:spLocks noChangeArrowheads="1"/>
                </p:cNvSpPr>
                <p:nvPr/>
              </p:nvSpPr>
              <p:spPr bwMode="auto">
                <a:xfrm>
                  <a:off x="1907" y="2936"/>
                  <a:ext cx="309" cy="403"/>
                </a:xfrm>
                <a:prstGeom prst="rect">
                  <a:avLst/>
                </a:prstGeom>
                <a:noFill/>
                <a:ln w="9525">
                  <a:noFill/>
                  <a:miter lim="800000"/>
                  <a:headEnd/>
                  <a:tailEnd/>
                </a:ln>
                <a:effectLst/>
              </p:spPr>
              <p:txBody>
                <a:bodyPr/>
                <a:lstStyle/>
                <a:p>
                  <a:r>
                    <a:rPr lang="en-CA" sz="1200">
                      <a:latin typeface="Arial" charset="0"/>
                      <a:cs typeface="Arial" charset="0"/>
                    </a:rPr>
                    <a:t>.87</a:t>
                  </a:r>
                  <a:endParaRPr lang="en-CA" sz="1200">
                    <a:ea typeface="Arial Unicode MS" pitchFamily="34" charset="-128"/>
                    <a:cs typeface="Arial Unicode MS" pitchFamily="34" charset="-128"/>
                  </a:endParaRPr>
                </a:p>
                <a:p>
                  <a:endParaRPr lang="en-CA"/>
                </a:p>
              </p:txBody>
            </p:sp>
            <p:sp>
              <p:nvSpPr>
                <p:cNvPr id="42202" name="Rectangle 218"/>
                <p:cNvSpPr>
                  <a:spLocks noChangeArrowheads="1"/>
                </p:cNvSpPr>
                <p:nvPr/>
              </p:nvSpPr>
              <p:spPr bwMode="auto">
                <a:xfrm>
                  <a:off x="1864" y="2936"/>
                  <a:ext cx="395" cy="403"/>
                </a:xfrm>
                <a:prstGeom prst="rect">
                  <a:avLst/>
                </a:prstGeom>
                <a:noFill/>
                <a:ln w="7">
                  <a:solidFill>
                    <a:srgbClr val="A0A0A0"/>
                  </a:solidFill>
                  <a:miter lim="800000"/>
                  <a:headEnd/>
                  <a:tailEnd/>
                </a:ln>
                <a:effectLst/>
              </p:spPr>
              <p:txBody>
                <a:bodyPr/>
                <a:lstStyle/>
                <a:p>
                  <a:endParaRPr lang="en-US"/>
                </a:p>
              </p:txBody>
            </p:sp>
          </p:grpSp>
          <p:grpSp>
            <p:nvGrpSpPr>
              <p:cNvPr id="42145" name="Group 221"/>
              <p:cNvGrpSpPr>
                <a:grpSpLocks/>
              </p:cNvGrpSpPr>
              <p:nvPr/>
            </p:nvGrpSpPr>
            <p:grpSpPr bwMode="auto">
              <a:xfrm>
                <a:off x="2259" y="2936"/>
                <a:ext cx="581" cy="403"/>
                <a:chOff x="2259" y="2936"/>
                <a:chExt cx="581" cy="403"/>
              </a:xfrm>
            </p:grpSpPr>
            <p:sp>
              <p:nvSpPr>
                <p:cNvPr id="42040" name="Rectangle 56"/>
                <p:cNvSpPr>
                  <a:spLocks noChangeArrowheads="1"/>
                </p:cNvSpPr>
                <p:nvPr/>
              </p:nvSpPr>
              <p:spPr bwMode="auto">
                <a:xfrm>
                  <a:off x="2302" y="2936"/>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04" name="Rectangle 220"/>
                <p:cNvSpPr>
                  <a:spLocks noChangeArrowheads="1"/>
                </p:cNvSpPr>
                <p:nvPr/>
              </p:nvSpPr>
              <p:spPr bwMode="auto">
                <a:xfrm>
                  <a:off x="2259" y="2936"/>
                  <a:ext cx="581" cy="403"/>
                </a:xfrm>
                <a:prstGeom prst="rect">
                  <a:avLst/>
                </a:prstGeom>
                <a:noFill/>
                <a:ln w="7">
                  <a:solidFill>
                    <a:srgbClr val="A0A0A0"/>
                  </a:solidFill>
                  <a:miter lim="800000"/>
                  <a:headEnd/>
                  <a:tailEnd/>
                </a:ln>
                <a:effectLst/>
              </p:spPr>
              <p:txBody>
                <a:bodyPr/>
                <a:lstStyle/>
                <a:p>
                  <a:endParaRPr lang="en-US"/>
                </a:p>
              </p:txBody>
            </p:sp>
          </p:grpSp>
          <p:grpSp>
            <p:nvGrpSpPr>
              <p:cNvPr id="42147" name="Group 223"/>
              <p:cNvGrpSpPr>
                <a:grpSpLocks/>
              </p:cNvGrpSpPr>
              <p:nvPr/>
            </p:nvGrpSpPr>
            <p:grpSpPr bwMode="auto">
              <a:xfrm>
                <a:off x="2840" y="2936"/>
                <a:ext cx="416" cy="403"/>
                <a:chOff x="2840" y="2936"/>
                <a:chExt cx="416" cy="403"/>
              </a:xfrm>
            </p:grpSpPr>
            <p:sp>
              <p:nvSpPr>
                <p:cNvPr id="42041" name="Rectangle 57"/>
                <p:cNvSpPr>
                  <a:spLocks noChangeArrowheads="1"/>
                </p:cNvSpPr>
                <p:nvPr/>
              </p:nvSpPr>
              <p:spPr bwMode="auto">
                <a:xfrm>
                  <a:off x="2883" y="2936"/>
                  <a:ext cx="330" cy="403"/>
                </a:xfrm>
                <a:prstGeom prst="rect">
                  <a:avLst/>
                </a:prstGeom>
                <a:noFill/>
                <a:ln w="9525">
                  <a:noFill/>
                  <a:miter lim="800000"/>
                  <a:headEnd/>
                  <a:tailEnd/>
                </a:ln>
                <a:effectLst/>
              </p:spPr>
              <p:txBody>
                <a:bodyPr/>
                <a:lstStyle/>
                <a:p>
                  <a:r>
                    <a:rPr lang="en-CA" sz="1200">
                      <a:latin typeface="Arial" charset="0"/>
                      <a:cs typeface="Arial" charset="0"/>
                    </a:rPr>
                    <a:t>1.07</a:t>
                  </a:r>
                  <a:endParaRPr lang="en-CA" sz="1200">
                    <a:ea typeface="Arial Unicode MS" pitchFamily="34" charset="-128"/>
                    <a:cs typeface="Arial Unicode MS" pitchFamily="34" charset="-128"/>
                  </a:endParaRPr>
                </a:p>
                <a:p>
                  <a:endParaRPr lang="en-CA"/>
                </a:p>
              </p:txBody>
            </p:sp>
            <p:sp>
              <p:nvSpPr>
                <p:cNvPr id="42206" name="Rectangle 222"/>
                <p:cNvSpPr>
                  <a:spLocks noChangeArrowheads="1"/>
                </p:cNvSpPr>
                <p:nvPr/>
              </p:nvSpPr>
              <p:spPr bwMode="auto">
                <a:xfrm>
                  <a:off x="2840" y="2936"/>
                  <a:ext cx="416" cy="403"/>
                </a:xfrm>
                <a:prstGeom prst="rect">
                  <a:avLst/>
                </a:prstGeom>
                <a:noFill/>
                <a:ln w="7">
                  <a:solidFill>
                    <a:srgbClr val="A0A0A0"/>
                  </a:solidFill>
                  <a:miter lim="800000"/>
                  <a:headEnd/>
                  <a:tailEnd/>
                </a:ln>
                <a:effectLst/>
              </p:spPr>
              <p:txBody>
                <a:bodyPr/>
                <a:lstStyle/>
                <a:p>
                  <a:endParaRPr lang="en-US"/>
                </a:p>
              </p:txBody>
            </p:sp>
          </p:grpSp>
          <p:grpSp>
            <p:nvGrpSpPr>
              <p:cNvPr id="42149" name="Group 225"/>
              <p:cNvGrpSpPr>
                <a:grpSpLocks/>
              </p:cNvGrpSpPr>
              <p:nvPr/>
            </p:nvGrpSpPr>
            <p:grpSpPr bwMode="auto">
              <a:xfrm>
                <a:off x="3256" y="2936"/>
                <a:ext cx="416" cy="403"/>
                <a:chOff x="3256" y="2936"/>
                <a:chExt cx="416" cy="403"/>
              </a:xfrm>
            </p:grpSpPr>
            <p:sp>
              <p:nvSpPr>
                <p:cNvPr id="42042" name="Rectangle 58"/>
                <p:cNvSpPr>
                  <a:spLocks noChangeArrowheads="1"/>
                </p:cNvSpPr>
                <p:nvPr/>
              </p:nvSpPr>
              <p:spPr bwMode="auto">
                <a:xfrm>
                  <a:off x="3299" y="2936"/>
                  <a:ext cx="330" cy="403"/>
                </a:xfrm>
                <a:prstGeom prst="rect">
                  <a:avLst/>
                </a:prstGeom>
                <a:noFill/>
                <a:ln w="9525">
                  <a:noFill/>
                  <a:miter lim="800000"/>
                  <a:headEnd/>
                  <a:tailEnd/>
                </a:ln>
                <a:effectLst/>
              </p:spPr>
              <p:txBody>
                <a:bodyPr/>
                <a:lstStyle/>
                <a:p>
                  <a:r>
                    <a:rPr lang="en-CA" sz="1200">
                      <a:latin typeface="Arial" charset="0"/>
                      <a:cs typeface="Arial" charset="0"/>
                    </a:rPr>
                    <a:t>1.15</a:t>
                  </a:r>
                  <a:endParaRPr lang="en-CA" sz="1200">
                    <a:ea typeface="Arial Unicode MS" pitchFamily="34" charset="-128"/>
                    <a:cs typeface="Arial Unicode MS" pitchFamily="34" charset="-128"/>
                  </a:endParaRPr>
                </a:p>
                <a:p>
                  <a:endParaRPr lang="en-CA"/>
                </a:p>
              </p:txBody>
            </p:sp>
            <p:sp>
              <p:nvSpPr>
                <p:cNvPr id="42208" name="Rectangle 224"/>
                <p:cNvSpPr>
                  <a:spLocks noChangeArrowheads="1"/>
                </p:cNvSpPr>
                <p:nvPr/>
              </p:nvSpPr>
              <p:spPr bwMode="auto">
                <a:xfrm>
                  <a:off x="3256" y="2936"/>
                  <a:ext cx="416" cy="403"/>
                </a:xfrm>
                <a:prstGeom prst="rect">
                  <a:avLst/>
                </a:prstGeom>
                <a:noFill/>
                <a:ln w="7">
                  <a:solidFill>
                    <a:srgbClr val="A0A0A0"/>
                  </a:solidFill>
                  <a:miter lim="800000"/>
                  <a:headEnd/>
                  <a:tailEnd/>
                </a:ln>
                <a:effectLst/>
              </p:spPr>
              <p:txBody>
                <a:bodyPr/>
                <a:lstStyle/>
                <a:p>
                  <a:endParaRPr lang="en-US"/>
                </a:p>
              </p:txBody>
            </p:sp>
          </p:grpSp>
          <p:grpSp>
            <p:nvGrpSpPr>
              <p:cNvPr id="42151" name="Group 227"/>
              <p:cNvGrpSpPr>
                <a:grpSpLocks/>
              </p:cNvGrpSpPr>
              <p:nvPr/>
            </p:nvGrpSpPr>
            <p:grpSpPr bwMode="auto">
              <a:xfrm>
                <a:off x="3672" y="2936"/>
                <a:ext cx="441" cy="403"/>
                <a:chOff x="3672" y="2936"/>
                <a:chExt cx="441" cy="403"/>
              </a:xfrm>
            </p:grpSpPr>
            <p:sp>
              <p:nvSpPr>
                <p:cNvPr id="42043" name="Rectangle 59"/>
                <p:cNvSpPr>
                  <a:spLocks noChangeArrowheads="1"/>
                </p:cNvSpPr>
                <p:nvPr/>
              </p:nvSpPr>
              <p:spPr bwMode="auto">
                <a:xfrm>
                  <a:off x="3715" y="2936"/>
                  <a:ext cx="355" cy="403"/>
                </a:xfrm>
                <a:prstGeom prst="rect">
                  <a:avLst/>
                </a:prstGeom>
                <a:noFill/>
                <a:ln w="9525">
                  <a:noFill/>
                  <a:miter lim="800000"/>
                  <a:headEnd/>
                  <a:tailEnd/>
                </a:ln>
                <a:effectLst/>
              </p:spPr>
              <p:txBody>
                <a:bodyPr/>
                <a:lstStyle/>
                <a:p>
                  <a:r>
                    <a:rPr lang="en-CA" sz="1200">
                      <a:latin typeface="Arial" charset="0"/>
                      <a:cs typeface="Arial" charset="0"/>
                    </a:rPr>
                    <a:t>1.15</a:t>
                  </a:r>
                  <a:endParaRPr lang="en-CA" sz="1200">
                    <a:ea typeface="Arial Unicode MS" pitchFamily="34" charset="-128"/>
                    <a:cs typeface="Arial Unicode MS" pitchFamily="34" charset="-128"/>
                  </a:endParaRPr>
                </a:p>
                <a:p>
                  <a:endParaRPr lang="en-CA"/>
                </a:p>
              </p:txBody>
            </p:sp>
            <p:sp>
              <p:nvSpPr>
                <p:cNvPr id="42210" name="Rectangle 226"/>
                <p:cNvSpPr>
                  <a:spLocks noChangeArrowheads="1"/>
                </p:cNvSpPr>
                <p:nvPr/>
              </p:nvSpPr>
              <p:spPr bwMode="auto">
                <a:xfrm>
                  <a:off x="3672" y="2936"/>
                  <a:ext cx="441" cy="403"/>
                </a:xfrm>
                <a:prstGeom prst="rect">
                  <a:avLst/>
                </a:prstGeom>
                <a:noFill/>
                <a:ln w="7">
                  <a:solidFill>
                    <a:srgbClr val="A0A0A0"/>
                  </a:solidFill>
                  <a:miter lim="800000"/>
                  <a:headEnd/>
                  <a:tailEnd/>
                </a:ln>
                <a:effectLst/>
              </p:spPr>
              <p:txBody>
                <a:bodyPr/>
                <a:lstStyle/>
                <a:p>
                  <a:endParaRPr lang="en-US"/>
                </a:p>
              </p:txBody>
            </p:sp>
          </p:grpSp>
          <p:grpSp>
            <p:nvGrpSpPr>
              <p:cNvPr id="42153" name="Group 229"/>
              <p:cNvGrpSpPr>
                <a:grpSpLocks/>
              </p:cNvGrpSpPr>
              <p:nvPr/>
            </p:nvGrpSpPr>
            <p:grpSpPr bwMode="auto">
              <a:xfrm>
                <a:off x="0" y="3339"/>
                <a:ext cx="1455" cy="403"/>
                <a:chOff x="0" y="3339"/>
                <a:chExt cx="1455" cy="403"/>
              </a:xfrm>
            </p:grpSpPr>
            <p:sp>
              <p:nvSpPr>
                <p:cNvPr id="42044" name="Rectangle 60"/>
                <p:cNvSpPr>
                  <a:spLocks noChangeArrowheads="1"/>
                </p:cNvSpPr>
                <p:nvPr/>
              </p:nvSpPr>
              <p:spPr bwMode="auto">
                <a:xfrm>
                  <a:off x="43" y="3339"/>
                  <a:ext cx="1369" cy="403"/>
                </a:xfrm>
                <a:prstGeom prst="rect">
                  <a:avLst/>
                </a:prstGeom>
                <a:noFill/>
                <a:ln w="9525">
                  <a:noFill/>
                  <a:miter lim="800000"/>
                  <a:headEnd/>
                  <a:tailEnd/>
                </a:ln>
                <a:effectLst/>
              </p:spPr>
              <p:txBody>
                <a:bodyPr/>
                <a:lstStyle/>
                <a:p>
                  <a:r>
                    <a:rPr lang="en-CA" sz="1200" b="1">
                      <a:latin typeface="Arial" charset="0"/>
                      <a:cs typeface="Arial" charset="0"/>
                    </a:rPr>
                    <a:t>Analyst Capability</a:t>
                  </a:r>
                  <a:endParaRPr lang="en-CA" sz="1200">
                    <a:ea typeface="Arial Unicode MS" pitchFamily="34" charset="-128"/>
                    <a:cs typeface="Arial Unicode MS" pitchFamily="34" charset="-128"/>
                  </a:endParaRPr>
                </a:p>
                <a:p>
                  <a:endParaRPr lang="en-CA"/>
                </a:p>
              </p:txBody>
            </p:sp>
            <p:sp>
              <p:nvSpPr>
                <p:cNvPr id="42212" name="Rectangle 228"/>
                <p:cNvSpPr>
                  <a:spLocks noChangeArrowheads="1"/>
                </p:cNvSpPr>
                <p:nvPr/>
              </p:nvSpPr>
              <p:spPr bwMode="auto">
                <a:xfrm>
                  <a:off x="0" y="3339"/>
                  <a:ext cx="1455" cy="403"/>
                </a:xfrm>
                <a:prstGeom prst="rect">
                  <a:avLst/>
                </a:prstGeom>
                <a:noFill/>
                <a:ln w="7">
                  <a:solidFill>
                    <a:srgbClr val="A0A0A0"/>
                  </a:solidFill>
                  <a:miter lim="800000"/>
                  <a:headEnd/>
                  <a:tailEnd/>
                </a:ln>
                <a:effectLst/>
              </p:spPr>
              <p:txBody>
                <a:bodyPr/>
                <a:lstStyle/>
                <a:p>
                  <a:endParaRPr lang="en-US"/>
                </a:p>
              </p:txBody>
            </p:sp>
          </p:grpSp>
          <p:grpSp>
            <p:nvGrpSpPr>
              <p:cNvPr id="42155" name="Group 231"/>
              <p:cNvGrpSpPr>
                <a:grpSpLocks/>
              </p:cNvGrpSpPr>
              <p:nvPr/>
            </p:nvGrpSpPr>
            <p:grpSpPr bwMode="auto">
              <a:xfrm>
                <a:off x="1455" y="3339"/>
                <a:ext cx="409" cy="403"/>
                <a:chOff x="1455" y="3339"/>
                <a:chExt cx="409" cy="403"/>
              </a:xfrm>
            </p:grpSpPr>
            <p:sp>
              <p:nvSpPr>
                <p:cNvPr id="42045" name="Rectangle 61"/>
                <p:cNvSpPr>
                  <a:spLocks noChangeArrowheads="1"/>
                </p:cNvSpPr>
                <p:nvPr/>
              </p:nvSpPr>
              <p:spPr bwMode="auto">
                <a:xfrm>
                  <a:off x="1498" y="3339"/>
                  <a:ext cx="323" cy="403"/>
                </a:xfrm>
                <a:prstGeom prst="rect">
                  <a:avLst/>
                </a:prstGeom>
                <a:noFill/>
                <a:ln w="9525">
                  <a:noFill/>
                  <a:miter lim="800000"/>
                  <a:headEnd/>
                  <a:tailEnd/>
                </a:ln>
                <a:effectLst/>
              </p:spPr>
              <p:txBody>
                <a:bodyPr/>
                <a:lstStyle/>
                <a:p>
                  <a:r>
                    <a:rPr lang="en-CA" sz="1200">
                      <a:latin typeface="Arial" charset="0"/>
                      <a:cs typeface="Arial" charset="0"/>
                    </a:rPr>
                    <a:t>1.46</a:t>
                  </a:r>
                  <a:endParaRPr lang="en-CA" sz="1200">
                    <a:ea typeface="Arial Unicode MS" pitchFamily="34" charset="-128"/>
                    <a:cs typeface="Arial Unicode MS" pitchFamily="34" charset="-128"/>
                  </a:endParaRPr>
                </a:p>
                <a:p>
                  <a:endParaRPr lang="en-CA"/>
                </a:p>
              </p:txBody>
            </p:sp>
            <p:sp>
              <p:nvSpPr>
                <p:cNvPr id="42214" name="Rectangle 230"/>
                <p:cNvSpPr>
                  <a:spLocks noChangeArrowheads="1"/>
                </p:cNvSpPr>
                <p:nvPr/>
              </p:nvSpPr>
              <p:spPr bwMode="auto">
                <a:xfrm>
                  <a:off x="1455" y="3339"/>
                  <a:ext cx="409" cy="403"/>
                </a:xfrm>
                <a:prstGeom prst="rect">
                  <a:avLst/>
                </a:prstGeom>
                <a:noFill/>
                <a:ln w="7">
                  <a:solidFill>
                    <a:srgbClr val="A0A0A0"/>
                  </a:solidFill>
                  <a:miter lim="800000"/>
                  <a:headEnd/>
                  <a:tailEnd/>
                </a:ln>
                <a:effectLst/>
              </p:spPr>
              <p:txBody>
                <a:bodyPr/>
                <a:lstStyle/>
                <a:p>
                  <a:endParaRPr lang="en-US"/>
                </a:p>
              </p:txBody>
            </p:sp>
          </p:grpSp>
          <p:grpSp>
            <p:nvGrpSpPr>
              <p:cNvPr id="42157" name="Group 233"/>
              <p:cNvGrpSpPr>
                <a:grpSpLocks/>
              </p:cNvGrpSpPr>
              <p:nvPr/>
            </p:nvGrpSpPr>
            <p:grpSpPr bwMode="auto">
              <a:xfrm>
                <a:off x="1864" y="3339"/>
                <a:ext cx="395" cy="403"/>
                <a:chOff x="1864" y="3339"/>
                <a:chExt cx="395" cy="403"/>
              </a:xfrm>
            </p:grpSpPr>
            <p:sp>
              <p:nvSpPr>
                <p:cNvPr id="42046" name="Rectangle 62"/>
                <p:cNvSpPr>
                  <a:spLocks noChangeArrowheads="1"/>
                </p:cNvSpPr>
                <p:nvPr/>
              </p:nvSpPr>
              <p:spPr bwMode="auto">
                <a:xfrm>
                  <a:off x="1907" y="3339"/>
                  <a:ext cx="309" cy="403"/>
                </a:xfrm>
                <a:prstGeom prst="rect">
                  <a:avLst/>
                </a:prstGeom>
                <a:noFill/>
                <a:ln w="9525">
                  <a:noFill/>
                  <a:miter lim="800000"/>
                  <a:headEnd/>
                  <a:tailEnd/>
                </a:ln>
                <a:effectLst/>
              </p:spPr>
              <p:txBody>
                <a:bodyPr/>
                <a:lstStyle/>
                <a:p>
                  <a:r>
                    <a:rPr lang="en-CA" sz="1200">
                      <a:latin typeface="Arial" charset="0"/>
                      <a:cs typeface="Arial" charset="0"/>
                    </a:rPr>
                    <a:t>1.19</a:t>
                  </a:r>
                  <a:endParaRPr lang="en-CA" sz="1200">
                    <a:ea typeface="Arial Unicode MS" pitchFamily="34" charset="-128"/>
                    <a:cs typeface="Arial Unicode MS" pitchFamily="34" charset="-128"/>
                  </a:endParaRPr>
                </a:p>
                <a:p>
                  <a:endParaRPr lang="en-CA"/>
                </a:p>
              </p:txBody>
            </p:sp>
            <p:sp>
              <p:nvSpPr>
                <p:cNvPr id="42216" name="Rectangle 232"/>
                <p:cNvSpPr>
                  <a:spLocks noChangeArrowheads="1"/>
                </p:cNvSpPr>
                <p:nvPr/>
              </p:nvSpPr>
              <p:spPr bwMode="auto">
                <a:xfrm>
                  <a:off x="1864" y="3339"/>
                  <a:ext cx="395" cy="403"/>
                </a:xfrm>
                <a:prstGeom prst="rect">
                  <a:avLst/>
                </a:prstGeom>
                <a:noFill/>
                <a:ln w="7">
                  <a:solidFill>
                    <a:srgbClr val="A0A0A0"/>
                  </a:solidFill>
                  <a:miter lim="800000"/>
                  <a:headEnd/>
                  <a:tailEnd/>
                </a:ln>
                <a:effectLst/>
              </p:spPr>
              <p:txBody>
                <a:bodyPr/>
                <a:lstStyle/>
                <a:p>
                  <a:endParaRPr lang="en-US"/>
                </a:p>
              </p:txBody>
            </p:sp>
          </p:grpSp>
          <p:grpSp>
            <p:nvGrpSpPr>
              <p:cNvPr id="42159" name="Group 235"/>
              <p:cNvGrpSpPr>
                <a:grpSpLocks/>
              </p:cNvGrpSpPr>
              <p:nvPr/>
            </p:nvGrpSpPr>
            <p:grpSpPr bwMode="auto">
              <a:xfrm>
                <a:off x="2259" y="3339"/>
                <a:ext cx="581" cy="403"/>
                <a:chOff x="2259" y="3339"/>
                <a:chExt cx="581" cy="403"/>
              </a:xfrm>
            </p:grpSpPr>
            <p:sp>
              <p:nvSpPr>
                <p:cNvPr id="42047" name="Rectangle 63"/>
                <p:cNvSpPr>
                  <a:spLocks noChangeArrowheads="1"/>
                </p:cNvSpPr>
                <p:nvPr/>
              </p:nvSpPr>
              <p:spPr bwMode="auto">
                <a:xfrm>
                  <a:off x="2302" y="3339"/>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18" name="Rectangle 234"/>
                <p:cNvSpPr>
                  <a:spLocks noChangeArrowheads="1"/>
                </p:cNvSpPr>
                <p:nvPr/>
              </p:nvSpPr>
              <p:spPr bwMode="auto">
                <a:xfrm>
                  <a:off x="2259" y="3339"/>
                  <a:ext cx="581" cy="403"/>
                </a:xfrm>
                <a:prstGeom prst="rect">
                  <a:avLst/>
                </a:prstGeom>
                <a:noFill/>
                <a:ln w="7">
                  <a:solidFill>
                    <a:srgbClr val="A0A0A0"/>
                  </a:solidFill>
                  <a:miter lim="800000"/>
                  <a:headEnd/>
                  <a:tailEnd/>
                </a:ln>
                <a:effectLst/>
              </p:spPr>
              <p:txBody>
                <a:bodyPr/>
                <a:lstStyle/>
                <a:p>
                  <a:endParaRPr lang="en-US"/>
                </a:p>
              </p:txBody>
            </p:sp>
          </p:grpSp>
          <p:grpSp>
            <p:nvGrpSpPr>
              <p:cNvPr id="42161" name="Group 237"/>
              <p:cNvGrpSpPr>
                <a:grpSpLocks/>
              </p:cNvGrpSpPr>
              <p:nvPr/>
            </p:nvGrpSpPr>
            <p:grpSpPr bwMode="auto">
              <a:xfrm>
                <a:off x="2840" y="3339"/>
                <a:ext cx="416" cy="403"/>
                <a:chOff x="2840" y="3339"/>
                <a:chExt cx="416" cy="403"/>
              </a:xfrm>
            </p:grpSpPr>
            <p:sp>
              <p:nvSpPr>
                <p:cNvPr id="42048" name="Rectangle 64"/>
                <p:cNvSpPr>
                  <a:spLocks noChangeArrowheads="1"/>
                </p:cNvSpPr>
                <p:nvPr/>
              </p:nvSpPr>
              <p:spPr bwMode="auto">
                <a:xfrm>
                  <a:off x="2883" y="3339"/>
                  <a:ext cx="330" cy="403"/>
                </a:xfrm>
                <a:prstGeom prst="rect">
                  <a:avLst/>
                </a:prstGeom>
                <a:noFill/>
                <a:ln w="9525">
                  <a:noFill/>
                  <a:miter lim="800000"/>
                  <a:headEnd/>
                  <a:tailEnd/>
                </a:ln>
                <a:effectLst/>
              </p:spPr>
              <p:txBody>
                <a:bodyPr/>
                <a:lstStyle/>
                <a:p>
                  <a:r>
                    <a:rPr lang="en-CA" sz="1200">
                      <a:latin typeface="Arial" charset="0"/>
                      <a:cs typeface="Arial" charset="0"/>
                    </a:rPr>
                    <a:t>.86</a:t>
                  </a:r>
                  <a:endParaRPr lang="en-CA" sz="1200">
                    <a:ea typeface="Arial Unicode MS" pitchFamily="34" charset="-128"/>
                    <a:cs typeface="Arial Unicode MS" pitchFamily="34" charset="-128"/>
                  </a:endParaRPr>
                </a:p>
                <a:p>
                  <a:endParaRPr lang="en-CA"/>
                </a:p>
              </p:txBody>
            </p:sp>
            <p:sp>
              <p:nvSpPr>
                <p:cNvPr id="42220" name="Rectangle 236"/>
                <p:cNvSpPr>
                  <a:spLocks noChangeArrowheads="1"/>
                </p:cNvSpPr>
                <p:nvPr/>
              </p:nvSpPr>
              <p:spPr bwMode="auto">
                <a:xfrm>
                  <a:off x="2840" y="3339"/>
                  <a:ext cx="416" cy="403"/>
                </a:xfrm>
                <a:prstGeom prst="rect">
                  <a:avLst/>
                </a:prstGeom>
                <a:noFill/>
                <a:ln w="7">
                  <a:solidFill>
                    <a:srgbClr val="A0A0A0"/>
                  </a:solidFill>
                  <a:miter lim="800000"/>
                  <a:headEnd/>
                  <a:tailEnd/>
                </a:ln>
                <a:effectLst/>
              </p:spPr>
              <p:txBody>
                <a:bodyPr/>
                <a:lstStyle/>
                <a:p>
                  <a:endParaRPr lang="en-US"/>
                </a:p>
              </p:txBody>
            </p:sp>
          </p:grpSp>
          <p:grpSp>
            <p:nvGrpSpPr>
              <p:cNvPr id="42163" name="Group 239"/>
              <p:cNvGrpSpPr>
                <a:grpSpLocks/>
              </p:cNvGrpSpPr>
              <p:nvPr/>
            </p:nvGrpSpPr>
            <p:grpSpPr bwMode="auto">
              <a:xfrm>
                <a:off x="3256" y="3339"/>
                <a:ext cx="416" cy="403"/>
                <a:chOff x="3256" y="3339"/>
                <a:chExt cx="416" cy="403"/>
              </a:xfrm>
            </p:grpSpPr>
            <p:sp>
              <p:nvSpPr>
                <p:cNvPr id="42049" name="Rectangle 65"/>
                <p:cNvSpPr>
                  <a:spLocks noChangeArrowheads="1"/>
                </p:cNvSpPr>
                <p:nvPr/>
              </p:nvSpPr>
              <p:spPr bwMode="auto">
                <a:xfrm>
                  <a:off x="3299" y="3339"/>
                  <a:ext cx="330" cy="403"/>
                </a:xfrm>
                <a:prstGeom prst="rect">
                  <a:avLst/>
                </a:prstGeom>
                <a:noFill/>
                <a:ln w="9525">
                  <a:noFill/>
                  <a:miter lim="800000"/>
                  <a:headEnd/>
                  <a:tailEnd/>
                </a:ln>
                <a:effectLst/>
              </p:spPr>
              <p:txBody>
                <a:bodyPr/>
                <a:lstStyle/>
                <a:p>
                  <a:r>
                    <a:rPr lang="en-CA" sz="1200">
                      <a:latin typeface="Arial" charset="0"/>
                      <a:cs typeface="Arial" charset="0"/>
                    </a:rPr>
                    <a:t>.71</a:t>
                  </a:r>
                  <a:endParaRPr lang="en-CA" sz="1200">
                    <a:ea typeface="Arial Unicode MS" pitchFamily="34" charset="-128"/>
                    <a:cs typeface="Arial Unicode MS" pitchFamily="34" charset="-128"/>
                  </a:endParaRPr>
                </a:p>
                <a:p>
                  <a:endParaRPr lang="en-CA"/>
                </a:p>
              </p:txBody>
            </p:sp>
            <p:sp>
              <p:nvSpPr>
                <p:cNvPr id="42222" name="Rectangle 238"/>
                <p:cNvSpPr>
                  <a:spLocks noChangeArrowheads="1"/>
                </p:cNvSpPr>
                <p:nvPr/>
              </p:nvSpPr>
              <p:spPr bwMode="auto">
                <a:xfrm>
                  <a:off x="3256" y="3339"/>
                  <a:ext cx="416" cy="403"/>
                </a:xfrm>
                <a:prstGeom prst="rect">
                  <a:avLst/>
                </a:prstGeom>
                <a:noFill/>
                <a:ln w="7">
                  <a:solidFill>
                    <a:srgbClr val="A0A0A0"/>
                  </a:solidFill>
                  <a:miter lim="800000"/>
                  <a:headEnd/>
                  <a:tailEnd/>
                </a:ln>
                <a:effectLst/>
              </p:spPr>
              <p:txBody>
                <a:bodyPr/>
                <a:lstStyle/>
                <a:p>
                  <a:endParaRPr lang="en-US"/>
                </a:p>
              </p:txBody>
            </p:sp>
          </p:grpSp>
          <p:grpSp>
            <p:nvGrpSpPr>
              <p:cNvPr id="42165" name="Group 241"/>
              <p:cNvGrpSpPr>
                <a:grpSpLocks/>
              </p:cNvGrpSpPr>
              <p:nvPr/>
            </p:nvGrpSpPr>
            <p:grpSpPr bwMode="auto">
              <a:xfrm>
                <a:off x="3672" y="3339"/>
                <a:ext cx="441" cy="403"/>
                <a:chOff x="3672" y="3339"/>
                <a:chExt cx="441" cy="403"/>
              </a:xfrm>
            </p:grpSpPr>
            <p:sp>
              <p:nvSpPr>
                <p:cNvPr id="42050" name="Rectangle 66"/>
                <p:cNvSpPr>
                  <a:spLocks noChangeArrowheads="1"/>
                </p:cNvSpPr>
                <p:nvPr/>
              </p:nvSpPr>
              <p:spPr bwMode="auto">
                <a:xfrm>
                  <a:off x="3715" y="3339"/>
                  <a:ext cx="355" cy="403"/>
                </a:xfrm>
                <a:prstGeom prst="rect">
                  <a:avLst/>
                </a:prstGeom>
                <a:noFill/>
                <a:ln w="9525">
                  <a:noFill/>
                  <a:miter lim="800000"/>
                  <a:headEnd/>
                  <a:tailEnd/>
                </a:ln>
                <a:effectLst/>
              </p:spPr>
              <p:txBody>
                <a:bodyPr/>
                <a:lstStyle/>
                <a:p>
                  <a:r>
                    <a:rPr lang="en-CA" sz="1200">
                      <a:latin typeface="Arial" charset="0"/>
                      <a:cs typeface="Arial" charset="0"/>
                    </a:rPr>
                    <a:t>.71</a:t>
                  </a:r>
                  <a:endParaRPr lang="en-CA" sz="1200">
                    <a:ea typeface="Arial Unicode MS" pitchFamily="34" charset="-128"/>
                    <a:cs typeface="Arial Unicode MS" pitchFamily="34" charset="-128"/>
                  </a:endParaRPr>
                </a:p>
                <a:p>
                  <a:endParaRPr lang="en-CA"/>
                </a:p>
              </p:txBody>
            </p:sp>
            <p:sp>
              <p:nvSpPr>
                <p:cNvPr id="42224" name="Rectangle 240"/>
                <p:cNvSpPr>
                  <a:spLocks noChangeArrowheads="1"/>
                </p:cNvSpPr>
                <p:nvPr/>
              </p:nvSpPr>
              <p:spPr bwMode="auto">
                <a:xfrm>
                  <a:off x="3672" y="3339"/>
                  <a:ext cx="441" cy="403"/>
                </a:xfrm>
                <a:prstGeom prst="rect">
                  <a:avLst/>
                </a:prstGeom>
                <a:noFill/>
                <a:ln w="7">
                  <a:solidFill>
                    <a:srgbClr val="A0A0A0"/>
                  </a:solidFill>
                  <a:miter lim="800000"/>
                  <a:headEnd/>
                  <a:tailEnd/>
                </a:ln>
                <a:effectLst/>
              </p:spPr>
              <p:txBody>
                <a:bodyPr/>
                <a:lstStyle/>
                <a:p>
                  <a:endParaRPr lang="en-US"/>
                </a:p>
              </p:txBody>
            </p:sp>
          </p:grpSp>
          <p:grpSp>
            <p:nvGrpSpPr>
              <p:cNvPr id="42167" name="Group 243"/>
              <p:cNvGrpSpPr>
                <a:grpSpLocks/>
              </p:cNvGrpSpPr>
              <p:nvPr/>
            </p:nvGrpSpPr>
            <p:grpSpPr bwMode="auto">
              <a:xfrm>
                <a:off x="0" y="3742"/>
                <a:ext cx="1455" cy="403"/>
                <a:chOff x="0" y="3742"/>
                <a:chExt cx="1455" cy="403"/>
              </a:xfrm>
            </p:grpSpPr>
            <p:sp>
              <p:nvSpPr>
                <p:cNvPr id="42051" name="Rectangle 67"/>
                <p:cNvSpPr>
                  <a:spLocks noChangeArrowheads="1"/>
                </p:cNvSpPr>
                <p:nvPr/>
              </p:nvSpPr>
              <p:spPr bwMode="auto">
                <a:xfrm>
                  <a:off x="43" y="3742"/>
                  <a:ext cx="1369" cy="403"/>
                </a:xfrm>
                <a:prstGeom prst="rect">
                  <a:avLst/>
                </a:prstGeom>
                <a:noFill/>
                <a:ln w="9525">
                  <a:noFill/>
                  <a:miter lim="800000"/>
                  <a:headEnd/>
                  <a:tailEnd/>
                </a:ln>
                <a:effectLst/>
              </p:spPr>
              <p:txBody>
                <a:bodyPr/>
                <a:lstStyle/>
                <a:p>
                  <a:r>
                    <a:rPr lang="en-CA" sz="1200" b="1">
                      <a:latin typeface="Arial" charset="0"/>
                      <a:cs typeface="Arial" charset="0"/>
                    </a:rPr>
                    <a:t>Application Experience</a:t>
                  </a:r>
                  <a:endParaRPr lang="en-CA" sz="1200">
                    <a:ea typeface="Arial Unicode MS" pitchFamily="34" charset="-128"/>
                    <a:cs typeface="Arial Unicode MS" pitchFamily="34" charset="-128"/>
                  </a:endParaRPr>
                </a:p>
                <a:p>
                  <a:endParaRPr lang="en-CA"/>
                </a:p>
              </p:txBody>
            </p:sp>
            <p:sp>
              <p:nvSpPr>
                <p:cNvPr id="42226" name="Rectangle 242"/>
                <p:cNvSpPr>
                  <a:spLocks noChangeArrowheads="1"/>
                </p:cNvSpPr>
                <p:nvPr/>
              </p:nvSpPr>
              <p:spPr bwMode="auto">
                <a:xfrm>
                  <a:off x="0" y="3742"/>
                  <a:ext cx="1455" cy="403"/>
                </a:xfrm>
                <a:prstGeom prst="rect">
                  <a:avLst/>
                </a:prstGeom>
                <a:noFill/>
                <a:ln w="7">
                  <a:solidFill>
                    <a:srgbClr val="A0A0A0"/>
                  </a:solidFill>
                  <a:miter lim="800000"/>
                  <a:headEnd/>
                  <a:tailEnd/>
                </a:ln>
                <a:effectLst/>
              </p:spPr>
              <p:txBody>
                <a:bodyPr/>
                <a:lstStyle/>
                <a:p>
                  <a:endParaRPr lang="en-US"/>
                </a:p>
              </p:txBody>
            </p:sp>
          </p:grpSp>
          <p:grpSp>
            <p:nvGrpSpPr>
              <p:cNvPr id="42169" name="Group 245"/>
              <p:cNvGrpSpPr>
                <a:grpSpLocks/>
              </p:cNvGrpSpPr>
              <p:nvPr/>
            </p:nvGrpSpPr>
            <p:grpSpPr bwMode="auto">
              <a:xfrm>
                <a:off x="1455" y="3742"/>
                <a:ext cx="409" cy="403"/>
                <a:chOff x="1455" y="3742"/>
                <a:chExt cx="409" cy="403"/>
              </a:xfrm>
            </p:grpSpPr>
            <p:sp>
              <p:nvSpPr>
                <p:cNvPr id="42052" name="Rectangle 68"/>
                <p:cNvSpPr>
                  <a:spLocks noChangeArrowheads="1"/>
                </p:cNvSpPr>
                <p:nvPr/>
              </p:nvSpPr>
              <p:spPr bwMode="auto">
                <a:xfrm>
                  <a:off x="1498" y="3742"/>
                  <a:ext cx="323" cy="403"/>
                </a:xfrm>
                <a:prstGeom prst="rect">
                  <a:avLst/>
                </a:prstGeom>
                <a:noFill/>
                <a:ln w="9525">
                  <a:noFill/>
                  <a:miter lim="800000"/>
                  <a:headEnd/>
                  <a:tailEnd/>
                </a:ln>
                <a:effectLst/>
              </p:spPr>
              <p:txBody>
                <a:bodyPr/>
                <a:lstStyle/>
                <a:p>
                  <a:r>
                    <a:rPr lang="en-CA" sz="1200">
                      <a:latin typeface="Arial" charset="0"/>
                      <a:cs typeface="Arial" charset="0"/>
                    </a:rPr>
                    <a:t>1.29</a:t>
                  </a:r>
                  <a:endParaRPr lang="en-CA" sz="1200">
                    <a:ea typeface="Arial Unicode MS" pitchFamily="34" charset="-128"/>
                    <a:cs typeface="Arial Unicode MS" pitchFamily="34" charset="-128"/>
                  </a:endParaRPr>
                </a:p>
                <a:p>
                  <a:endParaRPr lang="en-CA"/>
                </a:p>
              </p:txBody>
            </p:sp>
            <p:sp>
              <p:nvSpPr>
                <p:cNvPr id="42228" name="Rectangle 244"/>
                <p:cNvSpPr>
                  <a:spLocks noChangeArrowheads="1"/>
                </p:cNvSpPr>
                <p:nvPr/>
              </p:nvSpPr>
              <p:spPr bwMode="auto">
                <a:xfrm>
                  <a:off x="1455" y="3742"/>
                  <a:ext cx="409" cy="403"/>
                </a:xfrm>
                <a:prstGeom prst="rect">
                  <a:avLst/>
                </a:prstGeom>
                <a:noFill/>
                <a:ln w="7">
                  <a:solidFill>
                    <a:srgbClr val="A0A0A0"/>
                  </a:solidFill>
                  <a:miter lim="800000"/>
                  <a:headEnd/>
                  <a:tailEnd/>
                </a:ln>
                <a:effectLst/>
              </p:spPr>
              <p:txBody>
                <a:bodyPr/>
                <a:lstStyle/>
                <a:p>
                  <a:endParaRPr lang="en-US"/>
                </a:p>
              </p:txBody>
            </p:sp>
          </p:grpSp>
          <p:grpSp>
            <p:nvGrpSpPr>
              <p:cNvPr id="42171" name="Group 247"/>
              <p:cNvGrpSpPr>
                <a:grpSpLocks/>
              </p:cNvGrpSpPr>
              <p:nvPr/>
            </p:nvGrpSpPr>
            <p:grpSpPr bwMode="auto">
              <a:xfrm>
                <a:off x="1864" y="3742"/>
                <a:ext cx="395" cy="403"/>
                <a:chOff x="1864" y="3742"/>
                <a:chExt cx="395" cy="403"/>
              </a:xfrm>
            </p:grpSpPr>
            <p:sp>
              <p:nvSpPr>
                <p:cNvPr id="42053" name="Rectangle 69"/>
                <p:cNvSpPr>
                  <a:spLocks noChangeArrowheads="1"/>
                </p:cNvSpPr>
                <p:nvPr/>
              </p:nvSpPr>
              <p:spPr bwMode="auto">
                <a:xfrm>
                  <a:off x="1907" y="3742"/>
                  <a:ext cx="309" cy="403"/>
                </a:xfrm>
                <a:prstGeom prst="rect">
                  <a:avLst/>
                </a:prstGeom>
                <a:noFill/>
                <a:ln w="9525">
                  <a:noFill/>
                  <a:miter lim="800000"/>
                  <a:headEnd/>
                  <a:tailEnd/>
                </a:ln>
                <a:effectLst/>
              </p:spPr>
              <p:txBody>
                <a:bodyPr/>
                <a:lstStyle/>
                <a:p>
                  <a:r>
                    <a:rPr lang="en-CA" sz="1200">
                      <a:latin typeface="Arial" charset="0"/>
                      <a:cs typeface="Arial" charset="0"/>
                    </a:rPr>
                    <a:t>1.13</a:t>
                  </a:r>
                  <a:endParaRPr lang="en-CA" sz="1200">
                    <a:ea typeface="Arial Unicode MS" pitchFamily="34" charset="-128"/>
                    <a:cs typeface="Arial Unicode MS" pitchFamily="34" charset="-128"/>
                  </a:endParaRPr>
                </a:p>
                <a:p>
                  <a:endParaRPr lang="en-CA"/>
                </a:p>
              </p:txBody>
            </p:sp>
            <p:sp>
              <p:nvSpPr>
                <p:cNvPr id="42230" name="Rectangle 246"/>
                <p:cNvSpPr>
                  <a:spLocks noChangeArrowheads="1"/>
                </p:cNvSpPr>
                <p:nvPr/>
              </p:nvSpPr>
              <p:spPr bwMode="auto">
                <a:xfrm>
                  <a:off x="1864" y="3742"/>
                  <a:ext cx="395" cy="403"/>
                </a:xfrm>
                <a:prstGeom prst="rect">
                  <a:avLst/>
                </a:prstGeom>
                <a:noFill/>
                <a:ln w="7">
                  <a:solidFill>
                    <a:srgbClr val="A0A0A0"/>
                  </a:solidFill>
                  <a:miter lim="800000"/>
                  <a:headEnd/>
                  <a:tailEnd/>
                </a:ln>
                <a:effectLst/>
              </p:spPr>
              <p:txBody>
                <a:bodyPr/>
                <a:lstStyle/>
                <a:p>
                  <a:endParaRPr lang="en-US"/>
                </a:p>
              </p:txBody>
            </p:sp>
          </p:grpSp>
          <p:grpSp>
            <p:nvGrpSpPr>
              <p:cNvPr id="42173" name="Group 249"/>
              <p:cNvGrpSpPr>
                <a:grpSpLocks/>
              </p:cNvGrpSpPr>
              <p:nvPr/>
            </p:nvGrpSpPr>
            <p:grpSpPr bwMode="auto">
              <a:xfrm>
                <a:off x="2259" y="3742"/>
                <a:ext cx="581" cy="403"/>
                <a:chOff x="2259" y="3742"/>
                <a:chExt cx="581" cy="403"/>
              </a:xfrm>
            </p:grpSpPr>
            <p:sp>
              <p:nvSpPr>
                <p:cNvPr id="42054" name="Rectangle 70"/>
                <p:cNvSpPr>
                  <a:spLocks noChangeArrowheads="1"/>
                </p:cNvSpPr>
                <p:nvPr/>
              </p:nvSpPr>
              <p:spPr bwMode="auto">
                <a:xfrm>
                  <a:off x="2302" y="3742"/>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32" name="Rectangle 248"/>
                <p:cNvSpPr>
                  <a:spLocks noChangeArrowheads="1"/>
                </p:cNvSpPr>
                <p:nvPr/>
              </p:nvSpPr>
              <p:spPr bwMode="auto">
                <a:xfrm>
                  <a:off x="2259" y="3742"/>
                  <a:ext cx="581" cy="403"/>
                </a:xfrm>
                <a:prstGeom prst="rect">
                  <a:avLst/>
                </a:prstGeom>
                <a:noFill/>
                <a:ln w="7">
                  <a:solidFill>
                    <a:srgbClr val="A0A0A0"/>
                  </a:solidFill>
                  <a:miter lim="800000"/>
                  <a:headEnd/>
                  <a:tailEnd/>
                </a:ln>
                <a:effectLst/>
              </p:spPr>
              <p:txBody>
                <a:bodyPr/>
                <a:lstStyle/>
                <a:p>
                  <a:endParaRPr lang="en-US"/>
                </a:p>
              </p:txBody>
            </p:sp>
          </p:grpSp>
          <p:grpSp>
            <p:nvGrpSpPr>
              <p:cNvPr id="42175" name="Group 251"/>
              <p:cNvGrpSpPr>
                <a:grpSpLocks/>
              </p:cNvGrpSpPr>
              <p:nvPr/>
            </p:nvGrpSpPr>
            <p:grpSpPr bwMode="auto">
              <a:xfrm>
                <a:off x="2840" y="3742"/>
                <a:ext cx="416" cy="403"/>
                <a:chOff x="2840" y="3742"/>
                <a:chExt cx="416" cy="403"/>
              </a:xfrm>
            </p:grpSpPr>
            <p:sp>
              <p:nvSpPr>
                <p:cNvPr id="42055" name="Rectangle 71"/>
                <p:cNvSpPr>
                  <a:spLocks noChangeArrowheads="1"/>
                </p:cNvSpPr>
                <p:nvPr/>
              </p:nvSpPr>
              <p:spPr bwMode="auto">
                <a:xfrm>
                  <a:off x="2883" y="3742"/>
                  <a:ext cx="330" cy="403"/>
                </a:xfrm>
                <a:prstGeom prst="rect">
                  <a:avLst/>
                </a:prstGeom>
                <a:noFill/>
                <a:ln w="9525">
                  <a:noFill/>
                  <a:miter lim="800000"/>
                  <a:headEnd/>
                  <a:tailEnd/>
                </a:ln>
                <a:effectLst/>
              </p:spPr>
              <p:txBody>
                <a:bodyPr/>
                <a:lstStyle/>
                <a:p>
                  <a:r>
                    <a:rPr lang="en-CA" sz="1200">
                      <a:latin typeface="Arial" charset="0"/>
                      <a:cs typeface="Arial" charset="0"/>
                    </a:rPr>
                    <a:t>.91</a:t>
                  </a:r>
                  <a:endParaRPr lang="en-CA" sz="1200">
                    <a:ea typeface="Arial Unicode MS" pitchFamily="34" charset="-128"/>
                    <a:cs typeface="Arial Unicode MS" pitchFamily="34" charset="-128"/>
                  </a:endParaRPr>
                </a:p>
                <a:p>
                  <a:endParaRPr lang="en-CA"/>
                </a:p>
              </p:txBody>
            </p:sp>
            <p:sp>
              <p:nvSpPr>
                <p:cNvPr id="42234" name="Rectangle 250"/>
                <p:cNvSpPr>
                  <a:spLocks noChangeArrowheads="1"/>
                </p:cNvSpPr>
                <p:nvPr/>
              </p:nvSpPr>
              <p:spPr bwMode="auto">
                <a:xfrm>
                  <a:off x="2840" y="3742"/>
                  <a:ext cx="416" cy="403"/>
                </a:xfrm>
                <a:prstGeom prst="rect">
                  <a:avLst/>
                </a:prstGeom>
                <a:noFill/>
                <a:ln w="7">
                  <a:solidFill>
                    <a:srgbClr val="A0A0A0"/>
                  </a:solidFill>
                  <a:miter lim="800000"/>
                  <a:headEnd/>
                  <a:tailEnd/>
                </a:ln>
                <a:effectLst/>
              </p:spPr>
              <p:txBody>
                <a:bodyPr/>
                <a:lstStyle/>
                <a:p>
                  <a:endParaRPr lang="en-US"/>
                </a:p>
              </p:txBody>
            </p:sp>
          </p:grpSp>
          <p:grpSp>
            <p:nvGrpSpPr>
              <p:cNvPr id="42177" name="Group 253"/>
              <p:cNvGrpSpPr>
                <a:grpSpLocks/>
              </p:cNvGrpSpPr>
              <p:nvPr/>
            </p:nvGrpSpPr>
            <p:grpSpPr bwMode="auto">
              <a:xfrm>
                <a:off x="3256" y="3742"/>
                <a:ext cx="416" cy="403"/>
                <a:chOff x="3256" y="3742"/>
                <a:chExt cx="416" cy="403"/>
              </a:xfrm>
            </p:grpSpPr>
            <p:sp>
              <p:nvSpPr>
                <p:cNvPr id="42056" name="Rectangle 72"/>
                <p:cNvSpPr>
                  <a:spLocks noChangeArrowheads="1"/>
                </p:cNvSpPr>
                <p:nvPr/>
              </p:nvSpPr>
              <p:spPr bwMode="auto">
                <a:xfrm>
                  <a:off x="3299" y="3742"/>
                  <a:ext cx="330" cy="403"/>
                </a:xfrm>
                <a:prstGeom prst="rect">
                  <a:avLst/>
                </a:prstGeom>
                <a:noFill/>
                <a:ln w="9525">
                  <a:noFill/>
                  <a:miter lim="800000"/>
                  <a:headEnd/>
                  <a:tailEnd/>
                </a:ln>
                <a:effectLst/>
              </p:spPr>
              <p:txBody>
                <a:bodyPr/>
                <a:lstStyle/>
                <a:p>
                  <a:r>
                    <a:rPr lang="en-CA" sz="1200">
                      <a:latin typeface="Arial" charset="0"/>
                      <a:cs typeface="Arial" charset="0"/>
                    </a:rPr>
                    <a:t>.82</a:t>
                  </a:r>
                  <a:endParaRPr lang="en-CA" sz="1200">
                    <a:ea typeface="Arial Unicode MS" pitchFamily="34" charset="-128"/>
                    <a:cs typeface="Arial Unicode MS" pitchFamily="34" charset="-128"/>
                  </a:endParaRPr>
                </a:p>
                <a:p>
                  <a:endParaRPr lang="en-CA"/>
                </a:p>
              </p:txBody>
            </p:sp>
            <p:sp>
              <p:nvSpPr>
                <p:cNvPr id="42236" name="Rectangle 252"/>
                <p:cNvSpPr>
                  <a:spLocks noChangeArrowheads="1"/>
                </p:cNvSpPr>
                <p:nvPr/>
              </p:nvSpPr>
              <p:spPr bwMode="auto">
                <a:xfrm>
                  <a:off x="3256" y="3742"/>
                  <a:ext cx="416" cy="403"/>
                </a:xfrm>
                <a:prstGeom prst="rect">
                  <a:avLst/>
                </a:prstGeom>
                <a:noFill/>
                <a:ln w="7">
                  <a:solidFill>
                    <a:srgbClr val="A0A0A0"/>
                  </a:solidFill>
                  <a:miter lim="800000"/>
                  <a:headEnd/>
                  <a:tailEnd/>
                </a:ln>
                <a:effectLst/>
              </p:spPr>
              <p:txBody>
                <a:bodyPr/>
                <a:lstStyle/>
                <a:p>
                  <a:endParaRPr lang="en-US"/>
                </a:p>
              </p:txBody>
            </p:sp>
          </p:grpSp>
          <p:grpSp>
            <p:nvGrpSpPr>
              <p:cNvPr id="42179" name="Group 255"/>
              <p:cNvGrpSpPr>
                <a:grpSpLocks/>
              </p:cNvGrpSpPr>
              <p:nvPr/>
            </p:nvGrpSpPr>
            <p:grpSpPr bwMode="auto">
              <a:xfrm>
                <a:off x="3672" y="3742"/>
                <a:ext cx="441" cy="403"/>
                <a:chOff x="3672" y="3742"/>
                <a:chExt cx="441" cy="403"/>
              </a:xfrm>
            </p:grpSpPr>
            <p:sp>
              <p:nvSpPr>
                <p:cNvPr id="42057" name="Rectangle 73"/>
                <p:cNvSpPr>
                  <a:spLocks noChangeArrowheads="1"/>
                </p:cNvSpPr>
                <p:nvPr/>
              </p:nvSpPr>
              <p:spPr bwMode="auto">
                <a:xfrm>
                  <a:off x="3715" y="3742"/>
                  <a:ext cx="355" cy="403"/>
                </a:xfrm>
                <a:prstGeom prst="rect">
                  <a:avLst/>
                </a:prstGeom>
                <a:noFill/>
                <a:ln w="9525">
                  <a:noFill/>
                  <a:miter lim="800000"/>
                  <a:headEnd/>
                  <a:tailEnd/>
                </a:ln>
                <a:effectLst/>
              </p:spPr>
              <p:txBody>
                <a:bodyPr/>
                <a:lstStyle/>
                <a:p>
                  <a:r>
                    <a:rPr lang="en-CA" sz="1200">
                      <a:latin typeface="Arial" charset="0"/>
                      <a:cs typeface="Arial" charset="0"/>
                    </a:rPr>
                    <a:t>.82</a:t>
                  </a:r>
                  <a:endParaRPr lang="en-CA" sz="1200">
                    <a:ea typeface="Arial Unicode MS" pitchFamily="34" charset="-128"/>
                    <a:cs typeface="Arial Unicode MS" pitchFamily="34" charset="-128"/>
                  </a:endParaRPr>
                </a:p>
                <a:p>
                  <a:endParaRPr lang="en-CA"/>
                </a:p>
              </p:txBody>
            </p:sp>
            <p:sp>
              <p:nvSpPr>
                <p:cNvPr id="42238" name="Rectangle 254"/>
                <p:cNvSpPr>
                  <a:spLocks noChangeArrowheads="1"/>
                </p:cNvSpPr>
                <p:nvPr/>
              </p:nvSpPr>
              <p:spPr bwMode="auto">
                <a:xfrm>
                  <a:off x="3672" y="3742"/>
                  <a:ext cx="441" cy="403"/>
                </a:xfrm>
                <a:prstGeom prst="rect">
                  <a:avLst/>
                </a:prstGeom>
                <a:noFill/>
                <a:ln w="7">
                  <a:solidFill>
                    <a:srgbClr val="A0A0A0"/>
                  </a:solidFill>
                  <a:miter lim="800000"/>
                  <a:headEnd/>
                  <a:tailEnd/>
                </a:ln>
                <a:effectLst/>
              </p:spPr>
              <p:txBody>
                <a:bodyPr/>
                <a:lstStyle/>
                <a:p>
                  <a:endParaRPr lang="en-US"/>
                </a:p>
              </p:txBody>
            </p:sp>
          </p:grpSp>
          <p:grpSp>
            <p:nvGrpSpPr>
              <p:cNvPr id="42181" name="Group 257"/>
              <p:cNvGrpSpPr>
                <a:grpSpLocks/>
              </p:cNvGrpSpPr>
              <p:nvPr/>
            </p:nvGrpSpPr>
            <p:grpSpPr bwMode="auto">
              <a:xfrm>
                <a:off x="0" y="4145"/>
                <a:ext cx="1455" cy="403"/>
                <a:chOff x="0" y="4145"/>
                <a:chExt cx="1455" cy="403"/>
              </a:xfrm>
            </p:grpSpPr>
            <p:sp>
              <p:nvSpPr>
                <p:cNvPr id="42058" name="Rectangle 74"/>
                <p:cNvSpPr>
                  <a:spLocks noChangeArrowheads="1"/>
                </p:cNvSpPr>
                <p:nvPr/>
              </p:nvSpPr>
              <p:spPr bwMode="auto">
                <a:xfrm>
                  <a:off x="43" y="4145"/>
                  <a:ext cx="1369" cy="403"/>
                </a:xfrm>
                <a:prstGeom prst="rect">
                  <a:avLst/>
                </a:prstGeom>
                <a:noFill/>
                <a:ln w="9525">
                  <a:noFill/>
                  <a:miter lim="800000"/>
                  <a:headEnd/>
                  <a:tailEnd/>
                </a:ln>
                <a:effectLst/>
              </p:spPr>
              <p:txBody>
                <a:bodyPr/>
                <a:lstStyle/>
                <a:p>
                  <a:r>
                    <a:rPr lang="en-CA" sz="1200" b="1">
                      <a:latin typeface="Arial" charset="0"/>
                      <a:cs typeface="Arial" charset="0"/>
                    </a:rPr>
                    <a:t>Programmers Capability</a:t>
                  </a:r>
                  <a:endParaRPr lang="en-CA" sz="1200">
                    <a:ea typeface="Arial Unicode MS" pitchFamily="34" charset="-128"/>
                    <a:cs typeface="Arial Unicode MS" pitchFamily="34" charset="-128"/>
                  </a:endParaRPr>
                </a:p>
                <a:p>
                  <a:endParaRPr lang="en-CA"/>
                </a:p>
              </p:txBody>
            </p:sp>
            <p:sp>
              <p:nvSpPr>
                <p:cNvPr id="42240" name="Rectangle 256"/>
                <p:cNvSpPr>
                  <a:spLocks noChangeArrowheads="1"/>
                </p:cNvSpPr>
                <p:nvPr/>
              </p:nvSpPr>
              <p:spPr bwMode="auto">
                <a:xfrm>
                  <a:off x="0" y="4145"/>
                  <a:ext cx="1455" cy="403"/>
                </a:xfrm>
                <a:prstGeom prst="rect">
                  <a:avLst/>
                </a:prstGeom>
                <a:noFill/>
                <a:ln w="7">
                  <a:solidFill>
                    <a:srgbClr val="A0A0A0"/>
                  </a:solidFill>
                  <a:miter lim="800000"/>
                  <a:headEnd/>
                  <a:tailEnd/>
                </a:ln>
                <a:effectLst/>
              </p:spPr>
              <p:txBody>
                <a:bodyPr/>
                <a:lstStyle/>
                <a:p>
                  <a:endParaRPr lang="en-US"/>
                </a:p>
              </p:txBody>
            </p:sp>
          </p:grpSp>
          <p:grpSp>
            <p:nvGrpSpPr>
              <p:cNvPr id="42183" name="Group 259"/>
              <p:cNvGrpSpPr>
                <a:grpSpLocks/>
              </p:cNvGrpSpPr>
              <p:nvPr/>
            </p:nvGrpSpPr>
            <p:grpSpPr bwMode="auto">
              <a:xfrm>
                <a:off x="1455" y="4145"/>
                <a:ext cx="409" cy="403"/>
                <a:chOff x="1455" y="4145"/>
                <a:chExt cx="409" cy="403"/>
              </a:xfrm>
            </p:grpSpPr>
            <p:sp>
              <p:nvSpPr>
                <p:cNvPr id="42059" name="Rectangle 75"/>
                <p:cNvSpPr>
                  <a:spLocks noChangeArrowheads="1"/>
                </p:cNvSpPr>
                <p:nvPr/>
              </p:nvSpPr>
              <p:spPr bwMode="auto">
                <a:xfrm>
                  <a:off x="1498" y="4145"/>
                  <a:ext cx="323" cy="403"/>
                </a:xfrm>
                <a:prstGeom prst="rect">
                  <a:avLst/>
                </a:prstGeom>
                <a:noFill/>
                <a:ln w="9525">
                  <a:noFill/>
                  <a:miter lim="800000"/>
                  <a:headEnd/>
                  <a:tailEnd/>
                </a:ln>
                <a:effectLst/>
              </p:spPr>
              <p:txBody>
                <a:bodyPr/>
                <a:lstStyle/>
                <a:p>
                  <a:r>
                    <a:rPr lang="en-CA" sz="1200">
                      <a:latin typeface="Arial" charset="0"/>
                      <a:cs typeface="Arial" charset="0"/>
                    </a:rPr>
                    <a:t>1.42</a:t>
                  </a:r>
                  <a:endParaRPr lang="en-CA" sz="1200">
                    <a:ea typeface="Arial Unicode MS" pitchFamily="34" charset="-128"/>
                    <a:cs typeface="Arial Unicode MS" pitchFamily="34" charset="-128"/>
                  </a:endParaRPr>
                </a:p>
                <a:p>
                  <a:endParaRPr lang="en-CA"/>
                </a:p>
              </p:txBody>
            </p:sp>
            <p:sp>
              <p:nvSpPr>
                <p:cNvPr id="42242" name="Rectangle 258"/>
                <p:cNvSpPr>
                  <a:spLocks noChangeArrowheads="1"/>
                </p:cNvSpPr>
                <p:nvPr/>
              </p:nvSpPr>
              <p:spPr bwMode="auto">
                <a:xfrm>
                  <a:off x="1455" y="4145"/>
                  <a:ext cx="409" cy="403"/>
                </a:xfrm>
                <a:prstGeom prst="rect">
                  <a:avLst/>
                </a:prstGeom>
                <a:noFill/>
                <a:ln w="7">
                  <a:solidFill>
                    <a:srgbClr val="A0A0A0"/>
                  </a:solidFill>
                  <a:miter lim="800000"/>
                  <a:headEnd/>
                  <a:tailEnd/>
                </a:ln>
                <a:effectLst/>
              </p:spPr>
              <p:txBody>
                <a:bodyPr/>
                <a:lstStyle/>
                <a:p>
                  <a:endParaRPr lang="en-US"/>
                </a:p>
              </p:txBody>
            </p:sp>
          </p:grpSp>
          <p:grpSp>
            <p:nvGrpSpPr>
              <p:cNvPr id="42185" name="Group 261"/>
              <p:cNvGrpSpPr>
                <a:grpSpLocks/>
              </p:cNvGrpSpPr>
              <p:nvPr/>
            </p:nvGrpSpPr>
            <p:grpSpPr bwMode="auto">
              <a:xfrm>
                <a:off x="1864" y="4145"/>
                <a:ext cx="395" cy="403"/>
                <a:chOff x="1864" y="4145"/>
                <a:chExt cx="395" cy="403"/>
              </a:xfrm>
            </p:grpSpPr>
            <p:sp>
              <p:nvSpPr>
                <p:cNvPr id="42060" name="Rectangle 76"/>
                <p:cNvSpPr>
                  <a:spLocks noChangeArrowheads="1"/>
                </p:cNvSpPr>
                <p:nvPr/>
              </p:nvSpPr>
              <p:spPr bwMode="auto">
                <a:xfrm>
                  <a:off x="1907" y="4145"/>
                  <a:ext cx="309" cy="403"/>
                </a:xfrm>
                <a:prstGeom prst="rect">
                  <a:avLst/>
                </a:prstGeom>
                <a:noFill/>
                <a:ln w="9525">
                  <a:noFill/>
                  <a:miter lim="800000"/>
                  <a:headEnd/>
                  <a:tailEnd/>
                </a:ln>
                <a:effectLst/>
              </p:spPr>
              <p:txBody>
                <a:bodyPr/>
                <a:lstStyle/>
                <a:p>
                  <a:r>
                    <a:rPr lang="en-CA" sz="1200">
                      <a:latin typeface="Arial" charset="0"/>
                      <a:cs typeface="Arial" charset="0"/>
                    </a:rPr>
                    <a:t>1.17</a:t>
                  </a:r>
                  <a:endParaRPr lang="en-CA" sz="1200">
                    <a:ea typeface="Arial Unicode MS" pitchFamily="34" charset="-128"/>
                    <a:cs typeface="Arial Unicode MS" pitchFamily="34" charset="-128"/>
                  </a:endParaRPr>
                </a:p>
                <a:p>
                  <a:endParaRPr lang="en-CA"/>
                </a:p>
              </p:txBody>
            </p:sp>
            <p:sp>
              <p:nvSpPr>
                <p:cNvPr id="42244" name="Rectangle 260"/>
                <p:cNvSpPr>
                  <a:spLocks noChangeArrowheads="1"/>
                </p:cNvSpPr>
                <p:nvPr/>
              </p:nvSpPr>
              <p:spPr bwMode="auto">
                <a:xfrm>
                  <a:off x="1864" y="4145"/>
                  <a:ext cx="395" cy="403"/>
                </a:xfrm>
                <a:prstGeom prst="rect">
                  <a:avLst/>
                </a:prstGeom>
                <a:noFill/>
                <a:ln w="7">
                  <a:solidFill>
                    <a:srgbClr val="A0A0A0"/>
                  </a:solidFill>
                  <a:miter lim="800000"/>
                  <a:headEnd/>
                  <a:tailEnd/>
                </a:ln>
                <a:effectLst/>
              </p:spPr>
              <p:txBody>
                <a:bodyPr/>
                <a:lstStyle/>
                <a:p>
                  <a:endParaRPr lang="en-US"/>
                </a:p>
              </p:txBody>
            </p:sp>
          </p:grpSp>
          <p:grpSp>
            <p:nvGrpSpPr>
              <p:cNvPr id="42187" name="Group 263"/>
              <p:cNvGrpSpPr>
                <a:grpSpLocks/>
              </p:cNvGrpSpPr>
              <p:nvPr/>
            </p:nvGrpSpPr>
            <p:grpSpPr bwMode="auto">
              <a:xfrm>
                <a:off x="2259" y="4145"/>
                <a:ext cx="581" cy="403"/>
                <a:chOff x="2259" y="4145"/>
                <a:chExt cx="581" cy="403"/>
              </a:xfrm>
            </p:grpSpPr>
            <p:sp>
              <p:nvSpPr>
                <p:cNvPr id="42061" name="Rectangle 77"/>
                <p:cNvSpPr>
                  <a:spLocks noChangeArrowheads="1"/>
                </p:cNvSpPr>
                <p:nvPr/>
              </p:nvSpPr>
              <p:spPr bwMode="auto">
                <a:xfrm>
                  <a:off x="2302" y="4145"/>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46" name="Rectangle 262"/>
                <p:cNvSpPr>
                  <a:spLocks noChangeArrowheads="1"/>
                </p:cNvSpPr>
                <p:nvPr/>
              </p:nvSpPr>
              <p:spPr bwMode="auto">
                <a:xfrm>
                  <a:off x="2259" y="4145"/>
                  <a:ext cx="581" cy="403"/>
                </a:xfrm>
                <a:prstGeom prst="rect">
                  <a:avLst/>
                </a:prstGeom>
                <a:noFill/>
                <a:ln w="7">
                  <a:solidFill>
                    <a:srgbClr val="A0A0A0"/>
                  </a:solidFill>
                  <a:miter lim="800000"/>
                  <a:headEnd/>
                  <a:tailEnd/>
                </a:ln>
                <a:effectLst/>
              </p:spPr>
              <p:txBody>
                <a:bodyPr/>
                <a:lstStyle/>
                <a:p>
                  <a:endParaRPr lang="en-US"/>
                </a:p>
              </p:txBody>
            </p:sp>
          </p:grpSp>
          <p:grpSp>
            <p:nvGrpSpPr>
              <p:cNvPr id="42189" name="Group 265"/>
              <p:cNvGrpSpPr>
                <a:grpSpLocks/>
              </p:cNvGrpSpPr>
              <p:nvPr/>
            </p:nvGrpSpPr>
            <p:grpSpPr bwMode="auto">
              <a:xfrm>
                <a:off x="2840" y="4145"/>
                <a:ext cx="416" cy="403"/>
                <a:chOff x="2840" y="4145"/>
                <a:chExt cx="416" cy="403"/>
              </a:xfrm>
            </p:grpSpPr>
            <p:sp>
              <p:nvSpPr>
                <p:cNvPr id="42062" name="Rectangle 78"/>
                <p:cNvSpPr>
                  <a:spLocks noChangeArrowheads="1"/>
                </p:cNvSpPr>
                <p:nvPr/>
              </p:nvSpPr>
              <p:spPr bwMode="auto">
                <a:xfrm>
                  <a:off x="2883" y="4145"/>
                  <a:ext cx="330" cy="403"/>
                </a:xfrm>
                <a:prstGeom prst="rect">
                  <a:avLst/>
                </a:prstGeom>
                <a:noFill/>
                <a:ln w="9525">
                  <a:noFill/>
                  <a:miter lim="800000"/>
                  <a:headEnd/>
                  <a:tailEnd/>
                </a:ln>
                <a:effectLst/>
              </p:spPr>
              <p:txBody>
                <a:bodyPr/>
                <a:lstStyle/>
                <a:p>
                  <a:r>
                    <a:rPr lang="en-CA" sz="1200">
                      <a:latin typeface="Arial" charset="0"/>
                      <a:cs typeface="Arial" charset="0"/>
                    </a:rPr>
                    <a:t>.86</a:t>
                  </a:r>
                  <a:endParaRPr lang="en-CA" sz="1200">
                    <a:ea typeface="Arial Unicode MS" pitchFamily="34" charset="-128"/>
                    <a:cs typeface="Arial Unicode MS" pitchFamily="34" charset="-128"/>
                  </a:endParaRPr>
                </a:p>
                <a:p>
                  <a:endParaRPr lang="en-CA"/>
                </a:p>
              </p:txBody>
            </p:sp>
            <p:sp>
              <p:nvSpPr>
                <p:cNvPr id="42248" name="Rectangle 264"/>
                <p:cNvSpPr>
                  <a:spLocks noChangeArrowheads="1"/>
                </p:cNvSpPr>
                <p:nvPr/>
              </p:nvSpPr>
              <p:spPr bwMode="auto">
                <a:xfrm>
                  <a:off x="2840" y="4145"/>
                  <a:ext cx="416" cy="403"/>
                </a:xfrm>
                <a:prstGeom prst="rect">
                  <a:avLst/>
                </a:prstGeom>
                <a:noFill/>
                <a:ln w="7">
                  <a:solidFill>
                    <a:srgbClr val="A0A0A0"/>
                  </a:solidFill>
                  <a:miter lim="800000"/>
                  <a:headEnd/>
                  <a:tailEnd/>
                </a:ln>
                <a:effectLst/>
              </p:spPr>
              <p:txBody>
                <a:bodyPr/>
                <a:lstStyle/>
                <a:p>
                  <a:endParaRPr lang="en-US"/>
                </a:p>
              </p:txBody>
            </p:sp>
          </p:grpSp>
          <p:grpSp>
            <p:nvGrpSpPr>
              <p:cNvPr id="42191" name="Group 267"/>
              <p:cNvGrpSpPr>
                <a:grpSpLocks/>
              </p:cNvGrpSpPr>
              <p:nvPr/>
            </p:nvGrpSpPr>
            <p:grpSpPr bwMode="auto">
              <a:xfrm>
                <a:off x="3256" y="4145"/>
                <a:ext cx="416" cy="403"/>
                <a:chOff x="3256" y="4145"/>
                <a:chExt cx="416" cy="403"/>
              </a:xfrm>
            </p:grpSpPr>
            <p:sp>
              <p:nvSpPr>
                <p:cNvPr id="42063" name="Rectangle 79"/>
                <p:cNvSpPr>
                  <a:spLocks noChangeArrowheads="1"/>
                </p:cNvSpPr>
                <p:nvPr/>
              </p:nvSpPr>
              <p:spPr bwMode="auto">
                <a:xfrm>
                  <a:off x="3299" y="4145"/>
                  <a:ext cx="330" cy="403"/>
                </a:xfrm>
                <a:prstGeom prst="rect">
                  <a:avLst/>
                </a:prstGeom>
                <a:noFill/>
                <a:ln w="9525">
                  <a:noFill/>
                  <a:miter lim="800000"/>
                  <a:headEnd/>
                  <a:tailEnd/>
                </a:ln>
                <a:effectLst/>
              </p:spPr>
              <p:txBody>
                <a:bodyPr/>
                <a:lstStyle/>
                <a:p>
                  <a:r>
                    <a:rPr lang="en-CA" sz="1200">
                      <a:latin typeface="Arial" charset="0"/>
                      <a:cs typeface="Arial" charset="0"/>
                    </a:rPr>
                    <a:t>.70</a:t>
                  </a:r>
                  <a:endParaRPr lang="en-CA" sz="1200">
                    <a:ea typeface="Arial Unicode MS" pitchFamily="34" charset="-128"/>
                    <a:cs typeface="Arial Unicode MS" pitchFamily="34" charset="-128"/>
                  </a:endParaRPr>
                </a:p>
                <a:p>
                  <a:endParaRPr lang="en-CA"/>
                </a:p>
              </p:txBody>
            </p:sp>
            <p:sp>
              <p:nvSpPr>
                <p:cNvPr id="42250" name="Rectangle 266"/>
                <p:cNvSpPr>
                  <a:spLocks noChangeArrowheads="1"/>
                </p:cNvSpPr>
                <p:nvPr/>
              </p:nvSpPr>
              <p:spPr bwMode="auto">
                <a:xfrm>
                  <a:off x="3256" y="4145"/>
                  <a:ext cx="416" cy="403"/>
                </a:xfrm>
                <a:prstGeom prst="rect">
                  <a:avLst/>
                </a:prstGeom>
                <a:noFill/>
                <a:ln w="7">
                  <a:solidFill>
                    <a:srgbClr val="A0A0A0"/>
                  </a:solidFill>
                  <a:miter lim="800000"/>
                  <a:headEnd/>
                  <a:tailEnd/>
                </a:ln>
                <a:effectLst/>
              </p:spPr>
              <p:txBody>
                <a:bodyPr/>
                <a:lstStyle/>
                <a:p>
                  <a:endParaRPr lang="en-US"/>
                </a:p>
              </p:txBody>
            </p:sp>
          </p:grpSp>
          <p:grpSp>
            <p:nvGrpSpPr>
              <p:cNvPr id="42193" name="Group 269"/>
              <p:cNvGrpSpPr>
                <a:grpSpLocks/>
              </p:cNvGrpSpPr>
              <p:nvPr/>
            </p:nvGrpSpPr>
            <p:grpSpPr bwMode="auto">
              <a:xfrm>
                <a:off x="3672" y="4145"/>
                <a:ext cx="441" cy="403"/>
                <a:chOff x="3672" y="4145"/>
                <a:chExt cx="441" cy="403"/>
              </a:xfrm>
            </p:grpSpPr>
            <p:sp>
              <p:nvSpPr>
                <p:cNvPr id="42064" name="Rectangle 80"/>
                <p:cNvSpPr>
                  <a:spLocks noChangeArrowheads="1"/>
                </p:cNvSpPr>
                <p:nvPr/>
              </p:nvSpPr>
              <p:spPr bwMode="auto">
                <a:xfrm>
                  <a:off x="3715" y="4145"/>
                  <a:ext cx="355" cy="403"/>
                </a:xfrm>
                <a:prstGeom prst="rect">
                  <a:avLst/>
                </a:prstGeom>
                <a:noFill/>
                <a:ln w="9525">
                  <a:noFill/>
                  <a:miter lim="800000"/>
                  <a:headEnd/>
                  <a:tailEnd/>
                </a:ln>
                <a:effectLst/>
              </p:spPr>
              <p:txBody>
                <a:bodyPr/>
                <a:lstStyle/>
                <a:p>
                  <a:r>
                    <a:rPr lang="en-CA" sz="1200">
                      <a:latin typeface="Arial" charset="0"/>
                      <a:cs typeface="Arial" charset="0"/>
                    </a:rPr>
                    <a:t>.70</a:t>
                  </a:r>
                  <a:endParaRPr lang="en-CA" sz="1200">
                    <a:ea typeface="Arial Unicode MS" pitchFamily="34" charset="-128"/>
                    <a:cs typeface="Arial Unicode MS" pitchFamily="34" charset="-128"/>
                  </a:endParaRPr>
                </a:p>
                <a:p>
                  <a:endParaRPr lang="en-CA"/>
                </a:p>
              </p:txBody>
            </p:sp>
            <p:sp>
              <p:nvSpPr>
                <p:cNvPr id="42252" name="Rectangle 268"/>
                <p:cNvSpPr>
                  <a:spLocks noChangeArrowheads="1"/>
                </p:cNvSpPr>
                <p:nvPr/>
              </p:nvSpPr>
              <p:spPr bwMode="auto">
                <a:xfrm>
                  <a:off x="3672" y="4145"/>
                  <a:ext cx="441" cy="403"/>
                </a:xfrm>
                <a:prstGeom prst="rect">
                  <a:avLst/>
                </a:prstGeom>
                <a:noFill/>
                <a:ln w="7">
                  <a:solidFill>
                    <a:srgbClr val="A0A0A0"/>
                  </a:solidFill>
                  <a:miter lim="800000"/>
                  <a:headEnd/>
                  <a:tailEnd/>
                </a:ln>
                <a:effectLst/>
              </p:spPr>
              <p:txBody>
                <a:bodyPr/>
                <a:lstStyle/>
                <a:p>
                  <a:endParaRPr lang="en-US"/>
                </a:p>
              </p:txBody>
            </p:sp>
          </p:grpSp>
          <p:grpSp>
            <p:nvGrpSpPr>
              <p:cNvPr id="42195" name="Group 271"/>
              <p:cNvGrpSpPr>
                <a:grpSpLocks/>
              </p:cNvGrpSpPr>
              <p:nvPr/>
            </p:nvGrpSpPr>
            <p:grpSpPr bwMode="auto">
              <a:xfrm>
                <a:off x="0" y="4548"/>
                <a:ext cx="1455" cy="403"/>
                <a:chOff x="0" y="4548"/>
                <a:chExt cx="1455" cy="403"/>
              </a:xfrm>
            </p:grpSpPr>
            <p:sp>
              <p:nvSpPr>
                <p:cNvPr id="42065" name="Rectangle 81"/>
                <p:cNvSpPr>
                  <a:spLocks noChangeArrowheads="1"/>
                </p:cNvSpPr>
                <p:nvPr/>
              </p:nvSpPr>
              <p:spPr bwMode="auto">
                <a:xfrm>
                  <a:off x="43" y="4548"/>
                  <a:ext cx="1369" cy="403"/>
                </a:xfrm>
                <a:prstGeom prst="rect">
                  <a:avLst/>
                </a:prstGeom>
                <a:noFill/>
                <a:ln w="9525">
                  <a:noFill/>
                  <a:miter lim="800000"/>
                  <a:headEnd/>
                  <a:tailEnd/>
                </a:ln>
                <a:effectLst/>
              </p:spPr>
              <p:txBody>
                <a:bodyPr/>
                <a:lstStyle/>
                <a:p>
                  <a:r>
                    <a:rPr lang="en-CA" sz="1200" b="1">
                      <a:latin typeface="Arial" charset="0"/>
                      <a:cs typeface="Arial" charset="0"/>
                    </a:rPr>
                    <a:t>Virtual machine Experience</a:t>
                  </a:r>
                  <a:endParaRPr lang="en-CA"/>
                </a:p>
              </p:txBody>
            </p:sp>
            <p:sp>
              <p:nvSpPr>
                <p:cNvPr id="42254" name="Rectangle 270"/>
                <p:cNvSpPr>
                  <a:spLocks noChangeArrowheads="1"/>
                </p:cNvSpPr>
                <p:nvPr/>
              </p:nvSpPr>
              <p:spPr bwMode="auto">
                <a:xfrm>
                  <a:off x="0" y="4548"/>
                  <a:ext cx="1455" cy="403"/>
                </a:xfrm>
                <a:prstGeom prst="rect">
                  <a:avLst/>
                </a:prstGeom>
                <a:noFill/>
                <a:ln w="7">
                  <a:solidFill>
                    <a:srgbClr val="A0A0A0"/>
                  </a:solidFill>
                  <a:miter lim="800000"/>
                  <a:headEnd/>
                  <a:tailEnd/>
                </a:ln>
                <a:effectLst/>
              </p:spPr>
              <p:txBody>
                <a:bodyPr/>
                <a:lstStyle/>
                <a:p>
                  <a:endParaRPr lang="en-US"/>
                </a:p>
              </p:txBody>
            </p:sp>
          </p:grpSp>
          <p:grpSp>
            <p:nvGrpSpPr>
              <p:cNvPr id="42197" name="Group 273"/>
              <p:cNvGrpSpPr>
                <a:grpSpLocks/>
              </p:cNvGrpSpPr>
              <p:nvPr/>
            </p:nvGrpSpPr>
            <p:grpSpPr bwMode="auto">
              <a:xfrm>
                <a:off x="1455" y="4548"/>
                <a:ext cx="409" cy="403"/>
                <a:chOff x="1455" y="4548"/>
                <a:chExt cx="409" cy="403"/>
              </a:xfrm>
            </p:grpSpPr>
            <p:sp>
              <p:nvSpPr>
                <p:cNvPr id="42066" name="Rectangle 82"/>
                <p:cNvSpPr>
                  <a:spLocks noChangeArrowheads="1"/>
                </p:cNvSpPr>
                <p:nvPr/>
              </p:nvSpPr>
              <p:spPr bwMode="auto">
                <a:xfrm>
                  <a:off x="1498" y="4548"/>
                  <a:ext cx="323" cy="403"/>
                </a:xfrm>
                <a:prstGeom prst="rect">
                  <a:avLst/>
                </a:prstGeom>
                <a:noFill/>
                <a:ln w="9525">
                  <a:noFill/>
                  <a:miter lim="800000"/>
                  <a:headEnd/>
                  <a:tailEnd/>
                </a:ln>
                <a:effectLst/>
              </p:spPr>
              <p:txBody>
                <a:bodyPr/>
                <a:lstStyle/>
                <a:p>
                  <a:r>
                    <a:rPr lang="en-CA" sz="1200">
                      <a:latin typeface="Arial" charset="0"/>
                      <a:cs typeface="Arial" charset="0"/>
                    </a:rPr>
                    <a:t>1.21</a:t>
                  </a:r>
                  <a:endParaRPr lang="en-CA"/>
                </a:p>
              </p:txBody>
            </p:sp>
            <p:sp>
              <p:nvSpPr>
                <p:cNvPr id="42256" name="Rectangle 272"/>
                <p:cNvSpPr>
                  <a:spLocks noChangeArrowheads="1"/>
                </p:cNvSpPr>
                <p:nvPr/>
              </p:nvSpPr>
              <p:spPr bwMode="auto">
                <a:xfrm>
                  <a:off x="1455" y="4548"/>
                  <a:ext cx="409" cy="403"/>
                </a:xfrm>
                <a:prstGeom prst="rect">
                  <a:avLst/>
                </a:prstGeom>
                <a:noFill/>
                <a:ln w="7">
                  <a:solidFill>
                    <a:srgbClr val="A0A0A0"/>
                  </a:solidFill>
                  <a:miter lim="800000"/>
                  <a:headEnd/>
                  <a:tailEnd/>
                </a:ln>
                <a:effectLst/>
              </p:spPr>
              <p:txBody>
                <a:bodyPr/>
                <a:lstStyle/>
                <a:p>
                  <a:endParaRPr lang="en-US"/>
                </a:p>
              </p:txBody>
            </p:sp>
          </p:grpSp>
          <p:grpSp>
            <p:nvGrpSpPr>
              <p:cNvPr id="42199" name="Group 275"/>
              <p:cNvGrpSpPr>
                <a:grpSpLocks/>
              </p:cNvGrpSpPr>
              <p:nvPr/>
            </p:nvGrpSpPr>
            <p:grpSpPr bwMode="auto">
              <a:xfrm>
                <a:off x="1864" y="4548"/>
                <a:ext cx="395" cy="403"/>
                <a:chOff x="1864" y="4548"/>
                <a:chExt cx="395" cy="403"/>
              </a:xfrm>
            </p:grpSpPr>
            <p:sp>
              <p:nvSpPr>
                <p:cNvPr id="42067" name="Rectangle 83"/>
                <p:cNvSpPr>
                  <a:spLocks noChangeArrowheads="1"/>
                </p:cNvSpPr>
                <p:nvPr/>
              </p:nvSpPr>
              <p:spPr bwMode="auto">
                <a:xfrm>
                  <a:off x="1907" y="4548"/>
                  <a:ext cx="309" cy="403"/>
                </a:xfrm>
                <a:prstGeom prst="rect">
                  <a:avLst/>
                </a:prstGeom>
                <a:noFill/>
                <a:ln w="9525">
                  <a:noFill/>
                  <a:miter lim="800000"/>
                  <a:headEnd/>
                  <a:tailEnd/>
                </a:ln>
                <a:effectLst/>
              </p:spPr>
              <p:txBody>
                <a:bodyPr/>
                <a:lstStyle/>
                <a:p>
                  <a:r>
                    <a:rPr lang="en-CA" sz="1200">
                      <a:latin typeface="Arial" charset="0"/>
                      <a:cs typeface="Arial" charset="0"/>
                    </a:rPr>
                    <a:t>1.10</a:t>
                  </a:r>
                  <a:endParaRPr lang="en-CA"/>
                </a:p>
              </p:txBody>
            </p:sp>
            <p:sp>
              <p:nvSpPr>
                <p:cNvPr id="42258" name="Rectangle 274"/>
                <p:cNvSpPr>
                  <a:spLocks noChangeArrowheads="1"/>
                </p:cNvSpPr>
                <p:nvPr/>
              </p:nvSpPr>
              <p:spPr bwMode="auto">
                <a:xfrm>
                  <a:off x="1864" y="4548"/>
                  <a:ext cx="395" cy="403"/>
                </a:xfrm>
                <a:prstGeom prst="rect">
                  <a:avLst/>
                </a:prstGeom>
                <a:noFill/>
                <a:ln w="7">
                  <a:solidFill>
                    <a:srgbClr val="A0A0A0"/>
                  </a:solidFill>
                  <a:miter lim="800000"/>
                  <a:headEnd/>
                  <a:tailEnd/>
                </a:ln>
                <a:effectLst/>
              </p:spPr>
              <p:txBody>
                <a:bodyPr/>
                <a:lstStyle/>
                <a:p>
                  <a:endParaRPr lang="en-US"/>
                </a:p>
              </p:txBody>
            </p:sp>
          </p:grpSp>
          <p:grpSp>
            <p:nvGrpSpPr>
              <p:cNvPr id="42201" name="Group 277"/>
              <p:cNvGrpSpPr>
                <a:grpSpLocks/>
              </p:cNvGrpSpPr>
              <p:nvPr/>
            </p:nvGrpSpPr>
            <p:grpSpPr bwMode="auto">
              <a:xfrm>
                <a:off x="2259" y="4548"/>
                <a:ext cx="581" cy="403"/>
                <a:chOff x="2259" y="4548"/>
                <a:chExt cx="581" cy="403"/>
              </a:xfrm>
            </p:grpSpPr>
            <p:sp>
              <p:nvSpPr>
                <p:cNvPr id="42068" name="Rectangle 84"/>
                <p:cNvSpPr>
                  <a:spLocks noChangeArrowheads="1"/>
                </p:cNvSpPr>
                <p:nvPr/>
              </p:nvSpPr>
              <p:spPr bwMode="auto">
                <a:xfrm>
                  <a:off x="2302" y="4548"/>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a:p>
              </p:txBody>
            </p:sp>
            <p:sp>
              <p:nvSpPr>
                <p:cNvPr id="42260" name="Rectangle 276"/>
                <p:cNvSpPr>
                  <a:spLocks noChangeArrowheads="1"/>
                </p:cNvSpPr>
                <p:nvPr/>
              </p:nvSpPr>
              <p:spPr bwMode="auto">
                <a:xfrm>
                  <a:off x="2259" y="4548"/>
                  <a:ext cx="581" cy="403"/>
                </a:xfrm>
                <a:prstGeom prst="rect">
                  <a:avLst/>
                </a:prstGeom>
                <a:noFill/>
                <a:ln w="7">
                  <a:solidFill>
                    <a:srgbClr val="A0A0A0"/>
                  </a:solidFill>
                  <a:miter lim="800000"/>
                  <a:headEnd/>
                  <a:tailEnd/>
                </a:ln>
                <a:effectLst/>
              </p:spPr>
              <p:txBody>
                <a:bodyPr/>
                <a:lstStyle/>
                <a:p>
                  <a:endParaRPr lang="en-US"/>
                </a:p>
              </p:txBody>
            </p:sp>
          </p:grpSp>
          <p:grpSp>
            <p:nvGrpSpPr>
              <p:cNvPr id="42203" name="Group 279"/>
              <p:cNvGrpSpPr>
                <a:grpSpLocks/>
              </p:cNvGrpSpPr>
              <p:nvPr/>
            </p:nvGrpSpPr>
            <p:grpSpPr bwMode="auto">
              <a:xfrm>
                <a:off x="2840" y="4548"/>
                <a:ext cx="416" cy="403"/>
                <a:chOff x="2840" y="4548"/>
                <a:chExt cx="416" cy="403"/>
              </a:xfrm>
            </p:grpSpPr>
            <p:sp>
              <p:nvSpPr>
                <p:cNvPr id="42069" name="Rectangle 85"/>
                <p:cNvSpPr>
                  <a:spLocks noChangeArrowheads="1"/>
                </p:cNvSpPr>
                <p:nvPr/>
              </p:nvSpPr>
              <p:spPr bwMode="auto">
                <a:xfrm>
                  <a:off x="2883" y="4548"/>
                  <a:ext cx="330" cy="403"/>
                </a:xfrm>
                <a:prstGeom prst="rect">
                  <a:avLst/>
                </a:prstGeom>
                <a:noFill/>
                <a:ln w="9525">
                  <a:noFill/>
                  <a:miter lim="800000"/>
                  <a:headEnd/>
                  <a:tailEnd/>
                </a:ln>
                <a:effectLst/>
              </p:spPr>
              <p:txBody>
                <a:bodyPr/>
                <a:lstStyle/>
                <a:p>
                  <a:r>
                    <a:rPr lang="en-CA" sz="1200">
                      <a:latin typeface="Arial" charset="0"/>
                      <a:cs typeface="Arial" charset="0"/>
                    </a:rPr>
                    <a:t>.90</a:t>
                  </a:r>
                  <a:endParaRPr lang="en-CA"/>
                </a:p>
              </p:txBody>
            </p:sp>
            <p:sp>
              <p:nvSpPr>
                <p:cNvPr id="42262" name="Rectangle 278"/>
                <p:cNvSpPr>
                  <a:spLocks noChangeArrowheads="1"/>
                </p:cNvSpPr>
                <p:nvPr/>
              </p:nvSpPr>
              <p:spPr bwMode="auto">
                <a:xfrm>
                  <a:off x="2840" y="4548"/>
                  <a:ext cx="416" cy="403"/>
                </a:xfrm>
                <a:prstGeom prst="rect">
                  <a:avLst/>
                </a:prstGeom>
                <a:noFill/>
                <a:ln w="7">
                  <a:solidFill>
                    <a:srgbClr val="A0A0A0"/>
                  </a:solidFill>
                  <a:miter lim="800000"/>
                  <a:headEnd/>
                  <a:tailEnd/>
                </a:ln>
                <a:effectLst/>
              </p:spPr>
              <p:txBody>
                <a:bodyPr/>
                <a:lstStyle/>
                <a:p>
                  <a:endParaRPr lang="en-US"/>
                </a:p>
              </p:txBody>
            </p:sp>
          </p:grpSp>
          <p:grpSp>
            <p:nvGrpSpPr>
              <p:cNvPr id="42205" name="Group 281"/>
              <p:cNvGrpSpPr>
                <a:grpSpLocks/>
              </p:cNvGrpSpPr>
              <p:nvPr/>
            </p:nvGrpSpPr>
            <p:grpSpPr bwMode="auto">
              <a:xfrm>
                <a:off x="3256" y="4548"/>
                <a:ext cx="416" cy="403"/>
                <a:chOff x="3256" y="4548"/>
                <a:chExt cx="416" cy="403"/>
              </a:xfrm>
            </p:grpSpPr>
            <p:sp>
              <p:nvSpPr>
                <p:cNvPr id="42070" name="Rectangle 86"/>
                <p:cNvSpPr>
                  <a:spLocks noChangeArrowheads="1"/>
                </p:cNvSpPr>
                <p:nvPr/>
              </p:nvSpPr>
              <p:spPr bwMode="auto">
                <a:xfrm>
                  <a:off x="3299" y="4548"/>
                  <a:ext cx="330" cy="403"/>
                </a:xfrm>
                <a:prstGeom prst="rect">
                  <a:avLst/>
                </a:prstGeom>
                <a:noFill/>
                <a:ln w="9525">
                  <a:noFill/>
                  <a:miter lim="800000"/>
                  <a:headEnd/>
                  <a:tailEnd/>
                </a:ln>
                <a:effectLst/>
              </p:spPr>
              <p:txBody>
                <a:bodyPr/>
                <a:lstStyle/>
                <a:p>
                  <a:r>
                    <a:rPr lang="en-CA" sz="1200">
                      <a:latin typeface="Arial" charset="0"/>
                      <a:cs typeface="Arial" charset="0"/>
                    </a:rPr>
                    <a:t>.90</a:t>
                  </a:r>
                  <a:endParaRPr lang="en-CA"/>
                </a:p>
              </p:txBody>
            </p:sp>
            <p:sp>
              <p:nvSpPr>
                <p:cNvPr id="42264" name="Rectangle 280"/>
                <p:cNvSpPr>
                  <a:spLocks noChangeArrowheads="1"/>
                </p:cNvSpPr>
                <p:nvPr/>
              </p:nvSpPr>
              <p:spPr bwMode="auto">
                <a:xfrm>
                  <a:off x="3256" y="4548"/>
                  <a:ext cx="416" cy="403"/>
                </a:xfrm>
                <a:prstGeom prst="rect">
                  <a:avLst/>
                </a:prstGeom>
                <a:noFill/>
                <a:ln w="7">
                  <a:solidFill>
                    <a:srgbClr val="A0A0A0"/>
                  </a:solidFill>
                  <a:miter lim="800000"/>
                  <a:headEnd/>
                  <a:tailEnd/>
                </a:ln>
                <a:effectLst/>
              </p:spPr>
              <p:txBody>
                <a:bodyPr/>
                <a:lstStyle/>
                <a:p>
                  <a:endParaRPr lang="en-US"/>
                </a:p>
              </p:txBody>
            </p:sp>
          </p:grpSp>
          <p:grpSp>
            <p:nvGrpSpPr>
              <p:cNvPr id="42207" name="Group 283"/>
              <p:cNvGrpSpPr>
                <a:grpSpLocks/>
              </p:cNvGrpSpPr>
              <p:nvPr/>
            </p:nvGrpSpPr>
            <p:grpSpPr bwMode="auto">
              <a:xfrm>
                <a:off x="3672" y="4548"/>
                <a:ext cx="441" cy="403"/>
                <a:chOff x="3672" y="4548"/>
                <a:chExt cx="441" cy="403"/>
              </a:xfrm>
            </p:grpSpPr>
            <p:sp>
              <p:nvSpPr>
                <p:cNvPr id="42071" name="Rectangle 87"/>
                <p:cNvSpPr>
                  <a:spLocks noChangeArrowheads="1"/>
                </p:cNvSpPr>
                <p:nvPr/>
              </p:nvSpPr>
              <p:spPr bwMode="auto">
                <a:xfrm>
                  <a:off x="3715" y="4548"/>
                  <a:ext cx="355" cy="403"/>
                </a:xfrm>
                <a:prstGeom prst="rect">
                  <a:avLst/>
                </a:prstGeom>
                <a:noFill/>
                <a:ln w="9525">
                  <a:noFill/>
                  <a:miter lim="800000"/>
                  <a:headEnd/>
                  <a:tailEnd/>
                </a:ln>
                <a:effectLst/>
              </p:spPr>
              <p:txBody>
                <a:bodyPr/>
                <a:lstStyle/>
                <a:p>
                  <a:r>
                    <a:rPr lang="en-CA" sz="1200">
                      <a:latin typeface="Arial" charset="0"/>
                      <a:cs typeface="Arial" charset="0"/>
                    </a:rPr>
                    <a:t>.90</a:t>
                  </a:r>
                  <a:endParaRPr lang="en-CA"/>
                </a:p>
              </p:txBody>
            </p:sp>
            <p:sp>
              <p:nvSpPr>
                <p:cNvPr id="42266" name="Rectangle 282"/>
                <p:cNvSpPr>
                  <a:spLocks noChangeArrowheads="1"/>
                </p:cNvSpPr>
                <p:nvPr/>
              </p:nvSpPr>
              <p:spPr bwMode="auto">
                <a:xfrm>
                  <a:off x="3672" y="4548"/>
                  <a:ext cx="441" cy="403"/>
                </a:xfrm>
                <a:prstGeom prst="rect">
                  <a:avLst/>
                </a:prstGeom>
                <a:noFill/>
                <a:ln w="7">
                  <a:solidFill>
                    <a:srgbClr val="A0A0A0"/>
                  </a:solidFill>
                  <a:miter lim="800000"/>
                  <a:headEnd/>
                  <a:tailEnd/>
                </a:ln>
                <a:effectLst/>
              </p:spPr>
              <p:txBody>
                <a:bodyPr/>
                <a:lstStyle/>
                <a:p>
                  <a:endParaRPr lang="en-US"/>
                </a:p>
              </p:txBody>
            </p:sp>
          </p:grpSp>
          <p:grpSp>
            <p:nvGrpSpPr>
              <p:cNvPr id="42209" name="Group 285"/>
              <p:cNvGrpSpPr>
                <a:grpSpLocks/>
              </p:cNvGrpSpPr>
              <p:nvPr/>
            </p:nvGrpSpPr>
            <p:grpSpPr bwMode="auto">
              <a:xfrm>
                <a:off x="0" y="4951"/>
                <a:ext cx="1455" cy="403"/>
                <a:chOff x="0" y="4951"/>
                <a:chExt cx="1455" cy="403"/>
              </a:xfrm>
            </p:grpSpPr>
            <p:sp>
              <p:nvSpPr>
                <p:cNvPr id="42072" name="Rectangle 88"/>
                <p:cNvSpPr>
                  <a:spLocks noChangeArrowheads="1"/>
                </p:cNvSpPr>
                <p:nvPr/>
              </p:nvSpPr>
              <p:spPr bwMode="auto">
                <a:xfrm>
                  <a:off x="43" y="4951"/>
                  <a:ext cx="1369" cy="403"/>
                </a:xfrm>
                <a:prstGeom prst="rect">
                  <a:avLst/>
                </a:prstGeom>
                <a:noFill/>
                <a:ln w="9525">
                  <a:noFill/>
                  <a:miter lim="800000"/>
                  <a:headEnd/>
                  <a:tailEnd/>
                </a:ln>
                <a:effectLst/>
              </p:spPr>
              <p:txBody>
                <a:bodyPr/>
                <a:lstStyle/>
                <a:p>
                  <a:r>
                    <a:rPr lang="en-CA" sz="1200" b="1">
                      <a:latin typeface="Arial" charset="0"/>
                      <a:cs typeface="Arial" charset="0"/>
                    </a:rPr>
                    <a:t>Language Experience</a:t>
                  </a:r>
                  <a:endParaRPr lang="en-CA" sz="1200">
                    <a:ea typeface="Arial Unicode MS" pitchFamily="34" charset="-128"/>
                    <a:cs typeface="Arial Unicode MS" pitchFamily="34" charset="-128"/>
                  </a:endParaRPr>
                </a:p>
                <a:p>
                  <a:endParaRPr lang="en-CA"/>
                </a:p>
              </p:txBody>
            </p:sp>
            <p:sp>
              <p:nvSpPr>
                <p:cNvPr id="42268" name="Rectangle 284"/>
                <p:cNvSpPr>
                  <a:spLocks noChangeArrowheads="1"/>
                </p:cNvSpPr>
                <p:nvPr/>
              </p:nvSpPr>
              <p:spPr bwMode="auto">
                <a:xfrm>
                  <a:off x="0" y="4951"/>
                  <a:ext cx="1455" cy="403"/>
                </a:xfrm>
                <a:prstGeom prst="rect">
                  <a:avLst/>
                </a:prstGeom>
                <a:noFill/>
                <a:ln w="7">
                  <a:solidFill>
                    <a:srgbClr val="A0A0A0"/>
                  </a:solidFill>
                  <a:miter lim="800000"/>
                  <a:headEnd/>
                  <a:tailEnd/>
                </a:ln>
                <a:effectLst/>
              </p:spPr>
              <p:txBody>
                <a:bodyPr/>
                <a:lstStyle/>
                <a:p>
                  <a:endParaRPr lang="en-US"/>
                </a:p>
              </p:txBody>
            </p:sp>
          </p:grpSp>
          <p:grpSp>
            <p:nvGrpSpPr>
              <p:cNvPr id="42211" name="Group 287"/>
              <p:cNvGrpSpPr>
                <a:grpSpLocks/>
              </p:cNvGrpSpPr>
              <p:nvPr/>
            </p:nvGrpSpPr>
            <p:grpSpPr bwMode="auto">
              <a:xfrm>
                <a:off x="1455" y="4951"/>
                <a:ext cx="409" cy="403"/>
                <a:chOff x="1455" y="4951"/>
                <a:chExt cx="409" cy="403"/>
              </a:xfrm>
            </p:grpSpPr>
            <p:sp>
              <p:nvSpPr>
                <p:cNvPr id="42073" name="Rectangle 89"/>
                <p:cNvSpPr>
                  <a:spLocks noChangeArrowheads="1"/>
                </p:cNvSpPr>
                <p:nvPr/>
              </p:nvSpPr>
              <p:spPr bwMode="auto">
                <a:xfrm>
                  <a:off x="1498" y="4951"/>
                  <a:ext cx="323" cy="403"/>
                </a:xfrm>
                <a:prstGeom prst="rect">
                  <a:avLst/>
                </a:prstGeom>
                <a:noFill/>
                <a:ln w="9525">
                  <a:noFill/>
                  <a:miter lim="800000"/>
                  <a:headEnd/>
                  <a:tailEnd/>
                </a:ln>
                <a:effectLst/>
              </p:spPr>
              <p:txBody>
                <a:bodyPr/>
                <a:lstStyle/>
                <a:p>
                  <a:r>
                    <a:rPr lang="en-CA" sz="1200">
                      <a:latin typeface="Arial" charset="0"/>
                      <a:cs typeface="Arial" charset="0"/>
                    </a:rPr>
                    <a:t>1.14</a:t>
                  </a:r>
                  <a:endParaRPr lang="en-CA" sz="1200">
                    <a:ea typeface="Arial Unicode MS" pitchFamily="34" charset="-128"/>
                    <a:cs typeface="Arial Unicode MS" pitchFamily="34" charset="-128"/>
                  </a:endParaRPr>
                </a:p>
                <a:p>
                  <a:endParaRPr lang="en-CA"/>
                </a:p>
              </p:txBody>
            </p:sp>
            <p:sp>
              <p:nvSpPr>
                <p:cNvPr id="42270" name="Rectangle 286"/>
                <p:cNvSpPr>
                  <a:spLocks noChangeArrowheads="1"/>
                </p:cNvSpPr>
                <p:nvPr/>
              </p:nvSpPr>
              <p:spPr bwMode="auto">
                <a:xfrm>
                  <a:off x="1455" y="4951"/>
                  <a:ext cx="409" cy="403"/>
                </a:xfrm>
                <a:prstGeom prst="rect">
                  <a:avLst/>
                </a:prstGeom>
                <a:noFill/>
                <a:ln w="7">
                  <a:solidFill>
                    <a:srgbClr val="A0A0A0"/>
                  </a:solidFill>
                  <a:miter lim="800000"/>
                  <a:headEnd/>
                  <a:tailEnd/>
                </a:ln>
                <a:effectLst/>
              </p:spPr>
              <p:txBody>
                <a:bodyPr/>
                <a:lstStyle/>
                <a:p>
                  <a:endParaRPr lang="en-US"/>
                </a:p>
              </p:txBody>
            </p:sp>
          </p:grpSp>
          <p:grpSp>
            <p:nvGrpSpPr>
              <p:cNvPr id="42213" name="Group 289"/>
              <p:cNvGrpSpPr>
                <a:grpSpLocks/>
              </p:cNvGrpSpPr>
              <p:nvPr/>
            </p:nvGrpSpPr>
            <p:grpSpPr bwMode="auto">
              <a:xfrm>
                <a:off x="1864" y="4951"/>
                <a:ext cx="395" cy="403"/>
                <a:chOff x="1864" y="4951"/>
                <a:chExt cx="395" cy="403"/>
              </a:xfrm>
            </p:grpSpPr>
            <p:sp>
              <p:nvSpPr>
                <p:cNvPr id="42074" name="Rectangle 90"/>
                <p:cNvSpPr>
                  <a:spLocks noChangeArrowheads="1"/>
                </p:cNvSpPr>
                <p:nvPr/>
              </p:nvSpPr>
              <p:spPr bwMode="auto">
                <a:xfrm>
                  <a:off x="1907" y="4951"/>
                  <a:ext cx="309" cy="403"/>
                </a:xfrm>
                <a:prstGeom prst="rect">
                  <a:avLst/>
                </a:prstGeom>
                <a:noFill/>
                <a:ln w="9525">
                  <a:noFill/>
                  <a:miter lim="800000"/>
                  <a:headEnd/>
                  <a:tailEnd/>
                </a:ln>
                <a:effectLst/>
              </p:spPr>
              <p:txBody>
                <a:bodyPr/>
                <a:lstStyle/>
                <a:p>
                  <a:r>
                    <a:rPr lang="en-CA" sz="1200">
                      <a:latin typeface="Arial" charset="0"/>
                      <a:cs typeface="Arial" charset="0"/>
                    </a:rPr>
                    <a:t>1.07</a:t>
                  </a:r>
                  <a:endParaRPr lang="en-CA" sz="1200">
                    <a:ea typeface="Arial Unicode MS" pitchFamily="34" charset="-128"/>
                    <a:cs typeface="Arial Unicode MS" pitchFamily="34" charset="-128"/>
                  </a:endParaRPr>
                </a:p>
                <a:p>
                  <a:endParaRPr lang="en-CA"/>
                </a:p>
              </p:txBody>
            </p:sp>
            <p:sp>
              <p:nvSpPr>
                <p:cNvPr id="42272" name="Rectangle 288"/>
                <p:cNvSpPr>
                  <a:spLocks noChangeArrowheads="1"/>
                </p:cNvSpPr>
                <p:nvPr/>
              </p:nvSpPr>
              <p:spPr bwMode="auto">
                <a:xfrm>
                  <a:off x="1864" y="4951"/>
                  <a:ext cx="395" cy="403"/>
                </a:xfrm>
                <a:prstGeom prst="rect">
                  <a:avLst/>
                </a:prstGeom>
                <a:noFill/>
                <a:ln w="7">
                  <a:solidFill>
                    <a:srgbClr val="A0A0A0"/>
                  </a:solidFill>
                  <a:miter lim="800000"/>
                  <a:headEnd/>
                  <a:tailEnd/>
                </a:ln>
                <a:effectLst/>
              </p:spPr>
              <p:txBody>
                <a:bodyPr/>
                <a:lstStyle/>
                <a:p>
                  <a:endParaRPr lang="en-US"/>
                </a:p>
              </p:txBody>
            </p:sp>
          </p:grpSp>
          <p:grpSp>
            <p:nvGrpSpPr>
              <p:cNvPr id="42215" name="Group 291"/>
              <p:cNvGrpSpPr>
                <a:grpSpLocks/>
              </p:cNvGrpSpPr>
              <p:nvPr/>
            </p:nvGrpSpPr>
            <p:grpSpPr bwMode="auto">
              <a:xfrm>
                <a:off x="2259" y="4951"/>
                <a:ext cx="581" cy="403"/>
                <a:chOff x="2259" y="4951"/>
                <a:chExt cx="581" cy="403"/>
              </a:xfrm>
            </p:grpSpPr>
            <p:sp>
              <p:nvSpPr>
                <p:cNvPr id="42075" name="Rectangle 91"/>
                <p:cNvSpPr>
                  <a:spLocks noChangeArrowheads="1"/>
                </p:cNvSpPr>
                <p:nvPr/>
              </p:nvSpPr>
              <p:spPr bwMode="auto">
                <a:xfrm>
                  <a:off x="2302" y="4951"/>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74" name="Rectangle 290"/>
                <p:cNvSpPr>
                  <a:spLocks noChangeArrowheads="1"/>
                </p:cNvSpPr>
                <p:nvPr/>
              </p:nvSpPr>
              <p:spPr bwMode="auto">
                <a:xfrm>
                  <a:off x="2259" y="4951"/>
                  <a:ext cx="581" cy="403"/>
                </a:xfrm>
                <a:prstGeom prst="rect">
                  <a:avLst/>
                </a:prstGeom>
                <a:noFill/>
                <a:ln w="7">
                  <a:solidFill>
                    <a:srgbClr val="A0A0A0"/>
                  </a:solidFill>
                  <a:miter lim="800000"/>
                  <a:headEnd/>
                  <a:tailEnd/>
                </a:ln>
                <a:effectLst/>
              </p:spPr>
              <p:txBody>
                <a:bodyPr/>
                <a:lstStyle/>
                <a:p>
                  <a:endParaRPr lang="en-US"/>
                </a:p>
              </p:txBody>
            </p:sp>
          </p:grpSp>
          <p:grpSp>
            <p:nvGrpSpPr>
              <p:cNvPr id="42217" name="Group 293"/>
              <p:cNvGrpSpPr>
                <a:grpSpLocks/>
              </p:cNvGrpSpPr>
              <p:nvPr/>
            </p:nvGrpSpPr>
            <p:grpSpPr bwMode="auto">
              <a:xfrm>
                <a:off x="2840" y="4951"/>
                <a:ext cx="416" cy="403"/>
                <a:chOff x="2840" y="4951"/>
                <a:chExt cx="416" cy="403"/>
              </a:xfrm>
            </p:grpSpPr>
            <p:sp>
              <p:nvSpPr>
                <p:cNvPr id="42076" name="Rectangle 92"/>
                <p:cNvSpPr>
                  <a:spLocks noChangeArrowheads="1"/>
                </p:cNvSpPr>
                <p:nvPr/>
              </p:nvSpPr>
              <p:spPr bwMode="auto">
                <a:xfrm>
                  <a:off x="2883" y="4951"/>
                  <a:ext cx="330" cy="403"/>
                </a:xfrm>
                <a:prstGeom prst="rect">
                  <a:avLst/>
                </a:prstGeom>
                <a:noFill/>
                <a:ln w="9525">
                  <a:noFill/>
                  <a:miter lim="800000"/>
                  <a:headEnd/>
                  <a:tailEnd/>
                </a:ln>
                <a:effectLst/>
              </p:spPr>
              <p:txBody>
                <a:bodyPr/>
                <a:lstStyle/>
                <a:p>
                  <a:r>
                    <a:rPr lang="en-CA" sz="1200">
                      <a:latin typeface="Arial" charset="0"/>
                      <a:cs typeface="Arial" charset="0"/>
                    </a:rPr>
                    <a:t>.95</a:t>
                  </a:r>
                  <a:endParaRPr lang="en-CA" sz="1200">
                    <a:ea typeface="Arial Unicode MS" pitchFamily="34" charset="-128"/>
                    <a:cs typeface="Arial Unicode MS" pitchFamily="34" charset="-128"/>
                  </a:endParaRPr>
                </a:p>
                <a:p>
                  <a:endParaRPr lang="en-CA"/>
                </a:p>
              </p:txBody>
            </p:sp>
            <p:sp>
              <p:nvSpPr>
                <p:cNvPr id="42276" name="Rectangle 292"/>
                <p:cNvSpPr>
                  <a:spLocks noChangeArrowheads="1"/>
                </p:cNvSpPr>
                <p:nvPr/>
              </p:nvSpPr>
              <p:spPr bwMode="auto">
                <a:xfrm>
                  <a:off x="2840" y="4951"/>
                  <a:ext cx="416" cy="403"/>
                </a:xfrm>
                <a:prstGeom prst="rect">
                  <a:avLst/>
                </a:prstGeom>
                <a:noFill/>
                <a:ln w="7">
                  <a:solidFill>
                    <a:srgbClr val="A0A0A0"/>
                  </a:solidFill>
                  <a:miter lim="800000"/>
                  <a:headEnd/>
                  <a:tailEnd/>
                </a:ln>
                <a:effectLst/>
              </p:spPr>
              <p:txBody>
                <a:bodyPr/>
                <a:lstStyle/>
                <a:p>
                  <a:endParaRPr lang="en-US"/>
                </a:p>
              </p:txBody>
            </p:sp>
          </p:grpSp>
          <p:grpSp>
            <p:nvGrpSpPr>
              <p:cNvPr id="42219" name="Group 295"/>
              <p:cNvGrpSpPr>
                <a:grpSpLocks/>
              </p:cNvGrpSpPr>
              <p:nvPr/>
            </p:nvGrpSpPr>
            <p:grpSpPr bwMode="auto">
              <a:xfrm>
                <a:off x="3256" y="4951"/>
                <a:ext cx="416" cy="403"/>
                <a:chOff x="3256" y="4951"/>
                <a:chExt cx="416" cy="403"/>
              </a:xfrm>
            </p:grpSpPr>
            <p:sp>
              <p:nvSpPr>
                <p:cNvPr id="42077" name="Rectangle 93"/>
                <p:cNvSpPr>
                  <a:spLocks noChangeArrowheads="1"/>
                </p:cNvSpPr>
                <p:nvPr/>
              </p:nvSpPr>
              <p:spPr bwMode="auto">
                <a:xfrm>
                  <a:off x="3299" y="4951"/>
                  <a:ext cx="330" cy="403"/>
                </a:xfrm>
                <a:prstGeom prst="rect">
                  <a:avLst/>
                </a:prstGeom>
                <a:noFill/>
                <a:ln w="9525">
                  <a:noFill/>
                  <a:miter lim="800000"/>
                  <a:headEnd/>
                  <a:tailEnd/>
                </a:ln>
                <a:effectLst/>
              </p:spPr>
              <p:txBody>
                <a:bodyPr/>
                <a:lstStyle/>
                <a:p>
                  <a:r>
                    <a:rPr lang="en-CA" sz="1200">
                      <a:latin typeface="Arial" charset="0"/>
                      <a:cs typeface="Arial" charset="0"/>
                    </a:rPr>
                    <a:t>.95</a:t>
                  </a:r>
                  <a:endParaRPr lang="en-CA" sz="1200">
                    <a:ea typeface="Arial Unicode MS" pitchFamily="34" charset="-128"/>
                    <a:cs typeface="Arial Unicode MS" pitchFamily="34" charset="-128"/>
                  </a:endParaRPr>
                </a:p>
                <a:p>
                  <a:endParaRPr lang="en-CA"/>
                </a:p>
              </p:txBody>
            </p:sp>
            <p:sp>
              <p:nvSpPr>
                <p:cNvPr id="42278" name="Rectangle 294"/>
                <p:cNvSpPr>
                  <a:spLocks noChangeArrowheads="1"/>
                </p:cNvSpPr>
                <p:nvPr/>
              </p:nvSpPr>
              <p:spPr bwMode="auto">
                <a:xfrm>
                  <a:off x="3256" y="4951"/>
                  <a:ext cx="416" cy="403"/>
                </a:xfrm>
                <a:prstGeom prst="rect">
                  <a:avLst/>
                </a:prstGeom>
                <a:noFill/>
                <a:ln w="7">
                  <a:solidFill>
                    <a:srgbClr val="A0A0A0"/>
                  </a:solidFill>
                  <a:miter lim="800000"/>
                  <a:headEnd/>
                  <a:tailEnd/>
                </a:ln>
                <a:effectLst/>
              </p:spPr>
              <p:txBody>
                <a:bodyPr/>
                <a:lstStyle/>
                <a:p>
                  <a:endParaRPr lang="en-US"/>
                </a:p>
              </p:txBody>
            </p:sp>
          </p:grpSp>
          <p:grpSp>
            <p:nvGrpSpPr>
              <p:cNvPr id="42221" name="Group 297"/>
              <p:cNvGrpSpPr>
                <a:grpSpLocks/>
              </p:cNvGrpSpPr>
              <p:nvPr/>
            </p:nvGrpSpPr>
            <p:grpSpPr bwMode="auto">
              <a:xfrm>
                <a:off x="3672" y="4951"/>
                <a:ext cx="441" cy="403"/>
                <a:chOff x="3672" y="4951"/>
                <a:chExt cx="441" cy="403"/>
              </a:xfrm>
            </p:grpSpPr>
            <p:sp>
              <p:nvSpPr>
                <p:cNvPr id="42078" name="Rectangle 94"/>
                <p:cNvSpPr>
                  <a:spLocks noChangeArrowheads="1"/>
                </p:cNvSpPr>
                <p:nvPr/>
              </p:nvSpPr>
              <p:spPr bwMode="auto">
                <a:xfrm>
                  <a:off x="3715" y="4951"/>
                  <a:ext cx="355" cy="403"/>
                </a:xfrm>
                <a:prstGeom prst="rect">
                  <a:avLst/>
                </a:prstGeom>
                <a:noFill/>
                <a:ln w="9525">
                  <a:noFill/>
                  <a:miter lim="800000"/>
                  <a:headEnd/>
                  <a:tailEnd/>
                </a:ln>
                <a:effectLst/>
              </p:spPr>
              <p:txBody>
                <a:bodyPr/>
                <a:lstStyle/>
                <a:p>
                  <a:r>
                    <a:rPr lang="en-CA" sz="1200">
                      <a:latin typeface="Arial" charset="0"/>
                      <a:cs typeface="Arial" charset="0"/>
                    </a:rPr>
                    <a:t>.95</a:t>
                  </a:r>
                  <a:endParaRPr lang="en-CA" sz="1200">
                    <a:ea typeface="Arial Unicode MS" pitchFamily="34" charset="-128"/>
                    <a:cs typeface="Arial Unicode MS" pitchFamily="34" charset="-128"/>
                  </a:endParaRPr>
                </a:p>
                <a:p>
                  <a:endParaRPr lang="en-CA"/>
                </a:p>
              </p:txBody>
            </p:sp>
            <p:sp>
              <p:nvSpPr>
                <p:cNvPr id="42280" name="Rectangle 296"/>
                <p:cNvSpPr>
                  <a:spLocks noChangeArrowheads="1"/>
                </p:cNvSpPr>
                <p:nvPr/>
              </p:nvSpPr>
              <p:spPr bwMode="auto">
                <a:xfrm>
                  <a:off x="3672" y="4951"/>
                  <a:ext cx="441" cy="403"/>
                </a:xfrm>
                <a:prstGeom prst="rect">
                  <a:avLst/>
                </a:prstGeom>
                <a:noFill/>
                <a:ln w="7">
                  <a:solidFill>
                    <a:srgbClr val="A0A0A0"/>
                  </a:solidFill>
                  <a:miter lim="800000"/>
                  <a:headEnd/>
                  <a:tailEnd/>
                </a:ln>
                <a:effectLst/>
              </p:spPr>
              <p:txBody>
                <a:bodyPr/>
                <a:lstStyle/>
                <a:p>
                  <a:endParaRPr lang="en-US"/>
                </a:p>
              </p:txBody>
            </p:sp>
          </p:grpSp>
          <p:grpSp>
            <p:nvGrpSpPr>
              <p:cNvPr id="42223" name="Group 299"/>
              <p:cNvGrpSpPr>
                <a:grpSpLocks/>
              </p:cNvGrpSpPr>
              <p:nvPr/>
            </p:nvGrpSpPr>
            <p:grpSpPr bwMode="auto">
              <a:xfrm>
                <a:off x="0" y="5354"/>
                <a:ext cx="1455" cy="403"/>
                <a:chOff x="0" y="5354"/>
                <a:chExt cx="1455" cy="403"/>
              </a:xfrm>
            </p:grpSpPr>
            <p:sp>
              <p:nvSpPr>
                <p:cNvPr id="42079" name="Rectangle 95"/>
                <p:cNvSpPr>
                  <a:spLocks noChangeArrowheads="1"/>
                </p:cNvSpPr>
                <p:nvPr/>
              </p:nvSpPr>
              <p:spPr bwMode="auto">
                <a:xfrm>
                  <a:off x="43" y="5354"/>
                  <a:ext cx="1369" cy="403"/>
                </a:xfrm>
                <a:prstGeom prst="rect">
                  <a:avLst/>
                </a:prstGeom>
                <a:noFill/>
                <a:ln w="9525">
                  <a:noFill/>
                  <a:miter lim="800000"/>
                  <a:headEnd/>
                  <a:tailEnd/>
                </a:ln>
                <a:effectLst/>
              </p:spPr>
              <p:txBody>
                <a:bodyPr/>
                <a:lstStyle/>
                <a:p>
                  <a:r>
                    <a:rPr lang="en-CA" sz="1200" b="1">
                      <a:latin typeface="Arial" charset="0"/>
                      <a:cs typeface="Arial" charset="0"/>
                    </a:rPr>
                    <a:t>Modern Prog Practices</a:t>
                  </a:r>
                  <a:endParaRPr lang="en-CA" sz="1200">
                    <a:ea typeface="Arial Unicode MS" pitchFamily="34" charset="-128"/>
                    <a:cs typeface="Arial Unicode MS" pitchFamily="34" charset="-128"/>
                  </a:endParaRPr>
                </a:p>
                <a:p>
                  <a:endParaRPr lang="en-CA"/>
                </a:p>
              </p:txBody>
            </p:sp>
            <p:sp>
              <p:nvSpPr>
                <p:cNvPr id="42282" name="Rectangle 298"/>
                <p:cNvSpPr>
                  <a:spLocks noChangeArrowheads="1"/>
                </p:cNvSpPr>
                <p:nvPr/>
              </p:nvSpPr>
              <p:spPr bwMode="auto">
                <a:xfrm>
                  <a:off x="0" y="5354"/>
                  <a:ext cx="1455" cy="403"/>
                </a:xfrm>
                <a:prstGeom prst="rect">
                  <a:avLst/>
                </a:prstGeom>
                <a:noFill/>
                <a:ln w="7">
                  <a:solidFill>
                    <a:srgbClr val="A0A0A0"/>
                  </a:solidFill>
                  <a:miter lim="800000"/>
                  <a:headEnd/>
                  <a:tailEnd/>
                </a:ln>
                <a:effectLst/>
              </p:spPr>
              <p:txBody>
                <a:bodyPr/>
                <a:lstStyle/>
                <a:p>
                  <a:endParaRPr lang="en-US"/>
                </a:p>
              </p:txBody>
            </p:sp>
          </p:grpSp>
          <p:grpSp>
            <p:nvGrpSpPr>
              <p:cNvPr id="42225" name="Group 301"/>
              <p:cNvGrpSpPr>
                <a:grpSpLocks/>
              </p:cNvGrpSpPr>
              <p:nvPr/>
            </p:nvGrpSpPr>
            <p:grpSpPr bwMode="auto">
              <a:xfrm>
                <a:off x="1455" y="5354"/>
                <a:ext cx="409" cy="403"/>
                <a:chOff x="1455" y="5354"/>
                <a:chExt cx="409" cy="403"/>
              </a:xfrm>
            </p:grpSpPr>
            <p:sp>
              <p:nvSpPr>
                <p:cNvPr id="42080" name="Rectangle 96"/>
                <p:cNvSpPr>
                  <a:spLocks noChangeArrowheads="1"/>
                </p:cNvSpPr>
                <p:nvPr/>
              </p:nvSpPr>
              <p:spPr bwMode="auto">
                <a:xfrm>
                  <a:off x="1498" y="5354"/>
                  <a:ext cx="323" cy="403"/>
                </a:xfrm>
                <a:prstGeom prst="rect">
                  <a:avLst/>
                </a:prstGeom>
                <a:noFill/>
                <a:ln w="9525">
                  <a:noFill/>
                  <a:miter lim="800000"/>
                  <a:headEnd/>
                  <a:tailEnd/>
                </a:ln>
                <a:effectLst/>
              </p:spPr>
              <p:txBody>
                <a:bodyPr/>
                <a:lstStyle/>
                <a:p>
                  <a:r>
                    <a:rPr lang="en-CA" sz="1200">
                      <a:latin typeface="Arial" charset="0"/>
                      <a:cs typeface="Arial" charset="0"/>
                    </a:rPr>
                    <a:t>1.24</a:t>
                  </a:r>
                  <a:endParaRPr lang="en-CA" sz="1200">
                    <a:ea typeface="Arial Unicode MS" pitchFamily="34" charset="-128"/>
                    <a:cs typeface="Arial Unicode MS" pitchFamily="34" charset="-128"/>
                  </a:endParaRPr>
                </a:p>
                <a:p>
                  <a:endParaRPr lang="en-CA"/>
                </a:p>
              </p:txBody>
            </p:sp>
            <p:sp>
              <p:nvSpPr>
                <p:cNvPr id="42284" name="Rectangle 300"/>
                <p:cNvSpPr>
                  <a:spLocks noChangeArrowheads="1"/>
                </p:cNvSpPr>
                <p:nvPr/>
              </p:nvSpPr>
              <p:spPr bwMode="auto">
                <a:xfrm>
                  <a:off x="1455" y="5354"/>
                  <a:ext cx="409" cy="403"/>
                </a:xfrm>
                <a:prstGeom prst="rect">
                  <a:avLst/>
                </a:prstGeom>
                <a:noFill/>
                <a:ln w="7">
                  <a:solidFill>
                    <a:srgbClr val="A0A0A0"/>
                  </a:solidFill>
                  <a:miter lim="800000"/>
                  <a:headEnd/>
                  <a:tailEnd/>
                </a:ln>
                <a:effectLst/>
              </p:spPr>
              <p:txBody>
                <a:bodyPr/>
                <a:lstStyle/>
                <a:p>
                  <a:endParaRPr lang="en-US"/>
                </a:p>
              </p:txBody>
            </p:sp>
          </p:grpSp>
          <p:grpSp>
            <p:nvGrpSpPr>
              <p:cNvPr id="42227" name="Group 303"/>
              <p:cNvGrpSpPr>
                <a:grpSpLocks/>
              </p:cNvGrpSpPr>
              <p:nvPr/>
            </p:nvGrpSpPr>
            <p:grpSpPr bwMode="auto">
              <a:xfrm>
                <a:off x="1864" y="5354"/>
                <a:ext cx="395" cy="403"/>
                <a:chOff x="1864" y="5354"/>
                <a:chExt cx="395" cy="403"/>
              </a:xfrm>
            </p:grpSpPr>
            <p:sp>
              <p:nvSpPr>
                <p:cNvPr id="42081" name="Rectangle 97"/>
                <p:cNvSpPr>
                  <a:spLocks noChangeArrowheads="1"/>
                </p:cNvSpPr>
                <p:nvPr/>
              </p:nvSpPr>
              <p:spPr bwMode="auto">
                <a:xfrm>
                  <a:off x="1907" y="5354"/>
                  <a:ext cx="309" cy="403"/>
                </a:xfrm>
                <a:prstGeom prst="rect">
                  <a:avLst/>
                </a:prstGeom>
                <a:noFill/>
                <a:ln w="9525">
                  <a:noFill/>
                  <a:miter lim="800000"/>
                  <a:headEnd/>
                  <a:tailEnd/>
                </a:ln>
                <a:effectLst/>
              </p:spPr>
              <p:txBody>
                <a:bodyPr/>
                <a:lstStyle/>
                <a:p>
                  <a:r>
                    <a:rPr lang="en-CA" sz="1200">
                      <a:latin typeface="Arial" charset="0"/>
                      <a:cs typeface="Arial" charset="0"/>
                    </a:rPr>
                    <a:t>1.10</a:t>
                  </a:r>
                  <a:endParaRPr lang="en-CA" sz="1200">
                    <a:ea typeface="Arial Unicode MS" pitchFamily="34" charset="-128"/>
                    <a:cs typeface="Arial Unicode MS" pitchFamily="34" charset="-128"/>
                  </a:endParaRPr>
                </a:p>
                <a:p>
                  <a:endParaRPr lang="en-CA"/>
                </a:p>
              </p:txBody>
            </p:sp>
            <p:sp>
              <p:nvSpPr>
                <p:cNvPr id="42286" name="Rectangle 302"/>
                <p:cNvSpPr>
                  <a:spLocks noChangeArrowheads="1"/>
                </p:cNvSpPr>
                <p:nvPr/>
              </p:nvSpPr>
              <p:spPr bwMode="auto">
                <a:xfrm>
                  <a:off x="1864" y="5354"/>
                  <a:ext cx="395" cy="403"/>
                </a:xfrm>
                <a:prstGeom prst="rect">
                  <a:avLst/>
                </a:prstGeom>
                <a:noFill/>
                <a:ln w="7">
                  <a:solidFill>
                    <a:srgbClr val="A0A0A0"/>
                  </a:solidFill>
                  <a:miter lim="800000"/>
                  <a:headEnd/>
                  <a:tailEnd/>
                </a:ln>
                <a:effectLst/>
              </p:spPr>
              <p:txBody>
                <a:bodyPr/>
                <a:lstStyle/>
                <a:p>
                  <a:endParaRPr lang="en-US"/>
                </a:p>
              </p:txBody>
            </p:sp>
          </p:grpSp>
          <p:grpSp>
            <p:nvGrpSpPr>
              <p:cNvPr id="42229" name="Group 305"/>
              <p:cNvGrpSpPr>
                <a:grpSpLocks/>
              </p:cNvGrpSpPr>
              <p:nvPr/>
            </p:nvGrpSpPr>
            <p:grpSpPr bwMode="auto">
              <a:xfrm>
                <a:off x="2259" y="5354"/>
                <a:ext cx="581" cy="403"/>
                <a:chOff x="2259" y="5354"/>
                <a:chExt cx="581" cy="403"/>
              </a:xfrm>
            </p:grpSpPr>
            <p:sp>
              <p:nvSpPr>
                <p:cNvPr id="42082" name="Rectangle 98"/>
                <p:cNvSpPr>
                  <a:spLocks noChangeArrowheads="1"/>
                </p:cNvSpPr>
                <p:nvPr/>
              </p:nvSpPr>
              <p:spPr bwMode="auto">
                <a:xfrm>
                  <a:off x="2302" y="5354"/>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288" name="Rectangle 304"/>
                <p:cNvSpPr>
                  <a:spLocks noChangeArrowheads="1"/>
                </p:cNvSpPr>
                <p:nvPr/>
              </p:nvSpPr>
              <p:spPr bwMode="auto">
                <a:xfrm>
                  <a:off x="2259" y="5354"/>
                  <a:ext cx="581" cy="403"/>
                </a:xfrm>
                <a:prstGeom prst="rect">
                  <a:avLst/>
                </a:prstGeom>
                <a:noFill/>
                <a:ln w="7">
                  <a:solidFill>
                    <a:srgbClr val="A0A0A0"/>
                  </a:solidFill>
                  <a:miter lim="800000"/>
                  <a:headEnd/>
                  <a:tailEnd/>
                </a:ln>
                <a:effectLst/>
              </p:spPr>
              <p:txBody>
                <a:bodyPr/>
                <a:lstStyle/>
                <a:p>
                  <a:endParaRPr lang="en-US"/>
                </a:p>
              </p:txBody>
            </p:sp>
          </p:grpSp>
          <p:grpSp>
            <p:nvGrpSpPr>
              <p:cNvPr id="42231" name="Group 307"/>
              <p:cNvGrpSpPr>
                <a:grpSpLocks/>
              </p:cNvGrpSpPr>
              <p:nvPr/>
            </p:nvGrpSpPr>
            <p:grpSpPr bwMode="auto">
              <a:xfrm>
                <a:off x="2840" y="5354"/>
                <a:ext cx="416" cy="403"/>
                <a:chOff x="2840" y="5354"/>
                <a:chExt cx="416" cy="403"/>
              </a:xfrm>
            </p:grpSpPr>
            <p:sp>
              <p:nvSpPr>
                <p:cNvPr id="42083" name="Rectangle 99"/>
                <p:cNvSpPr>
                  <a:spLocks noChangeArrowheads="1"/>
                </p:cNvSpPr>
                <p:nvPr/>
              </p:nvSpPr>
              <p:spPr bwMode="auto">
                <a:xfrm>
                  <a:off x="2883" y="5354"/>
                  <a:ext cx="330" cy="403"/>
                </a:xfrm>
                <a:prstGeom prst="rect">
                  <a:avLst/>
                </a:prstGeom>
                <a:noFill/>
                <a:ln w="9525">
                  <a:noFill/>
                  <a:miter lim="800000"/>
                  <a:headEnd/>
                  <a:tailEnd/>
                </a:ln>
                <a:effectLst/>
              </p:spPr>
              <p:txBody>
                <a:bodyPr/>
                <a:lstStyle/>
                <a:p>
                  <a:r>
                    <a:rPr lang="en-CA" sz="1200">
                      <a:latin typeface="Arial" charset="0"/>
                      <a:cs typeface="Arial" charset="0"/>
                    </a:rPr>
                    <a:t>.91</a:t>
                  </a:r>
                  <a:endParaRPr lang="en-CA" sz="1200">
                    <a:ea typeface="Arial Unicode MS" pitchFamily="34" charset="-128"/>
                    <a:cs typeface="Arial Unicode MS" pitchFamily="34" charset="-128"/>
                  </a:endParaRPr>
                </a:p>
                <a:p>
                  <a:endParaRPr lang="en-CA"/>
                </a:p>
              </p:txBody>
            </p:sp>
            <p:sp>
              <p:nvSpPr>
                <p:cNvPr id="42290" name="Rectangle 306"/>
                <p:cNvSpPr>
                  <a:spLocks noChangeArrowheads="1"/>
                </p:cNvSpPr>
                <p:nvPr/>
              </p:nvSpPr>
              <p:spPr bwMode="auto">
                <a:xfrm>
                  <a:off x="2840" y="5354"/>
                  <a:ext cx="416" cy="403"/>
                </a:xfrm>
                <a:prstGeom prst="rect">
                  <a:avLst/>
                </a:prstGeom>
                <a:noFill/>
                <a:ln w="7">
                  <a:solidFill>
                    <a:srgbClr val="A0A0A0"/>
                  </a:solidFill>
                  <a:miter lim="800000"/>
                  <a:headEnd/>
                  <a:tailEnd/>
                </a:ln>
                <a:effectLst/>
              </p:spPr>
              <p:txBody>
                <a:bodyPr/>
                <a:lstStyle/>
                <a:p>
                  <a:endParaRPr lang="en-US"/>
                </a:p>
              </p:txBody>
            </p:sp>
          </p:grpSp>
          <p:grpSp>
            <p:nvGrpSpPr>
              <p:cNvPr id="42233" name="Group 309"/>
              <p:cNvGrpSpPr>
                <a:grpSpLocks/>
              </p:cNvGrpSpPr>
              <p:nvPr/>
            </p:nvGrpSpPr>
            <p:grpSpPr bwMode="auto">
              <a:xfrm>
                <a:off x="3256" y="5354"/>
                <a:ext cx="416" cy="403"/>
                <a:chOff x="3256" y="5354"/>
                <a:chExt cx="416" cy="403"/>
              </a:xfrm>
            </p:grpSpPr>
            <p:sp>
              <p:nvSpPr>
                <p:cNvPr id="42084" name="Rectangle 100"/>
                <p:cNvSpPr>
                  <a:spLocks noChangeArrowheads="1"/>
                </p:cNvSpPr>
                <p:nvPr/>
              </p:nvSpPr>
              <p:spPr bwMode="auto">
                <a:xfrm>
                  <a:off x="3299" y="5354"/>
                  <a:ext cx="330" cy="403"/>
                </a:xfrm>
                <a:prstGeom prst="rect">
                  <a:avLst/>
                </a:prstGeom>
                <a:noFill/>
                <a:ln w="9525">
                  <a:noFill/>
                  <a:miter lim="800000"/>
                  <a:headEnd/>
                  <a:tailEnd/>
                </a:ln>
                <a:effectLst/>
              </p:spPr>
              <p:txBody>
                <a:bodyPr/>
                <a:lstStyle/>
                <a:p>
                  <a:r>
                    <a:rPr lang="en-CA" sz="1200">
                      <a:latin typeface="Arial" charset="0"/>
                      <a:cs typeface="Arial" charset="0"/>
                    </a:rPr>
                    <a:t>.82</a:t>
                  </a:r>
                  <a:endParaRPr lang="en-CA" sz="1200">
                    <a:ea typeface="Arial Unicode MS" pitchFamily="34" charset="-128"/>
                    <a:cs typeface="Arial Unicode MS" pitchFamily="34" charset="-128"/>
                  </a:endParaRPr>
                </a:p>
                <a:p>
                  <a:endParaRPr lang="en-CA"/>
                </a:p>
              </p:txBody>
            </p:sp>
            <p:sp>
              <p:nvSpPr>
                <p:cNvPr id="42292" name="Rectangle 308"/>
                <p:cNvSpPr>
                  <a:spLocks noChangeArrowheads="1"/>
                </p:cNvSpPr>
                <p:nvPr/>
              </p:nvSpPr>
              <p:spPr bwMode="auto">
                <a:xfrm>
                  <a:off x="3256" y="5354"/>
                  <a:ext cx="416" cy="403"/>
                </a:xfrm>
                <a:prstGeom prst="rect">
                  <a:avLst/>
                </a:prstGeom>
                <a:noFill/>
                <a:ln w="7">
                  <a:solidFill>
                    <a:srgbClr val="A0A0A0"/>
                  </a:solidFill>
                  <a:miter lim="800000"/>
                  <a:headEnd/>
                  <a:tailEnd/>
                </a:ln>
                <a:effectLst/>
              </p:spPr>
              <p:txBody>
                <a:bodyPr/>
                <a:lstStyle/>
                <a:p>
                  <a:endParaRPr lang="en-US"/>
                </a:p>
              </p:txBody>
            </p:sp>
          </p:grpSp>
          <p:grpSp>
            <p:nvGrpSpPr>
              <p:cNvPr id="42235" name="Group 311"/>
              <p:cNvGrpSpPr>
                <a:grpSpLocks/>
              </p:cNvGrpSpPr>
              <p:nvPr/>
            </p:nvGrpSpPr>
            <p:grpSpPr bwMode="auto">
              <a:xfrm>
                <a:off x="3672" y="5354"/>
                <a:ext cx="441" cy="403"/>
                <a:chOff x="3672" y="5354"/>
                <a:chExt cx="441" cy="403"/>
              </a:xfrm>
            </p:grpSpPr>
            <p:sp>
              <p:nvSpPr>
                <p:cNvPr id="42085" name="Rectangle 101"/>
                <p:cNvSpPr>
                  <a:spLocks noChangeArrowheads="1"/>
                </p:cNvSpPr>
                <p:nvPr/>
              </p:nvSpPr>
              <p:spPr bwMode="auto">
                <a:xfrm>
                  <a:off x="3715" y="5354"/>
                  <a:ext cx="355" cy="403"/>
                </a:xfrm>
                <a:prstGeom prst="rect">
                  <a:avLst/>
                </a:prstGeom>
                <a:noFill/>
                <a:ln w="9525">
                  <a:noFill/>
                  <a:miter lim="800000"/>
                  <a:headEnd/>
                  <a:tailEnd/>
                </a:ln>
                <a:effectLst/>
              </p:spPr>
              <p:txBody>
                <a:bodyPr/>
                <a:lstStyle/>
                <a:p>
                  <a:r>
                    <a:rPr lang="en-CA" sz="1200">
                      <a:latin typeface="Arial" charset="0"/>
                      <a:cs typeface="Arial" charset="0"/>
                    </a:rPr>
                    <a:t>.82</a:t>
                  </a:r>
                  <a:endParaRPr lang="en-CA" sz="1200">
                    <a:ea typeface="Arial Unicode MS" pitchFamily="34" charset="-128"/>
                    <a:cs typeface="Arial Unicode MS" pitchFamily="34" charset="-128"/>
                  </a:endParaRPr>
                </a:p>
                <a:p>
                  <a:endParaRPr lang="en-CA"/>
                </a:p>
              </p:txBody>
            </p:sp>
            <p:sp>
              <p:nvSpPr>
                <p:cNvPr id="42294" name="Rectangle 310"/>
                <p:cNvSpPr>
                  <a:spLocks noChangeArrowheads="1"/>
                </p:cNvSpPr>
                <p:nvPr/>
              </p:nvSpPr>
              <p:spPr bwMode="auto">
                <a:xfrm>
                  <a:off x="3672" y="5354"/>
                  <a:ext cx="441" cy="403"/>
                </a:xfrm>
                <a:prstGeom prst="rect">
                  <a:avLst/>
                </a:prstGeom>
                <a:noFill/>
                <a:ln w="7">
                  <a:solidFill>
                    <a:srgbClr val="A0A0A0"/>
                  </a:solidFill>
                  <a:miter lim="800000"/>
                  <a:headEnd/>
                  <a:tailEnd/>
                </a:ln>
                <a:effectLst/>
              </p:spPr>
              <p:txBody>
                <a:bodyPr/>
                <a:lstStyle/>
                <a:p>
                  <a:endParaRPr lang="en-US"/>
                </a:p>
              </p:txBody>
            </p:sp>
          </p:grpSp>
          <p:grpSp>
            <p:nvGrpSpPr>
              <p:cNvPr id="42237" name="Group 313"/>
              <p:cNvGrpSpPr>
                <a:grpSpLocks/>
              </p:cNvGrpSpPr>
              <p:nvPr/>
            </p:nvGrpSpPr>
            <p:grpSpPr bwMode="auto">
              <a:xfrm>
                <a:off x="0" y="5757"/>
                <a:ext cx="1455" cy="403"/>
                <a:chOff x="0" y="5757"/>
                <a:chExt cx="1455" cy="403"/>
              </a:xfrm>
            </p:grpSpPr>
            <p:sp>
              <p:nvSpPr>
                <p:cNvPr id="42086" name="Rectangle 102"/>
                <p:cNvSpPr>
                  <a:spLocks noChangeArrowheads="1"/>
                </p:cNvSpPr>
                <p:nvPr/>
              </p:nvSpPr>
              <p:spPr bwMode="auto">
                <a:xfrm>
                  <a:off x="43" y="5757"/>
                  <a:ext cx="1369" cy="403"/>
                </a:xfrm>
                <a:prstGeom prst="rect">
                  <a:avLst/>
                </a:prstGeom>
                <a:noFill/>
                <a:ln w="9525">
                  <a:noFill/>
                  <a:miter lim="800000"/>
                  <a:headEnd/>
                  <a:tailEnd/>
                </a:ln>
                <a:effectLst/>
              </p:spPr>
              <p:txBody>
                <a:bodyPr/>
                <a:lstStyle/>
                <a:p>
                  <a:r>
                    <a:rPr lang="en-CA" sz="1200" b="1">
                      <a:latin typeface="Arial" charset="0"/>
                      <a:cs typeface="Arial" charset="0"/>
                    </a:rPr>
                    <a:t>SW Tools</a:t>
                  </a:r>
                  <a:endParaRPr lang="en-CA" sz="1200">
                    <a:ea typeface="Arial Unicode MS" pitchFamily="34" charset="-128"/>
                    <a:cs typeface="Arial Unicode MS" pitchFamily="34" charset="-128"/>
                  </a:endParaRPr>
                </a:p>
                <a:p>
                  <a:endParaRPr lang="en-CA"/>
                </a:p>
              </p:txBody>
            </p:sp>
            <p:sp>
              <p:nvSpPr>
                <p:cNvPr id="42296" name="Rectangle 312"/>
                <p:cNvSpPr>
                  <a:spLocks noChangeArrowheads="1"/>
                </p:cNvSpPr>
                <p:nvPr/>
              </p:nvSpPr>
              <p:spPr bwMode="auto">
                <a:xfrm>
                  <a:off x="0" y="5757"/>
                  <a:ext cx="1455" cy="403"/>
                </a:xfrm>
                <a:prstGeom prst="rect">
                  <a:avLst/>
                </a:prstGeom>
                <a:noFill/>
                <a:ln w="7">
                  <a:solidFill>
                    <a:srgbClr val="A0A0A0"/>
                  </a:solidFill>
                  <a:miter lim="800000"/>
                  <a:headEnd/>
                  <a:tailEnd/>
                </a:ln>
                <a:effectLst/>
              </p:spPr>
              <p:txBody>
                <a:bodyPr/>
                <a:lstStyle/>
                <a:p>
                  <a:endParaRPr lang="en-US"/>
                </a:p>
              </p:txBody>
            </p:sp>
          </p:grpSp>
          <p:grpSp>
            <p:nvGrpSpPr>
              <p:cNvPr id="42239" name="Group 315"/>
              <p:cNvGrpSpPr>
                <a:grpSpLocks/>
              </p:cNvGrpSpPr>
              <p:nvPr/>
            </p:nvGrpSpPr>
            <p:grpSpPr bwMode="auto">
              <a:xfrm>
                <a:off x="1455" y="5757"/>
                <a:ext cx="409" cy="403"/>
                <a:chOff x="1455" y="5757"/>
                <a:chExt cx="409" cy="403"/>
              </a:xfrm>
            </p:grpSpPr>
            <p:sp>
              <p:nvSpPr>
                <p:cNvPr id="42087" name="Rectangle 103"/>
                <p:cNvSpPr>
                  <a:spLocks noChangeArrowheads="1"/>
                </p:cNvSpPr>
                <p:nvPr/>
              </p:nvSpPr>
              <p:spPr bwMode="auto">
                <a:xfrm>
                  <a:off x="1498" y="5757"/>
                  <a:ext cx="323" cy="403"/>
                </a:xfrm>
                <a:prstGeom prst="rect">
                  <a:avLst/>
                </a:prstGeom>
                <a:noFill/>
                <a:ln w="9525">
                  <a:noFill/>
                  <a:miter lim="800000"/>
                  <a:headEnd/>
                  <a:tailEnd/>
                </a:ln>
                <a:effectLst/>
              </p:spPr>
              <p:txBody>
                <a:bodyPr/>
                <a:lstStyle/>
                <a:p>
                  <a:r>
                    <a:rPr lang="en-CA" sz="1200">
                      <a:latin typeface="Arial" charset="0"/>
                      <a:cs typeface="Arial" charset="0"/>
                    </a:rPr>
                    <a:t>1.24</a:t>
                  </a:r>
                  <a:endParaRPr lang="en-CA" sz="1200">
                    <a:ea typeface="Arial Unicode MS" pitchFamily="34" charset="-128"/>
                    <a:cs typeface="Arial Unicode MS" pitchFamily="34" charset="-128"/>
                  </a:endParaRPr>
                </a:p>
                <a:p>
                  <a:endParaRPr lang="en-CA"/>
                </a:p>
              </p:txBody>
            </p:sp>
            <p:sp>
              <p:nvSpPr>
                <p:cNvPr id="42298" name="Rectangle 314"/>
                <p:cNvSpPr>
                  <a:spLocks noChangeArrowheads="1"/>
                </p:cNvSpPr>
                <p:nvPr/>
              </p:nvSpPr>
              <p:spPr bwMode="auto">
                <a:xfrm>
                  <a:off x="1455" y="5757"/>
                  <a:ext cx="409" cy="403"/>
                </a:xfrm>
                <a:prstGeom prst="rect">
                  <a:avLst/>
                </a:prstGeom>
                <a:noFill/>
                <a:ln w="7">
                  <a:solidFill>
                    <a:srgbClr val="A0A0A0"/>
                  </a:solidFill>
                  <a:miter lim="800000"/>
                  <a:headEnd/>
                  <a:tailEnd/>
                </a:ln>
                <a:effectLst/>
              </p:spPr>
              <p:txBody>
                <a:bodyPr/>
                <a:lstStyle/>
                <a:p>
                  <a:endParaRPr lang="en-US"/>
                </a:p>
              </p:txBody>
            </p:sp>
          </p:grpSp>
          <p:grpSp>
            <p:nvGrpSpPr>
              <p:cNvPr id="42241" name="Group 317"/>
              <p:cNvGrpSpPr>
                <a:grpSpLocks/>
              </p:cNvGrpSpPr>
              <p:nvPr/>
            </p:nvGrpSpPr>
            <p:grpSpPr bwMode="auto">
              <a:xfrm>
                <a:off x="1864" y="5757"/>
                <a:ext cx="395" cy="403"/>
                <a:chOff x="1864" y="5757"/>
                <a:chExt cx="395" cy="403"/>
              </a:xfrm>
            </p:grpSpPr>
            <p:sp>
              <p:nvSpPr>
                <p:cNvPr id="42088" name="Rectangle 104"/>
                <p:cNvSpPr>
                  <a:spLocks noChangeArrowheads="1"/>
                </p:cNvSpPr>
                <p:nvPr/>
              </p:nvSpPr>
              <p:spPr bwMode="auto">
                <a:xfrm>
                  <a:off x="1907" y="5757"/>
                  <a:ext cx="309" cy="403"/>
                </a:xfrm>
                <a:prstGeom prst="rect">
                  <a:avLst/>
                </a:prstGeom>
                <a:noFill/>
                <a:ln w="9525">
                  <a:noFill/>
                  <a:miter lim="800000"/>
                  <a:headEnd/>
                  <a:tailEnd/>
                </a:ln>
                <a:effectLst/>
              </p:spPr>
              <p:txBody>
                <a:bodyPr/>
                <a:lstStyle/>
                <a:p>
                  <a:r>
                    <a:rPr lang="en-CA" sz="1200">
                      <a:latin typeface="Arial" charset="0"/>
                      <a:cs typeface="Arial" charset="0"/>
                    </a:rPr>
                    <a:t>1.10</a:t>
                  </a:r>
                  <a:endParaRPr lang="en-CA" sz="1200">
                    <a:ea typeface="Arial Unicode MS" pitchFamily="34" charset="-128"/>
                    <a:cs typeface="Arial Unicode MS" pitchFamily="34" charset="-128"/>
                  </a:endParaRPr>
                </a:p>
                <a:p>
                  <a:endParaRPr lang="en-CA"/>
                </a:p>
              </p:txBody>
            </p:sp>
            <p:sp>
              <p:nvSpPr>
                <p:cNvPr id="42300" name="Rectangle 316"/>
                <p:cNvSpPr>
                  <a:spLocks noChangeArrowheads="1"/>
                </p:cNvSpPr>
                <p:nvPr/>
              </p:nvSpPr>
              <p:spPr bwMode="auto">
                <a:xfrm>
                  <a:off x="1864" y="5757"/>
                  <a:ext cx="395" cy="403"/>
                </a:xfrm>
                <a:prstGeom prst="rect">
                  <a:avLst/>
                </a:prstGeom>
                <a:noFill/>
                <a:ln w="7">
                  <a:solidFill>
                    <a:srgbClr val="A0A0A0"/>
                  </a:solidFill>
                  <a:miter lim="800000"/>
                  <a:headEnd/>
                  <a:tailEnd/>
                </a:ln>
                <a:effectLst/>
              </p:spPr>
              <p:txBody>
                <a:bodyPr/>
                <a:lstStyle/>
                <a:p>
                  <a:endParaRPr lang="en-US"/>
                </a:p>
              </p:txBody>
            </p:sp>
          </p:grpSp>
          <p:grpSp>
            <p:nvGrpSpPr>
              <p:cNvPr id="42243" name="Group 319"/>
              <p:cNvGrpSpPr>
                <a:grpSpLocks/>
              </p:cNvGrpSpPr>
              <p:nvPr/>
            </p:nvGrpSpPr>
            <p:grpSpPr bwMode="auto">
              <a:xfrm>
                <a:off x="2259" y="5757"/>
                <a:ext cx="581" cy="403"/>
                <a:chOff x="2259" y="5757"/>
                <a:chExt cx="581" cy="403"/>
              </a:xfrm>
            </p:grpSpPr>
            <p:sp>
              <p:nvSpPr>
                <p:cNvPr id="42089" name="Rectangle 105"/>
                <p:cNvSpPr>
                  <a:spLocks noChangeArrowheads="1"/>
                </p:cNvSpPr>
                <p:nvPr/>
              </p:nvSpPr>
              <p:spPr bwMode="auto">
                <a:xfrm>
                  <a:off x="2302" y="5757"/>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302" name="Rectangle 318"/>
                <p:cNvSpPr>
                  <a:spLocks noChangeArrowheads="1"/>
                </p:cNvSpPr>
                <p:nvPr/>
              </p:nvSpPr>
              <p:spPr bwMode="auto">
                <a:xfrm>
                  <a:off x="2259" y="5757"/>
                  <a:ext cx="581" cy="403"/>
                </a:xfrm>
                <a:prstGeom prst="rect">
                  <a:avLst/>
                </a:prstGeom>
                <a:noFill/>
                <a:ln w="7">
                  <a:solidFill>
                    <a:srgbClr val="A0A0A0"/>
                  </a:solidFill>
                  <a:miter lim="800000"/>
                  <a:headEnd/>
                  <a:tailEnd/>
                </a:ln>
                <a:effectLst/>
              </p:spPr>
              <p:txBody>
                <a:bodyPr/>
                <a:lstStyle/>
                <a:p>
                  <a:endParaRPr lang="en-US"/>
                </a:p>
              </p:txBody>
            </p:sp>
          </p:grpSp>
          <p:grpSp>
            <p:nvGrpSpPr>
              <p:cNvPr id="42245" name="Group 321"/>
              <p:cNvGrpSpPr>
                <a:grpSpLocks/>
              </p:cNvGrpSpPr>
              <p:nvPr/>
            </p:nvGrpSpPr>
            <p:grpSpPr bwMode="auto">
              <a:xfrm>
                <a:off x="2840" y="5757"/>
                <a:ext cx="416" cy="403"/>
                <a:chOff x="2840" y="5757"/>
                <a:chExt cx="416" cy="403"/>
              </a:xfrm>
            </p:grpSpPr>
            <p:sp>
              <p:nvSpPr>
                <p:cNvPr id="42090" name="Rectangle 106"/>
                <p:cNvSpPr>
                  <a:spLocks noChangeArrowheads="1"/>
                </p:cNvSpPr>
                <p:nvPr/>
              </p:nvSpPr>
              <p:spPr bwMode="auto">
                <a:xfrm>
                  <a:off x="2883" y="5757"/>
                  <a:ext cx="330" cy="403"/>
                </a:xfrm>
                <a:prstGeom prst="rect">
                  <a:avLst/>
                </a:prstGeom>
                <a:noFill/>
                <a:ln w="9525">
                  <a:noFill/>
                  <a:miter lim="800000"/>
                  <a:headEnd/>
                  <a:tailEnd/>
                </a:ln>
                <a:effectLst/>
              </p:spPr>
              <p:txBody>
                <a:bodyPr/>
                <a:lstStyle/>
                <a:p>
                  <a:r>
                    <a:rPr lang="en-CA" sz="1200">
                      <a:latin typeface="Arial" charset="0"/>
                      <a:cs typeface="Arial" charset="0"/>
                    </a:rPr>
                    <a:t>.91</a:t>
                  </a:r>
                  <a:endParaRPr lang="en-CA" sz="1200">
                    <a:ea typeface="Arial Unicode MS" pitchFamily="34" charset="-128"/>
                    <a:cs typeface="Arial Unicode MS" pitchFamily="34" charset="-128"/>
                  </a:endParaRPr>
                </a:p>
                <a:p>
                  <a:endParaRPr lang="en-CA"/>
                </a:p>
              </p:txBody>
            </p:sp>
            <p:sp>
              <p:nvSpPr>
                <p:cNvPr id="42304" name="Rectangle 320"/>
                <p:cNvSpPr>
                  <a:spLocks noChangeArrowheads="1"/>
                </p:cNvSpPr>
                <p:nvPr/>
              </p:nvSpPr>
              <p:spPr bwMode="auto">
                <a:xfrm>
                  <a:off x="2840" y="5757"/>
                  <a:ext cx="416" cy="403"/>
                </a:xfrm>
                <a:prstGeom prst="rect">
                  <a:avLst/>
                </a:prstGeom>
                <a:noFill/>
                <a:ln w="7">
                  <a:solidFill>
                    <a:srgbClr val="A0A0A0"/>
                  </a:solidFill>
                  <a:miter lim="800000"/>
                  <a:headEnd/>
                  <a:tailEnd/>
                </a:ln>
                <a:effectLst/>
              </p:spPr>
              <p:txBody>
                <a:bodyPr/>
                <a:lstStyle/>
                <a:p>
                  <a:endParaRPr lang="en-US"/>
                </a:p>
              </p:txBody>
            </p:sp>
          </p:grpSp>
          <p:grpSp>
            <p:nvGrpSpPr>
              <p:cNvPr id="42247" name="Group 323"/>
              <p:cNvGrpSpPr>
                <a:grpSpLocks/>
              </p:cNvGrpSpPr>
              <p:nvPr/>
            </p:nvGrpSpPr>
            <p:grpSpPr bwMode="auto">
              <a:xfrm>
                <a:off x="3256" y="5757"/>
                <a:ext cx="416" cy="403"/>
                <a:chOff x="3256" y="5757"/>
                <a:chExt cx="416" cy="403"/>
              </a:xfrm>
            </p:grpSpPr>
            <p:sp>
              <p:nvSpPr>
                <p:cNvPr id="42091" name="Rectangle 107"/>
                <p:cNvSpPr>
                  <a:spLocks noChangeArrowheads="1"/>
                </p:cNvSpPr>
                <p:nvPr/>
              </p:nvSpPr>
              <p:spPr bwMode="auto">
                <a:xfrm>
                  <a:off x="3299" y="5757"/>
                  <a:ext cx="330" cy="403"/>
                </a:xfrm>
                <a:prstGeom prst="rect">
                  <a:avLst/>
                </a:prstGeom>
                <a:noFill/>
                <a:ln w="9525">
                  <a:noFill/>
                  <a:miter lim="800000"/>
                  <a:headEnd/>
                  <a:tailEnd/>
                </a:ln>
                <a:effectLst/>
              </p:spPr>
              <p:txBody>
                <a:bodyPr/>
                <a:lstStyle/>
                <a:p>
                  <a:r>
                    <a:rPr lang="en-CA" sz="1200">
                      <a:latin typeface="Arial" charset="0"/>
                      <a:cs typeface="Arial" charset="0"/>
                    </a:rPr>
                    <a:t>.83</a:t>
                  </a:r>
                  <a:endParaRPr lang="en-CA" sz="1200">
                    <a:ea typeface="Arial Unicode MS" pitchFamily="34" charset="-128"/>
                    <a:cs typeface="Arial Unicode MS" pitchFamily="34" charset="-128"/>
                  </a:endParaRPr>
                </a:p>
                <a:p>
                  <a:endParaRPr lang="en-CA"/>
                </a:p>
              </p:txBody>
            </p:sp>
            <p:sp>
              <p:nvSpPr>
                <p:cNvPr id="42306" name="Rectangle 322"/>
                <p:cNvSpPr>
                  <a:spLocks noChangeArrowheads="1"/>
                </p:cNvSpPr>
                <p:nvPr/>
              </p:nvSpPr>
              <p:spPr bwMode="auto">
                <a:xfrm>
                  <a:off x="3256" y="5757"/>
                  <a:ext cx="416" cy="403"/>
                </a:xfrm>
                <a:prstGeom prst="rect">
                  <a:avLst/>
                </a:prstGeom>
                <a:noFill/>
                <a:ln w="7">
                  <a:solidFill>
                    <a:srgbClr val="A0A0A0"/>
                  </a:solidFill>
                  <a:miter lim="800000"/>
                  <a:headEnd/>
                  <a:tailEnd/>
                </a:ln>
                <a:effectLst/>
              </p:spPr>
              <p:txBody>
                <a:bodyPr/>
                <a:lstStyle/>
                <a:p>
                  <a:endParaRPr lang="en-US"/>
                </a:p>
              </p:txBody>
            </p:sp>
          </p:grpSp>
          <p:grpSp>
            <p:nvGrpSpPr>
              <p:cNvPr id="42249" name="Group 325"/>
              <p:cNvGrpSpPr>
                <a:grpSpLocks/>
              </p:cNvGrpSpPr>
              <p:nvPr/>
            </p:nvGrpSpPr>
            <p:grpSpPr bwMode="auto">
              <a:xfrm>
                <a:off x="3672" y="5757"/>
                <a:ext cx="441" cy="403"/>
                <a:chOff x="3672" y="5757"/>
                <a:chExt cx="441" cy="403"/>
              </a:xfrm>
            </p:grpSpPr>
            <p:sp>
              <p:nvSpPr>
                <p:cNvPr id="42092" name="Rectangle 108"/>
                <p:cNvSpPr>
                  <a:spLocks noChangeArrowheads="1"/>
                </p:cNvSpPr>
                <p:nvPr/>
              </p:nvSpPr>
              <p:spPr bwMode="auto">
                <a:xfrm>
                  <a:off x="3715" y="5757"/>
                  <a:ext cx="355" cy="403"/>
                </a:xfrm>
                <a:prstGeom prst="rect">
                  <a:avLst/>
                </a:prstGeom>
                <a:noFill/>
                <a:ln w="9525">
                  <a:noFill/>
                  <a:miter lim="800000"/>
                  <a:headEnd/>
                  <a:tailEnd/>
                </a:ln>
                <a:effectLst/>
              </p:spPr>
              <p:txBody>
                <a:bodyPr/>
                <a:lstStyle/>
                <a:p>
                  <a:r>
                    <a:rPr lang="en-CA" sz="1200">
                      <a:latin typeface="Arial" charset="0"/>
                      <a:cs typeface="Arial" charset="0"/>
                    </a:rPr>
                    <a:t>.83</a:t>
                  </a:r>
                  <a:endParaRPr lang="en-CA" sz="1200">
                    <a:ea typeface="Arial Unicode MS" pitchFamily="34" charset="-128"/>
                    <a:cs typeface="Arial Unicode MS" pitchFamily="34" charset="-128"/>
                  </a:endParaRPr>
                </a:p>
                <a:p>
                  <a:endParaRPr lang="en-CA"/>
                </a:p>
              </p:txBody>
            </p:sp>
            <p:sp>
              <p:nvSpPr>
                <p:cNvPr id="42308" name="Rectangle 324"/>
                <p:cNvSpPr>
                  <a:spLocks noChangeArrowheads="1"/>
                </p:cNvSpPr>
                <p:nvPr/>
              </p:nvSpPr>
              <p:spPr bwMode="auto">
                <a:xfrm>
                  <a:off x="3672" y="5757"/>
                  <a:ext cx="441" cy="403"/>
                </a:xfrm>
                <a:prstGeom prst="rect">
                  <a:avLst/>
                </a:prstGeom>
                <a:noFill/>
                <a:ln w="7">
                  <a:solidFill>
                    <a:srgbClr val="A0A0A0"/>
                  </a:solidFill>
                  <a:miter lim="800000"/>
                  <a:headEnd/>
                  <a:tailEnd/>
                </a:ln>
                <a:effectLst/>
              </p:spPr>
              <p:txBody>
                <a:bodyPr/>
                <a:lstStyle/>
                <a:p>
                  <a:endParaRPr lang="en-US"/>
                </a:p>
              </p:txBody>
            </p:sp>
          </p:grpSp>
          <p:grpSp>
            <p:nvGrpSpPr>
              <p:cNvPr id="42251" name="Group 327"/>
              <p:cNvGrpSpPr>
                <a:grpSpLocks/>
              </p:cNvGrpSpPr>
              <p:nvPr/>
            </p:nvGrpSpPr>
            <p:grpSpPr bwMode="auto">
              <a:xfrm>
                <a:off x="0" y="6160"/>
                <a:ext cx="1455" cy="403"/>
                <a:chOff x="0" y="6160"/>
                <a:chExt cx="1455" cy="403"/>
              </a:xfrm>
            </p:grpSpPr>
            <p:sp>
              <p:nvSpPr>
                <p:cNvPr id="42093" name="Rectangle 109"/>
                <p:cNvSpPr>
                  <a:spLocks noChangeArrowheads="1"/>
                </p:cNvSpPr>
                <p:nvPr/>
              </p:nvSpPr>
              <p:spPr bwMode="auto">
                <a:xfrm>
                  <a:off x="43" y="6160"/>
                  <a:ext cx="1369" cy="403"/>
                </a:xfrm>
                <a:prstGeom prst="rect">
                  <a:avLst/>
                </a:prstGeom>
                <a:noFill/>
                <a:ln w="9525">
                  <a:noFill/>
                  <a:miter lim="800000"/>
                  <a:headEnd/>
                  <a:tailEnd/>
                </a:ln>
                <a:effectLst/>
              </p:spPr>
              <p:txBody>
                <a:bodyPr/>
                <a:lstStyle/>
                <a:p>
                  <a:r>
                    <a:rPr lang="en-CA" sz="1200" b="1">
                      <a:latin typeface="Arial" charset="0"/>
                      <a:cs typeface="Arial" charset="0"/>
                    </a:rPr>
                    <a:t>Required Dev Schedule</a:t>
                  </a:r>
                  <a:endParaRPr lang="en-CA" sz="1200">
                    <a:ea typeface="Arial Unicode MS" pitchFamily="34" charset="-128"/>
                    <a:cs typeface="Arial Unicode MS" pitchFamily="34" charset="-128"/>
                  </a:endParaRPr>
                </a:p>
                <a:p>
                  <a:endParaRPr lang="en-CA"/>
                </a:p>
              </p:txBody>
            </p:sp>
            <p:sp>
              <p:nvSpPr>
                <p:cNvPr id="42310" name="Rectangle 326"/>
                <p:cNvSpPr>
                  <a:spLocks noChangeArrowheads="1"/>
                </p:cNvSpPr>
                <p:nvPr/>
              </p:nvSpPr>
              <p:spPr bwMode="auto">
                <a:xfrm>
                  <a:off x="0" y="6160"/>
                  <a:ext cx="1455" cy="403"/>
                </a:xfrm>
                <a:prstGeom prst="rect">
                  <a:avLst/>
                </a:prstGeom>
                <a:noFill/>
                <a:ln w="7">
                  <a:solidFill>
                    <a:srgbClr val="A0A0A0"/>
                  </a:solidFill>
                  <a:miter lim="800000"/>
                  <a:headEnd/>
                  <a:tailEnd/>
                </a:ln>
                <a:effectLst/>
              </p:spPr>
              <p:txBody>
                <a:bodyPr/>
                <a:lstStyle/>
                <a:p>
                  <a:endParaRPr lang="en-US"/>
                </a:p>
              </p:txBody>
            </p:sp>
          </p:grpSp>
          <p:grpSp>
            <p:nvGrpSpPr>
              <p:cNvPr id="42253" name="Group 329"/>
              <p:cNvGrpSpPr>
                <a:grpSpLocks/>
              </p:cNvGrpSpPr>
              <p:nvPr/>
            </p:nvGrpSpPr>
            <p:grpSpPr bwMode="auto">
              <a:xfrm>
                <a:off x="1455" y="6160"/>
                <a:ext cx="409" cy="403"/>
                <a:chOff x="1455" y="6160"/>
                <a:chExt cx="409" cy="403"/>
              </a:xfrm>
            </p:grpSpPr>
            <p:sp>
              <p:nvSpPr>
                <p:cNvPr id="42094" name="Rectangle 110"/>
                <p:cNvSpPr>
                  <a:spLocks noChangeArrowheads="1"/>
                </p:cNvSpPr>
                <p:nvPr/>
              </p:nvSpPr>
              <p:spPr bwMode="auto">
                <a:xfrm>
                  <a:off x="1498" y="6160"/>
                  <a:ext cx="323" cy="403"/>
                </a:xfrm>
                <a:prstGeom prst="rect">
                  <a:avLst/>
                </a:prstGeom>
                <a:noFill/>
                <a:ln w="9525">
                  <a:noFill/>
                  <a:miter lim="800000"/>
                  <a:headEnd/>
                  <a:tailEnd/>
                </a:ln>
                <a:effectLst/>
              </p:spPr>
              <p:txBody>
                <a:bodyPr/>
                <a:lstStyle/>
                <a:p>
                  <a:r>
                    <a:rPr lang="en-CA" sz="1200">
                      <a:latin typeface="Arial" charset="0"/>
                      <a:cs typeface="Arial" charset="0"/>
                    </a:rPr>
                    <a:t>1.23</a:t>
                  </a:r>
                  <a:endParaRPr lang="en-CA" sz="1200">
                    <a:ea typeface="Arial Unicode MS" pitchFamily="34" charset="-128"/>
                    <a:cs typeface="Arial Unicode MS" pitchFamily="34" charset="-128"/>
                  </a:endParaRPr>
                </a:p>
                <a:p>
                  <a:endParaRPr lang="en-CA"/>
                </a:p>
              </p:txBody>
            </p:sp>
            <p:sp>
              <p:nvSpPr>
                <p:cNvPr id="42312" name="Rectangle 328"/>
                <p:cNvSpPr>
                  <a:spLocks noChangeArrowheads="1"/>
                </p:cNvSpPr>
                <p:nvPr/>
              </p:nvSpPr>
              <p:spPr bwMode="auto">
                <a:xfrm>
                  <a:off x="1455" y="6160"/>
                  <a:ext cx="409" cy="403"/>
                </a:xfrm>
                <a:prstGeom prst="rect">
                  <a:avLst/>
                </a:prstGeom>
                <a:noFill/>
                <a:ln w="7">
                  <a:solidFill>
                    <a:srgbClr val="A0A0A0"/>
                  </a:solidFill>
                  <a:miter lim="800000"/>
                  <a:headEnd/>
                  <a:tailEnd/>
                </a:ln>
                <a:effectLst/>
              </p:spPr>
              <p:txBody>
                <a:bodyPr/>
                <a:lstStyle/>
                <a:p>
                  <a:endParaRPr lang="en-US"/>
                </a:p>
              </p:txBody>
            </p:sp>
          </p:grpSp>
          <p:grpSp>
            <p:nvGrpSpPr>
              <p:cNvPr id="42255" name="Group 331"/>
              <p:cNvGrpSpPr>
                <a:grpSpLocks/>
              </p:cNvGrpSpPr>
              <p:nvPr/>
            </p:nvGrpSpPr>
            <p:grpSpPr bwMode="auto">
              <a:xfrm>
                <a:off x="1864" y="6160"/>
                <a:ext cx="395" cy="403"/>
                <a:chOff x="1864" y="6160"/>
                <a:chExt cx="395" cy="403"/>
              </a:xfrm>
            </p:grpSpPr>
            <p:sp>
              <p:nvSpPr>
                <p:cNvPr id="42095" name="Rectangle 111"/>
                <p:cNvSpPr>
                  <a:spLocks noChangeArrowheads="1"/>
                </p:cNvSpPr>
                <p:nvPr/>
              </p:nvSpPr>
              <p:spPr bwMode="auto">
                <a:xfrm>
                  <a:off x="1907" y="6160"/>
                  <a:ext cx="309" cy="403"/>
                </a:xfrm>
                <a:prstGeom prst="rect">
                  <a:avLst/>
                </a:prstGeom>
                <a:noFill/>
                <a:ln w="9525">
                  <a:noFill/>
                  <a:miter lim="800000"/>
                  <a:headEnd/>
                  <a:tailEnd/>
                </a:ln>
                <a:effectLst/>
              </p:spPr>
              <p:txBody>
                <a:bodyPr/>
                <a:lstStyle/>
                <a:p>
                  <a:r>
                    <a:rPr lang="en-CA" sz="1200">
                      <a:latin typeface="Arial" charset="0"/>
                      <a:cs typeface="Arial" charset="0"/>
                    </a:rPr>
                    <a:t>1.08</a:t>
                  </a:r>
                  <a:endParaRPr lang="en-CA" sz="1200">
                    <a:ea typeface="Arial Unicode MS" pitchFamily="34" charset="-128"/>
                    <a:cs typeface="Arial Unicode MS" pitchFamily="34" charset="-128"/>
                  </a:endParaRPr>
                </a:p>
                <a:p>
                  <a:endParaRPr lang="en-CA"/>
                </a:p>
              </p:txBody>
            </p:sp>
            <p:sp>
              <p:nvSpPr>
                <p:cNvPr id="42314" name="Rectangle 330"/>
                <p:cNvSpPr>
                  <a:spLocks noChangeArrowheads="1"/>
                </p:cNvSpPr>
                <p:nvPr/>
              </p:nvSpPr>
              <p:spPr bwMode="auto">
                <a:xfrm>
                  <a:off x="1864" y="6160"/>
                  <a:ext cx="395" cy="403"/>
                </a:xfrm>
                <a:prstGeom prst="rect">
                  <a:avLst/>
                </a:prstGeom>
                <a:noFill/>
                <a:ln w="7">
                  <a:solidFill>
                    <a:srgbClr val="A0A0A0"/>
                  </a:solidFill>
                  <a:miter lim="800000"/>
                  <a:headEnd/>
                  <a:tailEnd/>
                </a:ln>
                <a:effectLst/>
              </p:spPr>
              <p:txBody>
                <a:bodyPr/>
                <a:lstStyle/>
                <a:p>
                  <a:endParaRPr lang="en-US"/>
                </a:p>
              </p:txBody>
            </p:sp>
          </p:grpSp>
          <p:grpSp>
            <p:nvGrpSpPr>
              <p:cNvPr id="42257" name="Group 333"/>
              <p:cNvGrpSpPr>
                <a:grpSpLocks/>
              </p:cNvGrpSpPr>
              <p:nvPr/>
            </p:nvGrpSpPr>
            <p:grpSpPr bwMode="auto">
              <a:xfrm>
                <a:off x="2259" y="6160"/>
                <a:ext cx="581" cy="403"/>
                <a:chOff x="2259" y="6160"/>
                <a:chExt cx="581" cy="403"/>
              </a:xfrm>
            </p:grpSpPr>
            <p:sp>
              <p:nvSpPr>
                <p:cNvPr id="42096" name="Rectangle 112"/>
                <p:cNvSpPr>
                  <a:spLocks noChangeArrowheads="1"/>
                </p:cNvSpPr>
                <p:nvPr/>
              </p:nvSpPr>
              <p:spPr bwMode="auto">
                <a:xfrm>
                  <a:off x="2302" y="6160"/>
                  <a:ext cx="495" cy="403"/>
                </a:xfrm>
                <a:prstGeom prst="rect">
                  <a:avLst/>
                </a:prstGeom>
                <a:noFill/>
                <a:ln w="9525">
                  <a:noFill/>
                  <a:miter lim="800000"/>
                  <a:headEnd/>
                  <a:tailEnd/>
                </a:ln>
                <a:effectLst/>
              </p:spPr>
              <p:txBody>
                <a:bodyPr/>
                <a:lstStyle/>
                <a:p>
                  <a:r>
                    <a:rPr lang="en-CA" sz="1200">
                      <a:latin typeface="Arial" charset="0"/>
                      <a:cs typeface="Arial" charset="0"/>
                    </a:rPr>
                    <a:t>1.00</a:t>
                  </a:r>
                  <a:endParaRPr lang="en-CA" sz="1200">
                    <a:ea typeface="Arial Unicode MS" pitchFamily="34" charset="-128"/>
                    <a:cs typeface="Arial Unicode MS" pitchFamily="34" charset="-128"/>
                  </a:endParaRPr>
                </a:p>
                <a:p>
                  <a:endParaRPr lang="en-CA"/>
                </a:p>
              </p:txBody>
            </p:sp>
            <p:sp>
              <p:nvSpPr>
                <p:cNvPr id="42316" name="Rectangle 332"/>
                <p:cNvSpPr>
                  <a:spLocks noChangeArrowheads="1"/>
                </p:cNvSpPr>
                <p:nvPr/>
              </p:nvSpPr>
              <p:spPr bwMode="auto">
                <a:xfrm>
                  <a:off x="2259" y="6160"/>
                  <a:ext cx="581" cy="403"/>
                </a:xfrm>
                <a:prstGeom prst="rect">
                  <a:avLst/>
                </a:prstGeom>
                <a:noFill/>
                <a:ln w="7">
                  <a:solidFill>
                    <a:srgbClr val="A0A0A0"/>
                  </a:solidFill>
                  <a:miter lim="800000"/>
                  <a:headEnd/>
                  <a:tailEnd/>
                </a:ln>
                <a:effectLst/>
              </p:spPr>
              <p:txBody>
                <a:bodyPr/>
                <a:lstStyle/>
                <a:p>
                  <a:endParaRPr lang="en-US"/>
                </a:p>
              </p:txBody>
            </p:sp>
          </p:grpSp>
          <p:grpSp>
            <p:nvGrpSpPr>
              <p:cNvPr id="42259" name="Group 335"/>
              <p:cNvGrpSpPr>
                <a:grpSpLocks/>
              </p:cNvGrpSpPr>
              <p:nvPr/>
            </p:nvGrpSpPr>
            <p:grpSpPr bwMode="auto">
              <a:xfrm>
                <a:off x="2840" y="6160"/>
                <a:ext cx="416" cy="403"/>
                <a:chOff x="2840" y="6160"/>
                <a:chExt cx="416" cy="403"/>
              </a:xfrm>
            </p:grpSpPr>
            <p:sp>
              <p:nvSpPr>
                <p:cNvPr id="42097" name="Rectangle 113"/>
                <p:cNvSpPr>
                  <a:spLocks noChangeArrowheads="1"/>
                </p:cNvSpPr>
                <p:nvPr/>
              </p:nvSpPr>
              <p:spPr bwMode="auto">
                <a:xfrm>
                  <a:off x="2883" y="6160"/>
                  <a:ext cx="330" cy="403"/>
                </a:xfrm>
                <a:prstGeom prst="rect">
                  <a:avLst/>
                </a:prstGeom>
                <a:noFill/>
                <a:ln w="9525">
                  <a:noFill/>
                  <a:miter lim="800000"/>
                  <a:headEnd/>
                  <a:tailEnd/>
                </a:ln>
                <a:effectLst/>
              </p:spPr>
              <p:txBody>
                <a:bodyPr/>
                <a:lstStyle/>
                <a:p>
                  <a:r>
                    <a:rPr lang="en-CA" sz="1200">
                      <a:latin typeface="Arial" charset="0"/>
                      <a:cs typeface="Arial" charset="0"/>
                    </a:rPr>
                    <a:t>1.04</a:t>
                  </a:r>
                  <a:endParaRPr lang="en-CA" sz="1200">
                    <a:ea typeface="Arial Unicode MS" pitchFamily="34" charset="-128"/>
                    <a:cs typeface="Arial Unicode MS" pitchFamily="34" charset="-128"/>
                  </a:endParaRPr>
                </a:p>
                <a:p>
                  <a:endParaRPr lang="en-CA"/>
                </a:p>
              </p:txBody>
            </p:sp>
            <p:sp>
              <p:nvSpPr>
                <p:cNvPr id="42318" name="Rectangle 334"/>
                <p:cNvSpPr>
                  <a:spLocks noChangeArrowheads="1"/>
                </p:cNvSpPr>
                <p:nvPr/>
              </p:nvSpPr>
              <p:spPr bwMode="auto">
                <a:xfrm>
                  <a:off x="2840" y="6160"/>
                  <a:ext cx="416" cy="403"/>
                </a:xfrm>
                <a:prstGeom prst="rect">
                  <a:avLst/>
                </a:prstGeom>
                <a:noFill/>
                <a:ln w="7">
                  <a:solidFill>
                    <a:srgbClr val="A0A0A0"/>
                  </a:solidFill>
                  <a:miter lim="800000"/>
                  <a:headEnd/>
                  <a:tailEnd/>
                </a:ln>
                <a:effectLst/>
              </p:spPr>
              <p:txBody>
                <a:bodyPr/>
                <a:lstStyle/>
                <a:p>
                  <a:endParaRPr lang="en-US"/>
                </a:p>
              </p:txBody>
            </p:sp>
          </p:grpSp>
          <p:grpSp>
            <p:nvGrpSpPr>
              <p:cNvPr id="42261" name="Group 337"/>
              <p:cNvGrpSpPr>
                <a:grpSpLocks/>
              </p:cNvGrpSpPr>
              <p:nvPr/>
            </p:nvGrpSpPr>
            <p:grpSpPr bwMode="auto">
              <a:xfrm>
                <a:off x="3256" y="6160"/>
                <a:ext cx="416" cy="403"/>
                <a:chOff x="3256" y="6160"/>
                <a:chExt cx="416" cy="403"/>
              </a:xfrm>
            </p:grpSpPr>
            <p:sp>
              <p:nvSpPr>
                <p:cNvPr id="42098" name="Rectangle 114"/>
                <p:cNvSpPr>
                  <a:spLocks noChangeArrowheads="1"/>
                </p:cNvSpPr>
                <p:nvPr/>
              </p:nvSpPr>
              <p:spPr bwMode="auto">
                <a:xfrm>
                  <a:off x="3299" y="6160"/>
                  <a:ext cx="330" cy="403"/>
                </a:xfrm>
                <a:prstGeom prst="rect">
                  <a:avLst/>
                </a:prstGeom>
                <a:noFill/>
                <a:ln w="9525">
                  <a:noFill/>
                  <a:miter lim="800000"/>
                  <a:headEnd/>
                  <a:tailEnd/>
                </a:ln>
                <a:effectLst/>
              </p:spPr>
              <p:txBody>
                <a:bodyPr/>
                <a:lstStyle/>
                <a:p>
                  <a:r>
                    <a:rPr lang="en-CA" sz="1200">
                      <a:latin typeface="Arial" charset="0"/>
                      <a:cs typeface="Arial" charset="0"/>
                    </a:rPr>
                    <a:t>1.10</a:t>
                  </a:r>
                  <a:endParaRPr lang="en-CA" sz="1200">
                    <a:ea typeface="Arial Unicode MS" pitchFamily="34" charset="-128"/>
                    <a:cs typeface="Arial Unicode MS" pitchFamily="34" charset="-128"/>
                  </a:endParaRPr>
                </a:p>
                <a:p>
                  <a:endParaRPr lang="en-CA"/>
                </a:p>
              </p:txBody>
            </p:sp>
            <p:sp>
              <p:nvSpPr>
                <p:cNvPr id="42320" name="Rectangle 336"/>
                <p:cNvSpPr>
                  <a:spLocks noChangeArrowheads="1"/>
                </p:cNvSpPr>
                <p:nvPr/>
              </p:nvSpPr>
              <p:spPr bwMode="auto">
                <a:xfrm>
                  <a:off x="3256" y="6160"/>
                  <a:ext cx="416" cy="403"/>
                </a:xfrm>
                <a:prstGeom prst="rect">
                  <a:avLst/>
                </a:prstGeom>
                <a:noFill/>
                <a:ln w="7">
                  <a:solidFill>
                    <a:srgbClr val="A0A0A0"/>
                  </a:solidFill>
                  <a:miter lim="800000"/>
                  <a:headEnd/>
                  <a:tailEnd/>
                </a:ln>
                <a:effectLst/>
              </p:spPr>
              <p:txBody>
                <a:bodyPr/>
                <a:lstStyle/>
                <a:p>
                  <a:endParaRPr lang="en-US"/>
                </a:p>
              </p:txBody>
            </p:sp>
          </p:grpSp>
          <p:grpSp>
            <p:nvGrpSpPr>
              <p:cNvPr id="42263" name="Group 339"/>
              <p:cNvGrpSpPr>
                <a:grpSpLocks/>
              </p:cNvGrpSpPr>
              <p:nvPr/>
            </p:nvGrpSpPr>
            <p:grpSpPr bwMode="auto">
              <a:xfrm>
                <a:off x="3672" y="6160"/>
                <a:ext cx="441" cy="403"/>
                <a:chOff x="3672" y="6160"/>
                <a:chExt cx="441" cy="403"/>
              </a:xfrm>
            </p:grpSpPr>
            <p:sp>
              <p:nvSpPr>
                <p:cNvPr id="42099" name="Rectangle 115"/>
                <p:cNvSpPr>
                  <a:spLocks noChangeArrowheads="1"/>
                </p:cNvSpPr>
                <p:nvPr/>
              </p:nvSpPr>
              <p:spPr bwMode="auto">
                <a:xfrm>
                  <a:off x="3715" y="6160"/>
                  <a:ext cx="355" cy="403"/>
                </a:xfrm>
                <a:prstGeom prst="rect">
                  <a:avLst/>
                </a:prstGeom>
                <a:noFill/>
                <a:ln w="9525">
                  <a:noFill/>
                  <a:miter lim="800000"/>
                  <a:headEnd/>
                  <a:tailEnd/>
                </a:ln>
                <a:effectLst/>
              </p:spPr>
              <p:txBody>
                <a:bodyPr/>
                <a:lstStyle/>
                <a:p>
                  <a:r>
                    <a:rPr lang="en-CA" sz="1200">
                      <a:latin typeface="Arial" charset="0"/>
                      <a:cs typeface="Arial" charset="0"/>
                    </a:rPr>
                    <a:t>1,10</a:t>
                  </a:r>
                  <a:endParaRPr lang="en-CA" sz="1200">
                    <a:ea typeface="Arial Unicode MS" pitchFamily="34" charset="-128"/>
                    <a:cs typeface="Arial Unicode MS" pitchFamily="34" charset="-128"/>
                  </a:endParaRPr>
                </a:p>
                <a:p>
                  <a:endParaRPr lang="en-CA"/>
                </a:p>
              </p:txBody>
            </p:sp>
            <p:sp>
              <p:nvSpPr>
                <p:cNvPr id="42322" name="Rectangle 338"/>
                <p:cNvSpPr>
                  <a:spLocks noChangeArrowheads="1"/>
                </p:cNvSpPr>
                <p:nvPr/>
              </p:nvSpPr>
              <p:spPr bwMode="auto">
                <a:xfrm>
                  <a:off x="3672" y="6160"/>
                  <a:ext cx="441" cy="403"/>
                </a:xfrm>
                <a:prstGeom prst="rect">
                  <a:avLst/>
                </a:prstGeom>
                <a:noFill/>
                <a:ln w="7">
                  <a:solidFill>
                    <a:srgbClr val="A0A0A0"/>
                  </a:solidFill>
                  <a:miter lim="800000"/>
                  <a:headEnd/>
                  <a:tailEnd/>
                </a:ln>
                <a:effectLst/>
              </p:spPr>
              <p:txBody>
                <a:bodyPr/>
                <a:lstStyle/>
                <a:p>
                  <a:endParaRPr lang="en-US"/>
                </a:p>
              </p:txBody>
            </p:sp>
          </p:grpSp>
        </p:grpSp>
        <p:sp>
          <p:nvSpPr>
            <p:cNvPr id="42325" name="Rectangle 341"/>
            <p:cNvSpPr>
              <a:spLocks noChangeArrowheads="1"/>
            </p:cNvSpPr>
            <p:nvPr/>
          </p:nvSpPr>
          <p:spPr bwMode="auto">
            <a:xfrm>
              <a:off x="-2" y="-2"/>
              <a:ext cx="4117" cy="6567"/>
            </a:xfrm>
            <a:prstGeom prst="rect">
              <a:avLst/>
            </a:prstGeom>
            <a:noFill/>
            <a:ln w="7937">
              <a:solidFill>
                <a:srgbClr val="A0A0A0"/>
              </a:solidFill>
              <a:miter lim="800000"/>
              <a:headEnd/>
              <a:tailEnd/>
            </a:ln>
            <a:effectLst/>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1097</TotalTime>
  <Words>2164</Words>
  <Application>Microsoft Office PowerPoint</Application>
  <PresentationFormat>Widescreen</PresentationFormat>
  <Paragraphs>654</Paragraphs>
  <Slides>40</Slides>
  <Notes>2</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3" baseType="lpstr">
      <vt:lpstr>BatangChe</vt:lpstr>
      <vt:lpstr>Arial</vt:lpstr>
      <vt:lpstr>Arial Unicode MS</vt:lpstr>
      <vt:lpstr>Calibri</vt:lpstr>
      <vt:lpstr>Calibri Light</vt:lpstr>
      <vt:lpstr>Helvetica</vt:lpstr>
      <vt:lpstr>Times New Roman</vt:lpstr>
      <vt:lpstr>var(--font-family-body-lesson-markdown,"Droid Serif")</vt:lpstr>
      <vt:lpstr>var(--font-family-heading-lesson-markdown)</vt:lpstr>
      <vt:lpstr>Verdana</vt:lpstr>
      <vt:lpstr>Wingdings</vt:lpstr>
      <vt:lpstr>Office Theme</vt:lpstr>
      <vt:lpstr>Bitmap Image</vt:lpstr>
      <vt:lpstr>Cost Estimation</vt:lpstr>
      <vt:lpstr>Project Cost Management</vt:lpstr>
      <vt:lpstr>Key Processes in Project Cost Management</vt:lpstr>
      <vt:lpstr>Project/Software Cost- Parameters</vt:lpstr>
      <vt:lpstr>Project/Software Cost- Parameters</vt:lpstr>
      <vt:lpstr>Project/Software Cost- Parameters</vt:lpstr>
      <vt:lpstr>Project/Software Cost- Parameters</vt:lpstr>
      <vt:lpstr>Cost of a Project</vt:lpstr>
      <vt:lpstr>Software/Project Cost Estimation</vt:lpstr>
      <vt:lpstr>Introduction to COCOMO models</vt:lpstr>
      <vt:lpstr>Effort</vt:lpstr>
      <vt:lpstr>Productivity</vt:lpstr>
      <vt:lpstr>Schedule</vt:lpstr>
      <vt:lpstr>Average Staffing</vt:lpstr>
      <vt:lpstr>Cost Estimation Process</vt:lpstr>
      <vt:lpstr>Types of Software Projects Mode</vt:lpstr>
      <vt:lpstr>COCOMO I</vt:lpstr>
      <vt:lpstr>BASIS COCOMO</vt:lpstr>
      <vt:lpstr>COCOMO 1</vt:lpstr>
      <vt:lpstr>Intermediate COCOMO</vt:lpstr>
      <vt:lpstr>Intermediate COCOMO-Cost drivers</vt:lpstr>
      <vt:lpstr>Intermediate COCOMO-Cost drivers</vt:lpstr>
      <vt:lpstr>Intermediate COCOMO-Cost drivers</vt:lpstr>
      <vt:lpstr>Example</vt:lpstr>
      <vt:lpstr>Detailed Model of COCOMO</vt:lpstr>
      <vt:lpstr>Function Point Analysis (FPA)</vt:lpstr>
      <vt:lpstr>Function Point Analysis (FPA)..</vt:lpstr>
      <vt:lpstr>Function Point Analysis (FPA)..</vt:lpstr>
      <vt:lpstr>Function Point Analysis (FPA)..</vt:lpstr>
      <vt:lpstr>Function Point Analysis (FPA)..</vt:lpstr>
      <vt:lpstr>PowerPoint Presentation</vt:lpstr>
      <vt:lpstr>Example (.)</vt:lpstr>
      <vt:lpstr>Example  (..)</vt:lpstr>
      <vt:lpstr>Example (…)</vt:lpstr>
      <vt:lpstr>Relation between LOC and FP</vt:lpstr>
      <vt:lpstr>Relation between LOC and FP(.)</vt:lpstr>
      <vt:lpstr>Effort Computation</vt:lpstr>
      <vt:lpstr>Example</vt:lpstr>
      <vt:lpstr>Effort Computation</vt:lpstr>
      <vt:lpstr>Effort computation(.)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Emon</dc:creator>
  <cp:lastModifiedBy>User</cp:lastModifiedBy>
  <cp:revision>112</cp:revision>
  <dcterms:created xsi:type="dcterms:W3CDTF">2016-02-06T10:22:00Z</dcterms:created>
  <dcterms:modified xsi:type="dcterms:W3CDTF">2025-10-19T14:06:07Z</dcterms:modified>
</cp:coreProperties>
</file>